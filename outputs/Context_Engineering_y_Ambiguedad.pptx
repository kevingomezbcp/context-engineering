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c94bef0c4247e0" /><Relationship Type="http://schemas.openxmlformats.org/officeDocument/2006/relationships/extended-properties" Target="/docProps/app.xml" Id="Rb72d270af43f45dd" /><Relationship Type="http://schemas.openxmlformats.org/officeDocument/2006/relationships/officeDocument" Target="/ppt/presentation.xml" Id="R41f4508cff984f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7acf7e22d34041"/>
  </p:sldMasterIdLst>
  <p:notesMasterIdLst>
    <p:notesMasterId xmlns:r="http://schemas.openxmlformats.org/officeDocument/2006/relationships" r:id="R26da14e84ead42b0"/>
  </p:notesMasterIdLst>
  <p:sldIdLst>
    <p:sldId xmlns:r="http://schemas.openxmlformats.org/officeDocument/2006/relationships" id="256" r:id="R3ebc518333a04351"/>
    <p:sldId xmlns:r="http://schemas.openxmlformats.org/officeDocument/2006/relationships" id="257" r:id="Ra4a143d2e6dd4116"/>
    <p:sldId xmlns:r="http://schemas.openxmlformats.org/officeDocument/2006/relationships" id="258" r:id="R3e8afb9ab58b462b"/>
    <p:sldId xmlns:r="http://schemas.openxmlformats.org/officeDocument/2006/relationships" id="259" r:id="R7815cdfb541c4955"/>
    <p:sldId xmlns:r="http://schemas.openxmlformats.org/officeDocument/2006/relationships" id="260" r:id="R5d41520aff50436b"/>
    <p:sldId xmlns:r="http://schemas.openxmlformats.org/officeDocument/2006/relationships" id="261" r:id="Rd4e3efcca4c74a82"/>
    <p:sldId xmlns:r="http://schemas.openxmlformats.org/officeDocument/2006/relationships" id="262" r:id="Rad5ea3343f13490b"/>
    <p:sldId xmlns:r="http://schemas.openxmlformats.org/officeDocument/2006/relationships" id="263" r:id="Ree5882ce0abe4856"/>
    <p:sldId xmlns:r="http://schemas.openxmlformats.org/officeDocument/2006/relationships" id="264" r:id="R24da019563f14abc"/>
    <p:sldId xmlns:r="http://schemas.openxmlformats.org/officeDocument/2006/relationships" id="265" r:id="Re99384254a5449c7"/>
    <p:sldId xmlns:r="http://schemas.openxmlformats.org/officeDocument/2006/relationships" id="266" r:id="R39668b713c584295"/>
    <p:sldId xmlns:r="http://schemas.openxmlformats.org/officeDocument/2006/relationships" id="267" r:id="R00f6c99dd4a24a8b"/>
    <p:sldId xmlns:r="http://schemas.openxmlformats.org/officeDocument/2006/relationships" id="268" r:id="Rf7d46cb0562c4b19"/>
    <p:sldId xmlns:r="http://schemas.openxmlformats.org/officeDocument/2006/relationships" id="269" r:id="Re4b3f5fd934e4e19"/>
    <p:sldId xmlns:r="http://schemas.openxmlformats.org/officeDocument/2006/relationships" id="270" r:id="R93ceb4eb07a7462f"/>
    <p:sldId xmlns:r="http://schemas.openxmlformats.org/officeDocument/2006/relationships" id="271" r:id="Rcc114d0aea8e4022"/>
    <p:sldId xmlns:r="http://schemas.openxmlformats.org/officeDocument/2006/relationships" id="272" r:id="R45ba3e4bde2f43d7"/>
    <p:sldId xmlns:r="http://schemas.openxmlformats.org/officeDocument/2006/relationships" id="273" r:id="R8ae5bcf64479479b"/>
    <p:sldId xmlns:r="http://schemas.openxmlformats.org/officeDocument/2006/relationships" id="274" r:id="R295bfae03a57451f"/>
    <p:sldId xmlns:r="http://schemas.openxmlformats.org/officeDocument/2006/relationships" id="275" r:id="Rc721cf7ca06140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4fb2104a1c4ba6" /><Relationship Type="http://schemas.openxmlformats.org/officeDocument/2006/relationships/slideMaster" Target="/ppt/slideMasters/slideMaster1.xml" Id="R347acf7e22d34041" /><Relationship Type="http://schemas.openxmlformats.org/officeDocument/2006/relationships/notesMaster" Target="/ppt/notesMasters/notesMaster1.xml" Id="R26da14e84ead42b0" /><Relationship Type="http://schemas.openxmlformats.org/officeDocument/2006/relationships/presProps" Target="/ppt/presProps.xml" Id="Re825e2b26af84acf" /><Relationship Type="http://schemas.openxmlformats.org/officeDocument/2006/relationships/tableStyles" Target="/ppt/tableStyles.xml" Id="R9385799f02ed4731" /><Relationship Type="http://schemas.openxmlformats.org/officeDocument/2006/relationships/slide" Target="/ppt/slides/slide1.xml" Id="R3ebc518333a04351" /><Relationship Type="http://schemas.openxmlformats.org/officeDocument/2006/relationships/slide" Target="/ppt/slides/slide2.xml" Id="Ra4a143d2e6dd4116" /><Relationship Type="http://schemas.openxmlformats.org/officeDocument/2006/relationships/slide" Target="/ppt/slides/slide3.xml" Id="R3e8afb9ab58b462b" /><Relationship Type="http://schemas.openxmlformats.org/officeDocument/2006/relationships/slide" Target="/ppt/slides/slide4.xml" Id="R7815cdfb541c4955" /><Relationship Type="http://schemas.openxmlformats.org/officeDocument/2006/relationships/slide" Target="/ppt/slides/slide5.xml" Id="R5d41520aff50436b" /><Relationship Type="http://schemas.openxmlformats.org/officeDocument/2006/relationships/slide" Target="/ppt/slides/slide6.xml" Id="Rd4e3efcca4c74a82" /><Relationship Type="http://schemas.openxmlformats.org/officeDocument/2006/relationships/slide" Target="/ppt/slides/slide7.xml" Id="Rad5ea3343f13490b" /><Relationship Type="http://schemas.openxmlformats.org/officeDocument/2006/relationships/slide" Target="/ppt/slides/slide8.xml" Id="Ree5882ce0abe4856" /><Relationship Type="http://schemas.openxmlformats.org/officeDocument/2006/relationships/slide" Target="/ppt/slides/slide9.xml" Id="R24da019563f14abc" /><Relationship Type="http://schemas.openxmlformats.org/officeDocument/2006/relationships/slide" Target="/ppt/slides/slide10.xml" Id="Re99384254a5449c7" /><Relationship Type="http://schemas.openxmlformats.org/officeDocument/2006/relationships/slide" Target="/ppt/slides/slide11.xml" Id="R39668b713c584295" /><Relationship Type="http://schemas.openxmlformats.org/officeDocument/2006/relationships/slide" Target="/ppt/slides/slide12.xml" Id="R00f6c99dd4a24a8b" /><Relationship Type="http://schemas.openxmlformats.org/officeDocument/2006/relationships/slide" Target="/ppt/slides/slide13.xml" Id="Rf7d46cb0562c4b19" /><Relationship Type="http://schemas.openxmlformats.org/officeDocument/2006/relationships/slide" Target="/ppt/slides/slide14.xml" Id="Re4b3f5fd934e4e19" /><Relationship Type="http://schemas.openxmlformats.org/officeDocument/2006/relationships/slide" Target="/ppt/slides/slide15.xml" Id="R93ceb4eb07a7462f" /><Relationship Type="http://schemas.openxmlformats.org/officeDocument/2006/relationships/slide" Target="/ppt/slides/slide16.xml" Id="Rcc114d0aea8e4022" /><Relationship Type="http://schemas.openxmlformats.org/officeDocument/2006/relationships/slide" Target="/ppt/slides/slide17.xml" Id="R45ba3e4bde2f43d7" /><Relationship Type="http://schemas.openxmlformats.org/officeDocument/2006/relationships/slide" Target="/ppt/slides/slide18.xml" Id="R8ae5bcf64479479b" /><Relationship Type="http://schemas.openxmlformats.org/officeDocument/2006/relationships/slide" Target="/ppt/slides/slide19.xml" Id="R295bfae03a57451f" /><Relationship Type="http://schemas.openxmlformats.org/officeDocument/2006/relationships/slide" Target="/ppt/slides/slide20.xml" Id="Rc721cf7ca06140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5bcbdbb9ce41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273a0140de4efe" /><Relationship Type="http://schemas.openxmlformats.org/officeDocument/2006/relationships/notesMaster" Target="/ppt/notesMasters/notesMaster1.xml" Id="Rf13766e0d9ba48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7fc3f8e80c4469" /><Relationship Type="http://schemas.openxmlformats.org/officeDocument/2006/relationships/notesMaster" Target="/ppt/notesMasters/notesMaster1.xml" Id="R959cecb980cc47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80842ae6174abb" /><Relationship Type="http://schemas.openxmlformats.org/officeDocument/2006/relationships/notesMaster" Target="/ppt/notesMasters/notesMaster1.xml" Id="R9fef7d755f244e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0b9bc79a7e4bda" /><Relationship Type="http://schemas.openxmlformats.org/officeDocument/2006/relationships/notesMaster" Target="/ppt/notesMasters/notesMaster1.xml" Id="R2073f1f7939d4a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e14ab6db1d4bf2" /><Relationship Type="http://schemas.openxmlformats.org/officeDocument/2006/relationships/notesMaster" Target="/ppt/notesMasters/notesMaster1.xml" Id="R4e0ff02ea87540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f3b1f4577349a5" /><Relationship Type="http://schemas.openxmlformats.org/officeDocument/2006/relationships/notesMaster" Target="/ppt/notesMasters/notesMaster1.xml" Id="Rfc782a92098c43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1dbffa49b14124" /><Relationship Type="http://schemas.openxmlformats.org/officeDocument/2006/relationships/notesMaster" Target="/ppt/notesMasters/notesMaster1.xml" Id="Re98557a01c4944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5892a27dd64be3" /><Relationship Type="http://schemas.openxmlformats.org/officeDocument/2006/relationships/notesMaster" Target="/ppt/notesMasters/notesMaster1.xml" Id="Rad15ae3df3e64b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5d9ea7e9ba4d56" /><Relationship Type="http://schemas.openxmlformats.org/officeDocument/2006/relationships/notesMaster" Target="/ppt/notesMasters/notesMaster1.xml" Id="Rde64487f707e41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0a9e53f97847af" /><Relationship Type="http://schemas.openxmlformats.org/officeDocument/2006/relationships/notesMaster" Target="/ppt/notesMasters/notesMaster1.xml" Id="R376a9c600a814f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a05d663bb24c35" /><Relationship Type="http://schemas.openxmlformats.org/officeDocument/2006/relationships/notesMaster" Target="/ppt/notesMasters/notesMaster1.xml" Id="R6d61019b3cb949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e524c6b5f642ff" /><Relationship Type="http://schemas.openxmlformats.org/officeDocument/2006/relationships/notesMaster" Target="/ppt/notesMasters/notesMaster1.xml" Id="R1b1e0d381ad249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78fddb550c4edf" /><Relationship Type="http://schemas.openxmlformats.org/officeDocument/2006/relationships/notesMaster" Target="/ppt/notesMasters/notesMaster1.xml" Id="R3541830f979640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7017ec45884a0c" /><Relationship Type="http://schemas.openxmlformats.org/officeDocument/2006/relationships/notesMaster" Target="/ppt/notesMasters/notesMaster1.xml" Id="R31d413db6af84a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bdaa7c56db4d4d" /><Relationship Type="http://schemas.openxmlformats.org/officeDocument/2006/relationships/notesMaster" Target="/ppt/notesMasters/notesMaster1.xml" Id="R8427d00efbb741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ff6ca5371b4b78" /><Relationship Type="http://schemas.openxmlformats.org/officeDocument/2006/relationships/notesMaster" Target="/ppt/notesMasters/notesMaster1.xml" Id="R5d355239127042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3ddec9fab149bf" /><Relationship Type="http://schemas.openxmlformats.org/officeDocument/2006/relationships/notesMaster" Target="/ppt/notesMasters/notesMaster1.xml" Id="R9e6bc1b8dfd34d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a8ecc24b934616" /><Relationship Type="http://schemas.openxmlformats.org/officeDocument/2006/relationships/notesMaster" Target="/ppt/notesMasters/notesMaster1.xml" Id="R485d8b0540164d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128884078684ef6" /><Relationship Type="http://schemas.openxmlformats.org/officeDocument/2006/relationships/notesMaster" Target="/ppt/notesMasters/notesMaster1.xml" Id="R18c83470775347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77209684c54390" /><Relationship Type="http://schemas.openxmlformats.org/officeDocument/2006/relationships/notesMaster" Target="/ppt/notesMasters/notesMaster1.xml" Id="R2fa351f5e16342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23b36cd5948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b3dec685584675" /><Relationship Type="http://schemas.openxmlformats.org/officeDocument/2006/relationships/slideLayout" Target="/ppt/slideLayouts/slideLayout1.xml" Id="R45c2278235a74a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c2278235a74a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a000c94214a01" /><Relationship Type="http://schemas.openxmlformats.org/officeDocument/2006/relationships/notesSlide" Target="/ppt/notesSlides/notesSlide1.xml" Id="Rbe186269765e47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d2026e66d45f0" /><Relationship Type="http://schemas.openxmlformats.org/officeDocument/2006/relationships/notesSlide" Target="/ppt/notesSlides/notesSlide2.xml" Id="Rc3ec3805f81d43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a930903d24765" /><Relationship Type="http://schemas.openxmlformats.org/officeDocument/2006/relationships/image" Target="/ppt/media/image.png" Id="R7d1b22e3492e43e7" /><Relationship Type="http://schemas.openxmlformats.org/officeDocument/2006/relationships/notesSlide" Target="/ppt/notesSlides/notesSlide3.xml" Id="R666ff0d44bd049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0108061ac4a37" /><Relationship Type="http://schemas.openxmlformats.org/officeDocument/2006/relationships/notesSlide" Target="/ppt/notesSlides/notesSlide4.xml" Id="Ra5c08c58b9824e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316487ff04977" /><Relationship Type="http://schemas.openxmlformats.org/officeDocument/2006/relationships/notesSlide" Target="/ppt/notesSlides/notesSlide5.xml" Id="Rffb9e39a54c248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4dfc0188044b4" /><Relationship Type="http://schemas.openxmlformats.org/officeDocument/2006/relationships/notesSlide" Target="/ppt/notesSlides/notesSlide6.xml" Id="R36fbaecf7d1645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0f2a0bfe140b5" /><Relationship Type="http://schemas.openxmlformats.org/officeDocument/2006/relationships/notesSlide" Target="/ppt/notesSlides/notesSlide7.xml" Id="R878b12de715249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e423419a441d6" /><Relationship Type="http://schemas.openxmlformats.org/officeDocument/2006/relationships/notesSlide" Target="/ppt/notesSlides/notesSlide8.xml" Id="R124b162384dd42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b1cfb7cab4227" /><Relationship Type="http://schemas.openxmlformats.org/officeDocument/2006/relationships/notesSlide" Target="/ppt/notesSlides/notesSlide9.xml" Id="R581ae706885541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6c39f9a5346c3" /><Relationship Type="http://schemas.openxmlformats.org/officeDocument/2006/relationships/notesSlide" Target="/ppt/notesSlides/notesSlide10.xml" Id="Ree3f91c328cf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420218af34d97" /><Relationship Type="http://schemas.openxmlformats.org/officeDocument/2006/relationships/notesSlide" Target="/ppt/notesSlides/notesSlide11.xml" Id="R51bbb67104f043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f01fe18c84fc6" /><Relationship Type="http://schemas.openxmlformats.org/officeDocument/2006/relationships/notesSlide" Target="/ppt/notesSlides/notesSlide12.xml" Id="R7be9200d6de24b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ceb156f8a4218" /><Relationship Type="http://schemas.openxmlformats.org/officeDocument/2006/relationships/notesSlide" Target="/ppt/notesSlides/notesSlide13.xml" Id="Re2c75fa64bb449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4b1461c8c4ee4" /><Relationship Type="http://schemas.openxmlformats.org/officeDocument/2006/relationships/notesSlide" Target="/ppt/notesSlides/notesSlide14.xml" Id="R883061dd2faa4f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c8914a2874ca7" /><Relationship Type="http://schemas.openxmlformats.org/officeDocument/2006/relationships/notesSlide" Target="/ppt/notesSlides/notesSlide15.xml" Id="R908eb8a049cd4d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0b3335a164b9a" /><Relationship Type="http://schemas.openxmlformats.org/officeDocument/2006/relationships/notesSlide" Target="/ppt/notesSlides/notesSlide16.xml" Id="R30570a55674d40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c73ad96334426" /><Relationship Type="http://schemas.openxmlformats.org/officeDocument/2006/relationships/image" Target="/ppt/media/image2.png" Id="R6f58f0eed2734188" /><Relationship Type="http://schemas.openxmlformats.org/officeDocument/2006/relationships/notesSlide" Target="/ppt/notesSlides/notesSlide17.xml" Id="Rae6e3b15a5cf41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fb460340b4da8" /><Relationship Type="http://schemas.openxmlformats.org/officeDocument/2006/relationships/notesSlide" Target="/ppt/notesSlides/notesSlide18.xml" Id="R82a3b5d678894b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3ec3dd8dc46d9" /><Relationship Type="http://schemas.openxmlformats.org/officeDocument/2006/relationships/image" Target="/ppt/media/image3.png" Id="R5e4496df27b74ab8" /><Relationship Type="http://schemas.openxmlformats.org/officeDocument/2006/relationships/notesSlide" Target="/ppt/notesSlides/notesSlide19.xml" Id="R9381c7c4c34e44f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4e05aaca94f44" /><Relationship Type="http://schemas.openxmlformats.org/officeDocument/2006/relationships/notesSlide" Target="/ppt/notesSlides/notesSlide20.xml" Id="R564fdfa93c4a43f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E6363-E16B-41EB-A49F-6C509F7F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04875"/>
            <a:ext cx="400050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769F4">
                  <a:alpha val="42000"/>
                </a:srgbClr>
              </a:gs>
              <a:gs pos="72000">
                <a:srgbClr val="7769F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5CF0B-79BC-43ED-B98D-A46A3031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34290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5E0D0">
                  <a:alpha val="30000"/>
                </a:srgbClr>
              </a:gs>
              <a:gs pos="72000">
                <a:srgbClr val="45E0D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0EF1A-BA7C-4550-95CA-F4F2195E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76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2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852A1-DC7C-48F2-9E5E-812E3735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ESTRATEGIA · RAG · DECISIONES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CA87D-7E4A-42F4-9B2F-484246F9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5D148-99ED-4F9C-AEA8-96ABD6D0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y manejo de ambigüedad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339DB-9AFF-410C-B228-9522E897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CDD4E7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CDD4E7"/>
                </a:solidFill>
                <a:latin typeface="Aptos"/>
                <a:ea typeface="Aptos"/>
                <a:cs typeface="Aptos"/>
              </a:rPr>
              <a:t>Diseñar la información que el modelo necesita — y saber cuándo preguntar.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E30BF-89C8-4850-B361-2AA577B9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{Nombre}  ·  {Organización}  ·  {Fecha}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543B5-D8F6-445E-8B61-D262757A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266825" cy="-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5E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44321-8953-4B9F-91AE-4282FDB7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685925" cy="-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9E05F-0ABB-4D0C-A366-59B01D2A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7621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62AC5-F0E5-4C83-A43D-266B5A62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1190625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F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1A806-ADE3-4C74-97F6-4FC845D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98B71-39A0-46E6-90F9-7253CDE7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14700"/>
            <a:ext cx="11430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5E0D0">
                <a:alpha val="7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0CC15-8324-4F81-B4B0-AD8833DA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0D85D-7978-40FF-AE57-131F4538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287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20000"/>
            </a:srgbClr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41880-6621-4370-A6C3-A6ECE35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62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21044-4E30-43AC-A5E8-3D2538EE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812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20000"/>
            </a:srgbClr>
          </a:solidFill>
          <a:ln xmlns:a="http://schemas.openxmlformats.org/drawingml/2006/main" w="19050">
            <a:solidFill>
              <a:srgbClr val="7769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A430F-F76B-4A83-B18B-C091F0D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146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E1A1F-E6F4-4AE9-95AB-3F126D5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48050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E">
              <a:alpha val="20000"/>
            </a:srgbClr>
          </a:solidFill>
          <a:ln xmlns:a="http://schemas.openxmlformats.org/drawingml/2006/main" w="19050">
            <a:solidFill>
              <a:srgbClr val="FFB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017C7-B626-444D-B671-2B1A54FA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814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0843B-C48B-4226-9204-88BE085D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24375"/>
            <a:ext cx="952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7D">
              <a:alpha val="20000"/>
            </a:srgbClr>
          </a:solidFill>
          <a:ln xmlns:a="http://schemas.openxmlformats.org/drawingml/2006/main" w="19050">
            <a:solidFill>
              <a:srgbClr val="FF6F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C7BF6-9AE4-4833-8681-7534587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577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BB35A-5BEB-4322-B691-4DB2593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387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DAF15-F4E4-46D8-8B59-477BD0E5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02  /  EL PROBLEMA HUMANO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E3513-4D26-471F-9310-13C093F8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Una pregunta simple puede esconder cinco preguntas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AE608-6C66-439C-8708-BBC502AD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E694F-1545-4ED6-8830-8982114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47875"/>
            <a:ext cx="956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“¿Cuál es el banco más grande?”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2C6DB-420E-4824-A0F6-EFA2128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26093-1646-43B0-B60B-897B50DE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activos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58157-7264-4E52-8ADE-1400CF5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2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3EB26-D14E-4DC3-BA95-8F647412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capitalización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E0789-F1EE-40B4-90FA-F8BF1B5B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1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C37F4-EAC5-4696-A4C1-70B57C25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41E6B-74DA-43BC-AC26-B1DAFC5C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7D">
              <a:alpha val="12000"/>
            </a:srgbClr>
          </a:solidFill>
          <a:ln xmlns:a="http://schemas.openxmlformats.org/drawingml/2006/main" w="9525">
            <a:solidFill>
              <a:srgbClr val="FF6F7D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B9B5F-C591-42E0-A0CC-B9471C0A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ingresos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1AE61-557C-43ED-9D75-F881A2A0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81375"/>
            <a:ext cx="1905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590">
              <a:alpha val="12000"/>
            </a:srgbClr>
          </a:solidFill>
          <a:ln xmlns:a="http://schemas.openxmlformats.org/drawingml/2006/main" w="9525">
            <a:solidFill>
              <a:srgbClr val="62D590">
                <a:alpha val="4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9812D-1D48-49A2-BD64-F95F26A9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575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presencia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5466C-C19A-48A2-955B-BCC5909E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Una respuesta puede ser correcta… y aun así responder a la intención equivocada.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C0C2F-3C85-4B8C-ADE4-FC441490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La ambigüedad no es ruido lingüístico: es una decisión oculta que el sistema debe gestionar.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3314D-EFA6-403E-AEFC-8CB21E28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Ejemplo conceptual basado en context.md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44D1D-780A-4BE1-962F-A8A6E519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1277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BB61D0-7E1B-4090-BC1A-62A1AE78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03  /  DE PROMPTS A SISTEMAS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0ADB4-FB88-4845-81D4-1F2226BC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Context Engineering diseña el entorno de decisión del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57129-62B8-479A-824B-2A9E414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7F132-58CB-469B-91DF-05845C86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398E1-DAB9-4F04-BA15-711A5527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DEFINICIÓN OPERACIONAL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CCD8E-405F-4101-BFFF-CBE97322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Seleccionar, generar, estructurar y administrar la información que condiciona la respuesta.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9AC76-B99C-4177-8476-8190B7EA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No es solo prompt engineering. Incluye recuperación, memoria, herramientas, estructura, compresión y ensamblaje dinámico.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70179-C404-452F-95FD-B1A5618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645795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b22e3492e43e7"/>
          <a:stretch xmlns:a="http://schemas.openxmlformats.org/drawingml/2006/main"/>
        </p:blipFill>
        <p:spPr>
          <a:xfrm xmlns:a="http://schemas.openxmlformats.org/drawingml/2006/main">
            <a:off x="5257800" y="2590468"/>
            <a:ext cx="6038850" cy="2019964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53669-ADC3-4EC9-A1A4-30228F72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survey_context.pdf, Fig. 3; imagen suministrada en el proyecto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3B65A-095B-4096-B0FA-9B0A6520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8222967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6EBFB4-F358-485A-B659-0A7E83D0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04  /  TESIS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DB1AD-80A4-406B-B986-BA074C9A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Más contexto no implica una mejor respuesta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10622-8EFD-4471-B95D-8350A824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96E47-9EF9-452B-85E9-FC3C768D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BFC7D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BFC7DA"/>
                </a:solidFill>
                <a:latin typeface="Aptos"/>
                <a:ea typeface="Aptos"/>
                <a:cs typeface="Aptos"/>
              </a:rPr>
              <a:t>El objetivo real es maximizar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0435B-914D-44BC-B93F-4A67968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información útil</a:t>
            </a: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 /  token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D9DCA-5350-4406-8806-DE9137A3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36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I(Y; C | X)  /  |C|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77184-07A2-4C73-8A99-6FAE908D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0275"/>
            <a:ext cx="4000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7D7D0-1779-4C0B-B9A0-DE15F2F6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0275"/>
            <a:ext cx="10001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A9760-90F7-4F98-B615-CAA5491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717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señal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8CD4C-9B74-4257-9D9C-83CE9C06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717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3CBE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3CBE0"/>
                </a:solidFill>
                <a:latin typeface="Aptos"/>
                <a:ea typeface="Aptos"/>
                <a:cs typeface="Aptos"/>
              </a:rPr>
              <a:t>ruido · redundancia · conflicto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B0C77-28B5-4F8F-8298-505FFB22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527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 contexto corto y preciso puede superar a uno largo y ruidoso.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11756-D17C-4C0F-A33F-533EB261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12382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8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4C6ED-E895-445A-9C32-2A59DE48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005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seleccionar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D06E3-6D74-487F-9422-144F3B2B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109537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8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BB409-F1CA-450B-8F43-104D70E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ordenar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93A1A-FB0C-4C37-B8C3-B9EEAA80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24350"/>
            <a:ext cx="140017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18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7FF68-DBCC-4117-A8CD-7093F9DB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400550"/>
            <a:ext cx="117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comprimir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E85F3-53C0-46B7-96B0-87E4C8D4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Fuente: context.md — información útil por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C79EE-3BEF-4FD4-A4AC-B1E4893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4880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0CD3A-5CF0-4613-8352-A1AED48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05  /  MODELAMIENTO DEL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B8AA6-9A27-4079-B48F-1A4F4A79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El contexto cambia la distribución de los próximos tokens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6773F-7EBE-437C-8DB8-2BC90D6B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36E7B-4A15-4A3B-9147-F5295F32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390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rPr>
              <a:t>Pθ(yₜ | X, C, y&lt;ₜ)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758BB-63DC-413B-AE31-55F58B38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0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625" b="0" i="0">
                <a:solidFill>
                  <a:srgbClr val="0B1020"/>
                </a:solidFill>
                <a:latin typeface="Cambria Math"/>
                <a:ea typeface="Cambria Math"/>
                <a:cs typeface="Cambria Math"/>
              </a:rPr>
              <a:t>Pθ(Y | X, C) = ∏ₜ Pθ(yₜ | X, C, y&lt;ₜ)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FA801-F445-41AB-8958-A15FF773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El contexto aporta cuando aumenta la probabilidad del token correcto y reduce alternativas incorrectas.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CE881-95DC-403F-B27E-72E1BE63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381500" cy="30670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38318-E307-4F06-8FC3-E70029D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14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F6F70-52A2-4E04-852B-F8D7082A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EJEMPLO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685CC-F2E2-4A29-90FE-27CD0B57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Sin contrato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9245C-0FAC-4767-B949-BD34A710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F6F7D"/>
                </a:solidFill>
                <a:latin typeface="Aptos"/>
                <a:ea typeface="Aptos"/>
                <a:cs typeface="Aptos"/>
              </a:rPr>
              <a:t>“12 meses”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61332-9B29-40C6-B934-2C329142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099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AF78C-AD19-488F-B98D-5D33CD7E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Con contrato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00D48-457B-463C-B62E-990E1564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62D590"/>
                </a:solidFill>
                <a:latin typeface="Aptos"/>
                <a:ea typeface="Aptos"/>
                <a:cs typeface="Aptos"/>
              </a:rPr>
              <a:t>“24 meses”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C4ADD-F560-484E-96E2-B6C1ECB9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rPr>
              <a:t>P(“24” | X,C)  &gt;  P(“12” | X,C)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58BDA-5CE8-4CAB-904C-6D53DA4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context.md — generación condicional y ejemplo de garantía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03278-1F75-4172-9C82-70EFA705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360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92F4B-5646-4550-82BF-9B9E337A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06  /  TEORÍA DE LA INFORMACIÓN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C85BE-F140-4FBA-8115-31D96FB6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El valor del contexto es la incertidumbre que logra eliminar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23640-FBEC-4CB9-8FC3-8D7EDB2D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92270-B558-4759-BB3B-EB2EB7E5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360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rPr>
              <a:t>H(Y | X, C)  ≤  H(Y | X)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D405D-29B3-41C6-8A4E-9DE1A5F6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700" b="0" i="0">
                <a:solidFill>
                  <a:srgbClr val="7769F4"/>
                </a:solidFill>
                <a:latin typeface="Cambria Math"/>
                <a:ea typeface="Cambria Math"/>
                <a:cs typeface="Cambria Math"/>
              </a:rPr>
              <a:t>I(Y; C | X) = H(Y | X) − H(Y | X, C)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74795-2397-4702-AA20-8EA1E5A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Información mutua condicional = beneficio potencial del 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BAC80-7536-4BD7-AB51-6F10B9E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Sin 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A797-477A-468A-BB25-1B9EB80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3238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635BD-EFA4-47E7-9A3F-41DBE1E2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2905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19886-0DA0-4294-AD75-22C3BF6A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98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 alta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EFA8E-0F7C-450B-B9C6-699905D2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Con contexto relevante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55D35-56BD-4832-8C11-846DCC20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3238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548C2-7B8D-45BF-B28E-2A56F566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10668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FDF3A-2DF0-4643-B8A2-26FF9E99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290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H baja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EB258-76C1-4643-9C5D-8EC2555F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434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La diferencia es información que C aporta sobre 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6287E-9DF8-4D96-B508-748BB63F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context.md — entropía e información mutua condicional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9D1C2-F0FA-4485-9FD3-44A8AF2C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5736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EE3F50-A412-4278-B2DC-A10858CB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07  /  LA REALIDAD DEL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66844-951C-40CC-8CD6-8E381AF0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En un LLM real, el contexto también puede degradar la respuesta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35520-20D2-413D-8E13-FDAD2D82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7C19D-EFAC-4999-ABE8-7BD5D96E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rPr>
              <a:t>Q(C) ≈ R(C) − N(C) − D(C) − K(C)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BDC70-B217-41F8-8A25-4097DC8D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18000"/>
            </a:srgbClr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2168F-E6E6-47BD-820F-A1DC95D4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1835A-E849-49E3-A30A-551E7D93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relevancia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CDEDA-FE17-4A82-8F20-50F9D41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7D">
              <a:alpha val="18000"/>
            </a:srgbClr>
          </a:solidFill>
          <a:ln xmlns:a="http://schemas.openxmlformats.org/drawingml/2006/main" w="19050">
            <a:solidFill>
              <a:srgbClr val="FF6F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B717F-BF4D-4BC5-BC10-F5A8BE33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EED24-0255-4AEA-A166-BD36067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ruido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4571F-62AF-4742-B6CA-7CF19086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E">
              <a:alpha val="18000"/>
            </a:srgbClr>
          </a:solidFill>
          <a:ln xmlns:a="http://schemas.openxmlformats.org/drawingml/2006/main" w="19050">
            <a:solidFill>
              <a:srgbClr val="FFB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2FB9D-6CEF-457A-AA08-AFEEE2CA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96BA5-1ADC-4302-8799-F068ABA8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dificultad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E0ACC-4441-4DA6-A715-933AA7F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18000"/>
            </a:srgbClr>
          </a:solidFill>
          <a:ln xmlns:a="http://schemas.openxmlformats.org/drawingml/2006/main" w="19050">
            <a:solidFill>
              <a:srgbClr val="7769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93944-8A3C-4743-ABB5-E9F7D603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43275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09666-1122-4620-ADE7-9178DFD0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conflictos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88E40-2416-404B-A6AB-F9A4A9C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rPr>
              <a:t>Q(n + 1)  ≱  Q(n)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83150-7C8E-4DCF-B4AD-F12C7814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911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E44D0-06DF-4830-97BC-C7643A96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26057-04A5-42F9-9D79-BEAEF0D8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571500" cy="-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02E62-5FAF-4B37-8231-F17AD110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571500" cy="-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7C480-1944-45E1-BCFE-5C78BBCD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571500" cy="-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7ACC1-8986-4689-ADC5-8364F854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57150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54275-4D49-4559-B7C5-F3FB3C44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57150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0E50A-7350-477B-A71B-624A6D1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52850"/>
            <a:ext cx="57150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294BE-6FA4-4A11-BCE3-EB6FBF8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67200"/>
            <a:ext cx="38100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8388F-F54C-40E9-9B28-52558DA9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A5FFCD-C3B4-4363-92EB-F2737177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zona útil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B9694-C4DE-456A-A68C-5AAAF3E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16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tokens de contexto 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F25FD-D6D1-481B-9B1E-6E44D1DA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context.md — modelo conceptual de calidad, ruido y longitud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9C7B7-558E-4F86-B1DE-B0F63AC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472221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EFC5F0-3B9E-4D5D-927D-CCEFC57E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08  /  ATENCIÓN Y RECUPERACIÓN INTERNA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A2DB4-35E9-4F79-B8B9-713DFF34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 evidencia puede estar en el prompt y aun así no ser utilizada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4D0A8-97B5-4F83-9E7F-AA19EEB0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CD4CA-D220-4E5F-86F4-5247443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7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Attention(Q,K,V) = softmax(QKᵀ / √dₖ)V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D2453-7FE9-49DD-8902-32DB88BE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C8CFE1"/>
                </a:solidFill>
                <a:latin typeface="Aptos"/>
                <a:ea typeface="Aptos"/>
                <a:cs typeface="Aptos"/>
              </a:rPr>
              <a:t>Cada token compite por atención. El desafío no es solo leer: es localizar, integrar y responder.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5053C-5813-4E08-AD61-A04932FF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0BC72-ACCF-44DF-86F1-E4C5EEBE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5DFBE-F1D1-4E20-9F2C-15C1AC15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E4E99-EBF1-49F2-984E-F1830E3B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2D2F4-7CD9-4F57-BFBB-AF23D22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E9A7A-A511-4BC5-A9AE-6F1F4E08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349FC-2AFF-429C-A375-D8898B44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A2016-3C87-4649-8633-9E3D0B0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EBEAA-550A-4F20-92F0-9DCA2ECC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686EA-4002-4848-A7F5-2C4CE15C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0985C-EDC4-4979-BC12-C5A0165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/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39877-BA49-4B22-B571-6360F641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422BD-76AC-44EA-8E4B-7B00CEE9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292E5-9D00-4C01-A553-5F193970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2511A-EE36-4C34-9B93-9EFC9F89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4F26A-A8D4-4448-A4EE-D1EA43BD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9372B-3FF1-499F-A9EA-9C265CB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F537D-7DDC-43C3-AC08-85314E6F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6254E-9362-43FF-B870-8E663FF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47749-C2BB-49F3-B022-6C1AA0FE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DE90C-7C54-466B-8770-A660F0C1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57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EBDCA-D8EF-4D6C-84D1-51676189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24350"/>
            <a:ext cx="16192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BE557-BE4D-4FC5-851B-5036F8C5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95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1E804-12AA-4645-99D4-AE34C9ED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90850"/>
            <a:ext cx="600075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5E0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5F1BD1-D343-4CCC-9E8D-373F0E0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38375"/>
            <a:ext cx="2200275" cy="2390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634CE9-BE4D-4747-A5AF-5B7262E5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-1000125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FD3C28-0664-4882-8CE1-2221A36E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C9882C-9DE7-45D8-A781-F1AC474E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identificar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795012-9B4E-4220-970C-7FC32C31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114284-1CB8-4588-BA89-951BD7BF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43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4E07AA-3047-49D4-AEEB-6DDE135C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1050DD-CBE1-4690-BE93-D0E92C84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43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E7049E-32AB-4563-98E6-0FD3EC9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Fuente: context.md — atención y recuperación interna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511DDA-F61C-4407-9CA9-245CFCF1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3507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524DA1-53AA-4EC8-893B-A7B8A92E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09  /  SIMILITUD CON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8EA64-44E6-488A-854E-0904AD3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La calidad end-to-end multiplica dos probabilidades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E5B3E-A25E-44E9-B0F9-44175D8A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A90F1-C3C5-4A46-BF5B-351D70E4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rPr>
              <a:t>P(correcta) ≈ P(recuperar evidencia) × P(responder | evidencia)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7CFA5-0F98-4AE8-8E61-16D9B9C9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DDFBB-E8C2-4678-B91A-6EB0F0ED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69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D2054-E768-4428-8EE3-B5E8CDE3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2095500" cy="1333500"/>
          </a:xfrm>
          <a:prstGeom xmlns:a="http://schemas.openxmlformats.org/drawingml/2006/main" prst="roundRect">
            <a:avLst>
              <a:gd name="adj" fmla="val 1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DB3D4-1210-4FF8-808E-6CFC60E8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2286000" cy="1333500"/>
          </a:xfrm>
          <a:prstGeom xmlns:a="http://schemas.openxmlformats.org/drawingml/2006/main" prst="roundRect">
            <a:avLst>
              <a:gd name="adj" fmla="val 1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5AFC9-125D-4011-8EE2-BEBD563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095500" cy="1333500"/>
          </a:xfrm>
          <a:prstGeom xmlns:a="http://schemas.openxmlformats.org/drawingml/2006/main" prst="roundRect">
            <a:avLst>
              <a:gd name="adj" fmla="val 18571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CB513-20AB-4E7D-8CF7-2B832C2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6A798-992F-400E-8621-73B35CEC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0.80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580A7-EE54-41F8-A30C-3A837D23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GENERATOR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6B574-EBA5-4274-80E6-7B25F40A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243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EB890-063E-476B-9E55-85EACAEC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B66E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76F61-A58C-4D26-9D1E-A35731E9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0.72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85655-CFB3-44B8-9242-E3CA7416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195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29F09-9D51-4290-90A9-12580E69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95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1812F-EE5C-45CE-A097-2B4EFB0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8160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Muchos “errores de generación” comienzan antes: en la selección del contexto.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3DADF-A81F-473E-9F96-82A8A802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context.md — descomposición probabilística de un pipeline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33DD0-226A-49DB-97D7-680723E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720271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5EC37-6336-44E8-9CA6-FC4DBF98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2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A59D1-4359-4BA7-BD91-455AB875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CAMBIO DE RÉGIMEN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8F93B-CA81-4818-958A-B348F534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Hasta aquí, asumimos que X tenía un solo significado.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80335-8C08-46AA-B85E-EB18F9E2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5E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006E6-DFF8-4A7E-BB11-CE4790B6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Con una query ambigua, el sistema debe inferir primero qué quiso decir el usuario.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EAA44-F439-475F-A8DA-2F576C0D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C8CFE1"/>
                </a:solidFill>
                <a:latin typeface="Aptos"/>
                <a:ea typeface="Aptos"/>
                <a:cs typeface="Aptos"/>
              </a:rPr>
              <a:t>Ahora aparece una variable latente:  Z = intención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DFCA0-725A-418C-A80A-20F8E5A0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Fuente: context.md — transición al modelamiento con intención latente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8234E-056D-4752-B174-BBDB58B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1929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110B24-C458-4AE1-BE87-72712409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11  /  INTENCIÓN LATENTE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4C526-2DE3-423C-87E9-8C6FB4C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La respuesta se convierte en una mezcla de interpretaciones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221D5-8BA7-4595-805A-47ABE784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B05E2-C35B-44B8-BEEC-C08C8D88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75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775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rPr>
              <a:t>P(Y | X,C) = Σz P(Y | X,C,Z=z) · P(Z=z | X,C)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7939B-44B2-4367-85B4-F51B904F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6195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2F9A9-65DB-408C-98C4-1CF73792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“¿Cómo funciona la memoria?”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9C10D-049F-41F4-B1F4-3932FD8B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862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AA0EF-6676-45CB-935F-539E5161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45E0D0">
              <a:alpha val="14000"/>
            </a:srgbClr>
          </a:solidFill>
          <a:ln xmlns:a="http://schemas.openxmlformats.org/drawingml/2006/main" w="19050">
            <a:solidFill>
              <a:srgbClr val="45E0D0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98E98-56AD-49BA-9A57-E336A13B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718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conversacional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83B12-D3D8-4CB7-B75C-F0773A22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C4CB8-7AF1-430C-8B06-EB2965E6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19050">
            <a:solidFill>
              <a:srgbClr val="7769F4">
                <a:alpha val="5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84FBF-44ED-48E3-955B-7C425C06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persistente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12BA0-3933-4DD3-BB24-9BFD1175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F9BB8-C5A8-4FDF-BDFD-E25E50A0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B66E">
              <a:alpha val="14000"/>
            </a:srgbClr>
          </a:solidFill>
          <a:ln xmlns:a="http://schemas.openxmlformats.org/drawingml/2006/main" w="19050">
            <a:solidFill>
              <a:srgbClr val="FFB66E">
                <a:alpha val="5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2CE92-466D-40DB-A6BD-59B1D6C2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767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ventana de contexto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19DC9-70FD-4F0B-A619-926EEAE2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81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B66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3CB16-42B5-4676-A9B4-4C534798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2171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6F7D">
              <a:alpha val="14000"/>
            </a:srgbClr>
          </a:solidFill>
          <a:ln xmlns:a="http://schemas.openxmlformats.org/drawingml/2006/main" w="19050">
            <a:solidFill>
              <a:srgbClr val="FF6F7D">
                <a:alpha val="5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B6193-017C-4035-A702-4A553291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framework específico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56419-C044-4B3F-AA81-B98A3D55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81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6F7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4B530-9C14-4235-9F90-322710D8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911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Varias secuencias son plausibles; una respuesta fluida puede elegir el modo equivocado.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84B5C-034C-47C3-88A2-282C608E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context.md — distribución mezclada sobre intenciones 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24B61-E02A-4AB6-8C56-B6819F5F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4356144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878A9-3EB1-4521-8032-104C2C7E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12  /  PROPAGACIÓN DE INCERTIDUMBRE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051C5-616D-4B0B-AFCC-CCA41EC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 ambigüedad de intención contamina la respuesta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4CE31-5AC3-4EB8-80CF-FC07ED4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55DD2-BA4F-47FF-B4AF-E36A2E51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75" b="1" i="0">
                <a:solidFill>
                  <a:srgbClr val="FFB66E"/>
                </a:solidFill>
                <a:latin typeface="Cambria Math"/>
                <a:ea typeface="Cambria Math"/>
                <a:cs typeface="Cambria Math"/>
              </a:defRPr>
            </a:pPr>
            <a:r>
              <a:rPr sz="3975" b="1" i="0">
                <a:solidFill>
                  <a:srgbClr val="FFB66E"/>
                </a:solidFill>
                <a:latin typeface="Cambria Math"/>
                <a:ea typeface="Cambria Math"/>
                <a:cs typeface="Cambria Math"/>
              </a:rPr>
              <a:t>H(Z | X)  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22C1F-8F3A-42FD-9524-F4CD5316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050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8B0B6-CBED-4155-835E-05E417B0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75" b="1" i="0">
                <a:solidFill>
                  <a:srgbClr val="45E0D0"/>
                </a:solidFill>
                <a:latin typeface="Cambria Math"/>
                <a:ea typeface="Cambria Math"/>
                <a:cs typeface="Cambria Math"/>
              </a:defRPr>
            </a:pPr>
            <a:r>
              <a:rPr sz="3975" b="1" i="0">
                <a:solidFill>
                  <a:srgbClr val="45E0D0"/>
                </a:solidFill>
                <a:latin typeface="Cambria Math"/>
                <a:ea typeface="Cambria Math"/>
                <a:cs typeface="Cambria Math"/>
              </a:rPr>
              <a:t>H(Y | X,C)  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A50CD-CC73-4EE1-A4DB-9DCF8158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050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A9965-AA87-4BBC-8851-EED91D2E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6695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25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FF6F7D"/>
                </a:solidFill>
                <a:latin typeface="Aptos"/>
                <a:ea typeface="Aptos"/>
                <a:cs typeface="Aptos"/>
              </a:rPr>
              <a:t>riesgo  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5476E-3C6A-4E59-8EE6-75D8365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290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B9AF3-71CD-4303-84AB-AF9B4DE7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81450"/>
            <a:ext cx="762000" cy="1181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5E0D0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25466-F276-446C-94D3-4DAA4BEB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57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AE257-2A50-47B9-9B23-5B245D5E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290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59736-535A-46EA-B177-39743AF8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81450"/>
            <a:ext cx="762000" cy="1033463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769F4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745FF-3716-4215-B361-F2C6BCAB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10163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C9D3D-D617-42A7-8815-CADE6CA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290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4DACE-748F-4A09-B933-73EACF5E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81450"/>
            <a:ext cx="762000" cy="738188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B66E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3DA6D-8705-4578-AAB7-90437D09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4888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B66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532D8-713A-45BF-B40E-C2A533A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multimodal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C1DFD-5F4C-481E-9A99-57834DA9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386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8CFE1"/>
                </a:solidFill>
                <a:latin typeface="Aptos"/>
                <a:ea typeface="Aptos"/>
                <a:cs typeface="Aptos"/>
              </a:rPr>
              <a:t>El modelo no está “confundido”: está promediando respuestas válidas bajo intenciones diferentes.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81A4F-C904-488D-92FF-8B8C8A5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Fuente: context.md — entropía de intención y multimodalidad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FB55B-BB09-4B04-946A-A497233B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025060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515855-C79D-401F-B722-E87D3CF3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13  /  RECUPERACIÓN SEMÁNTICA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DA542-150B-4B55-93A8-AADBF649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Una query ambigua queda entre clústeres y reduce el margen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4CD45-0533-43C2-AAC7-F6A603A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16EF8-D63E-48EF-8929-65B288EC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rPr>
              <a:t>eX ≈ Σz P(Z=z | X) · eX,z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FD6A2-5846-4629-9F06-B07506ED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61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rPr>
              <a:t>Δ = s(Ccorrecto,X) − s(Cincorrecto,X) ≈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8CE88-66E3-4794-8DA9-BCE9A8FC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El retriever devuelve evidencia de varios sentidos; el ranking se vuelve inestable.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77E7C-C07C-457E-B712-0743F82D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55295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66D7B-7318-4D21-BC1A-4756E8F5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90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06AF3-A880-4E39-B002-C252E7CD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F4984-3C17-4A77-A40D-50BE6CF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29338-F7EF-46CC-89EB-62D57018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702B7-91B4-4DC7-AFCD-6A8FF02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5205A-B55D-4C8F-9F09-5259BCD3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E0D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EF12F-6603-474F-8ACF-EF3C4460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12444-1329-4CEF-A028-B46F1749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52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BF6D8-A683-40A6-8B47-23EC4B83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52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89BDB-9DDF-46AC-8299-5F08FEBC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C0C78-1A95-403E-BD37-B0FC78F1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57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98DD1-21C9-4986-A4D5-E1C2C8B6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69F4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05516-9130-4683-B2E2-43131B81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E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C44C0-B05B-4461-B26A-45D419E9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CB1AC-76C0-419E-9987-0DAD1E13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-1238250" cy="-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E0D0">
                <a:alpha val="60000"/>
              </a:srgbClr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110E6-E3E1-4AA3-A9A0-23166D0E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10096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69F4">
                <a:alpha val="60000"/>
              </a:srgbClr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484F5-4F4E-4192-BB96-54DBF2AA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910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memoria del agente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9AE5D-1FF3-45EE-8747-F030C5AC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910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memoria informática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80470-A3E2-4127-A214-FCED00C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context.md — embedding agregado y reducción del margen de similitud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803C1C-EE91-4AAE-A424-7B7D6354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77129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2BA90-800C-4185-A609-4269A45B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14  /  RERANKING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00DB8-91DA-42CC-9AB7-704CF7E9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5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Dos documentos casi empatados pueden representar intenciones opuestas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E8323-0842-4E55-B428-78F4A1C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70B2F-F6D8-4085-B2FB-75875F0D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5C647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5C6478"/>
                </a:solidFill>
                <a:latin typeface="Cambria Math"/>
                <a:ea typeface="Cambria Math"/>
                <a:cs typeface="Cambria Math"/>
              </a:rPr>
              <a:t>P(Z₁|X)=0.55   ·   P(Z₂|X)=0.45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14955-36D0-42E2-81AD-F387F23C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095750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45E0D0">
              <a:alpha val="10000"/>
            </a:srgbClr>
          </a:solidFill>
          <a:ln xmlns:a="http://schemas.openxmlformats.org/drawingml/2006/main" w="19050">
            <a:solidFill>
              <a:srgbClr val="45E0D0">
                <a:alpha val="6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7A4B3-0409-4DC8-8641-1621B7F7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4095750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7769F4">
              <a:alpha val="10000"/>
            </a:srgbClr>
          </a:solidFill>
          <a:ln xmlns:a="http://schemas.openxmlformats.org/drawingml/2006/main" w="19050">
            <a:solidFill>
              <a:srgbClr val="7769F4">
                <a:alpha val="6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D5942-84CE-4D8A-8654-7BAEB3DC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Chunk C₁ · intención Z₁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EE60B-BEE6-45AE-9B74-95346294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0.5400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24AD0-F387-45FD-86C5-1A89F478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Chunk C₂ · intención Z₂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BFA8B-AEFE-4378-8CF4-6DA3CB28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0.5375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ACD00-08CD-4A7A-8310-65E9A104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909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6F7D"/>
                </a:solidFill>
                <a:latin typeface="Aptos"/>
                <a:ea typeface="Aptos"/>
                <a:cs typeface="Aptos"/>
              </a:rPr>
              <a:t>Δ = 0.0025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4B2CC-9CCB-4097-A8E1-8354728E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El reranker parece preciso, pero la intención sigue sin estar identificada.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6E318-467C-46AA-AE63-D3A53A27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context.md — ejemplo numérico de scores marginalizados por intención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4C26C-CE7B-465C-A060-BE2A4D1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815428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CA4958-93D5-44DF-89CA-1A523F2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15  /  GENERACIÓN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F0424-DF37-42A4-95D4-64B2E48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Incluso documentos correctos pueden producir una respuesta incorrecta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E71DE-3FE3-48F8-9224-668AD4B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E576D-1725-4D9B-B578-B41276E9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24765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5E0D0">
                <a:alpha val="7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37EA2-C399-461E-80D6-171198CC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476500" cy="-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769F4">
                <a:alpha val="7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C73C9-CA2B-4094-A63A-2DB91922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9525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B2C4B-217C-4341-B7FA-BDEC1CD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6479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45E0D0">
              <a:alpha val="14000"/>
            </a:srgbClr>
          </a:solidFill>
          <a:ln xmlns:a="http://schemas.openxmlformats.org/drawingml/2006/main" w="19050">
            <a:solidFill>
              <a:srgbClr val="45E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10CC1-37E6-4ECA-9A05-79E1877F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6479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19050">
            <a:solidFill>
              <a:srgbClr val="7769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037AF-C1B3-4A00-9025-D2E12A08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CZ₁ · válido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13C40-0064-4201-9FA8-8DE32DAB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para intención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D58D5-9CB8-4376-8183-42A20C01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CZ₂ · válido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99325-AB75-496C-9F83-514A0D11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para intención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8E193-6715-47F4-B951-75F3CDB5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2286000" cy="1524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2F0EA-8AED-4586-8D40-78DAA775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137F8-084C-414E-8E66-314B71A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elige · mezcla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generaliza · alarga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312BA-48A6-4B5A-8A18-F482B1EA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48025"/>
            <a:ext cx="152400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B66E">
              <a:alpha val="18000"/>
            </a:srgbClr>
          </a:solidFill>
          <a:ln xmlns:a="http://schemas.openxmlformats.org/drawingml/2006/main" w="19050">
            <a:solidFill>
              <a:srgbClr val="FFB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591E6-BDC8-4650-884F-58FFBE1F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00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FFB66E"/>
                </a:solidFill>
                <a:latin typeface="Aptos"/>
                <a:ea typeface="Aptos"/>
                <a:cs typeface="Aptos"/>
              </a:rPr>
              <a:t>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424A3-69E9-4CC8-87D2-7F62503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6735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Los primeros tokens pueden fijar una interpretación sin nueva evidencia del usuario.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D8ACA-E12C-4D17-A5DF-52F77CC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Fuente: context.md — contexto heterogéneo y auto-condicionamiento autoregresivo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9E975-2599-4B70-9AFD-DD95FB9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07853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0FC12-ACFF-4A32-92ED-C304023C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16  /  NO-IDENTIFICABILIDAD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904C6-6ACD-4057-BD4E-0894AF81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Cuando X no distingue Z, existe un error irreducible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03E5B-BC48-427D-AD3B-079FF906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67933-C756-47E5-9694-006451E9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45E0D0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45E0D0"/>
                </a:solidFill>
                <a:latin typeface="Cambria Math"/>
                <a:ea typeface="Cambria Math"/>
                <a:cs typeface="Cambria Math"/>
              </a:rPr>
              <a:t>P(Z₁|X)=0.60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C7035-4D58-4B8B-92D0-6912CB70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rPr>
              <a:t>P(Z₂|X)=0.40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7BC68-F358-4279-B63C-6E7F386E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5905500" cy="21907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1DCB6-32BD-47E5-BD51-6A85BF67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R* = 1 − maxz P(Z=z|X)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715F2-1A3B-4E34-85FB-415C5F3D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FF6F7D"/>
                </a:solidFill>
                <a:latin typeface="Aptos"/>
                <a:ea typeface="Aptos"/>
                <a:cs typeface="Aptos"/>
              </a:rPr>
              <a:t>= 40%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6364D-48BA-4737-8479-AF9D70B1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2915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No toda respuesta errónea ante una query ambigua es falta de capacidad del LLM.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36A6E-EF9E-4658-BB63-DBD92FB7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1020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0B1020"/>
                </a:solidFill>
                <a:latin typeface="Aptos"/>
                <a:ea typeface="Aptos"/>
                <a:cs typeface="Aptos"/>
              </a:rPr>
              <a:t>A veces el dato que falta no está en el contexto: </a:t>
            </a:r>
            <a:r>
              <a:rPr sz="17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está en la intención del usuario.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39685-9B92-4FC7-AC98-74EDFC7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context.md — riesgo Bayesiano mínimo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CB7A0-9201-4084-8653-BE8D186B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589933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CBCCB8-47F0-492D-8B88-7A8656D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17  /  CLARIFICACIÓN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44311-BCA1-4EC9-AC3A-51D177A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Preguntar es una operación de reducción de entropía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3BEFC-9C70-4757-84D1-4CD0B0A2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AF7BD-9C0A-4151-A4F3-B5FBE38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4292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8f0eed2734188"/>
          <a:stretch xmlns:a="http://schemas.openxmlformats.org/drawingml/2006/main"/>
        </p:blipFill>
        <p:spPr>
          <a:xfrm xmlns:a="http://schemas.openxmlformats.org/drawingml/2006/main">
            <a:off x="857250" y="2821305"/>
            <a:ext cx="5086350" cy="203454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DFA87-9E00-4B1F-96DA-A987268A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7769F4"/>
                </a:solidFill>
                <a:latin typeface="Cambria Math"/>
                <a:ea typeface="Cambria Math"/>
                <a:cs typeface="Cambria Math"/>
              </a:rPr>
              <a:t>I(Z;A|X) = H(Z|X) − H(Z|X,A)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6BFAB-6801-4779-9DF1-511F3F92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0B1020"/>
                </a:solidFill>
                <a:latin typeface="Cambria Math"/>
                <a:ea typeface="Cambria Math"/>
                <a:cs typeface="Cambria Math"/>
              </a:rPr>
              <a:t>A* = arg maxA I(Z;A|X)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F3465-953B-4C17-9CD8-20B19C51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3815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45E0D0">
              <a:alpha val="12000"/>
            </a:srgbClr>
          </a:solidFill>
          <a:ln xmlns:a="http://schemas.openxmlformats.org/drawingml/2006/main" w="19050">
            <a:solidFill>
              <a:srgbClr val="45E0D0">
                <a:alpha val="5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B03D8-71AB-448E-B3B1-CDF1F2E7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“¿Te refieres a la ventana de contexto del LLM o a la memoria persistente del agente?”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CC3A2-C214-49D0-AAEA-95A7B7E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Clarify When Necessary (Zhang &amp; Choi, 2023), Fig. 1; context.md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A3DE5-E259-4750-9FB6-4032720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90080455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ECBD8-472B-4085-A083-5A7B9D9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18  /  POLÍTICA DE INTERACCIÓN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6B045-8346-41BA-A2CF-BAC9FC51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Aclarar solo cuando el valor de la información supera su costo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66491-C917-458B-8F87-F66B1921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20FBA-24D1-4872-9F95-1C691FCA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45E0D0"/>
                </a:solidFill>
                <a:latin typeface="Cambria Math"/>
                <a:ea typeface="Cambria Math"/>
                <a:cs typeface="Cambria Math"/>
              </a:defRPr>
            </a:pPr>
            <a:r>
              <a:rPr sz="3600" b="1" i="0">
                <a:solidFill>
                  <a:srgbClr val="45E0D0"/>
                </a:solidFill>
                <a:latin typeface="Cambria Math"/>
                <a:ea typeface="Cambria Math"/>
                <a:cs typeface="Cambria Math"/>
              </a:rPr>
              <a:t>Raclarar  &lt;  Rdirecto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77E12-279A-4304-8AB5-D2EE1BB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4524375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3BC19-FF6C-4C1F-BB35-BCCBA751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4524375" cy="1962150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92FBB-9BCE-45D8-BE22-23FA2D3E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051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6E">
              <a:alpha val="22000"/>
            </a:srgbClr>
          </a:solidFill>
          <a:ln xmlns:a="http://schemas.openxmlformats.org/drawingml/2006/main" w="9525">
            <a:solidFill>
              <a:srgbClr val="FFB66E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25387-1DA2-44B0-B579-310F9FA8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43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66F96-067B-4BD5-B38E-731C2D29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29025"/>
            <a:ext cx="366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Bajo riesgo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intención dominante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DCF6A-689A-42FF-AB1B-09ECE3F9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577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B66E"/>
                </a:solidFill>
                <a:latin typeface="Aptos"/>
                <a:ea typeface="Aptos"/>
                <a:cs typeface="Aptos"/>
              </a:rPr>
              <a:t>asumir y explicitar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EB7A4-E7EE-4878-AC1E-3811595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051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0D0">
              <a:alpha val="22000"/>
            </a:srgbClr>
          </a:solidFill>
          <a:ln xmlns:a="http://schemas.openxmlformats.org/drawingml/2006/main" w="9525">
            <a:solidFill>
              <a:srgbClr val="45E0D0">
                <a:alpha val="4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D1891-7AB7-4346-8575-DFDCA73B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ACLARAR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89F9E-4BFB-4EA8-98E5-0FC1A4CB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29025"/>
            <a:ext cx="366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Alto costo de error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 margen bajo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925EF-C9E6-4EFA-958D-0ED10622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preguntar antes de recuperar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52FD1-AA80-4825-9A9B-FA705E6C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BEC6DB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BEC6DB"/>
                </a:solidFill>
                <a:latin typeface="Aptos"/>
                <a:ea typeface="Aptos"/>
                <a:cs typeface="Aptos"/>
              </a:rPr>
              <a:t>{Costo de error}  ·  {Costo de interacción}  ·  {Umbral de ambigüedad}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46F23-325F-418A-A8A7-E1BBA4A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Fuente: context.md — decisión Bayesiana con costo de interacción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336B7-6E40-4728-80C8-8634E05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969747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1BC5DE-0C3D-4543-AB23-A87672E7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19  / 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5EF37-681E-4E86-AE33-2BC5ADD3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0B1020"/>
                </a:solidFill>
                <a:latin typeface="Aptos"/>
                <a:ea typeface="Aptos"/>
                <a:cs typeface="Aptos"/>
              </a:rPr>
              <a:t>El contexto mejora la exactitud, pero no resuelve por sí solo la intención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BBCE3-E076-49D4-8000-353388C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454BF-E14D-468D-942C-D9DDEF8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667500" cy="3943350"/>
          </a:xfrm>
          <a:prstGeom xmlns:a="http://schemas.openxmlformats.org/drawingml/2006/main" prst="roundRect">
            <a:avLst>
              <a:gd name="adj" fmla="val 48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496df27b74ab8"/>
          <a:stretch xmlns:a="http://schemas.openxmlformats.org/drawingml/2006/main"/>
        </p:blipFill>
        <p:spPr>
          <a:xfrm xmlns:a="http://schemas.openxmlformats.org/drawingml/2006/main">
            <a:off x="1712873" y="2400300"/>
            <a:ext cx="4613354" cy="3562350"/>
          </a:xfrm>
          <a:prstGeom xmlns:a="http://schemas.openxmlformats.org/drawingml/2006/main" prst="roundRect">
            <a:avLst>
              <a:gd name="adj" fmla="val 267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1F785-09E4-42A0-80E0-AE51D2F7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288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69F4">
              <a:alpha val="14000"/>
            </a:srgbClr>
          </a:solidFill>
          <a:ln xmlns:a="http://schemas.openxmlformats.org/drawingml/2006/main" w="9525">
            <a:solidFill>
              <a:srgbClr val="7769F4">
                <a:alpha val="4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C77E3-A2BF-496B-89AE-1F9AAEFF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669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03931-643E-41F2-AC3E-AEFD0566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62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QA promedio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11D6E-C97A-44B8-9176-D6A12D66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861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62D590"/>
                </a:solidFill>
                <a:latin typeface="Aptos"/>
                <a:ea typeface="Aptos"/>
                <a:cs typeface="Aptos"/>
              </a:rPr>
              <a:t>54% → 67%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FD01E-6098-4472-AA1B-5E2E139A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43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no ambiguas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4183B-23C1-4E04-AD8A-17AA9F2C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95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FB66E"/>
                </a:solidFill>
                <a:latin typeface="Aptos"/>
                <a:ea typeface="Aptos"/>
                <a:cs typeface="Aptos"/>
              </a:rPr>
              <a:t>46% → 55%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62687-E1EB-46CF-856E-BE9ED32D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76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ambiguas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A15B9-5D37-499B-AB51-79E5FFEE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33950"/>
            <a:ext cx="319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1FA07-13E6-4E88-85C7-B9B33FE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43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Preguntas aclaratorias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64D2A-9E32-4BF3-B764-0C957139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673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F6F7D"/>
                </a:solidFill>
                <a:latin typeface="Aptos"/>
                <a:ea typeface="Aptos"/>
                <a:cs typeface="Aptos"/>
              </a:rPr>
              <a:t>0–2.5%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8D900-62A8-48AB-8711-90471238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864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47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478"/>
                </a:solidFill>
                <a:latin typeface="Aptos"/>
                <a:ea typeface="Aptos"/>
                <a:cs typeface="Aptos"/>
              </a:rPr>
              <a:t>con contexto, en la mayoría de modelos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69B46-FB75-4770-A9AC-8FD6CFA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Fuente: Su &amp; Cardie (2026), Fig. 1 y Tablas 6–8; imagen suministrada en el proyecto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466D4-5B21-4246-8A22-8296D502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8C93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8C93A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61281920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20"/>
            </a:gs>
            <a:gs pos="58000">
              <a:srgbClr val="151B33"/>
            </a:gs>
            <a:gs pos="100000">
              <a:srgbClr val="252A5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AE5709-42AC-4DFC-A84F-827CCDB4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20  /  BLUEPRINT OPERATIVO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79EB8-9C9F-483A-B1F1-643B8FB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 sistema fiable gestiona incertidumbre, no solo 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20042-D36E-4E8A-9C61-2E04528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B5E11-D615-4D23-85BC-50E33D90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2FF27-6F9E-4308-AD67-B866C876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9A7B8-0A46-48AC-9106-2B19F83D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25EE3-C86E-4519-AC50-CBA145B7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F4A0F-1029-4B13-B353-5C852A92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FFB66E">
                <a:alpha val="4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C56F7-9577-4EA8-8081-70C8D4C7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B66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B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1B4CC-71C4-4C57-95CD-34D0BD8F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D0C3B-7B24-4352-ACCE-FD0EA9A4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8CFE1"/>
                </a:solidFill>
                <a:latin typeface="Aptos"/>
                <a:ea typeface="Aptos"/>
                <a:cs typeface="Aptos"/>
              </a:rPr>
              <a:t>H(Z|X)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630D1-4942-4FFA-B81D-CF574E7E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45E0D0">
                <a:alpha val="4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D2EEF-2273-496D-8B55-ECF94618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45E0D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5E0D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D44A3-13C4-472F-B8C3-B92F857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3F354-756B-4DE5-B7CD-F9822541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8CFE1"/>
                </a:solidFill>
                <a:latin typeface="Aptos"/>
                <a:ea typeface="Aptos"/>
                <a:cs typeface="Aptos"/>
              </a:rPr>
              <a:t>responder / aclarar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5DBE1-B364-4B32-9CA6-025E669B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7769F4">
                <a:alpha val="4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8B4D4-5876-4711-BD3C-BE947E64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7769F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7769F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7AC02-8A0A-4C63-989B-3D7F7C2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RECUPERAR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19B48-8FB6-43E9-B123-0C6FF68F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8CFE1"/>
                </a:solidFill>
                <a:latin typeface="Aptos"/>
                <a:ea typeface="Aptos"/>
                <a:cs typeface="Aptos"/>
              </a:rPr>
              <a:t>por intención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B5D19-2E0F-45F0-B4F4-E2050F33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62D590">
                <a:alpha val="4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F4924-70BA-4D97-B017-2D3ED4E1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2D59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62D59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636B5-7FE0-4131-A64E-C65B9D0F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60D98-BDE8-43A9-A5A5-0D6B7537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8CFE1"/>
                </a:solidFill>
                <a:latin typeface="Aptos"/>
                <a:ea typeface="Aptos"/>
                <a:cs typeface="Aptos"/>
              </a:rPr>
              <a:t>con evidencia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07A2C-4616-43AB-A272-CD42D31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76525"/>
            <a:ext cx="1809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9050">
            <a:solidFill>
              <a:srgbClr val="FF6F7D">
                <a:alpha val="4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4812D-9866-45BF-BB71-88BD2A04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19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6F7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6F7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D19DD-E2B1-44AE-ACCF-37E41441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233B5-8D4C-475C-B377-C554295F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C8CFE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8CFE1"/>
                </a:solidFill>
                <a:latin typeface="Aptos"/>
                <a:ea typeface="Aptos"/>
                <a:cs typeface="Aptos"/>
              </a:rPr>
              <a:t>calidad + costo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61E4AB-7E0C-4A6A-923C-4E004309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 Engineering = diseñar qué debe saber el modelo, cuándo y con qué confianza.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3FAD3-CC74-473A-AC62-7058AB71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483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B8C0D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8C0D8"/>
                </a:solidFill>
                <a:latin typeface="Aptos"/>
                <a:ea typeface="Aptos"/>
                <a:cs typeface="Aptos"/>
              </a:rPr>
              <a:t>{Caso de uso}  ·  {Política de riesgo}  ·  {Umbral de ambigüedad}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8A5BC7-5175-4565-9FD5-EA3BD9A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995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Fuentes clave: context.md · survey_context.pdf · Zhang &amp; Choi (2023) · Su &amp; Cardie (2026)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56272-0711-4EA4-9FFC-D3FFE9D3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EB7C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EB7C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355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2026-07-13T01:45:54.0790000Z</dcterms:created>
  <dcterms:modified xsi:type="dcterms:W3CDTF">2026-07-13T01:45:54.0790000Z</dcterms:modified>
</coreProperties>
</file>