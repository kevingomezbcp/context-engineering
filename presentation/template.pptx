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4.xml" ContentType="application/vnd.openxmlformats-officedocument.them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3" r:id="rId4"/>
    <p:sldMasterId id="2147483817" r:id="rId5"/>
    <p:sldMasterId id="2147483836" r:id="rId6"/>
    <p:sldMasterId id="2147483851" r:id="rId7"/>
  </p:sldMasterIdLst>
  <p:notesMasterIdLst>
    <p:notesMasterId r:id="rId25"/>
  </p:notesMasterIdLst>
  <p:handoutMasterIdLst>
    <p:handoutMasterId r:id="rId26"/>
  </p:handoutMasterIdLst>
  <p:sldIdLst>
    <p:sldId id="2147482184" r:id="rId8"/>
    <p:sldId id="2147482185" r:id="rId9"/>
    <p:sldId id="2147482186" r:id="rId10"/>
    <p:sldId id="2147482187" r:id="rId11"/>
    <p:sldId id="2147482188" r:id="rId12"/>
    <p:sldId id="2147482189" r:id="rId13"/>
    <p:sldId id="2147482190" r:id="rId14"/>
    <p:sldId id="2147482191" r:id="rId15"/>
    <p:sldId id="2147482192" r:id="rId16"/>
    <p:sldId id="2147482193" r:id="rId17"/>
    <p:sldId id="2147482211" r:id="rId18"/>
    <p:sldId id="2147482215" r:id="rId19"/>
    <p:sldId id="2147482202" r:id="rId20"/>
    <p:sldId id="2147482216" r:id="rId21"/>
    <p:sldId id="2147482197" r:id="rId22"/>
    <p:sldId id="2147482210" r:id="rId23"/>
    <p:sldId id="2147482208" r:id="rId24"/>
  </p:sldIdLst>
  <p:sldSz cx="12147550" cy="6875463"/>
  <p:notesSz cx="6858000" cy="9144000"/>
  <p:custDataLst>
    <p:tags r:id="rId27"/>
  </p:custDataLst>
  <p:defaultTextStyle>
    <a:defPPr>
      <a:defRPr lang="en-US"/>
    </a:defPPr>
    <a:lvl1pPr marL="0" algn="l" defTabSz="543449" rtl="0" eaLnBrk="1" latinLnBrk="0" hangingPunct="1">
      <a:defRPr sz="2147" kern="1200">
        <a:solidFill>
          <a:schemeClr val="tx1"/>
        </a:solidFill>
        <a:latin typeface="+mn-lt"/>
        <a:ea typeface="+mn-ea"/>
        <a:cs typeface="+mn-cs"/>
      </a:defRPr>
    </a:lvl1pPr>
    <a:lvl2pPr marL="543449" algn="l" defTabSz="543449" rtl="0" eaLnBrk="1" latinLnBrk="0" hangingPunct="1">
      <a:defRPr sz="2147" kern="1200">
        <a:solidFill>
          <a:schemeClr val="tx1"/>
        </a:solidFill>
        <a:latin typeface="+mn-lt"/>
        <a:ea typeface="+mn-ea"/>
        <a:cs typeface="+mn-cs"/>
      </a:defRPr>
    </a:lvl2pPr>
    <a:lvl3pPr marL="1086897" algn="l" defTabSz="543449" rtl="0" eaLnBrk="1" latinLnBrk="0" hangingPunct="1">
      <a:defRPr sz="2147" kern="1200">
        <a:solidFill>
          <a:schemeClr val="tx1"/>
        </a:solidFill>
        <a:latin typeface="+mn-lt"/>
        <a:ea typeface="+mn-ea"/>
        <a:cs typeface="+mn-cs"/>
      </a:defRPr>
    </a:lvl3pPr>
    <a:lvl4pPr marL="1630346" algn="l" defTabSz="543449" rtl="0" eaLnBrk="1" latinLnBrk="0" hangingPunct="1">
      <a:defRPr sz="2147" kern="1200">
        <a:solidFill>
          <a:schemeClr val="tx1"/>
        </a:solidFill>
        <a:latin typeface="+mn-lt"/>
        <a:ea typeface="+mn-ea"/>
        <a:cs typeface="+mn-cs"/>
      </a:defRPr>
    </a:lvl4pPr>
    <a:lvl5pPr marL="2173794" algn="l" defTabSz="543449" rtl="0" eaLnBrk="1" latinLnBrk="0" hangingPunct="1">
      <a:defRPr sz="2147" kern="1200">
        <a:solidFill>
          <a:schemeClr val="tx1"/>
        </a:solidFill>
        <a:latin typeface="+mn-lt"/>
        <a:ea typeface="+mn-ea"/>
        <a:cs typeface="+mn-cs"/>
      </a:defRPr>
    </a:lvl5pPr>
    <a:lvl6pPr marL="2717243" algn="l" defTabSz="543449" rtl="0" eaLnBrk="1" latinLnBrk="0" hangingPunct="1">
      <a:defRPr sz="2147" kern="1200">
        <a:solidFill>
          <a:schemeClr val="tx1"/>
        </a:solidFill>
        <a:latin typeface="+mn-lt"/>
        <a:ea typeface="+mn-ea"/>
        <a:cs typeface="+mn-cs"/>
      </a:defRPr>
    </a:lvl6pPr>
    <a:lvl7pPr marL="3260692" algn="l" defTabSz="543449" rtl="0" eaLnBrk="1" latinLnBrk="0" hangingPunct="1">
      <a:defRPr sz="2147" kern="1200">
        <a:solidFill>
          <a:schemeClr val="tx1"/>
        </a:solidFill>
        <a:latin typeface="+mn-lt"/>
        <a:ea typeface="+mn-ea"/>
        <a:cs typeface="+mn-cs"/>
      </a:defRPr>
    </a:lvl7pPr>
    <a:lvl8pPr marL="3804140" algn="l" defTabSz="543449" rtl="0" eaLnBrk="1" latinLnBrk="0" hangingPunct="1">
      <a:defRPr sz="2147" kern="1200">
        <a:solidFill>
          <a:schemeClr val="tx1"/>
        </a:solidFill>
        <a:latin typeface="+mn-lt"/>
        <a:ea typeface="+mn-ea"/>
        <a:cs typeface="+mn-cs"/>
      </a:defRPr>
    </a:lvl8pPr>
    <a:lvl9pPr marL="4347588" algn="l" defTabSz="543449" rtl="0" eaLnBrk="1" latinLnBrk="0" hangingPunct="1">
      <a:defRPr sz="214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26" userDrawn="1">
          <p15:clr>
            <a:srgbClr val="A4A3A4"/>
          </p15:clr>
        </p15:guide>
        <p15:guide id="4" orient="horz" pos="4041" userDrawn="1">
          <p15:clr>
            <a:srgbClr val="A4A3A4"/>
          </p15:clr>
        </p15:guide>
        <p15:guide id="5" pos="301" userDrawn="1">
          <p15:clr>
            <a:srgbClr val="A4A3A4"/>
          </p15:clr>
        </p15:guide>
        <p15:guide id="6" pos="7330" userDrawn="1">
          <p15:clr>
            <a:srgbClr val="A4A3A4"/>
          </p15:clr>
        </p15:guide>
        <p15:guide id="7" pos="7180" userDrawn="1">
          <p15:clr>
            <a:srgbClr val="A4A3A4"/>
          </p15:clr>
        </p15:guide>
        <p15:guide id="9" pos="3818" userDrawn="1">
          <p15:clr>
            <a:srgbClr val="A4A3A4"/>
          </p15:clr>
        </p15:guide>
        <p15:guide id="10" orient="horz" pos="4009" userDrawn="1">
          <p15:clr>
            <a:srgbClr val="A4A3A4"/>
          </p15:clr>
        </p15:guide>
        <p15:guide id="11" orient="horz" pos="2188" userDrawn="1">
          <p15:clr>
            <a:srgbClr val="A4A3A4"/>
          </p15:clr>
        </p15:guide>
        <p15:guide id="13" pos="3823" userDrawn="1">
          <p15:clr>
            <a:srgbClr val="A4A3A4"/>
          </p15:clr>
        </p15:guide>
        <p15:guide id="14" pos="31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lagros Cigueñas Espinel" initials="MCE" lastIdx="7" clrIdx="0"/>
  <p:cmAuthor id="2" name="Kathleen Gallagher" initials="KG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D0DC"/>
    <a:srgbClr val="C8D0D3"/>
    <a:srgbClr val="0A9DA5"/>
    <a:srgbClr val="C9EBF0"/>
    <a:srgbClr val="E88020"/>
    <a:srgbClr val="D4A9CA"/>
    <a:srgbClr val="E8EEF1"/>
    <a:srgbClr val="1DC5CD"/>
    <a:srgbClr val="9E4A8C"/>
    <a:srgbClr val="E15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19"/>
    <p:restoredTop sz="97164" autoAdjust="0"/>
  </p:normalViewPr>
  <p:slideViewPr>
    <p:cSldViewPr snapToGrid="0">
      <p:cViewPr varScale="1">
        <p:scale>
          <a:sx n="95" d="100"/>
          <a:sy n="95" d="100"/>
        </p:scale>
        <p:origin x="216" y="67"/>
      </p:cViewPr>
      <p:guideLst>
        <p:guide pos="3826"/>
        <p:guide orient="horz" pos="4041"/>
        <p:guide pos="301"/>
        <p:guide pos="7330"/>
        <p:guide pos="7180"/>
        <p:guide pos="3818"/>
        <p:guide orient="horz" pos="4009"/>
        <p:guide orient="horz" pos="2188"/>
        <p:guide pos="3823"/>
        <p:guide pos="317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commentAuthors" Target="commentAuthor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tags" Target="tags/tag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FEAB9F-CB75-8745-87EF-8E559D0BBB93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8B71C-041F-6047-82C9-1EA74FAD525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01306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D20E17-5E8F-41AD-A619-A9EE89BB892E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43000"/>
            <a:ext cx="5451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0D7CE1-4029-4111-8E61-98237ACE8F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7094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6468" rtl="0" eaLnBrk="1" latinLnBrk="0" hangingPunct="1">
      <a:defRPr sz="599" kern="1200">
        <a:solidFill>
          <a:schemeClr val="tx1"/>
        </a:solidFill>
        <a:latin typeface="+mn-lt"/>
        <a:ea typeface="+mn-ea"/>
        <a:cs typeface="+mn-cs"/>
      </a:defRPr>
    </a:lvl1pPr>
    <a:lvl2pPr marL="228234" algn="l" defTabSz="456468" rtl="0" eaLnBrk="1" latinLnBrk="0" hangingPunct="1">
      <a:defRPr sz="599" kern="1200">
        <a:solidFill>
          <a:schemeClr val="tx1"/>
        </a:solidFill>
        <a:latin typeface="+mn-lt"/>
        <a:ea typeface="+mn-ea"/>
        <a:cs typeface="+mn-cs"/>
      </a:defRPr>
    </a:lvl2pPr>
    <a:lvl3pPr marL="456468" algn="l" defTabSz="456468" rtl="0" eaLnBrk="1" latinLnBrk="0" hangingPunct="1">
      <a:defRPr sz="599" kern="1200">
        <a:solidFill>
          <a:schemeClr val="tx1"/>
        </a:solidFill>
        <a:latin typeface="+mn-lt"/>
        <a:ea typeface="+mn-ea"/>
        <a:cs typeface="+mn-cs"/>
      </a:defRPr>
    </a:lvl3pPr>
    <a:lvl4pPr marL="684703" algn="l" defTabSz="456468" rtl="0" eaLnBrk="1" latinLnBrk="0" hangingPunct="1">
      <a:defRPr sz="599" kern="1200">
        <a:solidFill>
          <a:schemeClr val="tx1"/>
        </a:solidFill>
        <a:latin typeface="+mn-lt"/>
        <a:ea typeface="+mn-ea"/>
        <a:cs typeface="+mn-cs"/>
      </a:defRPr>
    </a:lvl4pPr>
    <a:lvl5pPr marL="912937" algn="l" defTabSz="456468" rtl="0" eaLnBrk="1" latinLnBrk="0" hangingPunct="1">
      <a:defRPr sz="599" kern="1200">
        <a:solidFill>
          <a:schemeClr val="tx1"/>
        </a:solidFill>
        <a:latin typeface="+mn-lt"/>
        <a:ea typeface="+mn-ea"/>
        <a:cs typeface="+mn-cs"/>
      </a:defRPr>
    </a:lvl5pPr>
    <a:lvl6pPr marL="1141171" algn="l" defTabSz="456468" rtl="0" eaLnBrk="1" latinLnBrk="0" hangingPunct="1">
      <a:defRPr sz="599" kern="1200">
        <a:solidFill>
          <a:schemeClr val="tx1"/>
        </a:solidFill>
        <a:latin typeface="+mn-lt"/>
        <a:ea typeface="+mn-ea"/>
        <a:cs typeface="+mn-cs"/>
      </a:defRPr>
    </a:lvl6pPr>
    <a:lvl7pPr marL="1369405" algn="l" defTabSz="456468" rtl="0" eaLnBrk="1" latinLnBrk="0" hangingPunct="1">
      <a:defRPr sz="599" kern="1200">
        <a:solidFill>
          <a:schemeClr val="tx1"/>
        </a:solidFill>
        <a:latin typeface="+mn-lt"/>
        <a:ea typeface="+mn-ea"/>
        <a:cs typeface="+mn-cs"/>
      </a:defRPr>
    </a:lvl7pPr>
    <a:lvl8pPr marL="1597640" algn="l" defTabSz="456468" rtl="0" eaLnBrk="1" latinLnBrk="0" hangingPunct="1">
      <a:defRPr sz="599" kern="1200">
        <a:solidFill>
          <a:schemeClr val="tx1"/>
        </a:solidFill>
        <a:latin typeface="+mn-lt"/>
        <a:ea typeface="+mn-ea"/>
        <a:cs typeface="+mn-cs"/>
      </a:defRPr>
    </a:lvl8pPr>
    <a:lvl9pPr marL="1825874" algn="l" defTabSz="456468" rtl="0" eaLnBrk="1" latinLnBrk="0" hangingPunct="1">
      <a:defRPr sz="5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0D7CE1-4029-4111-8E61-98237ACE8FD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376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BC2C7-9338-8A95-6D7A-4FADC9EEB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EDFCD3-2B75-8C8D-61BA-16509009B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504F72-2181-7FFE-BC10-C7EBE2D73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91C03-1D3E-57C7-8640-142802FF98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463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9E6BF-0AB5-02E9-A4C5-795CF24EC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79A69-82AC-6A74-413A-DF7200C21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8EB455-D55B-362E-8864-CD4D27F12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E41AA-0A62-7702-0E5F-F9D86AAF6C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0377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A1E51-C16B-44E7-1033-8F64E2233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3D1C87-AF32-9B5B-0038-7E0A570E2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E28BD7-47A5-FE86-18EB-1E5D2FB55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0414B-A831-D6A7-B6A2-D4D4395B93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9795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C8E35-7AC8-FE85-8651-3AA4A4F30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B1E170-A940-54DD-633E-BD7368153E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2E6D12-8232-5EC7-D280-FA6845592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A2F10-E4A7-685B-4D81-C8B31D55EC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860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8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1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8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20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image" Target="../media/image21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6" Type="http://schemas.openxmlformats.org/officeDocument/2006/relationships/image" Target="../media/image22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23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6" Type="http://schemas.openxmlformats.org/officeDocument/2006/relationships/image" Target="../media/image24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4" Type="http://schemas.openxmlformats.org/officeDocument/2006/relationships/image" Target="../media/image8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1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8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Relationship Id="rId6" Type="http://schemas.openxmlformats.org/officeDocument/2006/relationships/image" Target="../media/image20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Relationship Id="rId6" Type="http://schemas.openxmlformats.org/officeDocument/2006/relationships/image" Target="../media/image21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Relationship Id="rId6" Type="http://schemas.openxmlformats.org/officeDocument/2006/relationships/image" Target="../media/image22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9.xml"/><Relationship Id="rId6" Type="http://schemas.openxmlformats.org/officeDocument/2006/relationships/image" Target="../media/image23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0.xml"/><Relationship Id="rId6" Type="http://schemas.openxmlformats.org/officeDocument/2006/relationships/image" Target="../media/image24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image" Target="../media/image26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image" Target="../media/image25.emf"/><Relationship Id="rId5" Type="http://schemas.openxmlformats.org/officeDocument/2006/relationships/tags" Target="../tags/tag35.xml"/><Relationship Id="rId10" Type="http://schemas.openxmlformats.org/officeDocument/2006/relationships/oleObject" Target="../embeddings/oleObject16.bin"/><Relationship Id="rId4" Type="http://schemas.openxmlformats.org/officeDocument/2006/relationships/tags" Target="../tags/tag34.xml"/><Relationship Id="rId9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10" Type="http://schemas.openxmlformats.org/officeDocument/2006/relationships/image" Target="../media/image25.emf"/><Relationship Id="rId4" Type="http://schemas.openxmlformats.org/officeDocument/2006/relationships/tags" Target="../tags/tag42.xml"/><Relationship Id="rId9" Type="http://schemas.openxmlformats.org/officeDocument/2006/relationships/oleObject" Target="../embeddings/oleObject17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0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8.x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9.xml"/><Relationship Id="rId4" Type="http://schemas.openxmlformats.org/officeDocument/2006/relationships/image" Target="../media/image8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13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1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8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3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4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5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6.xml"/><Relationship Id="rId6" Type="http://schemas.openxmlformats.org/officeDocument/2006/relationships/image" Target="../media/image20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7.xml"/><Relationship Id="rId6" Type="http://schemas.openxmlformats.org/officeDocument/2006/relationships/image" Target="../media/image21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8.xml"/><Relationship Id="rId6" Type="http://schemas.openxmlformats.org/officeDocument/2006/relationships/image" Target="../media/image22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9.xml"/><Relationship Id="rId6" Type="http://schemas.openxmlformats.org/officeDocument/2006/relationships/image" Target="../media/image23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60.xml"/><Relationship Id="rId6" Type="http://schemas.openxmlformats.org/officeDocument/2006/relationships/image" Target="../media/image24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0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62.x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63.xml"/><Relationship Id="rId4" Type="http://schemas.openxmlformats.org/officeDocument/2006/relationships/image" Target="../media/image8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13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6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65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8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6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67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68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69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70.xml"/><Relationship Id="rId6" Type="http://schemas.openxmlformats.org/officeDocument/2006/relationships/image" Target="../media/image20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71.xml"/><Relationship Id="rId6" Type="http://schemas.openxmlformats.org/officeDocument/2006/relationships/image" Target="../media/image21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72.xml"/><Relationship Id="rId6" Type="http://schemas.openxmlformats.org/officeDocument/2006/relationships/image" Target="../media/image22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73.xml"/><Relationship Id="rId6" Type="http://schemas.openxmlformats.org/officeDocument/2006/relationships/image" Target="../media/image23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74.xml"/><Relationship Id="rId6" Type="http://schemas.openxmlformats.org/officeDocument/2006/relationships/image" Target="../media/image24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57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12" Type="http://schemas.openxmlformats.org/officeDocument/2006/relationships/image" Target="../media/image26.png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image" Target="../media/image25.emf"/><Relationship Id="rId5" Type="http://schemas.openxmlformats.org/officeDocument/2006/relationships/tags" Target="../tags/tag79.xml"/><Relationship Id="rId10" Type="http://schemas.openxmlformats.org/officeDocument/2006/relationships/oleObject" Target="../embeddings/oleObject16.bin"/><Relationship Id="rId4" Type="http://schemas.openxmlformats.org/officeDocument/2006/relationships/tags" Target="../tags/tag78.xml"/><Relationship Id="rId9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4.xml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10" Type="http://schemas.openxmlformats.org/officeDocument/2006/relationships/image" Target="../media/image25.emf"/><Relationship Id="rId4" Type="http://schemas.openxmlformats.org/officeDocument/2006/relationships/tags" Target="../tags/tag86.xml"/><Relationship Id="rId9" Type="http://schemas.openxmlformats.org/officeDocument/2006/relationships/oleObject" Target="../embeddings/oleObject17.bin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to 7" hidden="1">
            <a:extLst>
              <a:ext uri="{FF2B5EF4-FFF2-40B4-BE49-F238E27FC236}">
                <a16:creationId xmlns:a16="http://schemas.microsoft.com/office/drawing/2014/main" id="{EB45E1F9-278A-4FAE-9D98-A47C9D43DB0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9067333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592" imgH="595" progId="TCLayout.ActiveDocument.1">
                  <p:embed/>
                </p:oleObj>
              </mc:Choice>
              <mc:Fallback>
                <p:oleObj name="Diapositiva de think-cell" r:id="rId4" imgW="592" imgH="595" progId="TCLayout.ActiveDocument.1">
                  <p:embed/>
                  <p:pic>
                    <p:nvPicPr>
                      <p:cNvPr id="8" name="Objeto 7" hidden="1">
                        <a:extLst>
                          <a:ext uri="{FF2B5EF4-FFF2-40B4-BE49-F238E27FC236}">
                            <a16:creationId xmlns:a16="http://schemas.microsoft.com/office/drawing/2014/main" id="{EB45E1F9-278A-4FAE-9D98-A47C9D43DB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6">
            <a:extLst>
              <a:ext uri="{FF2B5EF4-FFF2-40B4-BE49-F238E27FC236}">
                <a16:creationId xmlns:a16="http://schemas.microsoft.com/office/drawing/2014/main" id="{DE3E51E2-1D46-47BE-9BF1-19170832166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98420"/>
            <a:ext cx="5634375" cy="6277043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6467E84-7EBF-42F6-8768-A43192B4DE4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3743" y="3437732"/>
            <a:ext cx="4662938" cy="1624125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anchor="b">
            <a:normAutofit/>
          </a:bodyPr>
          <a:lstStyle>
            <a:lvl1pPr algn="l">
              <a:defRPr sz="3586" b="1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presentación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69A164-5FDF-4394-B943-995B988CF5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3743" y="5427285"/>
            <a:ext cx="4662938" cy="360917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l">
              <a:buNone/>
              <a:defRPr sz="2391">
                <a:solidFill>
                  <a:schemeClr val="bg1"/>
                </a:solidFill>
              </a:defRPr>
            </a:lvl1pPr>
            <a:lvl2pPr marL="455463" indent="0" algn="ctr">
              <a:buNone/>
              <a:defRPr sz="1992"/>
            </a:lvl2pPr>
            <a:lvl3pPr marL="910925" indent="0" algn="ctr">
              <a:buNone/>
              <a:defRPr sz="1793"/>
            </a:lvl3pPr>
            <a:lvl4pPr marL="1366388" indent="0" algn="ctr">
              <a:buNone/>
              <a:defRPr sz="1594"/>
            </a:lvl4pPr>
            <a:lvl5pPr marL="1821851" indent="0" algn="ctr">
              <a:buNone/>
              <a:defRPr sz="1594"/>
            </a:lvl5pPr>
            <a:lvl6pPr marL="2277313" indent="0" algn="ctr">
              <a:buNone/>
              <a:defRPr sz="1594"/>
            </a:lvl6pPr>
            <a:lvl7pPr marL="2732776" indent="0" algn="ctr">
              <a:buNone/>
              <a:defRPr sz="1594"/>
            </a:lvl7pPr>
            <a:lvl8pPr marL="3188238" indent="0" algn="ctr">
              <a:buNone/>
              <a:defRPr sz="1594"/>
            </a:lvl8pPr>
            <a:lvl9pPr marL="3643701" indent="0" algn="ctr">
              <a:buNone/>
              <a:defRPr sz="1594"/>
            </a:lvl9pPr>
          </a:lstStyle>
          <a:p>
            <a:r>
              <a:rPr lang="es-ES"/>
              <a:t>Subtítulo o división</a:t>
            </a:r>
            <a:endParaRPr lang="en-US"/>
          </a:p>
        </p:txBody>
      </p:sp>
      <p:sp>
        <p:nvSpPr>
          <p:cNvPr id="29" name="Marcador de texto 9">
            <a:extLst>
              <a:ext uri="{FF2B5EF4-FFF2-40B4-BE49-F238E27FC236}">
                <a16:creationId xmlns:a16="http://schemas.microsoft.com/office/drawing/2014/main" id="{334E3A5C-066E-4A70-81AB-B8143270DD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01621" y="6158671"/>
            <a:ext cx="2145616" cy="438247"/>
          </a:xfrm>
          <a:solidFill>
            <a:srgbClr val="000000">
              <a:alpha val="50196"/>
            </a:srgb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l">
              <a:buNone/>
              <a:defRPr sz="1793">
                <a:solidFill>
                  <a:schemeClr val="bg1"/>
                </a:solidFill>
                <a:effectLst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Fecha</a:t>
            </a:r>
            <a:endParaRPr lang="en-US"/>
          </a:p>
        </p:txBody>
      </p:sp>
      <p:pic>
        <p:nvPicPr>
          <p:cNvPr id="9" name="Imagen 8" descr="Texto, Logotipo&#10;&#10;Descripción generada automáticamente">
            <a:extLst>
              <a:ext uri="{FF2B5EF4-FFF2-40B4-BE49-F238E27FC236}">
                <a16:creationId xmlns:a16="http://schemas.microsoft.com/office/drawing/2014/main" id="{D03E36ED-27BD-4EFB-B566-9BD764D6F20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76" t="39996" r="3728" b="40076"/>
          <a:stretch/>
        </p:blipFill>
        <p:spPr>
          <a:xfrm>
            <a:off x="9577703" y="265347"/>
            <a:ext cx="2223270" cy="27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19855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Credicor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8560873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7105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Credicorp_Altern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88839462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B55D53E4-FDFC-4096-8A4C-4075A1781233}"/>
              </a:ext>
            </a:extLst>
          </p:cNvPr>
          <p:cNvSpPr/>
          <p:nvPr/>
        </p:nvSpPr>
        <p:spPr>
          <a:xfrm>
            <a:off x="0" y="5869608"/>
            <a:ext cx="5744779" cy="10058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95" b="1" i="1" err="1">
              <a:solidFill>
                <a:schemeClr val="accent6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3CE5343-F00F-4B20-8714-19275BB7F25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03088" y="0"/>
            <a:ext cx="1444459" cy="120009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5EF5007-6506-4BBA-8234-1C2B4AAD547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5138" y="1443332"/>
            <a:ext cx="516850" cy="59987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4FEB631-98C0-45F1-9841-402E42766EF3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75547" y="874315"/>
            <a:ext cx="372004" cy="86351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E9D798F-950B-4706-B91C-456DF92421E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5679" y="1233552"/>
            <a:ext cx="219193" cy="25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09174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d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6209577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2733" y="3437732"/>
            <a:ext cx="8866853" cy="4331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188" dirty="0"/>
            </a:lvl1pPr>
          </a:lstStyle>
          <a:p>
            <a:pPr marL="0" lvl="0" algn="r"/>
            <a:r>
              <a:rPr lang="es-ES"/>
              <a:t>Haga </a:t>
            </a:r>
            <a:r>
              <a:rPr lang="es-ES" err="1"/>
              <a:t>click</a:t>
            </a:r>
            <a:r>
              <a:rPr lang="es-ES"/>
              <a:t> para modificar el título de la sección</a:t>
            </a:r>
            <a:endParaRPr lang="en-U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8F84AF6-8674-49ED-9011-CB314340CC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1532891" y="2279839"/>
            <a:ext cx="6128515" cy="3062733"/>
          </a:xfrm>
          <a:prstGeom prst="rect">
            <a:avLst/>
          </a:prstGeom>
        </p:spPr>
      </p:pic>
      <p:pic>
        <p:nvPicPr>
          <p:cNvPr id="17" name="Imagen 1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4BF6C012-E334-4434-98DB-426B7B2A36E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9632" b="40075"/>
          <a:stretch/>
        </p:blipFill>
        <p:spPr>
          <a:xfrm>
            <a:off x="10494836" y="224512"/>
            <a:ext cx="1434750" cy="16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24329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BC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8521793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93E653-2556-4FCF-8A4E-D59EBBE621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12254" y="249672"/>
            <a:ext cx="1045356" cy="26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36712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BCP 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3059132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29D7E0-A427-4259-9916-52E66C9BCB9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13828" y="249671"/>
            <a:ext cx="1043781" cy="38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292952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Mib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47190745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7DDB1BDB-5C05-40AB-B778-E7F0C96D7FC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789320" y="138692"/>
            <a:ext cx="1076062" cy="54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88459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Mibanco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9579149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28FA1749-95D5-4681-9777-169E1C715E5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789320" y="138692"/>
            <a:ext cx="1076060" cy="54781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FCC60AF-BC39-4C2B-B28E-7857D52DCBF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85000"/>
          </a:blip>
          <a:srcRect l="7156" t="6742" r="7158" b="7249"/>
          <a:stretch/>
        </p:blipFill>
        <p:spPr>
          <a:xfrm>
            <a:off x="11857609" y="138692"/>
            <a:ext cx="215212" cy="21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1435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Pací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8031420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7E52F62-C9AE-4731-B56C-3C912158A0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1180" y="249671"/>
            <a:ext cx="1280509" cy="34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017887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Pacífico Sal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6134822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9891744-3F45-4DE4-87DB-674EBA99A35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0480" t="59916"/>
          <a:stretch/>
        </p:blipFill>
        <p:spPr>
          <a:xfrm>
            <a:off x="11455121" y="525210"/>
            <a:ext cx="506057" cy="18433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1D2DE91-66A6-4A78-9B0C-A5EE774A70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1180" y="249671"/>
            <a:ext cx="1280509" cy="34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45489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Mibanco Pri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6002275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02F05DE-46DC-429C-9DC3-5714E862901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39746" y="315763"/>
            <a:ext cx="1058277" cy="18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317684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Credicorp Cap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00096568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04BFBD62-6BB3-4EFC-9A08-4F78293A11D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83425" y="249671"/>
            <a:ext cx="1255406" cy="31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54341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Krea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8879484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D553E32-7265-4F39-A1CF-C703AA364E9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1870"/>
          <a:stretch/>
        </p:blipFill>
        <p:spPr>
          <a:xfrm>
            <a:off x="11021633" y="99020"/>
            <a:ext cx="669196" cy="59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511383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2426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to 7" hidden="1">
            <a:extLst>
              <a:ext uri="{FF2B5EF4-FFF2-40B4-BE49-F238E27FC236}">
                <a16:creationId xmlns:a16="http://schemas.microsoft.com/office/drawing/2014/main" id="{EB45E1F9-278A-4FAE-9D98-A47C9D43DB0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9067333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592" imgH="595" progId="TCLayout.ActiveDocument.1">
                  <p:embed/>
                </p:oleObj>
              </mc:Choice>
              <mc:Fallback>
                <p:oleObj name="Diapositiva de think-cell" r:id="rId4" imgW="592" imgH="595" progId="TCLayout.ActiveDocument.1">
                  <p:embed/>
                  <p:pic>
                    <p:nvPicPr>
                      <p:cNvPr id="8" name="Objeto 7" hidden="1">
                        <a:extLst>
                          <a:ext uri="{FF2B5EF4-FFF2-40B4-BE49-F238E27FC236}">
                            <a16:creationId xmlns:a16="http://schemas.microsoft.com/office/drawing/2014/main" id="{EB45E1F9-278A-4FAE-9D98-A47C9D43DB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6">
            <a:extLst>
              <a:ext uri="{FF2B5EF4-FFF2-40B4-BE49-F238E27FC236}">
                <a16:creationId xmlns:a16="http://schemas.microsoft.com/office/drawing/2014/main" id="{DE3E51E2-1D46-47BE-9BF1-19170832166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98420"/>
            <a:ext cx="5634375" cy="6277043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6467E84-7EBF-42F6-8768-A43192B4DE4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3743" y="3437732"/>
            <a:ext cx="4662938" cy="1624125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anchor="b">
            <a:normAutofit/>
          </a:bodyPr>
          <a:lstStyle>
            <a:lvl1pPr algn="l">
              <a:defRPr sz="3586" b="1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presentación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69A164-5FDF-4394-B943-995B988CF5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3743" y="5427285"/>
            <a:ext cx="4662938" cy="360917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l">
              <a:buNone/>
              <a:defRPr sz="2391">
                <a:solidFill>
                  <a:schemeClr val="bg1"/>
                </a:solidFill>
              </a:defRPr>
            </a:lvl1pPr>
            <a:lvl2pPr marL="455463" indent="0" algn="ctr">
              <a:buNone/>
              <a:defRPr sz="1992"/>
            </a:lvl2pPr>
            <a:lvl3pPr marL="910925" indent="0" algn="ctr">
              <a:buNone/>
              <a:defRPr sz="1793"/>
            </a:lvl3pPr>
            <a:lvl4pPr marL="1366388" indent="0" algn="ctr">
              <a:buNone/>
              <a:defRPr sz="1594"/>
            </a:lvl4pPr>
            <a:lvl5pPr marL="1821851" indent="0" algn="ctr">
              <a:buNone/>
              <a:defRPr sz="1594"/>
            </a:lvl5pPr>
            <a:lvl6pPr marL="2277313" indent="0" algn="ctr">
              <a:buNone/>
              <a:defRPr sz="1594"/>
            </a:lvl6pPr>
            <a:lvl7pPr marL="2732776" indent="0" algn="ctr">
              <a:buNone/>
              <a:defRPr sz="1594"/>
            </a:lvl7pPr>
            <a:lvl8pPr marL="3188238" indent="0" algn="ctr">
              <a:buNone/>
              <a:defRPr sz="1594"/>
            </a:lvl8pPr>
            <a:lvl9pPr marL="3643701" indent="0" algn="ctr">
              <a:buNone/>
              <a:defRPr sz="1594"/>
            </a:lvl9pPr>
          </a:lstStyle>
          <a:p>
            <a:r>
              <a:rPr lang="es-ES"/>
              <a:t>Subtítulo o división</a:t>
            </a:r>
            <a:endParaRPr lang="en-US"/>
          </a:p>
        </p:txBody>
      </p:sp>
      <p:sp>
        <p:nvSpPr>
          <p:cNvPr id="29" name="Marcador de texto 9">
            <a:extLst>
              <a:ext uri="{FF2B5EF4-FFF2-40B4-BE49-F238E27FC236}">
                <a16:creationId xmlns:a16="http://schemas.microsoft.com/office/drawing/2014/main" id="{334E3A5C-066E-4A70-81AB-B8143270DD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01621" y="6158671"/>
            <a:ext cx="2145616" cy="438247"/>
          </a:xfrm>
          <a:solidFill>
            <a:srgbClr val="000000">
              <a:alpha val="50196"/>
            </a:srgb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l">
              <a:buNone/>
              <a:defRPr sz="1793">
                <a:solidFill>
                  <a:schemeClr val="bg1"/>
                </a:solidFill>
                <a:effectLst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Fecha</a:t>
            </a:r>
            <a:endParaRPr lang="en-US"/>
          </a:p>
        </p:txBody>
      </p:sp>
      <p:pic>
        <p:nvPicPr>
          <p:cNvPr id="9" name="Imagen 8" descr="Texto, Logotipo&#10;&#10;Descripción generada automáticamente">
            <a:extLst>
              <a:ext uri="{FF2B5EF4-FFF2-40B4-BE49-F238E27FC236}">
                <a16:creationId xmlns:a16="http://schemas.microsoft.com/office/drawing/2014/main" id="{D03E36ED-27BD-4EFB-B566-9BD764D6F20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76" t="39996" r="3728" b="40076"/>
          <a:stretch/>
        </p:blipFill>
        <p:spPr>
          <a:xfrm>
            <a:off x="9577703" y="265347"/>
            <a:ext cx="2223270" cy="27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833393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Credicor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8560873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576117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Credicorp_Altern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88839462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B55D53E4-FDFC-4096-8A4C-4075A1781233}"/>
              </a:ext>
            </a:extLst>
          </p:cNvPr>
          <p:cNvSpPr/>
          <p:nvPr/>
        </p:nvSpPr>
        <p:spPr>
          <a:xfrm>
            <a:off x="0" y="5869608"/>
            <a:ext cx="5744779" cy="10058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95" b="1" i="1" err="1">
              <a:solidFill>
                <a:schemeClr val="accent6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3CE5343-F00F-4B20-8714-19275BB7F25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03088" y="0"/>
            <a:ext cx="1444459" cy="120009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5EF5007-6506-4BBA-8234-1C2B4AAD547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5138" y="1443332"/>
            <a:ext cx="516850" cy="59987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4FEB631-98C0-45F1-9841-402E42766EF3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75547" y="874315"/>
            <a:ext cx="372004" cy="86351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E9D798F-950B-4706-B91C-456DF92421E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5679" y="1233552"/>
            <a:ext cx="219193" cy="25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385912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d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6209577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2733" y="3437732"/>
            <a:ext cx="8866853" cy="4331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188" dirty="0"/>
            </a:lvl1pPr>
          </a:lstStyle>
          <a:p>
            <a:pPr marL="0" lvl="0" algn="r"/>
            <a:r>
              <a:rPr lang="es-ES"/>
              <a:t>Haga </a:t>
            </a:r>
            <a:r>
              <a:rPr lang="es-ES" err="1"/>
              <a:t>click</a:t>
            </a:r>
            <a:r>
              <a:rPr lang="es-ES"/>
              <a:t> para modificar el título de la sección</a:t>
            </a:r>
            <a:endParaRPr lang="en-U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8F84AF6-8674-49ED-9011-CB314340CC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1532891" y="2279839"/>
            <a:ext cx="6128515" cy="3062733"/>
          </a:xfrm>
          <a:prstGeom prst="rect">
            <a:avLst/>
          </a:prstGeom>
        </p:spPr>
      </p:pic>
      <p:pic>
        <p:nvPicPr>
          <p:cNvPr id="17" name="Imagen 1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4BF6C012-E334-4434-98DB-426B7B2A36E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9632" b="40075"/>
          <a:stretch/>
        </p:blipFill>
        <p:spPr>
          <a:xfrm>
            <a:off x="10494836" y="224512"/>
            <a:ext cx="1434750" cy="16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9125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BC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8521793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93E653-2556-4FCF-8A4E-D59EBBE621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12254" y="249672"/>
            <a:ext cx="1045356" cy="26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798319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BCP 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3059132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29D7E0-A427-4259-9916-52E66C9BCB9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13828" y="249671"/>
            <a:ext cx="1043781" cy="38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110329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Mib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47190745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7DDB1BDB-5C05-40AB-B778-E7F0C96D7FC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789320" y="138692"/>
            <a:ext cx="1076062" cy="54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906154"/>
      </p:ext>
    </p:extLst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Mibanco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9579149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28FA1749-95D5-4681-9777-169E1C715E5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789320" y="138692"/>
            <a:ext cx="1076060" cy="54781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FCC60AF-BC39-4C2B-B28E-7857D52DCBF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85000"/>
          </a:blip>
          <a:srcRect l="7156" t="6742" r="7158" b="7249"/>
          <a:stretch/>
        </p:blipFill>
        <p:spPr>
          <a:xfrm>
            <a:off x="11857609" y="138692"/>
            <a:ext cx="215212" cy="21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34939"/>
      </p:ext>
    </p:extLst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Pací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8031420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7E52F62-C9AE-4731-B56C-3C912158A0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1180" y="249671"/>
            <a:ext cx="1280509" cy="34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813038"/>
      </p:ext>
    </p:extLst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Pacífico Sal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6134822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9891744-3F45-4DE4-87DB-674EBA99A35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0480" t="59916"/>
          <a:stretch/>
        </p:blipFill>
        <p:spPr>
          <a:xfrm>
            <a:off x="11455121" y="525210"/>
            <a:ext cx="506057" cy="18433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1D2DE91-66A6-4A78-9B0C-A5EE774A70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1180" y="249671"/>
            <a:ext cx="1280509" cy="34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855602"/>
      </p:ext>
    </p:extLst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Mibanco Pri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6002275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02F05DE-46DC-429C-9DC3-5714E862901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39746" y="315763"/>
            <a:ext cx="1058277" cy="18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351055"/>
      </p:ext>
    </p:extLst>
  </p:cSld>
  <p:clrMapOvr>
    <a:masterClrMapping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Credicorp Cap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00096568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04BFBD62-6BB3-4EFC-9A08-4F78293A11D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83425" y="249671"/>
            <a:ext cx="1255406" cy="31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700088"/>
      </p:ext>
    </p:extLst>
  </p:cSld>
  <p:clrMapOvr>
    <a:masterClrMapping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Krea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8879484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D553E32-7265-4F39-A1CF-C703AA364E9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1870"/>
          <a:stretch/>
        </p:blipFill>
        <p:spPr>
          <a:xfrm>
            <a:off x="11021633" y="99020"/>
            <a:ext cx="669196" cy="59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001930"/>
      </p:ext>
    </p:extLst>
  </p:cSld>
  <p:clrMapOvr>
    <a:masterClrMapping/>
  </p:clrMapOvr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Layou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2856251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C5B746B-A82B-5B76-11EF-DC1F5C5A358A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037" y="3184"/>
            <a:ext cx="12150587" cy="6875463"/>
          </a:xfrm>
          <a:prstGeom prst="rect">
            <a:avLst/>
          </a:prstGeom>
        </p:spPr>
      </p:pic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171" cy="159154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092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91" b="1" i="0" u="none" strike="noStrike" kern="1200" cap="none" spc="0" normalizeH="0" baseline="0" noProof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271282" y="6516103"/>
            <a:ext cx="324314" cy="13805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084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897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0842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897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2714" y="6518225"/>
            <a:ext cx="7251327" cy="12266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0925" rtl="0" eaLnBrk="1" fontAlgn="auto" latinLnBrk="0" hangingPunct="1">
              <a:lnSpc>
                <a:spcPct val="100000"/>
              </a:lnSpc>
              <a:spcBef>
                <a:spcPts val="299"/>
              </a:spcBef>
              <a:spcAft>
                <a:spcPts val="299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79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2714" y="182836"/>
            <a:ext cx="11042123" cy="733383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2714" y="906163"/>
            <a:ext cx="11042123" cy="277704"/>
          </a:xfrm>
        </p:spPr>
        <p:txBody>
          <a:bodyPr anchor="ctr" anchorCtr="0"/>
          <a:lstStyle/>
          <a:p>
            <a:r>
              <a:rPr lang="en-US" sz="1594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33649" y="39307"/>
            <a:ext cx="4464225" cy="202748"/>
          </a:xfrm>
        </p:spPr>
        <p:txBody>
          <a:bodyPr anchor="ctr" anchorCtr="0">
            <a:spAutoFit/>
          </a:bodyPr>
          <a:lstStyle>
            <a:lvl1pPr algn="r">
              <a:defRPr sz="797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sp>
        <p:nvSpPr>
          <p:cNvPr id="6" name="SlideLogoText">
            <a:extLst>
              <a:ext uri="{FF2B5EF4-FFF2-40B4-BE49-F238E27FC236}">
                <a16:creationId xmlns:a16="http://schemas.microsoft.com/office/drawing/2014/main" id="{17777A94-E817-F658-EB46-039D380FADEF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black">
          <a:xfrm>
            <a:off x="10103460" y="6516732"/>
            <a:ext cx="1134926" cy="13805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09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9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</p:spTree>
    <p:extLst>
      <p:ext uri="{BB962C8B-B14F-4D97-AF65-F5344CB8AC3E}">
        <p14:creationId xmlns:p14="http://schemas.microsoft.com/office/powerpoint/2010/main" val="41569207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171" cy="159154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91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2714" y="182836"/>
            <a:ext cx="11042123" cy="73338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271282" y="6516104"/>
            <a:ext cx="324314" cy="13805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08423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897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08423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897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2714" y="6518225"/>
            <a:ext cx="7251327" cy="12266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797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33649" y="39307"/>
            <a:ext cx="4464225" cy="202748"/>
          </a:xfrm>
        </p:spPr>
        <p:txBody>
          <a:bodyPr wrap="square" anchor="ctr" anchorCtr="0">
            <a:spAutoFit/>
          </a:bodyPr>
          <a:lstStyle>
            <a:lvl1pPr algn="r">
              <a:defRPr sz="797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2714" y="906163"/>
            <a:ext cx="11042123" cy="277704"/>
          </a:xfrm>
        </p:spPr>
        <p:txBody>
          <a:bodyPr anchor="ctr" anchorCtr="0"/>
          <a:lstStyle/>
          <a:p>
            <a:r>
              <a:rPr lang="en-US" sz="1594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016293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iapositiva de título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to 7" hidden="1">
            <a:extLst>
              <a:ext uri="{FF2B5EF4-FFF2-40B4-BE49-F238E27FC236}">
                <a16:creationId xmlns:a16="http://schemas.microsoft.com/office/drawing/2014/main" id="{EB45E1F9-278A-4FAE-9D98-A47C9D43DB0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592" imgH="595" progId="TCLayout.ActiveDocument.1">
                  <p:embed/>
                </p:oleObj>
              </mc:Choice>
              <mc:Fallback>
                <p:oleObj name="Diapositiva de think-cell" r:id="rId4" imgW="592" imgH="595" progId="TCLayout.ActiveDocument.1">
                  <p:embed/>
                  <p:pic>
                    <p:nvPicPr>
                      <p:cNvPr id="8" name="Objeto 7" hidden="1">
                        <a:extLst>
                          <a:ext uri="{FF2B5EF4-FFF2-40B4-BE49-F238E27FC236}">
                            <a16:creationId xmlns:a16="http://schemas.microsoft.com/office/drawing/2014/main" id="{EB45E1F9-278A-4FAE-9D98-A47C9D43DB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6">
            <a:extLst>
              <a:ext uri="{FF2B5EF4-FFF2-40B4-BE49-F238E27FC236}">
                <a16:creationId xmlns:a16="http://schemas.microsoft.com/office/drawing/2014/main" id="{DE3E51E2-1D46-47BE-9BF1-19170832166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98420"/>
            <a:ext cx="5634375" cy="6277043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6467E84-7EBF-42F6-8768-A43192B4DE4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3743" y="3437732"/>
            <a:ext cx="4662938" cy="1624125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anchor="b">
            <a:normAutofit/>
          </a:bodyPr>
          <a:lstStyle>
            <a:lvl1pPr algn="l">
              <a:defRPr sz="3586" b="1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presentación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69A164-5FDF-4394-B943-995B988CF5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3743" y="5427285"/>
            <a:ext cx="4662938" cy="360917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l">
              <a:buNone/>
              <a:defRPr sz="2391">
                <a:solidFill>
                  <a:schemeClr val="bg1"/>
                </a:solidFill>
              </a:defRPr>
            </a:lvl1pPr>
            <a:lvl2pPr marL="455463" indent="0" algn="ctr">
              <a:buNone/>
              <a:defRPr sz="1992"/>
            </a:lvl2pPr>
            <a:lvl3pPr marL="910925" indent="0" algn="ctr">
              <a:buNone/>
              <a:defRPr sz="1793"/>
            </a:lvl3pPr>
            <a:lvl4pPr marL="1366388" indent="0" algn="ctr">
              <a:buNone/>
              <a:defRPr sz="1594"/>
            </a:lvl4pPr>
            <a:lvl5pPr marL="1821851" indent="0" algn="ctr">
              <a:buNone/>
              <a:defRPr sz="1594"/>
            </a:lvl5pPr>
            <a:lvl6pPr marL="2277313" indent="0" algn="ctr">
              <a:buNone/>
              <a:defRPr sz="1594"/>
            </a:lvl6pPr>
            <a:lvl7pPr marL="2732776" indent="0" algn="ctr">
              <a:buNone/>
              <a:defRPr sz="1594"/>
            </a:lvl7pPr>
            <a:lvl8pPr marL="3188238" indent="0" algn="ctr">
              <a:buNone/>
              <a:defRPr sz="1594"/>
            </a:lvl8pPr>
            <a:lvl9pPr marL="3643701" indent="0" algn="ctr">
              <a:buNone/>
              <a:defRPr sz="1594"/>
            </a:lvl9pPr>
          </a:lstStyle>
          <a:p>
            <a:r>
              <a:rPr lang="es-ES"/>
              <a:t>Subtítulo o división</a:t>
            </a:r>
            <a:endParaRPr lang="en-US"/>
          </a:p>
        </p:txBody>
      </p:sp>
      <p:sp>
        <p:nvSpPr>
          <p:cNvPr id="29" name="Marcador de texto 9">
            <a:extLst>
              <a:ext uri="{FF2B5EF4-FFF2-40B4-BE49-F238E27FC236}">
                <a16:creationId xmlns:a16="http://schemas.microsoft.com/office/drawing/2014/main" id="{334E3A5C-066E-4A70-81AB-B8143270DD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01621" y="6158671"/>
            <a:ext cx="2145616" cy="438247"/>
          </a:xfrm>
          <a:solidFill>
            <a:srgbClr val="000000">
              <a:alpha val="50196"/>
            </a:srgb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l">
              <a:buNone/>
              <a:defRPr sz="1793">
                <a:solidFill>
                  <a:schemeClr val="bg1"/>
                </a:solidFill>
                <a:effectLst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Fecha</a:t>
            </a:r>
            <a:endParaRPr lang="en-US"/>
          </a:p>
        </p:txBody>
      </p:sp>
      <p:pic>
        <p:nvPicPr>
          <p:cNvPr id="9" name="Imagen 8" descr="Texto, Logotipo&#10;&#10;Descripción generada automáticamente">
            <a:extLst>
              <a:ext uri="{FF2B5EF4-FFF2-40B4-BE49-F238E27FC236}">
                <a16:creationId xmlns:a16="http://schemas.microsoft.com/office/drawing/2014/main" id="{D03E36ED-27BD-4EFB-B566-9BD764D6F20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76" t="39996" r="3728" b="40076"/>
          <a:stretch/>
        </p:blipFill>
        <p:spPr>
          <a:xfrm>
            <a:off x="9577703" y="265347"/>
            <a:ext cx="2223270" cy="27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19855"/>
      </p:ext>
    </p:extLst>
  </p:cSld>
  <p:clrMapOvr>
    <a:masterClrMapping/>
  </p:clrMapOvr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Credicor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71057"/>
      </p:ext>
    </p:extLst>
  </p:cSld>
  <p:clrMapOvr>
    <a:masterClrMapping/>
  </p:clrMapOvr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Credicorp_Altern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B55D53E4-FDFC-4096-8A4C-4075A1781233}"/>
              </a:ext>
            </a:extLst>
          </p:cNvPr>
          <p:cNvSpPr/>
          <p:nvPr/>
        </p:nvSpPr>
        <p:spPr>
          <a:xfrm>
            <a:off x="0" y="5869608"/>
            <a:ext cx="5744779" cy="10058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95" b="1" i="1" err="1">
              <a:solidFill>
                <a:schemeClr val="accent6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3CE5343-F00F-4B20-8714-19275BB7F25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03088" y="0"/>
            <a:ext cx="1444459" cy="120009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5EF5007-6506-4BBA-8234-1C2B4AAD547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5138" y="1443332"/>
            <a:ext cx="516850" cy="59987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4FEB631-98C0-45F1-9841-402E42766EF3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75547" y="874315"/>
            <a:ext cx="372004" cy="86351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E9D798F-950B-4706-B91C-456DF92421E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5679" y="1233552"/>
            <a:ext cx="219193" cy="25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09174"/>
      </p:ext>
    </p:extLst>
  </p:cSld>
  <p:clrMapOvr>
    <a:masterClrMapping/>
  </p:clrMapOvr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eparad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2733" y="3437732"/>
            <a:ext cx="8866853" cy="4331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188" dirty="0"/>
            </a:lvl1pPr>
          </a:lstStyle>
          <a:p>
            <a:pPr marL="0" lvl="0" algn="r"/>
            <a:r>
              <a:rPr lang="es-ES"/>
              <a:t>Haga </a:t>
            </a:r>
            <a:r>
              <a:rPr lang="es-ES" err="1"/>
              <a:t>click</a:t>
            </a:r>
            <a:r>
              <a:rPr lang="es-ES"/>
              <a:t> para modificar el título de la sección</a:t>
            </a:r>
            <a:endParaRPr lang="en-U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8F84AF6-8674-49ED-9011-CB314340CC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1532891" y="2279839"/>
            <a:ext cx="6128515" cy="3062733"/>
          </a:xfrm>
          <a:prstGeom prst="rect">
            <a:avLst/>
          </a:prstGeom>
        </p:spPr>
      </p:pic>
      <p:pic>
        <p:nvPicPr>
          <p:cNvPr id="17" name="Imagen 1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4BF6C012-E334-4434-98DB-426B7B2A36E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9632" b="40075"/>
          <a:stretch/>
        </p:blipFill>
        <p:spPr>
          <a:xfrm>
            <a:off x="10494836" y="224512"/>
            <a:ext cx="1434750" cy="16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243299"/>
      </p:ext>
    </p:extLst>
  </p:cSld>
  <p:clrMapOvr>
    <a:masterClrMapping/>
  </p:clrMapOvr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BC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93E653-2556-4FCF-8A4E-D59EBBE621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12254" y="249672"/>
            <a:ext cx="1045356" cy="26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367129"/>
      </p:ext>
    </p:extLst>
  </p:cSld>
  <p:clrMapOvr>
    <a:masterClrMapping/>
  </p:clrMapOvr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BCP 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29D7E0-A427-4259-9916-52E66C9BCB9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13828" y="249671"/>
            <a:ext cx="1043781" cy="38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292952"/>
      </p:ext>
    </p:extLst>
  </p:cSld>
  <p:clrMapOvr>
    <a:masterClrMapping/>
  </p:clrMapOvr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Mib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7DDB1BDB-5C05-40AB-B778-E7F0C96D7FC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789320" y="138692"/>
            <a:ext cx="1076062" cy="54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88459"/>
      </p:ext>
    </p:extLst>
  </p:cSld>
  <p:clrMapOvr>
    <a:masterClrMapping/>
  </p:clrMapOvr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Mibanco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28FA1749-95D5-4681-9777-169E1C715E5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789320" y="138692"/>
            <a:ext cx="1076060" cy="54781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FCC60AF-BC39-4C2B-B28E-7857D52DCBF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85000"/>
          </a:blip>
          <a:srcRect l="7156" t="6742" r="7158" b="7249"/>
          <a:stretch/>
        </p:blipFill>
        <p:spPr>
          <a:xfrm>
            <a:off x="11857609" y="138692"/>
            <a:ext cx="215212" cy="21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1435"/>
      </p:ext>
    </p:extLst>
  </p:cSld>
  <p:clrMapOvr>
    <a:masterClrMapping/>
  </p:clrMapOvr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Pací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7E52F62-C9AE-4731-B56C-3C912158A0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1180" y="249671"/>
            <a:ext cx="1280509" cy="34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017887"/>
      </p:ext>
    </p:extLst>
  </p:cSld>
  <p:clrMapOvr>
    <a:masterClrMapping/>
  </p:clrMapOvr>
  <p:hf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Pacífico Sal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9891744-3F45-4DE4-87DB-674EBA99A35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0480" t="59916"/>
          <a:stretch/>
        </p:blipFill>
        <p:spPr>
          <a:xfrm>
            <a:off x="11455121" y="525210"/>
            <a:ext cx="506057" cy="18433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1D2DE91-66A6-4A78-9B0C-A5EE774A70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1180" y="249671"/>
            <a:ext cx="1280509" cy="34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454894"/>
      </p:ext>
    </p:extLst>
  </p:cSld>
  <p:clrMapOvr>
    <a:masterClrMapping/>
  </p:clrMapOvr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Mibanco Pri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02F05DE-46DC-429C-9DC3-5714E862901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39746" y="315763"/>
            <a:ext cx="1058277" cy="18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317684"/>
      </p:ext>
    </p:extLst>
  </p:cSld>
  <p:clrMapOvr>
    <a:masterClrMapping/>
  </p:clrMapOvr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Credicorp Cap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04BFBD62-6BB3-4EFC-9A08-4F78293A11D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83425" y="249671"/>
            <a:ext cx="1255406" cy="31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54341"/>
      </p:ext>
    </p:extLst>
  </p:cSld>
  <p:clrMapOvr>
    <a:masterClrMapping/>
  </p:clrMapOvr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Krea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D553E32-7265-4F39-A1CF-C703AA364E9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1870"/>
          <a:stretch/>
        </p:blipFill>
        <p:spPr>
          <a:xfrm>
            <a:off x="11021633" y="99020"/>
            <a:ext cx="669196" cy="59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511383"/>
      </p:ext>
    </p:extLst>
  </p:cSld>
  <p:clrMapOvr>
    <a:masterClrMapping/>
  </p:clrMapOvr>
  <p:hf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24267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iapositiva de título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to 7" hidden="1">
            <a:extLst>
              <a:ext uri="{FF2B5EF4-FFF2-40B4-BE49-F238E27FC236}">
                <a16:creationId xmlns:a16="http://schemas.microsoft.com/office/drawing/2014/main" id="{EB45E1F9-278A-4FAE-9D98-A47C9D43DB0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592" imgH="595" progId="TCLayout.ActiveDocument.1">
                  <p:embed/>
                </p:oleObj>
              </mc:Choice>
              <mc:Fallback>
                <p:oleObj name="Diapositiva de think-cell" r:id="rId4" imgW="592" imgH="595" progId="TCLayout.ActiveDocument.1">
                  <p:embed/>
                  <p:pic>
                    <p:nvPicPr>
                      <p:cNvPr id="8" name="Objeto 7" hidden="1">
                        <a:extLst>
                          <a:ext uri="{FF2B5EF4-FFF2-40B4-BE49-F238E27FC236}">
                            <a16:creationId xmlns:a16="http://schemas.microsoft.com/office/drawing/2014/main" id="{EB45E1F9-278A-4FAE-9D98-A47C9D43DB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6">
            <a:extLst>
              <a:ext uri="{FF2B5EF4-FFF2-40B4-BE49-F238E27FC236}">
                <a16:creationId xmlns:a16="http://schemas.microsoft.com/office/drawing/2014/main" id="{DE3E51E2-1D46-47BE-9BF1-19170832166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98420"/>
            <a:ext cx="5634375" cy="6277043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6467E84-7EBF-42F6-8768-A43192B4DE4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3743" y="3437732"/>
            <a:ext cx="4662938" cy="1624125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anchor="b">
            <a:normAutofit/>
          </a:bodyPr>
          <a:lstStyle>
            <a:lvl1pPr algn="l">
              <a:defRPr sz="3586" b="1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presentación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69A164-5FDF-4394-B943-995B988CF5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3743" y="5427285"/>
            <a:ext cx="4662938" cy="360917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l">
              <a:buNone/>
              <a:defRPr sz="2391">
                <a:solidFill>
                  <a:schemeClr val="bg1"/>
                </a:solidFill>
              </a:defRPr>
            </a:lvl1pPr>
            <a:lvl2pPr marL="455463" indent="0" algn="ctr">
              <a:buNone/>
              <a:defRPr sz="1992"/>
            </a:lvl2pPr>
            <a:lvl3pPr marL="910925" indent="0" algn="ctr">
              <a:buNone/>
              <a:defRPr sz="1793"/>
            </a:lvl3pPr>
            <a:lvl4pPr marL="1366388" indent="0" algn="ctr">
              <a:buNone/>
              <a:defRPr sz="1594"/>
            </a:lvl4pPr>
            <a:lvl5pPr marL="1821851" indent="0" algn="ctr">
              <a:buNone/>
              <a:defRPr sz="1594"/>
            </a:lvl5pPr>
            <a:lvl6pPr marL="2277313" indent="0" algn="ctr">
              <a:buNone/>
              <a:defRPr sz="1594"/>
            </a:lvl6pPr>
            <a:lvl7pPr marL="2732776" indent="0" algn="ctr">
              <a:buNone/>
              <a:defRPr sz="1594"/>
            </a:lvl7pPr>
            <a:lvl8pPr marL="3188238" indent="0" algn="ctr">
              <a:buNone/>
              <a:defRPr sz="1594"/>
            </a:lvl8pPr>
            <a:lvl9pPr marL="3643701" indent="0" algn="ctr">
              <a:buNone/>
              <a:defRPr sz="1594"/>
            </a:lvl9pPr>
          </a:lstStyle>
          <a:p>
            <a:r>
              <a:rPr lang="es-ES"/>
              <a:t>Subtítulo o división</a:t>
            </a:r>
            <a:endParaRPr lang="en-US"/>
          </a:p>
        </p:txBody>
      </p:sp>
      <p:sp>
        <p:nvSpPr>
          <p:cNvPr id="29" name="Marcador de texto 9">
            <a:extLst>
              <a:ext uri="{FF2B5EF4-FFF2-40B4-BE49-F238E27FC236}">
                <a16:creationId xmlns:a16="http://schemas.microsoft.com/office/drawing/2014/main" id="{334E3A5C-066E-4A70-81AB-B8143270DD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01621" y="6158671"/>
            <a:ext cx="2145616" cy="438247"/>
          </a:xfrm>
          <a:solidFill>
            <a:srgbClr val="000000">
              <a:alpha val="50196"/>
            </a:srgb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l">
              <a:buNone/>
              <a:defRPr sz="1793">
                <a:solidFill>
                  <a:schemeClr val="bg1"/>
                </a:solidFill>
                <a:effectLst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Fecha</a:t>
            </a:r>
            <a:endParaRPr lang="en-US"/>
          </a:p>
        </p:txBody>
      </p:sp>
      <p:pic>
        <p:nvPicPr>
          <p:cNvPr id="9" name="Imagen 8" descr="Texto, Logotipo&#10;&#10;Descripción generada automáticamente">
            <a:extLst>
              <a:ext uri="{FF2B5EF4-FFF2-40B4-BE49-F238E27FC236}">
                <a16:creationId xmlns:a16="http://schemas.microsoft.com/office/drawing/2014/main" id="{D03E36ED-27BD-4EFB-B566-9BD764D6F20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76" t="39996" r="3728" b="40076"/>
          <a:stretch/>
        </p:blipFill>
        <p:spPr>
          <a:xfrm>
            <a:off x="9577703" y="265347"/>
            <a:ext cx="2223270" cy="27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833393"/>
      </p:ext>
    </p:extLst>
  </p:cSld>
  <p:clrMapOvr>
    <a:masterClrMapping/>
  </p:clrMapOvr>
  <p:hf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Credicor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576117"/>
      </p:ext>
    </p:extLst>
  </p:cSld>
  <p:clrMapOvr>
    <a:masterClrMapping/>
  </p:clrMapOvr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Credicorp_Altern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B55D53E4-FDFC-4096-8A4C-4075A1781233}"/>
              </a:ext>
            </a:extLst>
          </p:cNvPr>
          <p:cNvSpPr/>
          <p:nvPr/>
        </p:nvSpPr>
        <p:spPr>
          <a:xfrm>
            <a:off x="0" y="5869608"/>
            <a:ext cx="5744779" cy="10058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95" b="1" i="1" err="1">
              <a:solidFill>
                <a:schemeClr val="accent6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3CE5343-F00F-4B20-8714-19275BB7F25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03088" y="0"/>
            <a:ext cx="1444459" cy="120009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5EF5007-6506-4BBA-8234-1C2B4AAD547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5138" y="1443332"/>
            <a:ext cx="516850" cy="59987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4FEB631-98C0-45F1-9841-402E42766EF3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75547" y="874315"/>
            <a:ext cx="372004" cy="86351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E9D798F-950B-4706-B91C-456DF92421E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5679" y="1233552"/>
            <a:ext cx="219193" cy="25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385912"/>
      </p:ext>
    </p:extLst>
  </p:cSld>
  <p:clrMapOvr>
    <a:masterClrMapping/>
  </p:clrMapOvr>
  <p:hf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eparad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2733" y="3437732"/>
            <a:ext cx="8866853" cy="4331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188" dirty="0"/>
            </a:lvl1pPr>
          </a:lstStyle>
          <a:p>
            <a:pPr marL="0" lvl="0" algn="r"/>
            <a:r>
              <a:rPr lang="es-ES"/>
              <a:t>Haga </a:t>
            </a:r>
            <a:r>
              <a:rPr lang="es-ES" err="1"/>
              <a:t>click</a:t>
            </a:r>
            <a:r>
              <a:rPr lang="es-ES"/>
              <a:t> para modificar el título de la sección</a:t>
            </a:r>
            <a:endParaRPr lang="en-U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8F84AF6-8674-49ED-9011-CB314340CC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1532891" y="2279839"/>
            <a:ext cx="6128515" cy="3062733"/>
          </a:xfrm>
          <a:prstGeom prst="rect">
            <a:avLst/>
          </a:prstGeom>
        </p:spPr>
      </p:pic>
      <p:pic>
        <p:nvPicPr>
          <p:cNvPr id="17" name="Imagen 1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4BF6C012-E334-4434-98DB-426B7B2A36E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9632" b="40075"/>
          <a:stretch/>
        </p:blipFill>
        <p:spPr>
          <a:xfrm>
            <a:off x="10494836" y="224512"/>
            <a:ext cx="1434750" cy="16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9125"/>
      </p:ext>
    </p:extLst>
  </p:cSld>
  <p:clrMapOvr>
    <a:masterClrMapping/>
  </p:clrMapOvr>
  <p:hf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BC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93E653-2556-4FCF-8A4E-D59EBBE621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12254" y="249672"/>
            <a:ext cx="1045356" cy="26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798319"/>
      </p:ext>
    </p:extLst>
  </p:cSld>
  <p:clrMapOvr>
    <a:masterClrMapping/>
  </p:clrMapOvr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BCP 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29D7E0-A427-4259-9916-52E66C9BCB9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13828" y="249671"/>
            <a:ext cx="1043781" cy="38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110329"/>
      </p:ext>
    </p:extLst>
  </p:cSld>
  <p:clrMapOvr>
    <a:masterClrMapping/>
  </p:clrMapOvr>
  <p:hf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Mib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7DDB1BDB-5C05-40AB-B778-E7F0C96D7FC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789320" y="138692"/>
            <a:ext cx="1076062" cy="54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906154"/>
      </p:ext>
    </p:extLst>
  </p:cSld>
  <p:clrMapOvr>
    <a:masterClrMapping/>
  </p:clrMapOvr>
  <p:hf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Mibanco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28FA1749-95D5-4681-9777-169E1C715E5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789320" y="138692"/>
            <a:ext cx="1076060" cy="54781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FCC60AF-BC39-4C2B-B28E-7857D52DCBF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85000"/>
          </a:blip>
          <a:srcRect l="7156" t="6742" r="7158" b="7249"/>
          <a:stretch/>
        </p:blipFill>
        <p:spPr>
          <a:xfrm>
            <a:off x="11857609" y="138692"/>
            <a:ext cx="215212" cy="21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34939"/>
      </p:ext>
    </p:extLst>
  </p:cSld>
  <p:clrMapOvr>
    <a:masterClrMapping/>
  </p:clrMapOvr>
  <p:hf hd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Pací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7E52F62-C9AE-4731-B56C-3C912158A0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1180" y="249671"/>
            <a:ext cx="1280509" cy="34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813038"/>
      </p:ext>
    </p:extLst>
  </p:cSld>
  <p:clrMapOvr>
    <a:masterClrMapping/>
  </p:clrMapOvr>
  <p:hf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Pacífico Sal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9891744-3F45-4DE4-87DB-674EBA99A35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0480" t="59916"/>
          <a:stretch/>
        </p:blipFill>
        <p:spPr>
          <a:xfrm>
            <a:off x="11455121" y="525210"/>
            <a:ext cx="506057" cy="18433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1D2DE91-66A6-4A78-9B0C-A5EE774A70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1180" y="249671"/>
            <a:ext cx="1280509" cy="34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855602"/>
      </p:ext>
    </p:extLst>
  </p:cSld>
  <p:clrMapOvr>
    <a:masterClrMapping/>
  </p:clrMapOvr>
  <p:hf hd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Mibanco Pri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02F05DE-46DC-429C-9DC3-5714E862901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39746" y="315763"/>
            <a:ext cx="1058277" cy="18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351055"/>
      </p:ext>
    </p:extLst>
  </p:cSld>
  <p:clrMapOvr>
    <a:masterClrMapping/>
  </p:clrMapOvr>
  <p:hf hd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Credicorp Cap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04BFBD62-6BB3-4EFC-9A08-4F78293A11D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83425" y="249671"/>
            <a:ext cx="1255406" cy="31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700088"/>
      </p:ext>
    </p:extLst>
  </p:cSld>
  <p:clrMapOvr>
    <a:masterClrMapping/>
  </p:clrMapOvr>
  <p:hf hd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Krea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D553E32-7265-4F39-A1CF-C703AA364E9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1870"/>
          <a:stretch/>
        </p:blipFill>
        <p:spPr>
          <a:xfrm>
            <a:off x="11021633" y="99020"/>
            <a:ext cx="669196" cy="59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001930"/>
      </p:ext>
    </p:extLst>
  </p:cSld>
  <p:clrMapOvr>
    <a:masterClrMapping/>
  </p:clrMapOvr>
  <p:hf hd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Layou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C5B746B-A82B-5B76-11EF-DC1F5C5A358A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037" y="3184"/>
            <a:ext cx="12150587" cy="6875463"/>
          </a:xfrm>
          <a:prstGeom prst="rect">
            <a:avLst/>
          </a:prstGeom>
        </p:spPr>
      </p:pic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171" cy="159154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092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91" b="1" i="0" u="none" strike="noStrike" kern="1200" cap="none" spc="0" normalizeH="0" baseline="0" noProof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271282" y="6516103"/>
            <a:ext cx="324314" cy="13805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084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897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0842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897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2714" y="6518225"/>
            <a:ext cx="7251327" cy="12266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0925" rtl="0" eaLnBrk="1" fontAlgn="auto" latinLnBrk="0" hangingPunct="1">
              <a:lnSpc>
                <a:spcPct val="100000"/>
              </a:lnSpc>
              <a:spcBef>
                <a:spcPts val="299"/>
              </a:spcBef>
              <a:spcAft>
                <a:spcPts val="299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79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2714" y="182836"/>
            <a:ext cx="11042123" cy="733383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2714" y="906163"/>
            <a:ext cx="11042123" cy="277704"/>
          </a:xfrm>
        </p:spPr>
        <p:txBody>
          <a:bodyPr anchor="ctr" anchorCtr="0"/>
          <a:lstStyle/>
          <a:p>
            <a:r>
              <a:rPr lang="en-US" sz="1594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33649" y="39307"/>
            <a:ext cx="4464225" cy="202748"/>
          </a:xfrm>
        </p:spPr>
        <p:txBody>
          <a:bodyPr anchor="ctr" anchorCtr="0">
            <a:spAutoFit/>
          </a:bodyPr>
          <a:lstStyle>
            <a:lvl1pPr algn="r">
              <a:defRPr sz="797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sp>
        <p:nvSpPr>
          <p:cNvPr id="6" name="SlideLogoText">
            <a:extLst>
              <a:ext uri="{FF2B5EF4-FFF2-40B4-BE49-F238E27FC236}">
                <a16:creationId xmlns:a16="http://schemas.microsoft.com/office/drawing/2014/main" id="{17777A94-E817-F658-EB46-039D380FADEF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black">
          <a:xfrm>
            <a:off x="10103460" y="6516732"/>
            <a:ext cx="1134926" cy="13805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09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9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</p:spTree>
    <p:extLst>
      <p:ext uri="{BB962C8B-B14F-4D97-AF65-F5344CB8AC3E}">
        <p14:creationId xmlns:p14="http://schemas.microsoft.com/office/powerpoint/2010/main" val="415692074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171" cy="159154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91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2714" y="182836"/>
            <a:ext cx="11042123" cy="73338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271282" y="6516104"/>
            <a:ext cx="324314" cy="13805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08423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897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08423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897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2714" y="6518225"/>
            <a:ext cx="7251327" cy="12266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797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33649" y="39307"/>
            <a:ext cx="4464225" cy="202748"/>
          </a:xfrm>
        </p:spPr>
        <p:txBody>
          <a:bodyPr wrap="square" anchor="ctr" anchorCtr="0">
            <a:spAutoFit/>
          </a:bodyPr>
          <a:lstStyle>
            <a:lvl1pPr algn="r">
              <a:defRPr sz="797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2714" y="906163"/>
            <a:ext cx="11042123" cy="277704"/>
          </a:xfrm>
        </p:spPr>
        <p:txBody>
          <a:bodyPr anchor="ctr" anchorCtr="0"/>
          <a:lstStyle/>
          <a:p>
            <a:r>
              <a:rPr lang="en-US" sz="1594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0162931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1091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5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23" Type="http://schemas.openxmlformats.org/officeDocument/2006/relationships/image" Target="../media/image4.emf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oleObject" Target="../embeddings/oleObject2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17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tags" Target="../tags/tag17.xml"/><Relationship Id="rId2" Type="http://schemas.openxmlformats.org/officeDocument/2006/relationships/slideLayout" Target="../slideLayouts/slideLayout16.xml"/><Relationship Id="rId16" Type="http://schemas.openxmlformats.org/officeDocument/2006/relationships/theme" Target="../theme/theme2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32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tags" Target="../tags/tag47.xml"/><Relationship Id="rId25" Type="http://schemas.openxmlformats.org/officeDocument/2006/relationships/image" Target="../media/image6.png"/><Relationship Id="rId2" Type="http://schemas.openxmlformats.org/officeDocument/2006/relationships/slideLayout" Target="../slideLayouts/slideLayout31.xml"/><Relationship Id="rId16" Type="http://schemas.openxmlformats.org/officeDocument/2006/relationships/tags" Target="../tags/tag4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34.xml"/><Relationship Id="rId15" Type="http://schemas.openxmlformats.org/officeDocument/2006/relationships/theme" Target="../theme/theme3.xml"/><Relationship Id="rId23" Type="http://schemas.openxmlformats.org/officeDocument/2006/relationships/image" Target="../media/image4.emf"/><Relationship Id="rId10" Type="http://schemas.openxmlformats.org/officeDocument/2006/relationships/slideLayout" Target="../slideLayouts/slideLayout39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oleObject" Target="../embeddings/oleObject2.bin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6.xml"/><Relationship Id="rId18" Type="http://schemas.openxmlformats.org/officeDocument/2006/relationships/tags" Target="../tags/tag61.xml"/><Relationship Id="rId3" Type="http://schemas.openxmlformats.org/officeDocument/2006/relationships/slideLayout" Target="../slideLayouts/slideLayout46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5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59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3.xml"/><Relationship Id="rId19" Type="http://schemas.openxmlformats.org/officeDocument/2006/relationships/oleObject" Target="../embeddings/oleObject1.bin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7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o 8" hidden="1">
            <a:extLst>
              <a:ext uri="{FF2B5EF4-FFF2-40B4-BE49-F238E27FC236}">
                <a16:creationId xmlns:a16="http://schemas.microsoft.com/office/drawing/2014/main" id="{B1EE4FA1-AA98-4139-AC14-6B5C620C1D50}"/>
              </a:ext>
            </a:extLst>
          </p:cNvPr>
          <p:cNvGraphicFramePr>
            <a:graphicFrameLocks noChangeAspect="1"/>
          </p:cNvGraphicFramePr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74998968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8" imgW="290" imgH="290" progId="TCLayout.ActiveDocument.1">
                  <p:embed/>
                </p:oleObj>
              </mc:Choice>
              <mc:Fallback>
                <p:oleObj name="Diapositiva de think-cell" r:id="rId18" imgW="290" imgH="290" progId="TCLayout.ActiveDocument.1">
                  <p:embed/>
                  <p:pic>
                    <p:nvPicPr>
                      <p:cNvPr id="9" name="Objeto 8" hidden="1">
                        <a:extLst>
                          <a:ext uri="{FF2B5EF4-FFF2-40B4-BE49-F238E27FC236}">
                            <a16:creationId xmlns:a16="http://schemas.microsoft.com/office/drawing/2014/main" id="{B1EE4FA1-AA98-4139-AC14-6B5C620C1D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">
            <a:extLst>
              <a:ext uri="{FF2B5EF4-FFF2-40B4-BE49-F238E27FC236}">
                <a16:creationId xmlns:a16="http://schemas.microsoft.com/office/drawing/2014/main" id="{B1EB5E4D-981C-4A66-96E2-C07DFFFEE206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40000"/>
          </a:blip>
          <a:srcRect r="11707"/>
          <a:stretch/>
        </p:blipFill>
        <p:spPr>
          <a:xfrm flipH="1">
            <a:off x="-2" y="5930171"/>
            <a:ext cx="5314555" cy="961155"/>
          </a:xfrm>
          <a:prstGeom prst="rect">
            <a:avLst/>
          </a:prstGeom>
        </p:spPr>
      </p:pic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D91D6A7-9A77-457F-90C8-E79A97CF4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939" y="249671"/>
            <a:ext cx="11567672" cy="4331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810983-082D-445F-9F22-687B867D2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939" y="1129921"/>
            <a:ext cx="11567671" cy="5062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F4B856-22A4-48D9-9488-A60336919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7803" y="6457521"/>
            <a:ext cx="488725" cy="36605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195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graphicFrame>
        <p:nvGraphicFramePr>
          <p:cNvPr id="58" name="Tabla 58">
            <a:extLst>
              <a:ext uri="{FF2B5EF4-FFF2-40B4-BE49-F238E27FC236}">
                <a16:creationId xmlns:a16="http://schemas.microsoft.com/office/drawing/2014/main" id="{60BB0685-30D1-49A1-B820-06C8ADF8D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709522"/>
              </p:ext>
            </p:extLst>
          </p:nvPr>
        </p:nvGraphicFramePr>
        <p:xfrm>
          <a:off x="-644621" y="0"/>
          <a:ext cx="609769" cy="1588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75">
                  <a:extLst>
                    <a:ext uri="{9D8B030D-6E8A-4147-A177-3AD203B41FA5}">
                      <a16:colId xmlns:a16="http://schemas.microsoft.com/office/drawing/2014/main" val="196106640"/>
                    </a:ext>
                  </a:extLst>
                </a:gridCol>
                <a:gridCol w="35869">
                  <a:extLst>
                    <a:ext uri="{9D8B030D-6E8A-4147-A177-3AD203B41FA5}">
                      <a16:colId xmlns:a16="http://schemas.microsoft.com/office/drawing/2014/main" val="2734952404"/>
                    </a:ext>
                  </a:extLst>
                </a:gridCol>
                <a:gridCol w="143475">
                  <a:extLst>
                    <a:ext uri="{9D8B030D-6E8A-4147-A177-3AD203B41FA5}">
                      <a16:colId xmlns:a16="http://schemas.microsoft.com/office/drawing/2014/main" val="1186814675"/>
                    </a:ext>
                  </a:extLst>
                </a:gridCol>
                <a:gridCol w="143475">
                  <a:extLst>
                    <a:ext uri="{9D8B030D-6E8A-4147-A177-3AD203B41FA5}">
                      <a16:colId xmlns:a16="http://schemas.microsoft.com/office/drawing/2014/main" val="4037667467"/>
                    </a:ext>
                  </a:extLst>
                </a:gridCol>
                <a:gridCol w="143475">
                  <a:extLst>
                    <a:ext uri="{9D8B030D-6E8A-4147-A177-3AD203B41FA5}">
                      <a16:colId xmlns:a16="http://schemas.microsoft.com/office/drawing/2014/main" val="2412638856"/>
                    </a:ext>
                  </a:extLst>
                </a:gridCol>
              </a:tblGrid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933496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805723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59807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10513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409309"/>
                  </a:ext>
                </a:extLst>
              </a:tr>
              <a:tr h="72183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525149"/>
                  </a:ext>
                </a:extLst>
              </a:tr>
              <a:tr h="72183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33201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3CA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168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89C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D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84857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AD2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9D9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EE5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226807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D07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E6B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F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46419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B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96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847063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5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3C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956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237883"/>
                  </a:ext>
                </a:extLst>
              </a:tr>
            </a:tbl>
          </a:graphicData>
        </a:graphic>
      </p:graphicFrame>
      <p:cxnSp>
        <p:nvCxnSpPr>
          <p:cNvPr id="17" name="Separador numeración">
            <a:extLst>
              <a:ext uri="{FF2B5EF4-FFF2-40B4-BE49-F238E27FC236}">
                <a16:creationId xmlns:a16="http://schemas.microsoft.com/office/drawing/2014/main" id="{56965255-92E8-488C-87D2-6344BDD57A9C}"/>
              </a:ext>
            </a:extLst>
          </p:cNvPr>
          <p:cNvCxnSpPr>
            <a:cxnSpLocks/>
          </p:cNvCxnSpPr>
          <p:nvPr/>
        </p:nvCxnSpPr>
        <p:spPr>
          <a:xfrm>
            <a:off x="11497802" y="6523249"/>
            <a:ext cx="0" cy="234596"/>
          </a:xfrm>
          <a:prstGeom prst="line">
            <a:avLst/>
          </a:prstGeom>
          <a:ln w="635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agen 17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D40ADFF4-56A4-462A-B3E0-B250C0E4E845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t="39632" b="40075"/>
          <a:stretch/>
        </p:blipFill>
        <p:spPr>
          <a:xfrm>
            <a:off x="9989990" y="6562988"/>
            <a:ext cx="1434750" cy="164783"/>
          </a:xfrm>
          <a:prstGeom prst="rect">
            <a:avLst/>
          </a:prstGeom>
        </p:spPr>
      </p:pic>
      <p:graphicFrame>
        <p:nvGraphicFramePr>
          <p:cNvPr id="10" name="Tabla 21">
            <a:extLst>
              <a:ext uri="{FF2B5EF4-FFF2-40B4-BE49-F238E27FC236}">
                <a16:creationId xmlns:a16="http://schemas.microsoft.com/office/drawing/2014/main" id="{7C37C578-8779-4DB5-A6D6-C9CF185196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251591"/>
              </p:ext>
            </p:extLst>
          </p:nvPr>
        </p:nvGraphicFramePr>
        <p:xfrm>
          <a:off x="-178328" y="6442363"/>
          <a:ext cx="143475" cy="433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75">
                  <a:extLst>
                    <a:ext uri="{9D8B030D-6E8A-4147-A177-3AD203B41FA5}">
                      <a16:colId xmlns:a16="http://schemas.microsoft.com/office/drawing/2014/main" val="3819462841"/>
                    </a:ext>
                  </a:extLst>
                </a:gridCol>
              </a:tblGrid>
              <a:tr h="144367">
                <a:tc>
                  <a:txBody>
                    <a:bodyPr/>
                    <a:lstStyle/>
                    <a:p>
                      <a:endParaRPr lang="es-PE" sz="1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3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47384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s-PE" sz="1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440308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s-PE" sz="1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0C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202745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717874D3-35ED-0072-B6BB-5368A5A62DBB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186435" y="6689571"/>
            <a:ext cx="1796825" cy="12266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PE" sz="797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Datos elaborados por BCP para uso Interno</a:t>
            </a:r>
          </a:p>
        </p:txBody>
      </p:sp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57038248-6A4B-2AD5-1247-23FECD910F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1359837402"/>
              </p:ext>
            </p:extLst>
          </p:nvPr>
        </p:nvGraphicFramePr>
        <p:xfrm>
          <a:off x="791" y="796"/>
          <a:ext cx="791" cy="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22" imgW="216" imgH="216" progId="TCLayout.ActiveDocument.1">
                  <p:embed/>
                </p:oleObj>
              </mc:Choice>
              <mc:Fallback>
                <p:oleObj name="Diapositiva de think-cell" r:id="rId22" imgW="216" imgH="216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57038248-6A4B-2AD5-1247-23FECD910F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91" y="796"/>
                        <a:ext cx="791" cy="7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8F20EC23-EA72-D1E5-4140-65925C7CBD1A}"/>
              </a:ext>
            </a:extLst>
          </p:cNvPr>
          <p:cNvSpPr txBox="1"/>
          <p:nvPr userDrawn="1"/>
        </p:nvSpPr>
        <p:spPr>
          <a:xfrm>
            <a:off x="5850308" y="2200148"/>
            <a:ext cx="6032498" cy="858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981" baseline="0">
                <a:solidFill>
                  <a:schemeClr val="bg1"/>
                </a:solidFill>
                <a:latin typeface="Calibri" panose="020F0502020204030204" pitchFamily="34" charset="0"/>
              </a:rPr>
              <a:t>Título de presentación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84767FA-6E8E-5B7E-2DD3-391194FF1AA1}"/>
              </a:ext>
            </a:extLst>
          </p:cNvPr>
          <p:cNvSpPr txBox="1"/>
          <p:nvPr userDrawn="1"/>
        </p:nvSpPr>
        <p:spPr>
          <a:xfrm>
            <a:off x="5941403" y="3017833"/>
            <a:ext cx="5455564" cy="256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69" baseline="0">
                <a:solidFill>
                  <a:schemeClr val="bg1"/>
                </a:solidFill>
                <a:latin typeface="Calibri" panose="020F0502020204030204" pitchFamily="34" charset="0"/>
              </a:rPr>
              <a:t>Bajada presentación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32675CA-6D65-0AFA-92B7-3C4981C34A49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1971" y="827602"/>
            <a:ext cx="12143608" cy="60478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4A1C32B-FF3F-138A-09E2-E58512E4FFBC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53979" y="-223430"/>
            <a:ext cx="3251577" cy="174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276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</p:sldLayoutIdLst>
  <p:hf hdr="0" dt="0"/>
  <p:txStyles>
    <p:titleStyle>
      <a:lvl1pPr algn="l" defTabSz="910925" rtl="0" eaLnBrk="1" latinLnBrk="0" hangingPunct="1">
        <a:lnSpc>
          <a:spcPct val="90000"/>
        </a:lnSpc>
        <a:spcBef>
          <a:spcPct val="0"/>
        </a:spcBef>
        <a:buNone/>
        <a:defRPr sz="2391" b="1" kern="1200">
          <a:solidFill>
            <a:schemeClr val="tx1"/>
          </a:solidFill>
          <a:latin typeface="+mj-lt"/>
          <a:ea typeface="Source Sans Pro" panose="020B0503030403020204" pitchFamily="34" charset="0"/>
          <a:cs typeface="Calibri Light" panose="020F0302020204030204" pitchFamily="34" charset="0"/>
        </a:defRPr>
      </a:lvl1pPr>
    </p:titleStyle>
    <p:bodyStyle>
      <a:lvl1pPr marL="227731" indent="-227731" algn="l" defTabSz="910925" rtl="0" eaLnBrk="1" latinLnBrk="0" hangingPunct="1">
        <a:lnSpc>
          <a:spcPct val="90000"/>
        </a:lnSpc>
        <a:spcBef>
          <a:spcPts val="996"/>
        </a:spcBef>
        <a:buFont typeface="Arial" panose="020B0604020202020204" pitchFamily="34" charset="0"/>
        <a:buChar char="•"/>
        <a:defRPr sz="1992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3194" indent="-227731" algn="l" defTabSz="910925" rtl="0" eaLnBrk="1" latinLnBrk="0" hangingPunct="1">
        <a:lnSpc>
          <a:spcPct val="90000"/>
        </a:lnSpc>
        <a:spcBef>
          <a:spcPts val="498"/>
        </a:spcBef>
        <a:buFont typeface="Calibri" panose="020F0502020204030204" pitchFamily="34" charset="0"/>
        <a:buChar char="‒"/>
        <a:defRPr sz="1793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38657" indent="-227731" algn="l" defTabSz="910925" rtl="0" eaLnBrk="1" latinLnBrk="0" hangingPunct="1">
        <a:lnSpc>
          <a:spcPct val="90000"/>
        </a:lnSpc>
        <a:spcBef>
          <a:spcPts val="498"/>
        </a:spcBef>
        <a:buFont typeface="Calibri" panose="020F0502020204030204" pitchFamily="34" charset="0"/>
        <a:buChar char="▪"/>
        <a:defRPr sz="1594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94119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395" kern="1200">
          <a:solidFill>
            <a:schemeClr val="tx1"/>
          </a:solidFill>
          <a:latin typeface="+mn-lt"/>
          <a:ea typeface="+mn-ea"/>
          <a:cs typeface="+mn-cs"/>
        </a:defRPr>
      </a:lvl4pPr>
      <a:lvl5pPr marL="2049582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395" kern="1200">
          <a:solidFill>
            <a:schemeClr val="tx1"/>
          </a:solidFill>
          <a:latin typeface="+mn-lt"/>
          <a:ea typeface="+mn-ea"/>
          <a:cs typeface="+mn-cs"/>
        </a:defRPr>
      </a:lvl5pPr>
      <a:lvl6pPr marL="2505045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6pPr>
      <a:lvl7pPr marL="2960507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7pPr>
      <a:lvl8pPr marL="3415970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8pPr>
      <a:lvl9pPr marL="3871432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1pPr>
      <a:lvl2pPr marL="455463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2pPr>
      <a:lvl3pPr marL="910925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3pPr>
      <a:lvl4pPr marL="1366388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4pPr>
      <a:lvl5pPr marL="1821851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5pPr>
      <a:lvl6pPr marL="2277313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6pPr>
      <a:lvl7pPr marL="2732776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7pPr>
      <a:lvl8pPr marL="3188238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8pPr>
      <a:lvl9pPr marL="3643701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o 8" hidden="1">
            <a:extLst>
              <a:ext uri="{FF2B5EF4-FFF2-40B4-BE49-F238E27FC236}">
                <a16:creationId xmlns:a16="http://schemas.microsoft.com/office/drawing/2014/main" id="{B1EE4FA1-AA98-4139-AC14-6B5C620C1D50}"/>
              </a:ext>
            </a:extLst>
          </p:cNvPr>
          <p:cNvGraphicFramePr>
            <a:graphicFrameLocks noChangeAspect="1"/>
          </p:cNvGraphicFramePr>
          <p:nvPr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174998968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8" imgW="290" imgH="290" progId="TCLayout.ActiveDocument.1">
                  <p:embed/>
                </p:oleObj>
              </mc:Choice>
              <mc:Fallback>
                <p:oleObj name="Diapositiva de think-cell" r:id="rId18" imgW="290" imgH="290" progId="TCLayout.ActiveDocument.1">
                  <p:embed/>
                  <p:pic>
                    <p:nvPicPr>
                      <p:cNvPr id="9" name="Objeto 8" hidden="1">
                        <a:extLst>
                          <a:ext uri="{FF2B5EF4-FFF2-40B4-BE49-F238E27FC236}">
                            <a16:creationId xmlns:a16="http://schemas.microsoft.com/office/drawing/2014/main" id="{B1EE4FA1-AA98-4139-AC14-6B5C620C1D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">
            <a:extLst>
              <a:ext uri="{FF2B5EF4-FFF2-40B4-BE49-F238E27FC236}">
                <a16:creationId xmlns:a16="http://schemas.microsoft.com/office/drawing/2014/main" id="{B1EB5E4D-981C-4A66-96E2-C07DFFFEE206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40000"/>
          </a:blip>
          <a:srcRect r="11707"/>
          <a:stretch/>
        </p:blipFill>
        <p:spPr>
          <a:xfrm flipH="1">
            <a:off x="-2" y="5930171"/>
            <a:ext cx="5314555" cy="961155"/>
          </a:xfrm>
          <a:prstGeom prst="rect">
            <a:avLst/>
          </a:prstGeom>
        </p:spPr>
      </p:pic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D91D6A7-9A77-457F-90C8-E79A97CF4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939" y="249671"/>
            <a:ext cx="11567672" cy="4331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810983-082D-445F-9F22-687B867D2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939" y="1129921"/>
            <a:ext cx="11567671" cy="5062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F4B856-22A4-48D9-9488-A60336919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7803" y="6457521"/>
            <a:ext cx="488725" cy="36605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195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graphicFrame>
        <p:nvGraphicFramePr>
          <p:cNvPr id="58" name="Tabla 58">
            <a:extLst>
              <a:ext uri="{FF2B5EF4-FFF2-40B4-BE49-F238E27FC236}">
                <a16:creationId xmlns:a16="http://schemas.microsoft.com/office/drawing/2014/main" id="{60BB0685-30D1-49A1-B820-06C8ADF8D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709522"/>
              </p:ext>
            </p:extLst>
          </p:nvPr>
        </p:nvGraphicFramePr>
        <p:xfrm>
          <a:off x="-644621" y="0"/>
          <a:ext cx="609769" cy="1588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75">
                  <a:extLst>
                    <a:ext uri="{9D8B030D-6E8A-4147-A177-3AD203B41FA5}">
                      <a16:colId xmlns:a16="http://schemas.microsoft.com/office/drawing/2014/main" val="196106640"/>
                    </a:ext>
                  </a:extLst>
                </a:gridCol>
                <a:gridCol w="35869">
                  <a:extLst>
                    <a:ext uri="{9D8B030D-6E8A-4147-A177-3AD203B41FA5}">
                      <a16:colId xmlns:a16="http://schemas.microsoft.com/office/drawing/2014/main" val="2734952404"/>
                    </a:ext>
                  </a:extLst>
                </a:gridCol>
                <a:gridCol w="143475">
                  <a:extLst>
                    <a:ext uri="{9D8B030D-6E8A-4147-A177-3AD203B41FA5}">
                      <a16:colId xmlns:a16="http://schemas.microsoft.com/office/drawing/2014/main" val="1186814675"/>
                    </a:ext>
                  </a:extLst>
                </a:gridCol>
                <a:gridCol w="143475">
                  <a:extLst>
                    <a:ext uri="{9D8B030D-6E8A-4147-A177-3AD203B41FA5}">
                      <a16:colId xmlns:a16="http://schemas.microsoft.com/office/drawing/2014/main" val="4037667467"/>
                    </a:ext>
                  </a:extLst>
                </a:gridCol>
                <a:gridCol w="143475">
                  <a:extLst>
                    <a:ext uri="{9D8B030D-6E8A-4147-A177-3AD203B41FA5}">
                      <a16:colId xmlns:a16="http://schemas.microsoft.com/office/drawing/2014/main" val="2412638856"/>
                    </a:ext>
                  </a:extLst>
                </a:gridCol>
              </a:tblGrid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933496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805723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59807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10513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409309"/>
                  </a:ext>
                </a:extLst>
              </a:tr>
              <a:tr h="72183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525149"/>
                  </a:ext>
                </a:extLst>
              </a:tr>
              <a:tr h="72183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33201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3CA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168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89C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D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84857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AD2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9D9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EE5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226807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D07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E6B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F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46419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B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96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847063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5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3C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956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237883"/>
                  </a:ext>
                </a:extLst>
              </a:tr>
            </a:tbl>
          </a:graphicData>
        </a:graphic>
      </p:graphicFrame>
      <p:cxnSp>
        <p:nvCxnSpPr>
          <p:cNvPr id="17" name="Separador numeración">
            <a:extLst>
              <a:ext uri="{FF2B5EF4-FFF2-40B4-BE49-F238E27FC236}">
                <a16:creationId xmlns:a16="http://schemas.microsoft.com/office/drawing/2014/main" id="{56965255-92E8-488C-87D2-6344BDD57A9C}"/>
              </a:ext>
            </a:extLst>
          </p:cNvPr>
          <p:cNvCxnSpPr>
            <a:cxnSpLocks/>
          </p:cNvCxnSpPr>
          <p:nvPr/>
        </p:nvCxnSpPr>
        <p:spPr>
          <a:xfrm>
            <a:off x="11497802" y="6523249"/>
            <a:ext cx="0" cy="234596"/>
          </a:xfrm>
          <a:prstGeom prst="line">
            <a:avLst/>
          </a:prstGeom>
          <a:ln w="635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agen 17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D40ADFF4-56A4-462A-B3E0-B250C0E4E845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t="39632" b="40075"/>
          <a:stretch/>
        </p:blipFill>
        <p:spPr>
          <a:xfrm>
            <a:off x="9989990" y="6562988"/>
            <a:ext cx="1434750" cy="164783"/>
          </a:xfrm>
          <a:prstGeom prst="rect">
            <a:avLst/>
          </a:prstGeom>
        </p:spPr>
      </p:pic>
      <p:graphicFrame>
        <p:nvGraphicFramePr>
          <p:cNvPr id="10" name="Tabla 21">
            <a:extLst>
              <a:ext uri="{FF2B5EF4-FFF2-40B4-BE49-F238E27FC236}">
                <a16:creationId xmlns:a16="http://schemas.microsoft.com/office/drawing/2014/main" id="{7C37C578-8779-4DB5-A6D6-C9CF185196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251591"/>
              </p:ext>
            </p:extLst>
          </p:nvPr>
        </p:nvGraphicFramePr>
        <p:xfrm>
          <a:off x="-178328" y="6442363"/>
          <a:ext cx="143475" cy="433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75">
                  <a:extLst>
                    <a:ext uri="{9D8B030D-6E8A-4147-A177-3AD203B41FA5}">
                      <a16:colId xmlns:a16="http://schemas.microsoft.com/office/drawing/2014/main" val="3819462841"/>
                    </a:ext>
                  </a:extLst>
                </a:gridCol>
              </a:tblGrid>
              <a:tr h="144367">
                <a:tc>
                  <a:txBody>
                    <a:bodyPr/>
                    <a:lstStyle/>
                    <a:p>
                      <a:endParaRPr lang="es-PE" sz="1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3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47384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s-PE" sz="1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440308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s-PE" sz="1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0C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202745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717874D3-35ED-0072-B6BB-5368A5A62DBB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186435" y="6689571"/>
            <a:ext cx="1796825" cy="12266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PE" sz="797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Datos elaborados por BCP para uso Interno</a:t>
            </a:r>
          </a:p>
        </p:txBody>
      </p:sp>
    </p:spTree>
    <p:extLst>
      <p:ext uri="{BB962C8B-B14F-4D97-AF65-F5344CB8AC3E}">
        <p14:creationId xmlns:p14="http://schemas.microsoft.com/office/powerpoint/2010/main" val="3149305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  <p:sldLayoutId id="2147483830" r:id="rId13"/>
    <p:sldLayoutId id="2147483833" r:id="rId14"/>
    <p:sldLayoutId id="2147483834" r:id="rId15"/>
  </p:sldLayoutIdLst>
  <p:hf hdr="0" dt="0"/>
  <p:txStyles>
    <p:titleStyle>
      <a:lvl1pPr algn="l" defTabSz="910925" rtl="0" eaLnBrk="1" latinLnBrk="0" hangingPunct="1">
        <a:lnSpc>
          <a:spcPct val="90000"/>
        </a:lnSpc>
        <a:spcBef>
          <a:spcPct val="0"/>
        </a:spcBef>
        <a:buNone/>
        <a:defRPr sz="2391" b="1" kern="1200">
          <a:solidFill>
            <a:schemeClr val="tx1"/>
          </a:solidFill>
          <a:latin typeface="+mj-lt"/>
          <a:ea typeface="Source Sans Pro" panose="020B0503030403020204" pitchFamily="34" charset="0"/>
          <a:cs typeface="Calibri Light" panose="020F0302020204030204" pitchFamily="34" charset="0"/>
        </a:defRPr>
      </a:lvl1pPr>
    </p:titleStyle>
    <p:bodyStyle>
      <a:lvl1pPr marL="227731" indent="-227731" algn="l" defTabSz="910925" rtl="0" eaLnBrk="1" latinLnBrk="0" hangingPunct="1">
        <a:lnSpc>
          <a:spcPct val="90000"/>
        </a:lnSpc>
        <a:spcBef>
          <a:spcPts val="996"/>
        </a:spcBef>
        <a:buFont typeface="Arial" panose="020B0604020202020204" pitchFamily="34" charset="0"/>
        <a:buChar char="•"/>
        <a:defRPr sz="1992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3194" indent="-227731" algn="l" defTabSz="910925" rtl="0" eaLnBrk="1" latinLnBrk="0" hangingPunct="1">
        <a:lnSpc>
          <a:spcPct val="90000"/>
        </a:lnSpc>
        <a:spcBef>
          <a:spcPts val="498"/>
        </a:spcBef>
        <a:buFont typeface="Calibri" panose="020F0502020204030204" pitchFamily="34" charset="0"/>
        <a:buChar char="‒"/>
        <a:defRPr sz="1793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38657" indent="-227731" algn="l" defTabSz="910925" rtl="0" eaLnBrk="1" latinLnBrk="0" hangingPunct="1">
        <a:lnSpc>
          <a:spcPct val="90000"/>
        </a:lnSpc>
        <a:spcBef>
          <a:spcPts val="498"/>
        </a:spcBef>
        <a:buFont typeface="Calibri" panose="020F0502020204030204" pitchFamily="34" charset="0"/>
        <a:buChar char="▪"/>
        <a:defRPr sz="1594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94119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395" kern="1200">
          <a:solidFill>
            <a:schemeClr val="tx1"/>
          </a:solidFill>
          <a:latin typeface="+mn-lt"/>
          <a:ea typeface="+mn-ea"/>
          <a:cs typeface="+mn-cs"/>
        </a:defRPr>
      </a:lvl4pPr>
      <a:lvl5pPr marL="2049582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395" kern="1200">
          <a:solidFill>
            <a:schemeClr val="tx1"/>
          </a:solidFill>
          <a:latin typeface="+mn-lt"/>
          <a:ea typeface="+mn-ea"/>
          <a:cs typeface="+mn-cs"/>
        </a:defRPr>
      </a:lvl5pPr>
      <a:lvl6pPr marL="2505045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6pPr>
      <a:lvl7pPr marL="2960507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7pPr>
      <a:lvl8pPr marL="3415970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8pPr>
      <a:lvl9pPr marL="3871432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1pPr>
      <a:lvl2pPr marL="455463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2pPr>
      <a:lvl3pPr marL="910925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3pPr>
      <a:lvl4pPr marL="1366388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4pPr>
      <a:lvl5pPr marL="1821851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5pPr>
      <a:lvl6pPr marL="2277313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6pPr>
      <a:lvl7pPr marL="2732776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7pPr>
      <a:lvl8pPr marL="3188238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8pPr>
      <a:lvl9pPr marL="3643701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o 8" hidden="1">
            <a:extLst>
              <a:ext uri="{FF2B5EF4-FFF2-40B4-BE49-F238E27FC236}">
                <a16:creationId xmlns:a16="http://schemas.microsoft.com/office/drawing/2014/main" id="{B1EE4FA1-AA98-4139-AC14-6B5C620C1D50}"/>
              </a:ext>
            </a:extLst>
          </p:cNvPr>
          <p:cNvGraphicFramePr>
            <a:graphicFrameLocks noChangeAspect="1"/>
          </p:cNvGraphicFramePr>
          <p:nvPr>
            <p:custDataLst>
              <p:tags r:id="rId16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8" imgW="290" imgH="290" progId="TCLayout.ActiveDocument.1">
                  <p:embed/>
                </p:oleObj>
              </mc:Choice>
              <mc:Fallback>
                <p:oleObj name="Diapositiva de think-cell" r:id="rId18" imgW="290" imgH="290" progId="TCLayout.ActiveDocument.1">
                  <p:embed/>
                  <p:pic>
                    <p:nvPicPr>
                      <p:cNvPr id="9" name="Objeto 8" hidden="1">
                        <a:extLst>
                          <a:ext uri="{FF2B5EF4-FFF2-40B4-BE49-F238E27FC236}">
                            <a16:creationId xmlns:a16="http://schemas.microsoft.com/office/drawing/2014/main" id="{B1EE4FA1-AA98-4139-AC14-6B5C620C1D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">
            <a:extLst>
              <a:ext uri="{FF2B5EF4-FFF2-40B4-BE49-F238E27FC236}">
                <a16:creationId xmlns:a16="http://schemas.microsoft.com/office/drawing/2014/main" id="{B1EB5E4D-981C-4A66-96E2-C07DFFFEE206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40000"/>
          </a:blip>
          <a:srcRect r="11707"/>
          <a:stretch/>
        </p:blipFill>
        <p:spPr>
          <a:xfrm flipH="1">
            <a:off x="-2" y="5930171"/>
            <a:ext cx="5314555" cy="961155"/>
          </a:xfrm>
          <a:prstGeom prst="rect">
            <a:avLst/>
          </a:prstGeom>
        </p:spPr>
      </p:pic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D91D6A7-9A77-457F-90C8-E79A97CF4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939" y="249671"/>
            <a:ext cx="11567672" cy="4331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810983-082D-445F-9F22-687B867D2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939" y="1129921"/>
            <a:ext cx="11567671" cy="5062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F4B856-22A4-48D9-9488-A60336919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7803" y="6457521"/>
            <a:ext cx="488725" cy="36605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195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graphicFrame>
        <p:nvGraphicFramePr>
          <p:cNvPr id="58" name="Tabla 58">
            <a:extLst>
              <a:ext uri="{FF2B5EF4-FFF2-40B4-BE49-F238E27FC236}">
                <a16:creationId xmlns:a16="http://schemas.microsoft.com/office/drawing/2014/main" id="{60BB0685-30D1-49A1-B820-06C8ADF8D364}"/>
              </a:ext>
            </a:extLst>
          </p:cNvPr>
          <p:cNvGraphicFramePr>
            <a:graphicFrameLocks noGrp="1"/>
          </p:cNvGraphicFramePr>
          <p:nvPr/>
        </p:nvGraphicFramePr>
        <p:xfrm>
          <a:off x="-644621" y="0"/>
          <a:ext cx="609769" cy="1588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75">
                  <a:extLst>
                    <a:ext uri="{9D8B030D-6E8A-4147-A177-3AD203B41FA5}">
                      <a16:colId xmlns:a16="http://schemas.microsoft.com/office/drawing/2014/main" val="196106640"/>
                    </a:ext>
                  </a:extLst>
                </a:gridCol>
                <a:gridCol w="35869">
                  <a:extLst>
                    <a:ext uri="{9D8B030D-6E8A-4147-A177-3AD203B41FA5}">
                      <a16:colId xmlns:a16="http://schemas.microsoft.com/office/drawing/2014/main" val="2734952404"/>
                    </a:ext>
                  </a:extLst>
                </a:gridCol>
                <a:gridCol w="143475">
                  <a:extLst>
                    <a:ext uri="{9D8B030D-6E8A-4147-A177-3AD203B41FA5}">
                      <a16:colId xmlns:a16="http://schemas.microsoft.com/office/drawing/2014/main" val="1186814675"/>
                    </a:ext>
                  </a:extLst>
                </a:gridCol>
                <a:gridCol w="143475">
                  <a:extLst>
                    <a:ext uri="{9D8B030D-6E8A-4147-A177-3AD203B41FA5}">
                      <a16:colId xmlns:a16="http://schemas.microsoft.com/office/drawing/2014/main" val="4037667467"/>
                    </a:ext>
                  </a:extLst>
                </a:gridCol>
                <a:gridCol w="143475">
                  <a:extLst>
                    <a:ext uri="{9D8B030D-6E8A-4147-A177-3AD203B41FA5}">
                      <a16:colId xmlns:a16="http://schemas.microsoft.com/office/drawing/2014/main" val="2412638856"/>
                    </a:ext>
                  </a:extLst>
                </a:gridCol>
              </a:tblGrid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933496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805723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59807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10513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409309"/>
                  </a:ext>
                </a:extLst>
              </a:tr>
              <a:tr h="72183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525149"/>
                  </a:ext>
                </a:extLst>
              </a:tr>
              <a:tr h="72183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33201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3CA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168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89C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D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84857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AD2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9D9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EE5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226807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D07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E6B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F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46419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B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96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847063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5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3C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956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237883"/>
                  </a:ext>
                </a:extLst>
              </a:tr>
            </a:tbl>
          </a:graphicData>
        </a:graphic>
      </p:graphicFrame>
      <p:cxnSp>
        <p:nvCxnSpPr>
          <p:cNvPr id="17" name="Separador numeración">
            <a:extLst>
              <a:ext uri="{FF2B5EF4-FFF2-40B4-BE49-F238E27FC236}">
                <a16:creationId xmlns:a16="http://schemas.microsoft.com/office/drawing/2014/main" id="{56965255-92E8-488C-87D2-6344BDD57A9C}"/>
              </a:ext>
            </a:extLst>
          </p:cNvPr>
          <p:cNvCxnSpPr>
            <a:cxnSpLocks/>
          </p:cNvCxnSpPr>
          <p:nvPr/>
        </p:nvCxnSpPr>
        <p:spPr>
          <a:xfrm>
            <a:off x="11497802" y="6523249"/>
            <a:ext cx="0" cy="234596"/>
          </a:xfrm>
          <a:prstGeom prst="line">
            <a:avLst/>
          </a:prstGeom>
          <a:ln w="635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agen 17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D40ADFF4-56A4-462A-B3E0-B250C0E4E845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t="39632" b="40075"/>
          <a:stretch/>
        </p:blipFill>
        <p:spPr>
          <a:xfrm>
            <a:off x="9989990" y="6562988"/>
            <a:ext cx="1434750" cy="164783"/>
          </a:xfrm>
          <a:prstGeom prst="rect">
            <a:avLst/>
          </a:prstGeom>
        </p:spPr>
      </p:pic>
      <p:graphicFrame>
        <p:nvGraphicFramePr>
          <p:cNvPr id="10" name="Tabla 21">
            <a:extLst>
              <a:ext uri="{FF2B5EF4-FFF2-40B4-BE49-F238E27FC236}">
                <a16:creationId xmlns:a16="http://schemas.microsoft.com/office/drawing/2014/main" id="{7C37C578-8779-4DB5-A6D6-C9CF185196A1}"/>
              </a:ext>
            </a:extLst>
          </p:cNvPr>
          <p:cNvGraphicFramePr>
            <a:graphicFrameLocks noGrp="1"/>
          </p:cNvGraphicFramePr>
          <p:nvPr/>
        </p:nvGraphicFramePr>
        <p:xfrm>
          <a:off x="-178328" y="6442363"/>
          <a:ext cx="143475" cy="433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75">
                  <a:extLst>
                    <a:ext uri="{9D8B030D-6E8A-4147-A177-3AD203B41FA5}">
                      <a16:colId xmlns:a16="http://schemas.microsoft.com/office/drawing/2014/main" val="3819462841"/>
                    </a:ext>
                  </a:extLst>
                </a:gridCol>
              </a:tblGrid>
              <a:tr h="144367">
                <a:tc>
                  <a:txBody>
                    <a:bodyPr/>
                    <a:lstStyle/>
                    <a:p>
                      <a:endParaRPr lang="es-PE" sz="1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3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47384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s-PE" sz="1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440308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s-PE" sz="1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0C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202745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717874D3-35ED-0072-B6BB-5368A5A62DBB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186435" y="6689571"/>
            <a:ext cx="1796825" cy="12266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PE" sz="797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Datos elaborados por BCP para uso Interno</a:t>
            </a:r>
          </a:p>
        </p:txBody>
      </p:sp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57038248-6A4B-2AD5-1247-23FECD910F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7"/>
            </p:custDataLst>
          </p:nvPr>
        </p:nvGraphicFramePr>
        <p:xfrm>
          <a:off x="791" y="796"/>
          <a:ext cx="791" cy="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22" imgW="216" imgH="216" progId="TCLayout.ActiveDocument.1">
                  <p:embed/>
                </p:oleObj>
              </mc:Choice>
              <mc:Fallback>
                <p:oleObj name="Diapositiva de think-cell" r:id="rId22" imgW="216" imgH="216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57038248-6A4B-2AD5-1247-23FECD910F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91" y="796"/>
                        <a:ext cx="791" cy="7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8F20EC23-EA72-D1E5-4140-65925C7CBD1A}"/>
              </a:ext>
            </a:extLst>
          </p:cNvPr>
          <p:cNvSpPr txBox="1"/>
          <p:nvPr userDrawn="1"/>
        </p:nvSpPr>
        <p:spPr>
          <a:xfrm>
            <a:off x="5850308" y="2200148"/>
            <a:ext cx="6032498" cy="858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981" baseline="0">
                <a:solidFill>
                  <a:schemeClr val="bg1"/>
                </a:solidFill>
                <a:latin typeface="Calibri" panose="020F0502020204030204" pitchFamily="34" charset="0"/>
              </a:rPr>
              <a:t>Título de presentación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84767FA-6E8E-5B7E-2DD3-391194FF1AA1}"/>
              </a:ext>
            </a:extLst>
          </p:cNvPr>
          <p:cNvSpPr txBox="1"/>
          <p:nvPr userDrawn="1"/>
        </p:nvSpPr>
        <p:spPr>
          <a:xfrm>
            <a:off x="5941403" y="3017833"/>
            <a:ext cx="5455564" cy="256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69" baseline="0">
                <a:solidFill>
                  <a:schemeClr val="bg1"/>
                </a:solidFill>
                <a:latin typeface="Calibri" panose="020F0502020204030204" pitchFamily="34" charset="0"/>
              </a:rPr>
              <a:t>Bajada presentación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32675CA-6D65-0AFA-92B7-3C4981C34A49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1971" y="827602"/>
            <a:ext cx="12143608" cy="60478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4A1C32B-FF3F-138A-09E2-E58512E4FFBC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53979" y="-223430"/>
            <a:ext cx="3251577" cy="174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276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  <p:sldLayoutId id="2147483848" r:id="rId12"/>
    <p:sldLayoutId id="2147483849" r:id="rId13"/>
    <p:sldLayoutId id="2147483850" r:id="rId14"/>
  </p:sldLayoutIdLst>
  <p:hf hdr="0" dt="0"/>
  <p:txStyles>
    <p:titleStyle>
      <a:lvl1pPr algn="l" defTabSz="910925" rtl="0" eaLnBrk="1" latinLnBrk="0" hangingPunct="1">
        <a:lnSpc>
          <a:spcPct val="90000"/>
        </a:lnSpc>
        <a:spcBef>
          <a:spcPct val="0"/>
        </a:spcBef>
        <a:buNone/>
        <a:defRPr sz="2391" b="1" kern="1200">
          <a:solidFill>
            <a:schemeClr val="tx1"/>
          </a:solidFill>
          <a:latin typeface="+mj-lt"/>
          <a:ea typeface="Source Sans Pro" panose="020B0503030403020204" pitchFamily="34" charset="0"/>
          <a:cs typeface="Calibri Light" panose="020F0302020204030204" pitchFamily="34" charset="0"/>
        </a:defRPr>
      </a:lvl1pPr>
    </p:titleStyle>
    <p:bodyStyle>
      <a:lvl1pPr marL="227731" indent="-227731" algn="l" defTabSz="910925" rtl="0" eaLnBrk="1" latinLnBrk="0" hangingPunct="1">
        <a:lnSpc>
          <a:spcPct val="90000"/>
        </a:lnSpc>
        <a:spcBef>
          <a:spcPts val="996"/>
        </a:spcBef>
        <a:buFont typeface="Arial" panose="020B0604020202020204" pitchFamily="34" charset="0"/>
        <a:buChar char="•"/>
        <a:defRPr sz="1992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3194" indent="-227731" algn="l" defTabSz="910925" rtl="0" eaLnBrk="1" latinLnBrk="0" hangingPunct="1">
        <a:lnSpc>
          <a:spcPct val="90000"/>
        </a:lnSpc>
        <a:spcBef>
          <a:spcPts val="498"/>
        </a:spcBef>
        <a:buFont typeface="Calibri" panose="020F0502020204030204" pitchFamily="34" charset="0"/>
        <a:buChar char="‒"/>
        <a:defRPr sz="1793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38657" indent="-227731" algn="l" defTabSz="910925" rtl="0" eaLnBrk="1" latinLnBrk="0" hangingPunct="1">
        <a:lnSpc>
          <a:spcPct val="90000"/>
        </a:lnSpc>
        <a:spcBef>
          <a:spcPts val="498"/>
        </a:spcBef>
        <a:buFont typeface="Calibri" panose="020F0502020204030204" pitchFamily="34" charset="0"/>
        <a:buChar char="▪"/>
        <a:defRPr sz="1594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94119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395" kern="1200">
          <a:solidFill>
            <a:schemeClr val="tx1"/>
          </a:solidFill>
          <a:latin typeface="+mn-lt"/>
          <a:ea typeface="+mn-ea"/>
          <a:cs typeface="+mn-cs"/>
        </a:defRPr>
      </a:lvl4pPr>
      <a:lvl5pPr marL="2049582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395" kern="1200">
          <a:solidFill>
            <a:schemeClr val="tx1"/>
          </a:solidFill>
          <a:latin typeface="+mn-lt"/>
          <a:ea typeface="+mn-ea"/>
          <a:cs typeface="+mn-cs"/>
        </a:defRPr>
      </a:lvl5pPr>
      <a:lvl6pPr marL="2505045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6pPr>
      <a:lvl7pPr marL="2960507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7pPr>
      <a:lvl8pPr marL="3415970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8pPr>
      <a:lvl9pPr marL="3871432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1pPr>
      <a:lvl2pPr marL="455463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2pPr>
      <a:lvl3pPr marL="910925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3pPr>
      <a:lvl4pPr marL="1366388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4pPr>
      <a:lvl5pPr marL="1821851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5pPr>
      <a:lvl6pPr marL="2277313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6pPr>
      <a:lvl7pPr marL="2732776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7pPr>
      <a:lvl8pPr marL="3188238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8pPr>
      <a:lvl9pPr marL="3643701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o 8" hidden="1">
            <a:extLst>
              <a:ext uri="{FF2B5EF4-FFF2-40B4-BE49-F238E27FC236}">
                <a16:creationId xmlns:a16="http://schemas.microsoft.com/office/drawing/2014/main" id="{B1EE4FA1-AA98-4139-AC14-6B5C620C1D50}"/>
              </a:ext>
            </a:extLst>
          </p:cNvPr>
          <p:cNvGraphicFramePr>
            <a:graphicFrameLocks noChangeAspect="1"/>
          </p:cNvGraphicFramePr>
          <p:nvPr>
            <p:custDataLst>
              <p:tags r:id="rId18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9" imgW="290" imgH="290" progId="TCLayout.ActiveDocument.1">
                  <p:embed/>
                </p:oleObj>
              </mc:Choice>
              <mc:Fallback>
                <p:oleObj name="Diapositiva de think-cell" r:id="rId19" imgW="290" imgH="290" progId="TCLayout.ActiveDocument.1">
                  <p:embed/>
                  <p:pic>
                    <p:nvPicPr>
                      <p:cNvPr id="9" name="Objeto 8" hidden="1">
                        <a:extLst>
                          <a:ext uri="{FF2B5EF4-FFF2-40B4-BE49-F238E27FC236}">
                            <a16:creationId xmlns:a16="http://schemas.microsoft.com/office/drawing/2014/main" id="{B1EE4FA1-AA98-4139-AC14-6B5C620C1D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">
            <a:extLst>
              <a:ext uri="{FF2B5EF4-FFF2-40B4-BE49-F238E27FC236}">
                <a16:creationId xmlns:a16="http://schemas.microsoft.com/office/drawing/2014/main" id="{B1EB5E4D-981C-4A66-96E2-C07DFFFEE206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alphaModFix amt="40000"/>
          </a:blip>
          <a:srcRect r="11707"/>
          <a:stretch/>
        </p:blipFill>
        <p:spPr>
          <a:xfrm flipH="1">
            <a:off x="-2" y="5930171"/>
            <a:ext cx="5314555" cy="961155"/>
          </a:xfrm>
          <a:prstGeom prst="rect">
            <a:avLst/>
          </a:prstGeom>
        </p:spPr>
      </p:pic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D91D6A7-9A77-457F-90C8-E79A97CF4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939" y="249671"/>
            <a:ext cx="11567672" cy="4331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810983-082D-445F-9F22-687B867D2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939" y="1129921"/>
            <a:ext cx="11567671" cy="5062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F4B856-22A4-48D9-9488-A60336919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7803" y="6457521"/>
            <a:ext cx="488725" cy="36605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195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graphicFrame>
        <p:nvGraphicFramePr>
          <p:cNvPr id="58" name="Tabla 58">
            <a:extLst>
              <a:ext uri="{FF2B5EF4-FFF2-40B4-BE49-F238E27FC236}">
                <a16:creationId xmlns:a16="http://schemas.microsoft.com/office/drawing/2014/main" id="{60BB0685-30D1-49A1-B820-06C8ADF8D364}"/>
              </a:ext>
            </a:extLst>
          </p:cNvPr>
          <p:cNvGraphicFramePr>
            <a:graphicFrameLocks noGrp="1"/>
          </p:cNvGraphicFramePr>
          <p:nvPr/>
        </p:nvGraphicFramePr>
        <p:xfrm>
          <a:off x="-644621" y="0"/>
          <a:ext cx="609769" cy="1588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75">
                  <a:extLst>
                    <a:ext uri="{9D8B030D-6E8A-4147-A177-3AD203B41FA5}">
                      <a16:colId xmlns:a16="http://schemas.microsoft.com/office/drawing/2014/main" val="196106640"/>
                    </a:ext>
                  </a:extLst>
                </a:gridCol>
                <a:gridCol w="35869">
                  <a:extLst>
                    <a:ext uri="{9D8B030D-6E8A-4147-A177-3AD203B41FA5}">
                      <a16:colId xmlns:a16="http://schemas.microsoft.com/office/drawing/2014/main" val="2734952404"/>
                    </a:ext>
                  </a:extLst>
                </a:gridCol>
                <a:gridCol w="143475">
                  <a:extLst>
                    <a:ext uri="{9D8B030D-6E8A-4147-A177-3AD203B41FA5}">
                      <a16:colId xmlns:a16="http://schemas.microsoft.com/office/drawing/2014/main" val="1186814675"/>
                    </a:ext>
                  </a:extLst>
                </a:gridCol>
                <a:gridCol w="143475">
                  <a:extLst>
                    <a:ext uri="{9D8B030D-6E8A-4147-A177-3AD203B41FA5}">
                      <a16:colId xmlns:a16="http://schemas.microsoft.com/office/drawing/2014/main" val="4037667467"/>
                    </a:ext>
                  </a:extLst>
                </a:gridCol>
                <a:gridCol w="143475">
                  <a:extLst>
                    <a:ext uri="{9D8B030D-6E8A-4147-A177-3AD203B41FA5}">
                      <a16:colId xmlns:a16="http://schemas.microsoft.com/office/drawing/2014/main" val="2412638856"/>
                    </a:ext>
                  </a:extLst>
                </a:gridCol>
              </a:tblGrid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933496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805723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59807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10513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409309"/>
                  </a:ext>
                </a:extLst>
              </a:tr>
              <a:tr h="72183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525149"/>
                  </a:ext>
                </a:extLst>
              </a:tr>
              <a:tr h="72183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33201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3CA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168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89C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D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84857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AD2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9D9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EE5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226807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D07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E6B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F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46419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B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96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847063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5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3C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956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237883"/>
                  </a:ext>
                </a:extLst>
              </a:tr>
            </a:tbl>
          </a:graphicData>
        </a:graphic>
      </p:graphicFrame>
      <p:cxnSp>
        <p:nvCxnSpPr>
          <p:cNvPr id="17" name="Separador numeración">
            <a:extLst>
              <a:ext uri="{FF2B5EF4-FFF2-40B4-BE49-F238E27FC236}">
                <a16:creationId xmlns:a16="http://schemas.microsoft.com/office/drawing/2014/main" id="{56965255-92E8-488C-87D2-6344BDD57A9C}"/>
              </a:ext>
            </a:extLst>
          </p:cNvPr>
          <p:cNvCxnSpPr>
            <a:cxnSpLocks/>
          </p:cNvCxnSpPr>
          <p:nvPr/>
        </p:nvCxnSpPr>
        <p:spPr>
          <a:xfrm>
            <a:off x="11497802" y="6523249"/>
            <a:ext cx="0" cy="234596"/>
          </a:xfrm>
          <a:prstGeom prst="line">
            <a:avLst/>
          </a:prstGeom>
          <a:ln w="635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agen 17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D40ADFF4-56A4-462A-B3E0-B250C0E4E845}"/>
              </a:ext>
            </a:extLst>
          </p:cNvPr>
          <p:cNvPicPr>
            <a:picLocks noChangeAspect="1"/>
          </p:cNvPicPr>
          <p:nvPr/>
        </p:nvPicPr>
        <p:blipFill rotWithShape="1">
          <a:blip r:embed="rId22"/>
          <a:srcRect t="39632" b="40075"/>
          <a:stretch/>
        </p:blipFill>
        <p:spPr>
          <a:xfrm>
            <a:off x="9989990" y="6562988"/>
            <a:ext cx="1434750" cy="164783"/>
          </a:xfrm>
          <a:prstGeom prst="rect">
            <a:avLst/>
          </a:prstGeom>
        </p:spPr>
      </p:pic>
      <p:graphicFrame>
        <p:nvGraphicFramePr>
          <p:cNvPr id="10" name="Tabla 21">
            <a:extLst>
              <a:ext uri="{FF2B5EF4-FFF2-40B4-BE49-F238E27FC236}">
                <a16:creationId xmlns:a16="http://schemas.microsoft.com/office/drawing/2014/main" id="{7C37C578-8779-4DB5-A6D6-C9CF185196A1}"/>
              </a:ext>
            </a:extLst>
          </p:cNvPr>
          <p:cNvGraphicFramePr>
            <a:graphicFrameLocks noGrp="1"/>
          </p:cNvGraphicFramePr>
          <p:nvPr/>
        </p:nvGraphicFramePr>
        <p:xfrm>
          <a:off x="-178328" y="6442363"/>
          <a:ext cx="143475" cy="433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75">
                  <a:extLst>
                    <a:ext uri="{9D8B030D-6E8A-4147-A177-3AD203B41FA5}">
                      <a16:colId xmlns:a16="http://schemas.microsoft.com/office/drawing/2014/main" val="3819462841"/>
                    </a:ext>
                  </a:extLst>
                </a:gridCol>
              </a:tblGrid>
              <a:tr h="144367">
                <a:tc>
                  <a:txBody>
                    <a:bodyPr/>
                    <a:lstStyle/>
                    <a:p>
                      <a:endParaRPr lang="es-PE" sz="1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3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47384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s-PE" sz="1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440308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s-PE" sz="1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0C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202745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717874D3-35ED-0072-B6BB-5368A5A62DBB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186435" y="6689571"/>
            <a:ext cx="1796825" cy="12266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PE" sz="797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Datos elaborados por BCP para uso Interno</a:t>
            </a:r>
          </a:p>
        </p:txBody>
      </p:sp>
    </p:spTree>
    <p:extLst>
      <p:ext uri="{BB962C8B-B14F-4D97-AF65-F5344CB8AC3E}">
        <p14:creationId xmlns:p14="http://schemas.microsoft.com/office/powerpoint/2010/main" val="3149305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5" r:id="rId14"/>
    <p:sldLayoutId id="2147483866" r:id="rId15"/>
    <p:sldLayoutId id="2147483867" r:id="rId16"/>
  </p:sldLayoutIdLst>
  <p:hf hdr="0" dt="0"/>
  <p:txStyles>
    <p:titleStyle>
      <a:lvl1pPr algn="l" defTabSz="910925" rtl="0" eaLnBrk="1" latinLnBrk="0" hangingPunct="1">
        <a:lnSpc>
          <a:spcPct val="90000"/>
        </a:lnSpc>
        <a:spcBef>
          <a:spcPct val="0"/>
        </a:spcBef>
        <a:buNone/>
        <a:defRPr sz="2391" b="1" kern="1200">
          <a:solidFill>
            <a:schemeClr val="tx1"/>
          </a:solidFill>
          <a:latin typeface="+mj-lt"/>
          <a:ea typeface="Source Sans Pro" panose="020B0503030403020204" pitchFamily="34" charset="0"/>
          <a:cs typeface="Calibri Light" panose="020F0302020204030204" pitchFamily="34" charset="0"/>
        </a:defRPr>
      </a:lvl1pPr>
    </p:titleStyle>
    <p:bodyStyle>
      <a:lvl1pPr marL="227731" indent="-227731" algn="l" defTabSz="910925" rtl="0" eaLnBrk="1" latinLnBrk="0" hangingPunct="1">
        <a:lnSpc>
          <a:spcPct val="90000"/>
        </a:lnSpc>
        <a:spcBef>
          <a:spcPts val="996"/>
        </a:spcBef>
        <a:buFont typeface="Arial" panose="020B0604020202020204" pitchFamily="34" charset="0"/>
        <a:buChar char="•"/>
        <a:defRPr sz="1992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3194" indent="-227731" algn="l" defTabSz="910925" rtl="0" eaLnBrk="1" latinLnBrk="0" hangingPunct="1">
        <a:lnSpc>
          <a:spcPct val="90000"/>
        </a:lnSpc>
        <a:spcBef>
          <a:spcPts val="498"/>
        </a:spcBef>
        <a:buFont typeface="Calibri" panose="020F0502020204030204" pitchFamily="34" charset="0"/>
        <a:buChar char="‒"/>
        <a:defRPr sz="1793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38657" indent="-227731" algn="l" defTabSz="910925" rtl="0" eaLnBrk="1" latinLnBrk="0" hangingPunct="1">
        <a:lnSpc>
          <a:spcPct val="90000"/>
        </a:lnSpc>
        <a:spcBef>
          <a:spcPts val="498"/>
        </a:spcBef>
        <a:buFont typeface="Calibri" panose="020F0502020204030204" pitchFamily="34" charset="0"/>
        <a:buChar char="▪"/>
        <a:defRPr sz="1594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94119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395" kern="1200">
          <a:solidFill>
            <a:schemeClr val="tx1"/>
          </a:solidFill>
          <a:latin typeface="+mn-lt"/>
          <a:ea typeface="+mn-ea"/>
          <a:cs typeface="+mn-cs"/>
        </a:defRPr>
      </a:lvl4pPr>
      <a:lvl5pPr marL="2049582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395" kern="1200">
          <a:solidFill>
            <a:schemeClr val="tx1"/>
          </a:solidFill>
          <a:latin typeface="+mn-lt"/>
          <a:ea typeface="+mn-ea"/>
          <a:cs typeface="+mn-cs"/>
        </a:defRPr>
      </a:lvl5pPr>
      <a:lvl6pPr marL="2505045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6pPr>
      <a:lvl7pPr marL="2960507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7pPr>
      <a:lvl8pPr marL="3415970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8pPr>
      <a:lvl9pPr marL="3871432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1pPr>
      <a:lvl2pPr marL="455463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2pPr>
      <a:lvl3pPr marL="910925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3pPr>
      <a:lvl4pPr marL="1366388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4pPr>
      <a:lvl5pPr marL="1821851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5pPr>
      <a:lvl6pPr marL="2277313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6pPr>
      <a:lvl7pPr marL="2732776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7pPr>
      <a:lvl8pPr marL="3188238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8pPr>
      <a:lvl9pPr marL="3643701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B9C6EA2-958C-F615-332E-B906FD8473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962" y="3072062"/>
            <a:ext cx="5472435" cy="1771291"/>
          </a:xfrm>
        </p:spPr>
        <p:txBody>
          <a:bodyPr>
            <a:normAutofit fontScale="90000"/>
          </a:bodyPr>
          <a:lstStyle/>
          <a:p>
            <a:r>
              <a:rPr lang="es-PE" sz="4000" b="1" dirty="0" err="1">
                <a:solidFill>
                  <a:schemeClr val="bg1"/>
                </a:solidFill>
                <a:latin typeface="Flexo" pitchFamily="50" charset="0"/>
              </a:rPr>
              <a:t>Context</a:t>
            </a:r>
            <a:r>
              <a:rPr lang="es-PE" sz="4000" b="1" dirty="0">
                <a:solidFill>
                  <a:schemeClr val="bg1"/>
                </a:solidFill>
                <a:latin typeface="Flexo" pitchFamily="50" charset="0"/>
              </a:rPr>
              <a:t> </a:t>
            </a:r>
            <a:r>
              <a:rPr lang="es-PE" sz="4000" b="1" dirty="0" err="1">
                <a:solidFill>
                  <a:schemeClr val="bg1"/>
                </a:solidFill>
                <a:latin typeface="Flexo" pitchFamily="50" charset="0"/>
              </a:rPr>
              <a:t>Engineering</a:t>
            </a:r>
            <a:r>
              <a:rPr lang="es-PE" sz="4000" b="1" dirty="0">
                <a:solidFill>
                  <a:schemeClr val="bg1"/>
                </a:solidFill>
                <a:latin typeface="Flexo" pitchFamily="50" charset="0"/>
              </a:rPr>
              <a:t> y Ambigüedad en Agentes Conversacionales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5FC8C3-F4EA-1FCF-0A70-B0E233B55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959" y="6141866"/>
            <a:ext cx="3488321" cy="357776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lIns="90875" tIns="45438" rIns="90875" bIns="45438" rtlCol="0" anchor="b">
            <a:normAutofit fontScale="97500"/>
          </a:bodyPr>
          <a:lstStyle/>
          <a:p>
            <a:pPr>
              <a:spcBef>
                <a:spcPct val="0"/>
              </a:spcBef>
            </a:pPr>
            <a:r>
              <a:rPr lang="es-PE" sz="1420" b="1" dirty="0">
                <a:solidFill>
                  <a:schemeClr val="bg1"/>
                </a:solidFill>
                <a:latin typeface="Flexo" pitchFamily="50" charset="0"/>
              </a:rPr>
              <a:t>IA Academy · Programa IA Credicorp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249AA01-E3A0-FA6F-A3F3-6B367FB4D84D}"/>
              </a:ext>
            </a:extLst>
          </p:cNvPr>
          <p:cNvSpPr txBox="1"/>
          <p:nvPr/>
        </p:nvSpPr>
        <p:spPr>
          <a:xfrm>
            <a:off x="165961" y="5042850"/>
            <a:ext cx="6582681" cy="363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760" b="1" dirty="0">
                <a:solidFill>
                  <a:schemeClr val="bg1"/>
                </a:solidFill>
                <a:latin typeface="Flexo" pitchFamily="50" charset="0"/>
              </a:rPr>
              <a:t>Kevin Gómez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A5161C4-EF3C-3CFC-8400-712F7E79DB2E}"/>
              </a:ext>
            </a:extLst>
          </p:cNvPr>
          <p:cNvSpPr txBox="1"/>
          <p:nvPr/>
        </p:nvSpPr>
        <p:spPr>
          <a:xfrm>
            <a:off x="9569116" y="6075431"/>
            <a:ext cx="2525215" cy="664797"/>
          </a:xfrm>
          <a:prstGeom prst="rect">
            <a:avLst/>
          </a:prstGeom>
          <a:solidFill>
            <a:schemeClr val="tx1">
              <a:alpha val="52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860" b="1" dirty="0">
                <a:solidFill>
                  <a:schemeClr val="bg1"/>
                </a:solidFill>
                <a:latin typeface="Flexo" pitchFamily="50" charset="0"/>
              </a:rPr>
              <a:t>28 de agosto de 2026</a:t>
            </a:r>
          </a:p>
        </p:txBody>
      </p:sp>
    </p:spTree>
    <p:extLst>
      <p:ext uri="{BB962C8B-B14F-4D97-AF65-F5344CB8AC3E}">
        <p14:creationId xmlns:p14="http://schemas.microsoft.com/office/powerpoint/2010/main" val="229688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uadroTexto 101">
            <a:extLst>
              <a:ext uri="{FF2B5EF4-FFF2-40B4-BE49-F238E27FC236}">
                <a16:creationId xmlns:a16="http://schemas.microsoft.com/office/drawing/2014/main" id="{3A5FAB19-2D5A-DE48-9939-BF0460153473}"/>
              </a:ext>
            </a:extLst>
          </p:cNvPr>
          <p:cNvSpPr txBox="1"/>
          <p:nvPr/>
        </p:nvSpPr>
        <p:spPr>
          <a:xfrm>
            <a:off x="6096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2200" b="1">
                <a:solidFill>
                  <a:srgbClr val="FFFFFF"/>
                </a:solidFill>
                <a:latin typeface="Aptos Display"/>
              </a:rPr>
              <a:t>Ruta técnica de la sesión</a:t>
            </a:r>
            <a:endParaRPr lang="es-US" sz="2200"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104" name="Rectángulo 103">
            <a:extLst>
              <a:ext uri="{FF2B5EF4-FFF2-40B4-BE49-F238E27FC236}">
                <a16:creationId xmlns:a16="http://schemas.microsoft.com/office/drawing/2014/main" id="{54BF1A8F-6DC1-B44C-B720-61FEC00FA8D8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46" name="CuadroTexto 145">
            <a:extLst>
              <a:ext uri="{FF2B5EF4-FFF2-40B4-BE49-F238E27FC236}">
                <a16:creationId xmlns:a16="http://schemas.microsoft.com/office/drawing/2014/main" id="{E462852E-12AA-BF40-A54D-807E176A31CA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520">
                <a:solidFill>
                  <a:srgbClr val="D8DEE8"/>
                </a:solidFill>
                <a:latin typeface="Aptos"/>
              </a:rPr>
              <a:t>Fuentes: Documentación oficial de Pydantic, FastAPI y Microsoft Agent Framework.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8735E8D5-2D02-184B-9289-69BE390E3520}"/>
              </a:ext>
            </a:extLst>
          </p:cNvPr>
          <p:cNvSpPr/>
          <p:nvPr/>
        </p:nvSpPr>
        <p:spPr>
          <a:xfrm>
            <a:off x="736600" y="1320800"/>
            <a:ext cx="457200" cy="457200"/>
          </a:xfrm>
          <a:prstGeom prst="ellipse">
            <a:avLst/>
          </a:prstGeom>
          <a:solidFill>
            <a:srgbClr val="00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A6C7DB6-75B4-E549-BDF7-A60DFA72E61A}"/>
              </a:ext>
            </a:extLst>
          </p:cNvPr>
          <p:cNvSpPr txBox="1"/>
          <p:nvPr/>
        </p:nvSpPr>
        <p:spPr>
          <a:xfrm>
            <a:off x="736600" y="1435100"/>
            <a:ext cx="457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s-US" sz="850" b="1" dirty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8BA5D60-510D-7846-BAC5-1389114BC8DE}"/>
              </a:ext>
            </a:extLst>
          </p:cNvPr>
          <p:cNvSpPr/>
          <p:nvPr/>
        </p:nvSpPr>
        <p:spPr>
          <a:xfrm>
            <a:off x="939800" y="1778000"/>
            <a:ext cx="50800" cy="254000"/>
          </a:xfrm>
          <a:prstGeom prst="rect">
            <a:avLst/>
          </a:prstGeom>
          <a:solidFill>
            <a:srgbClr val="00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0CCA77F-123A-3A4C-87A5-967B5F3A7323}"/>
              </a:ext>
            </a:extLst>
          </p:cNvPr>
          <p:cNvSpPr txBox="1"/>
          <p:nvPr/>
        </p:nvSpPr>
        <p:spPr>
          <a:xfrm>
            <a:off x="1524000" y="1308100"/>
            <a:ext cx="2286000" cy="254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1400" b="1">
                <a:solidFill>
                  <a:srgbClr val="E7A1D3"/>
                </a:solidFill>
                <a:latin typeface="Aptos"/>
              </a:rPr>
              <a:t>Problema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CE2C20D-072D-414D-BFE0-1ED8B08C2446}"/>
              </a:ext>
            </a:extLst>
          </p:cNvPr>
          <p:cNvSpPr txBox="1"/>
          <p:nvPr/>
        </p:nvSpPr>
        <p:spPr>
          <a:xfrm>
            <a:off x="1524000" y="1600200"/>
            <a:ext cx="8763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820" b="1">
                <a:solidFill>
                  <a:srgbClr val="FFFFFF"/>
                </a:solidFill>
                <a:latin typeface="Aptos"/>
              </a:rPr>
              <a:t>Los type hints describen el código, pero no validan datos reales que llegan desde JSON, colas, archivos o modelos.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C605E6C9-26FF-574A-BA31-2960CFB594AA}"/>
              </a:ext>
            </a:extLst>
          </p:cNvPr>
          <p:cNvSpPr/>
          <p:nvPr/>
        </p:nvSpPr>
        <p:spPr>
          <a:xfrm>
            <a:off x="736600" y="2032000"/>
            <a:ext cx="457200" cy="457200"/>
          </a:xfrm>
          <a:prstGeom prst="ellipse">
            <a:avLst/>
          </a:prstGeom>
          <a:solidFill>
            <a:srgbClr val="00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9ACA867-7AE5-264C-AEAB-A905A51D0ABC}"/>
              </a:ext>
            </a:extLst>
          </p:cNvPr>
          <p:cNvSpPr txBox="1"/>
          <p:nvPr/>
        </p:nvSpPr>
        <p:spPr>
          <a:xfrm>
            <a:off x="736600" y="2146300"/>
            <a:ext cx="457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s-US"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3CE9BA7-9B61-374B-BE93-4DE10EBDB3E3}"/>
              </a:ext>
            </a:extLst>
          </p:cNvPr>
          <p:cNvSpPr/>
          <p:nvPr/>
        </p:nvSpPr>
        <p:spPr>
          <a:xfrm>
            <a:off x="939800" y="2489200"/>
            <a:ext cx="50800" cy="254000"/>
          </a:xfrm>
          <a:prstGeom prst="rect">
            <a:avLst/>
          </a:prstGeom>
          <a:solidFill>
            <a:srgbClr val="00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6E61313-031D-9448-915F-8E5E5F86F5B2}"/>
              </a:ext>
            </a:extLst>
          </p:cNvPr>
          <p:cNvSpPr txBox="1"/>
          <p:nvPr/>
        </p:nvSpPr>
        <p:spPr>
          <a:xfrm>
            <a:off x="1524000" y="2019300"/>
            <a:ext cx="2286000" cy="254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1400" b="1">
                <a:solidFill>
                  <a:srgbClr val="E7A1D3"/>
                </a:solidFill>
                <a:latin typeface="Aptos"/>
              </a:rPr>
              <a:t>Contrato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66CD4C2-9FFA-0248-925E-3AC4F61ADD17}"/>
              </a:ext>
            </a:extLst>
          </p:cNvPr>
          <p:cNvSpPr txBox="1"/>
          <p:nvPr/>
        </p:nvSpPr>
        <p:spPr>
          <a:xfrm>
            <a:off x="1524000" y="2311400"/>
            <a:ext cx="8763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820" b="1">
                <a:solidFill>
                  <a:srgbClr val="FFFFFF"/>
                </a:solidFill>
                <a:latin typeface="Aptos"/>
              </a:rPr>
              <a:t>BaseModel, Field, Literal, modelos anidados y TypeAdapter convierten tipos en contratos ejecutables.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424ED9AA-92B3-6344-9270-FE12527F80E9}"/>
              </a:ext>
            </a:extLst>
          </p:cNvPr>
          <p:cNvSpPr/>
          <p:nvPr/>
        </p:nvSpPr>
        <p:spPr>
          <a:xfrm>
            <a:off x="736600" y="2743200"/>
            <a:ext cx="457200" cy="457200"/>
          </a:xfrm>
          <a:prstGeom prst="ellipse">
            <a:avLst/>
          </a:prstGeom>
          <a:solidFill>
            <a:srgbClr val="00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CD981A1-5FFB-FC4A-9D1A-7F22B8A44969}"/>
              </a:ext>
            </a:extLst>
          </p:cNvPr>
          <p:cNvSpPr txBox="1"/>
          <p:nvPr/>
        </p:nvSpPr>
        <p:spPr>
          <a:xfrm>
            <a:off x="736600" y="2857500"/>
            <a:ext cx="457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s-US"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5B3723B-3926-B246-B718-4B3D0898A1D5}"/>
              </a:ext>
            </a:extLst>
          </p:cNvPr>
          <p:cNvSpPr/>
          <p:nvPr/>
        </p:nvSpPr>
        <p:spPr>
          <a:xfrm>
            <a:off x="939800" y="3200400"/>
            <a:ext cx="50800" cy="254000"/>
          </a:xfrm>
          <a:prstGeom prst="rect">
            <a:avLst/>
          </a:prstGeom>
          <a:solidFill>
            <a:srgbClr val="00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A71E048-90A3-CA45-9BCB-98FE0B06A8E7}"/>
              </a:ext>
            </a:extLst>
          </p:cNvPr>
          <p:cNvSpPr txBox="1"/>
          <p:nvPr/>
        </p:nvSpPr>
        <p:spPr>
          <a:xfrm>
            <a:off x="1524000" y="2730500"/>
            <a:ext cx="2286000" cy="254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1400" b="1">
                <a:solidFill>
                  <a:srgbClr val="E7A1D3"/>
                </a:solidFill>
                <a:latin typeface="Aptos"/>
              </a:rPr>
              <a:t>Operación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07B6ECC-CCF6-BB40-B617-11FA9FE7F01F}"/>
              </a:ext>
            </a:extLst>
          </p:cNvPr>
          <p:cNvSpPr txBox="1"/>
          <p:nvPr/>
        </p:nvSpPr>
        <p:spPr>
          <a:xfrm>
            <a:off x="1524000" y="3022600"/>
            <a:ext cx="8763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820" b="1">
                <a:solidFill>
                  <a:srgbClr val="FFFFFF"/>
                </a:solidFill>
                <a:latin typeface="Aptos"/>
              </a:rPr>
              <a:t>ValidationError, serialización y JSON Schema hacen observable y reutilizable el contrato.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103AB4BF-5A43-B548-8344-0C7FA6B32B7B}"/>
              </a:ext>
            </a:extLst>
          </p:cNvPr>
          <p:cNvSpPr/>
          <p:nvPr/>
        </p:nvSpPr>
        <p:spPr>
          <a:xfrm>
            <a:off x="736600" y="3454400"/>
            <a:ext cx="457200" cy="457200"/>
          </a:xfrm>
          <a:prstGeom prst="ellipse">
            <a:avLst/>
          </a:prstGeom>
          <a:solidFill>
            <a:srgbClr val="00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0DF84CF-1985-FD4A-BCC3-D9DDC7770559}"/>
              </a:ext>
            </a:extLst>
          </p:cNvPr>
          <p:cNvSpPr txBox="1"/>
          <p:nvPr/>
        </p:nvSpPr>
        <p:spPr>
          <a:xfrm>
            <a:off x="736600" y="3568700"/>
            <a:ext cx="457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s-US" sz="8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A997566-CC93-9446-8FF0-0F852DA7B0E6}"/>
              </a:ext>
            </a:extLst>
          </p:cNvPr>
          <p:cNvSpPr/>
          <p:nvPr/>
        </p:nvSpPr>
        <p:spPr>
          <a:xfrm>
            <a:off x="939800" y="3911600"/>
            <a:ext cx="50800" cy="254000"/>
          </a:xfrm>
          <a:prstGeom prst="rect">
            <a:avLst/>
          </a:prstGeom>
          <a:solidFill>
            <a:srgbClr val="00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F12570D-9EEE-E648-B37D-494EC1678A03}"/>
              </a:ext>
            </a:extLst>
          </p:cNvPr>
          <p:cNvSpPr txBox="1"/>
          <p:nvPr/>
        </p:nvSpPr>
        <p:spPr>
          <a:xfrm>
            <a:off x="1524000" y="3441700"/>
            <a:ext cx="2286000" cy="254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1400" b="1">
                <a:solidFill>
                  <a:srgbClr val="E7A1D3"/>
                </a:solidFill>
                <a:latin typeface="Aptos"/>
              </a:rPr>
              <a:t>Riesgo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730F51F-9A4A-6A42-B51C-8F94703DBE31}"/>
              </a:ext>
            </a:extLst>
          </p:cNvPr>
          <p:cNvSpPr txBox="1"/>
          <p:nvPr/>
        </p:nvSpPr>
        <p:spPr>
          <a:xfrm>
            <a:off x="1524000" y="3733800"/>
            <a:ext cx="8763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820" b="1">
                <a:solidFill>
                  <a:srgbClr val="FFFFFF"/>
                </a:solidFill>
                <a:latin typeface="Aptos"/>
              </a:rPr>
              <a:t>Strict mode y validadores reducen conversiones silenciosas y mantienen reglas locales fuera de servicios externos.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1A4A2643-D57C-6E4D-A879-6AADA345C2DA}"/>
              </a:ext>
            </a:extLst>
          </p:cNvPr>
          <p:cNvSpPr/>
          <p:nvPr/>
        </p:nvSpPr>
        <p:spPr>
          <a:xfrm>
            <a:off x="736600" y="4165600"/>
            <a:ext cx="457200" cy="457200"/>
          </a:xfrm>
          <a:prstGeom prst="ellipse">
            <a:avLst/>
          </a:prstGeom>
          <a:solidFill>
            <a:srgbClr val="00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21B7448-231C-054B-817E-BF1486E1623C}"/>
              </a:ext>
            </a:extLst>
          </p:cNvPr>
          <p:cNvSpPr txBox="1"/>
          <p:nvPr/>
        </p:nvSpPr>
        <p:spPr>
          <a:xfrm>
            <a:off x="736600" y="4279900"/>
            <a:ext cx="457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s-US" sz="8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1D33555-C6DD-264E-B0A9-EE1099BBD0CD}"/>
              </a:ext>
            </a:extLst>
          </p:cNvPr>
          <p:cNvSpPr/>
          <p:nvPr/>
        </p:nvSpPr>
        <p:spPr>
          <a:xfrm>
            <a:off x="939800" y="4622800"/>
            <a:ext cx="50800" cy="254000"/>
          </a:xfrm>
          <a:prstGeom prst="rect">
            <a:avLst/>
          </a:prstGeom>
          <a:solidFill>
            <a:srgbClr val="00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1924E99-CCCD-EE40-B7F4-9D20994A2ACC}"/>
              </a:ext>
            </a:extLst>
          </p:cNvPr>
          <p:cNvSpPr txBox="1"/>
          <p:nvPr/>
        </p:nvSpPr>
        <p:spPr>
          <a:xfrm>
            <a:off x="1524000" y="4152900"/>
            <a:ext cx="2286000" cy="254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1400" b="1">
                <a:solidFill>
                  <a:srgbClr val="E7A1D3"/>
                </a:solidFill>
                <a:latin typeface="Aptos"/>
              </a:rPr>
              <a:t>Integración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374DA2C-3F61-9B40-91E3-16A15CEBF917}"/>
              </a:ext>
            </a:extLst>
          </p:cNvPr>
          <p:cNvSpPr txBox="1"/>
          <p:nvPr/>
        </p:nvSpPr>
        <p:spPr>
          <a:xfrm>
            <a:off x="1524000" y="4445000"/>
            <a:ext cx="8763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820" b="1">
                <a:solidFill>
                  <a:srgbClr val="FFFFFF"/>
                </a:solidFill>
                <a:latin typeface="Aptos"/>
              </a:rPr>
              <a:t>FastAPI y Microsoft Agent Framework reutilizan modelos Pydantic como contratos de entrada, salida y tools.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42F04291-4B4E-E44D-8963-A1166B14A098}"/>
              </a:ext>
            </a:extLst>
          </p:cNvPr>
          <p:cNvSpPr/>
          <p:nvPr/>
        </p:nvSpPr>
        <p:spPr>
          <a:xfrm>
            <a:off x="736600" y="4876800"/>
            <a:ext cx="457200" cy="457200"/>
          </a:xfrm>
          <a:prstGeom prst="ellipse">
            <a:avLst/>
          </a:prstGeom>
          <a:solidFill>
            <a:srgbClr val="00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A5635A2-9316-0C49-9153-AF1E5D6C1D0F}"/>
              </a:ext>
            </a:extLst>
          </p:cNvPr>
          <p:cNvSpPr txBox="1"/>
          <p:nvPr/>
        </p:nvSpPr>
        <p:spPr>
          <a:xfrm>
            <a:off x="736600" y="4991100"/>
            <a:ext cx="457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s-US" sz="8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7FA685B2-8520-6348-A35D-8BFFC8A1A74F}"/>
              </a:ext>
            </a:extLst>
          </p:cNvPr>
          <p:cNvSpPr/>
          <p:nvPr/>
        </p:nvSpPr>
        <p:spPr>
          <a:xfrm>
            <a:off x="939800" y="5334000"/>
            <a:ext cx="50800" cy="254000"/>
          </a:xfrm>
          <a:prstGeom prst="rect">
            <a:avLst/>
          </a:prstGeom>
          <a:solidFill>
            <a:srgbClr val="00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E043EA08-F495-274A-B4C9-A1CF927B9633}"/>
              </a:ext>
            </a:extLst>
          </p:cNvPr>
          <p:cNvSpPr txBox="1"/>
          <p:nvPr/>
        </p:nvSpPr>
        <p:spPr>
          <a:xfrm>
            <a:off x="1524000" y="4864100"/>
            <a:ext cx="2286000" cy="254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1400" b="1">
                <a:solidFill>
                  <a:srgbClr val="E7A1D3"/>
                </a:solidFill>
                <a:latin typeface="Aptos"/>
              </a:rPr>
              <a:t>Demo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D30C00A9-C49B-724A-9848-C4B30336EE7F}"/>
              </a:ext>
            </a:extLst>
          </p:cNvPr>
          <p:cNvSpPr txBox="1"/>
          <p:nvPr/>
        </p:nvSpPr>
        <p:spPr>
          <a:xfrm>
            <a:off x="1524000" y="5156200"/>
            <a:ext cx="8763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820" b="1">
                <a:solidFill>
                  <a:srgbClr val="FFFFFF"/>
                </a:solidFill>
                <a:latin typeface="Aptos"/>
              </a:rPr>
              <a:t>Un agente procesa texto de factura, usa una tool de hora y devuelve InvoiceAnalysis como structured output validado.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EB059483-3D65-CF48-BD4B-417F799A77EC}"/>
              </a:ext>
            </a:extLst>
          </p:cNvPr>
          <p:cNvSpPr/>
          <p:nvPr/>
        </p:nvSpPr>
        <p:spPr>
          <a:xfrm>
            <a:off x="736600" y="5588000"/>
            <a:ext cx="457200" cy="457200"/>
          </a:xfrm>
          <a:prstGeom prst="ellipse">
            <a:avLst/>
          </a:prstGeom>
          <a:solidFill>
            <a:srgbClr val="00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BD453191-5234-0B4A-8A94-2BA279E2752F}"/>
              </a:ext>
            </a:extLst>
          </p:cNvPr>
          <p:cNvSpPr txBox="1"/>
          <p:nvPr/>
        </p:nvSpPr>
        <p:spPr>
          <a:xfrm>
            <a:off x="736600" y="5702300"/>
            <a:ext cx="457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s-US" sz="85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FEDA2EAB-CCEE-744C-9BF0-C74CAADF5B2E}"/>
              </a:ext>
            </a:extLst>
          </p:cNvPr>
          <p:cNvSpPr txBox="1"/>
          <p:nvPr/>
        </p:nvSpPr>
        <p:spPr>
          <a:xfrm>
            <a:off x="1524000" y="5575300"/>
            <a:ext cx="2286000" cy="254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1400" b="1">
                <a:solidFill>
                  <a:srgbClr val="E7A1D3"/>
                </a:solidFill>
                <a:latin typeface="Aptos"/>
              </a:rPr>
              <a:t>Estándares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E6A17C45-D4AC-A444-9F07-6E7FD911C82E}"/>
              </a:ext>
            </a:extLst>
          </p:cNvPr>
          <p:cNvSpPr txBox="1"/>
          <p:nvPr/>
        </p:nvSpPr>
        <p:spPr>
          <a:xfrm>
            <a:off x="1524000" y="5867400"/>
            <a:ext cx="8763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820" b="1">
                <a:solidFill>
                  <a:srgbClr val="FFFFFF"/>
                </a:solidFill>
                <a:latin typeface="Aptos"/>
              </a:rPr>
              <a:t>Convenciones de equipo consolidan contratos explícitos para datos externos y salidas generadas por modelos.</a:t>
            </a:r>
          </a:p>
        </p:txBody>
      </p:sp>
    </p:spTree>
    <p:extLst>
      <p:ext uri="{BB962C8B-B14F-4D97-AF65-F5344CB8AC3E}">
        <p14:creationId xmlns:p14="http://schemas.microsoft.com/office/powerpoint/2010/main" val="721143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adroTexto 81">
            <a:extLst>
              <a:ext uri="{FF2B5EF4-FFF2-40B4-BE49-F238E27FC236}">
                <a16:creationId xmlns:a16="http://schemas.microsoft.com/office/drawing/2014/main" id="{53EB78B0-3034-F94F-86DE-A430B010F31A}"/>
              </a:ext>
            </a:extLst>
          </p:cNvPr>
          <p:cNvSpPr txBox="1"/>
          <p:nvPr/>
        </p:nvSpPr>
        <p:spPr>
          <a:xfrm>
            <a:off x="6096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2400" b="1">
                <a:solidFill>
                  <a:srgbClr val="34445A"/>
                </a:solidFill>
                <a:latin typeface="Aptos"/>
              </a:rPr>
              <a:t>Los type hints no validan datos reales en runtime</a:t>
            </a:r>
          </a:p>
        </p:txBody>
      </p:sp>
      <p:sp>
        <p:nvSpPr>
          <p:cNvPr id="84" name="Rectángulo 83">
            <a:extLst>
              <a:ext uri="{FF2B5EF4-FFF2-40B4-BE49-F238E27FC236}">
                <a16:creationId xmlns:a16="http://schemas.microsoft.com/office/drawing/2014/main" id="{2FF6BB7E-9E0B-9942-8D48-5C202BE433BE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3CB2039A-31D4-3B49-BDEA-17A696ADF98A}"/>
              </a:ext>
            </a:extLst>
          </p:cNvPr>
          <p:cNvSpPr txBox="1"/>
          <p:nvPr/>
        </p:nvSpPr>
        <p:spPr>
          <a:xfrm>
            <a:off x="609600" y="952500"/>
            <a:ext cx="9906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s-US" sz="1250" b="1" dirty="0">
                <a:solidFill>
                  <a:srgbClr val="6B7788"/>
                </a:solidFill>
                <a:latin typeface="Aptos"/>
              </a:rPr>
              <a:t>Los type hints ayudan a analizar el código, pero no validan los datos reales que llegan en runtime.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EDA508BE-EC29-B648-B92B-67555DF243C9}"/>
              </a:ext>
            </a:extLst>
          </p:cNvPr>
          <p:cNvSpPr txBox="1"/>
          <p:nvPr/>
        </p:nvSpPr>
        <p:spPr>
          <a:xfrm>
            <a:off x="736600" y="1473200"/>
            <a:ext cx="2286000" cy="177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830" b="1">
                <a:solidFill>
                  <a:srgbClr val="D83B4C"/>
                </a:solidFill>
                <a:latin typeface="Aptos"/>
              </a:rPr>
              <a:t>EJEMPLO MÍNIMO</a:t>
            </a:r>
          </a:p>
        </p:txBody>
      </p:sp>
      <p:sp>
        <p:nvSpPr>
          <p:cNvPr id="87" name="Rectángulo 86">
            <a:extLst>
              <a:ext uri="{FF2B5EF4-FFF2-40B4-BE49-F238E27FC236}">
                <a16:creationId xmlns:a16="http://schemas.microsoft.com/office/drawing/2014/main" id="{EDA7C9AC-4C44-BF4A-9AE4-AC7272B59E70}"/>
              </a:ext>
            </a:extLst>
          </p:cNvPr>
          <p:cNvSpPr/>
          <p:nvPr/>
        </p:nvSpPr>
        <p:spPr>
          <a:xfrm>
            <a:off x="736600" y="1752600"/>
            <a:ext cx="4978400" cy="1841500"/>
          </a:xfrm>
          <a:prstGeom prst="rect">
            <a:avLst/>
          </a:prstGeom>
          <a:solidFill>
            <a:srgbClr val="17212F"/>
          </a:solidFill>
          <a:ln w="13970" cap="flat" cmpd="sng" algn="ctr">
            <a:solidFill>
              <a:srgbClr val="00A6B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77EA3E35-F870-BD43-8391-A030A5B3C2F4}"/>
              </a:ext>
            </a:extLst>
          </p:cNvPr>
          <p:cNvSpPr txBox="1"/>
          <p:nvPr/>
        </p:nvSpPr>
        <p:spPr>
          <a:xfrm>
            <a:off x="863600" y="1854200"/>
            <a:ext cx="4724400" cy="16637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1100" dirty="0" err="1">
                <a:solidFill>
                  <a:srgbClr val="EAF2FF"/>
                </a:solidFill>
                <a:latin typeface="Consolas"/>
                <a:cs typeface="Consolas"/>
              </a:rPr>
              <a:t>def</a:t>
            </a:r>
            <a:r>
              <a:rPr lang="es-US" sz="1100" dirty="0">
                <a:solidFill>
                  <a:srgbClr val="EAF2FF"/>
                </a:solidFill>
                <a:latin typeface="Consolas"/>
                <a:cs typeface="Consolas"/>
              </a:rPr>
              <a:t> </a:t>
            </a:r>
            <a:r>
              <a:rPr lang="es-US" sz="1100" dirty="0" err="1">
                <a:solidFill>
                  <a:srgbClr val="EAF2FF"/>
                </a:solidFill>
                <a:latin typeface="Consolas"/>
                <a:cs typeface="Consolas"/>
              </a:rPr>
              <a:t>charge</a:t>
            </a:r>
            <a:r>
              <a:rPr lang="es-US" sz="1100" dirty="0">
                <a:solidFill>
                  <a:srgbClr val="EAF2FF"/>
                </a:solidFill>
                <a:latin typeface="Consolas"/>
                <a:cs typeface="Consolas"/>
              </a:rPr>
              <a:t>(</a:t>
            </a:r>
            <a:r>
              <a:rPr lang="es-US" sz="1100" dirty="0" err="1">
                <a:solidFill>
                  <a:srgbClr val="EAF2FF"/>
                </a:solidFill>
                <a:latin typeface="Consolas"/>
                <a:cs typeface="Consolas"/>
              </a:rPr>
              <a:t>amount</a:t>
            </a:r>
            <a:r>
              <a:rPr lang="es-US" sz="1100" dirty="0">
                <a:solidFill>
                  <a:srgbClr val="EAF2FF"/>
                </a:solidFill>
                <a:latin typeface="Consolas"/>
                <a:cs typeface="Consolas"/>
              </a:rPr>
              <a:t>: </a:t>
            </a:r>
            <a:r>
              <a:rPr lang="es-US" sz="1100" dirty="0" err="1">
                <a:solidFill>
                  <a:srgbClr val="EAF2FF"/>
                </a:solidFill>
                <a:latin typeface="Consolas"/>
                <a:cs typeface="Consolas"/>
              </a:rPr>
              <a:t>float</a:t>
            </a:r>
            <a:r>
              <a:rPr lang="es-US" sz="1100" dirty="0">
                <a:solidFill>
                  <a:srgbClr val="EAF2FF"/>
                </a:solidFill>
                <a:latin typeface="Consolas"/>
                <a:cs typeface="Consolas"/>
              </a:rPr>
              <a:t>) -&gt; None:
    ...
</a:t>
            </a:r>
            <a:r>
              <a:rPr lang="es-US" sz="1100" dirty="0" err="1">
                <a:solidFill>
                  <a:srgbClr val="EAF2FF"/>
                </a:solidFill>
                <a:latin typeface="Consolas"/>
                <a:cs typeface="Consolas"/>
              </a:rPr>
              <a:t>payload</a:t>
            </a:r>
            <a:r>
              <a:rPr lang="es-US" sz="1100" dirty="0">
                <a:solidFill>
                  <a:srgbClr val="EAF2FF"/>
                </a:solidFill>
                <a:latin typeface="Consolas"/>
                <a:cs typeface="Consolas"/>
              </a:rPr>
              <a:t> = {"</a:t>
            </a:r>
            <a:r>
              <a:rPr lang="es-US" sz="1100" dirty="0" err="1">
                <a:solidFill>
                  <a:srgbClr val="EAF2FF"/>
                </a:solidFill>
                <a:latin typeface="Consolas"/>
                <a:cs typeface="Consolas"/>
              </a:rPr>
              <a:t>amount</a:t>
            </a:r>
            <a:r>
              <a:rPr lang="es-US" sz="1100" dirty="0">
                <a:solidFill>
                  <a:srgbClr val="EAF2FF"/>
                </a:solidFill>
                <a:latin typeface="Consolas"/>
                <a:cs typeface="Consolas"/>
              </a:rPr>
              <a:t>": "100.00"}
</a:t>
            </a:r>
            <a:r>
              <a:rPr lang="es-US" sz="1100" dirty="0" err="1">
                <a:solidFill>
                  <a:srgbClr val="EAF2FF"/>
                </a:solidFill>
                <a:latin typeface="Consolas"/>
                <a:cs typeface="Consolas"/>
              </a:rPr>
              <a:t>charge</a:t>
            </a:r>
            <a:r>
              <a:rPr lang="es-US" sz="1100" dirty="0">
                <a:solidFill>
                  <a:srgbClr val="EAF2FF"/>
                </a:solidFill>
                <a:latin typeface="Consolas"/>
                <a:cs typeface="Consolas"/>
              </a:rPr>
              <a:t>(</a:t>
            </a:r>
            <a:r>
              <a:rPr lang="es-US" sz="1100" dirty="0" err="1">
                <a:solidFill>
                  <a:srgbClr val="EAF2FF"/>
                </a:solidFill>
                <a:latin typeface="Consolas"/>
                <a:cs typeface="Consolas"/>
              </a:rPr>
              <a:t>payload</a:t>
            </a:r>
            <a:r>
              <a:rPr lang="es-US" sz="1100" dirty="0">
                <a:solidFill>
                  <a:srgbClr val="EAF2FF"/>
                </a:solidFill>
                <a:latin typeface="Consolas"/>
                <a:cs typeface="Consolas"/>
              </a:rPr>
              <a:t>["</a:t>
            </a:r>
            <a:r>
              <a:rPr lang="es-US" sz="1100" dirty="0" err="1">
                <a:solidFill>
                  <a:srgbClr val="EAF2FF"/>
                </a:solidFill>
                <a:latin typeface="Consolas"/>
                <a:cs typeface="Consolas"/>
              </a:rPr>
              <a:t>amount</a:t>
            </a:r>
            <a:r>
              <a:rPr lang="es-US" sz="1100" dirty="0">
                <a:solidFill>
                  <a:srgbClr val="EAF2FF"/>
                </a:solidFill>
                <a:latin typeface="Consolas"/>
                <a:cs typeface="Consolas"/>
              </a:rPr>
              <a:t>"])  # </a:t>
            </a:r>
            <a:r>
              <a:rPr lang="es-US" sz="1100" dirty="0" err="1">
                <a:solidFill>
                  <a:srgbClr val="EAF2FF"/>
                </a:solidFill>
                <a:latin typeface="Consolas"/>
                <a:cs typeface="Consolas"/>
              </a:rPr>
              <a:t>str</a:t>
            </a:r>
            <a:r>
              <a:rPr lang="es-US" sz="1100" dirty="0">
                <a:solidFill>
                  <a:srgbClr val="EAF2FF"/>
                </a:solidFill>
                <a:latin typeface="Consolas"/>
                <a:cs typeface="Consolas"/>
              </a:rPr>
              <a:t> en </a:t>
            </a:r>
            <a:r>
              <a:rPr lang="es-US" sz="1100" dirty="0" err="1">
                <a:solidFill>
                  <a:srgbClr val="EAF2FF"/>
                </a:solidFill>
                <a:latin typeface="Consolas"/>
                <a:cs typeface="Consolas"/>
              </a:rPr>
              <a:t>runtime</a:t>
            </a:r>
            <a:endParaRPr lang="es-US" sz="1100" dirty="0">
              <a:solidFill>
                <a:srgbClr val="EAF2FF"/>
              </a:solidFill>
              <a:latin typeface="Consolas"/>
              <a:cs typeface="Consolas"/>
            </a:endParaRPr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884B2D0D-BB11-4C43-B59A-DCE65FF15F45}"/>
              </a:ext>
            </a:extLst>
          </p:cNvPr>
          <p:cNvSpPr/>
          <p:nvPr/>
        </p:nvSpPr>
        <p:spPr>
          <a:xfrm>
            <a:off x="736600" y="4000500"/>
            <a:ext cx="4978400" cy="1092200"/>
          </a:xfrm>
          <a:prstGeom prst="rect">
            <a:avLst/>
          </a:prstGeom>
          <a:solidFill>
            <a:srgbClr val="FDE5E8"/>
          </a:solidFill>
          <a:ln w="15240" cap="flat" cmpd="sng" algn="ctr">
            <a:solidFill>
              <a:srgbClr val="D83B4C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954999D8-3C1A-5044-A7C4-C19792625C9F}"/>
              </a:ext>
            </a:extLst>
          </p:cNvPr>
          <p:cNvSpPr txBox="1"/>
          <p:nvPr/>
        </p:nvSpPr>
        <p:spPr>
          <a:xfrm>
            <a:off x="990600" y="4229100"/>
            <a:ext cx="4445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 fontScale="92500"/>
          </a:bodyPr>
          <a:lstStyle/>
          <a:p>
            <a:pPr algn="l"/>
            <a:r>
              <a:rPr lang="es-US" sz="1320" b="1" dirty="0">
                <a:solidFill>
                  <a:srgbClr val="34445A"/>
                </a:solidFill>
                <a:latin typeface="Aptos"/>
              </a:rPr>
              <a:t>El type hint vive en la firma; el dato real llega desde JSON, colas, archivos, variables de entorno, OCR o LLMs.</a:t>
            </a:r>
          </a:p>
        </p:txBody>
      </p:sp>
      <p:sp>
        <p:nvSpPr>
          <p:cNvPr id="91" name="Rectángulo redondeado 90">
            <a:extLst>
              <a:ext uri="{FF2B5EF4-FFF2-40B4-BE49-F238E27FC236}">
                <a16:creationId xmlns:a16="http://schemas.microsoft.com/office/drawing/2014/main" id="{4B38C086-D445-EA4A-92C4-192D1B1AD31F}"/>
              </a:ext>
            </a:extLst>
          </p:cNvPr>
          <p:cNvSpPr/>
          <p:nvPr/>
        </p:nvSpPr>
        <p:spPr>
          <a:xfrm>
            <a:off x="6604000" y="1676400"/>
            <a:ext cx="1066800" cy="279400"/>
          </a:xfrm>
          <a:prstGeom prst="roundRect">
            <a:avLst/>
          </a:prstGeom>
          <a:solidFill>
            <a:srgbClr val="344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F0EB87A0-27AA-2741-93DE-58EB1619397E}"/>
              </a:ext>
            </a:extLst>
          </p:cNvPr>
          <p:cNvSpPr txBox="1"/>
          <p:nvPr/>
        </p:nvSpPr>
        <p:spPr>
          <a:xfrm>
            <a:off x="6680200" y="1727200"/>
            <a:ext cx="9144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S" sz="870" b="1">
                <a:solidFill>
                  <a:srgbClr val="FFFFFF"/>
                </a:solidFill>
                <a:latin typeface="Aptos"/>
              </a:rPr>
              <a:t>HTTP body</a:t>
            </a:r>
          </a:p>
        </p:txBody>
      </p:sp>
      <p:sp>
        <p:nvSpPr>
          <p:cNvPr id="93" name="Rectángulo redondeado 92">
            <a:extLst>
              <a:ext uri="{FF2B5EF4-FFF2-40B4-BE49-F238E27FC236}">
                <a16:creationId xmlns:a16="http://schemas.microsoft.com/office/drawing/2014/main" id="{A404F2BC-25C1-8B40-BA12-CC780DEE8037}"/>
              </a:ext>
            </a:extLst>
          </p:cNvPr>
          <p:cNvSpPr/>
          <p:nvPr/>
        </p:nvSpPr>
        <p:spPr>
          <a:xfrm>
            <a:off x="7569200" y="1676400"/>
            <a:ext cx="1066800" cy="279400"/>
          </a:xfrm>
          <a:prstGeom prst="roundRect">
            <a:avLst/>
          </a:prstGeom>
          <a:solidFill>
            <a:srgbClr val="344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8056B99C-47C0-C645-80BD-5AE9641E0E0F}"/>
              </a:ext>
            </a:extLst>
          </p:cNvPr>
          <p:cNvSpPr txBox="1"/>
          <p:nvPr/>
        </p:nvSpPr>
        <p:spPr>
          <a:xfrm>
            <a:off x="7645400" y="1727200"/>
            <a:ext cx="9144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S" sz="870" b="1">
                <a:solidFill>
                  <a:srgbClr val="FFFFFF"/>
                </a:solidFill>
                <a:latin typeface="Aptos"/>
              </a:rPr>
              <a:t>Kafka / SQS</a:t>
            </a:r>
          </a:p>
        </p:txBody>
      </p:sp>
      <p:sp>
        <p:nvSpPr>
          <p:cNvPr id="95" name="Rectángulo redondeado 94">
            <a:extLst>
              <a:ext uri="{FF2B5EF4-FFF2-40B4-BE49-F238E27FC236}">
                <a16:creationId xmlns:a16="http://schemas.microsoft.com/office/drawing/2014/main" id="{7A37C577-6080-9244-8C93-E22BE7627C5D}"/>
              </a:ext>
            </a:extLst>
          </p:cNvPr>
          <p:cNvSpPr/>
          <p:nvPr/>
        </p:nvSpPr>
        <p:spPr>
          <a:xfrm>
            <a:off x="8534400" y="1676400"/>
            <a:ext cx="1066800" cy="279400"/>
          </a:xfrm>
          <a:prstGeom prst="roundRect">
            <a:avLst/>
          </a:prstGeom>
          <a:solidFill>
            <a:srgbClr val="344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3A3DD9B4-FD2E-DA4A-B1DD-7FCAF39B489C}"/>
              </a:ext>
            </a:extLst>
          </p:cNvPr>
          <p:cNvSpPr txBox="1"/>
          <p:nvPr/>
        </p:nvSpPr>
        <p:spPr>
          <a:xfrm>
            <a:off x="8610600" y="1727200"/>
            <a:ext cx="9144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S" sz="870" b="1">
                <a:solidFill>
                  <a:srgbClr val="FFFFFF"/>
                </a:solidFill>
                <a:latin typeface="Aptos"/>
              </a:rPr>
              <a:t>CSV / Excel</a:t>
            </a:r>
          </a:p>
        </p:txBody>
      </p:sp>
      <p:sp>
        <p:nvSpPr>
          <p:cNvPr id="97" name="Rectángulo redondeado 96">
            <a:extLst>
              <a:ext uri="{FF2B5EF4-FFF2-40B4-BE49-F238E27FC236}">
                <a16:creationId xmlns:a16="http://schemas.microsoft.com/office/drawing/2014/main" id="{EDE3FCDC-00F0-9A40-8AEC-D1CF1C8E2E28}"/>
              </a:ext>
            </a:extLst>
          </p:cNvPr>
          <p:cNvSpPr/>
          <p:nvPr/>
        </p:nvSpPr>
        <p:spPr>
          <a:xfrm>
            <a:off x="9499600" y="1676400"/>
            <a:ext cx="1066800" cy="279400"/>
          </a:xfrm>
          <a:prstGeom prst="roundRect">
            <a:avLst/>
          </a:prstGeom>
          <a:solidFill>
            <a:srgbClr val="344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683DC5F8-92C3-D84C-89AF-F645A2AA0CFE}"/>
              </a:ext>
            </a:extLst>
          </p:cNvPr>
          <p:cNvSpPr txBox="1"/>
          <p:nvPr/>
        </p:nvSpPr>
        <p:spPr>
          <a:xfrm>
            <a:off x="9575800" y="1727200"/>
            <a:ext cx="9144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S" sz="870" b="1">
                <a:solidFill>
                  <a:srgbClr val="FFFFFF"/>
                </a:solidFill>
                <a:latin typeface="Aptos"/>
              </a:rPr>
              <a:t>env vars</a:t>
            </a:r>
          </a:p>
        </p:txBody>
      </p:sp>
      <p:sp>
        <p:nvSpPr>
          <p:cNvPr id="99" name="Rectángulo redondeado 98">
            <a:extLst>
              <a:ext uri="{FF2B5EF4-FFF2-40B4-BE49-F238E27FC236}">
                <a16:creationId xmlns:a16="http://schemas.microsoft.com/office/drawing/2014/main" id="{0F77E3E5-3E1A-0F43-8766-4470BDE63687}"/>
              </a:ext>
            </a:extLst>
          </p:cNvPr>
          <p:cNvSpPr/>
          <p:nvPr/>
        </p:nvSpPr>
        <p:spPr>
          <a:xfrm>
            <a:off x="10464800" y="1676400"/>
            <a:ext cx="1066800" cy="279400"/>
          </a:xfrm>
          <a:prstGeom prst="roundRect">
            <a:avLst/>
          </a:prstGeom>
          <a:solidFill>
            <a:srgbClr val="344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42BFA7A0-1B9D-224C-88C8-95E1F970EEEB}"/>
              </a:ext>
            </a:extLst>
          </p:cNvPr>
          <p:cNvSpPr txBox="1"/>
          <p:nvPr/>
        </p:nvSpPr>
        <p:spPr>
          <a:xfrm>
            <a:off x="10541000" y="1727200"/>
            <a:ext cx="9144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S" sz="870" b="1">
                <a:solidFill>
                  <a:srgbClr val="FFFFFF"/>
                </a:solidFill>
                <a:latin typeface="Aptos"/>
              </a:rPr>
              <a:t>LLM / OCR</a:t>
            </a:r>
          </a:p>
        </p:txBody>
      </p:sp>
      <p:sp>
        <p:nvSpPr>
          <p:cNvPr id="101" name="Flecha derecha 100">
            <a:extLst>
              <a:ext uri="{FF2B5EF4-FFF2-40B4-BE49-F238E27FC236}">
                <a16:creationId xmlns:a16="http://schemas.microsoft.com/office/drawing/2014/main" id="{ACF642C8-D017-A347-89FD-2468C6F8CEC5}"/>
              </a:ext>
            </a:extLst>
          </p:cNvPr>
          <p:cNvSpPr/>
          <p:nvPr/>
        </p:nvSpPr>
        <p:spPr>
          <a:xfrm>
            <a:off x="6705600" y="2413000"/>
            <a:ext cx="1016000" cy="381000"/>
          </a:xfrm>
          <a:prstGeom prst="rightArrow">
            <a:avLst/>
          </a:prstGeom>
          <a:solidFill>
            <a:srgbClr val="D83B4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43630530-D487-0A4C-A2B2-E8308D24D792}"/>
              </a:ext>
            </a:extLst>
          </p:cNvPr>
          <p:cNvSpPr/>
          <p:nvPr/>
        </p:nvSpPr>
        <p:spPr>
          <a:xfrm>
            <a:off x="7797800" y="2181860"/>
            <a:ext cx="2819400" cy="863600"/>
          </a:xfrm>
          <a:prstGeom prst="rect">
            <a:avLst/>
          </a:prstGeom>
          <a:solidFill>
            <a:srgbClr val="E8EFF6"/>
          </a:solidFill>
          <a:ln w="12700" cap="flat" cmpd="sng" algn="ctr">
            <a:solidFill>
              <a:srgbClr val="B9C4D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C8FE0787-0917-E649-9D8D-7A3B3C43C45C}"/>
              </a:ext>
            </a:extLst>
          </p:cNvPr>
          <p:cNvSpPr txBox="1"/>
          <p:nvPr/>
        </p:nvSpPr>
        <p:spPr>
          <a:xfrm>
            <a:off x="8039100" y="2410460"/>
            <a:ext cx="23114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S" sz="1400" b="1" dirty="0">
                <a:solidFill>
                  <a:srgbClr val="34445A"/>
                </a:solidFill>
                <a:latin typeface="Aptos"/>
              </a:rPr>
              <a:t>Función Python
con </a:t>
            </a:r>
            <a:r>
              <a:rPr lang="es-US" sz="1400" b="1" dirty="0" err="1">
                <a:solidFill>
                  <a:srgbClr val="34445A"/>
                </a:solidFill>
                <a:latin typeface="Aptos"/>
              </a:rPr>
              <a:t>type</a:t>
            </a:r>
            <a:r>
              <a:rPr lang="es-US" sz="1400" b="1" dirty="0">
                <a:solidFill>
                  <a:srgbClr val="34445A"/>
                </a:solidFill>
                <a:latin typeface="Aptos"/>
              </a:rPr>
              <a:t> </a:t>
            </a:r>
            <a:r>
              <a:rPr lang="es-US" sz="1400" b="1" dirty="0" err="1">
                <a:solidFill>
                  <a:srgbClr val="34445A"/>
                </a:solidFill>
                <a:latin typeface="Aptos"/>
              </a:rPr>
              <a:t>hints</a:t>
            </a:r>
            <a:endParaRPr lang="es-US" sz="1400" b="1" dirty="0">
              <a:solidFill>
                <a:srgbClr val="34445A"/>
              </a:solidFill>
              <a:latin typeface="Aptos"/>
            </a:endParaRPr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CCC1DC8F-15C1-AD4E-B839-F9037A2AD9E5}"/>
              </a:ext>
            </a:extLst>
          </p:cNvPr>
          <p:cNvSpPr txBox="1"/>
          <p:nvPr/>
        </p:nvSpPr>
        <p:spPr>
          <a:xfrm>
            <a:off x="11341100" y="2298700"/>
            <a:ext cx="482600" cy="660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3200" b="1" dirty="0">
                <a:solidFill>
                  <a:srgbClr val="D83B4C"/>
                </a:solidFill>
                <a:latin typeface="Aptos"/>
              </a:rPr>
              <a:t>?</a:t>
            </a:r>
          </a:p>
        </p:txBody>
      </p:sp>
      <p:sp>
        <p:nvSpPr>
          <p:cNvPr id="105" name="Flecha derecha 104">
            <a:extLst>
              <a:ext uri="{FF2B5EF4-FFF2-40B4-BE49-F238E27FC236}">
                <a16:creationId xmlns:a16="http://schemas.microsoft.com/office/drawing/2014/main" id="{862061EA-B813-244E-BF84-B1694AD510C6}"/>
              </a:ext>
            </a:extLst>
          </p:cNvPr>
          <p:cNvSpPr/>
          <p:nvPr/>
        </p:nvSpPr>
        <p:spPr>
          <a:xfrm>
            <a:off x="10795000" y="2413000"/>
            <a:ext cx="508000" cy="381000"/>
          </a:xfrm>
          <a:prstGeom prst="rightArrow">
            <a:avLst/>
          </a:prstGeom>
          <a:solidFill>
            <a:srgbClr val="D83B4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8FE82ADB-3372-634E-B601-3DABEB2D634B}"/>
              </a:ext>
            </a:extLst>
          </p:cNvPr>
          <p:cNvSpPr txBox="1"/>
          <p:nvPr/>
        </p:nvSpPr>
        <p:spPr>
          <a:xfrm>
            <a:off x="6705600" y="3429000"/>
            <a:ext cx="4635500" cy="787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700" b="1" dirty="0">
                <a:solidFill>
                  <a:srgbClr val="34445A"/>
                </a:solidFill>
                <a:latin typeface="Aptos"/>
              </a:rPr>
              <a:t>Sin validación explícita, la primera línea de lógica de negocio absorbe el fallo de datos externos.</a:t>
            </a:r>
          </a:p>
        </p:txBody>
      </p:sp>
      <p:sp>
        <p:nvSpPr>
          <p:cNvPr id="107" name="Rectángulo 106">
            <a:extLst>
              <a:ext uri="{FF2B5EF4-FFF2-40B4-BE49-F238E27FC236}">
                <a16:creationId xmlns:a16="http://schemas.microsoft.com/office/drawing/2014/main" id="{FFCFA4B7-03D0-584B-B2D2-CC1A407A412B}"/>
              </a:ext>
            </a:extLst>
          </p:cNvPr>
          <p:cNvSpPr/>
          <p:nvPr/>
        </p:nvSpPr>
        <p:spPr>
          <a:xfrm>
            <a:off x="6705600" y="4508500"/>
            <a:ext cx="2222500" cy="1168400"/>
          </a:xfrm>
          <a:prstGeom prst="rect">
            <a:avLst/>
          </a:prstGeom>
          <a:solidFill>
            <a:srgbClr val="FFFFFF"/>
          </a:solidFill>
          <a:ln w="15240" cap="flat" cmpd="sng" algn="ctr">
            <a:solidFill>
              <a:srgbClr val="00A6B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99F3200E-AA2C-CF49-9CE7-5A695BB38B2F}"/>
              </a:ext>
            </a:extLst>
          </p:cNvPr>
          <p:cNvSpPr/>
          <p:nvPr/>
        </p:nvSpPr>
        <p:spPr>
          <a:xfrm>
            <a:off x="6705600" y="4508500"/>
            <a:ext cx="101600" cy="11684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4B6223E3-AD09-3E48-8A9B-503C8184CD89}"/>
              </a:ext>
            </a:extLst>
          </p:cNvPr>
          <p:cNvSpPr txBox="1"/>
          <p:nvPr/>
        </p:nvSpPr>
        <p:spPr>
          <a:xfrm>
            <a:off x="6908800" y="4660900"/>
            <a:ext cx="18669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320" b="1">
                <a:solidFill>
                  <a:srgbClr val="00A6B0"/>
                </a:solidFill>
                <a:latin typeface="Aptos"/>
              </a:rPr>
              <a:t>Static typing</a:t>
            </a:r>
          </a:p>
        </p:txBody>
      </p: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1969BD3B-B658-A744-85F2-10CCDE9C8BFF}"/>
              </a:ext>
            </a:extLst>
          </p:cNvPr>
          <p:cNvSpPr txBox="1"/>
          <p:nvPr/>
        </p:nvSpPr>
        <p:spPr>
          <a:xfrm>
            <a:off x="6908800" y="5016500"/>
            <a:ext cx="18669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940">
                <a:solidFill>
                  <a:srgbClr val="3D4B5F"/>
                </a:solidFill>
                <a:latin typeface="Aptos"/>
              </a:rPr>
              <a:t>mypy y Pyright detectan inconsistencias dentro del código analizable.</a:t>
            </a:r>
          </a:p>
        </p:txBody>
      </p:sp>
      <p:sp>
        <p:nvSpPr>
          <p:cNvPr id="111" name="Rectángulo 110">
            <a:extLst>
              <a:ext uri="{FF2B5EF4-FFF2-40B4-BE49-F238E27FC236}">
                <a16:creationId xmlns:a16="http://schemas.microsoft.com/office/drawing/2014/main" id="{1A8F6581-6EF6-F141-98E2-DBBF687BFBC5}"/>
              </a:ext>
            </a:extLst>
          </p:cNvPr>
          <p:cNvSpPr/>
          <p:nvPr/>
        </p:nvSpPr>
        <p:spPr>
          <a:xfrm>
            <a:off x="9144000" y="4508500"/>
            <a:ext cx="2222500" cy="1168400"/>
          </a:xfrm>
          <a:prstGeom prst="rect">
            <a:avLst/>
          </a:prstGeom>
          <a:solidFill>
            <a:srgbClr val="FFFFFF"/>
          </a:solidFill>
          <a:ln w="15240" cap="flat" cmpd="sng" algn="ctr">
            <a:solidFill>
              <a:srgbClr val="B35A9D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12" name="Rectángulo 111">
            <a:extLst>
              <a:ext uri="{FF2B5EF4-FFF2-40B4-BE49-F238E27FC236}">
                <a16:creationId xmlns:a16="http://schemas.microsoft.com/office/drawing/2014/main" id="{620D2AE6-39A9-8C40-870A-1E688465ABC7}"/>
              </a:ext>
            </a:extLst>
          </p:cNvPr>
          <p:cNvSpPr/>
          <p:nvPr/>
        </p:nvSpPr>
        <p:spPr>
          <a:xfrm>
            <a:off x="9144000" y="4508500"/>
            <a:ext cx="101600" cy="1168400"/>
          </a:xfrm>
          <a:prstGeom prst="rect">
            <a:avLst/>
          </a:prstGeom>
          <a:solidFill>
            <a:srgbClr val="B35A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13" name="CuadroTexto 112">
            <a:extLst>
              <a:ext uri="{FF2B5EF4-FFF2-40B4-BE49-F238E27FC236}">
                <a16:creationId xmlns:a16="http://schemas.microsoft.com/office/drawing/2014/main" id="{FEDB7E1B-4307-6846-BFE3-4C86D11A5930}"/>
              </a:ext>
            </a:extLst>
          </p:cNvPr>
          <p:cNvSpPr txBox="1"/>
          <p:nvPr/>
        </p:nvSpPr>
        <p:spPr>
          <a:xfrm>
            <a:off x="9347200" y="4660900"/>
            <a:ext cx="18669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320" b="1" dirty="0" err="1">
                <a:solidFill>
                  <a:srgbClr val="B35A9D"/>
                </a:solidFill>
                <a:latin typeface="Aptos"/>
              </a:rPr>
              <a:t>Runtime</a:t>
            </a:r>
            <a:r>
              <a:rPr lang="es-US" sz="1320" b="1" dirty="0">
                <a:solidFill>
                  <a:srgbClr val="B35A9D"/>
                </a:solidFill>
                <a:latin typeface="Aptos"/>
              </a:rPr>
              <a:t> </a:t>
            </a:r>
            <a:r>
              <a:rPr lang="es-US" sz="1320" b="1" dirty="0" err="1">
                <a:solidFill>
                  <a:srgbClr val="B35A9D"/>
                </a:solidFill>
                <a:latin typeface="Aptos"/>
              </a:rPr>
              <a:t>contracts</a:t>
            </a:r>
            <a:endParaRPr lang="es-US" sz="1320" b="1" dirty="0">
              <a:solidFill>
                <a:srgbClr val="B35A9D"/>
              </a:solidFill>
              <a:latin typeface="Aptos"/>
            </a:endParaRPr>
          </a:p>
        </p:txBody>
      </p: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4EF0BCC6-9385-7C4E-8FDF-5254E0975F73}"/>
              </a:ext>
            </a:extLst>
          </p:cNvPr>
          <p:cNvSpPr txBox="1"/>
          <p:nvPr/>
        </p:nvSpPr>
        <p:spPr>
          <a:xfrm>
            <a:off x="9347200" y="5016500"/>
            <a:ext cx="18669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r>
              <a:rPr lang="es-US" sz="940" dirty="0" err="1">
                <a:solidFill>
                  <a:srgbClr val="3D4B5F"/>
                </a:solidFill>
                <a:latin typeface="Aptos"/>
              </a:rPr>
              <a:t>Pydantic valida datos externos antes de que lleguen a la lógica de negocio.</a:t>
            </a:r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6C4A9D21-3479-B744-B564-7E8629E8D084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630">
                <a:solidFill>
                  <a:srgbClr val="8A94A4"/>
                </a:solidFill>
                <a:latin typeface="Aptos"/>
              </a:rPr>
              <a:t>Fuente: documentación oficial de Pydantic; conceptos de validación de datos no confiables.</a:t>
            </a:r>
          </a:p>
        </p:txBody>
      </p:sp>
    </p:spTree>
    <p:extLst>
      <p:ext uri="{BB962C8B-B14F-4D97-AF65-F5344CB8AC3E}">
        <p14:creationId xmlns:p14="http://schemas.microsoft.com/office/powerpoint/2010/main" val="1473632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4CBAECA-F6A5-1443-A4BE-4FBD2563F7C7}"/>
              </a:ext>
            </a:extLst>
          </p:cNvPr>
          <p:cNvSpPr txBox="1"/>
          <p:nvPr/>
        </p:nvSpPr>
        <p:spPr>
          <a:xfrm>
            <a:off x="609600" y="330200"/>
            <a:ext cx="91440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2400" b="1">
                <a:solidFill>
                  <a:srgbClr val="34445A"/>
                </a:solidFill>
                <a:latin typeface="Aptos"/>
              </a:rPr>
              <a:t>Pydantic convierte type hints en contratos ejecutables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12F2DAED-1110-384A-8D8E-40F9F76D9A38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555C878A-3FEA-D74E-AA82-E1C284CC293F}"/>
              </a:ext>
            </a:extLst>
          </p:cNvPr>
          <p:cNvSpPr txBox="1"/>
          <p:nvPr/>
        </p:nvSpPr>
        <p:spPr>
          <a:xfrm>
            <a:off x="609600" y="952500"/>
            <a:ext cx="110363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s-US" sz="1250" b="1" dirty="0">
                <a:solidFill>
                  <a:srgbClr val="6B7788"/>
                </a:solidFill>
                <a:latin typeface="Aptos"/>
              </a:rPr>
              <a:t>Un modelo Pydantic define el contrato del dato una sola vez y lo reutiliza para validar entradas, convertir valores, serializar salidas y generar schemas.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FEDD24A5-24AB-6D4B-B228-3C48F2316420}"/>
              </a:ext>
            </a:extLst>
          </p:cNvPr>
          <p:cNvSpPr/>
          <p:nvPr/>
        </p:nvSpPr>
        <p:spPr>
          <a:xfrm>
            <a:off x="698500" y="1600200"/>
            <a:ext cx="2603500" cy="1905000"/>
          </a:xfrm>
          <a:prstGeom prst="rect">
            <a:avLst/>
          </a:prstGeom>
          <a:solidFill>
            <a:srgbClr val="DDF5F7"/>
          </a:solidFill>
          <a:ln w="15240" cap="flat" cmpd="sng" algn="ctr">
            <a:solidFill>
              <a:srgbClr val="00A6B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38F3D559-6C87-4944-B274-AFF99AC13563}"/>
              </a:ext>
            </a:extLst>
          </p:cNvPr>
          <p:cNvSpPr/>
          <p:nvPr/>
        </p:nvSpPr>
        <p:spPr>
          <a:xfrm>
            <a:off x="698500" y="1600200"/>
            <a:ext cx="101600" cy="19050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E4FD165B-6E88-5649-A468-2FA47F714BF6}"/>
              </a:ext>
            </a:extLst>
          </p:cNvPr>
          <p:cNvSpPr txBox="1"/>
          <p:nvPr/>
        </p:nvSpPr>
        <p:spPr>
          <a:xfrm>
            <a:off x="901700" y="1765300"/>
            <a:ext cx="22479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450" b="1">
                <a:solidFill>
                  <a:srgbClr val="00A6B0"/>
                </a:solidFill>
                <a:latin typeface="Aptos"/>
              </a:rPr>
              <a:t>Validación runtime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F9F591D-9871-FE46-95CD-7C28954C1E1E}"/>
              </a:ext>
            </a:extLst>
          </p:cNvPr>
          <p:cNvSpPr txBox="1"/>
          <p:nvPr/>
        </p:nvSpPr>
        <p:spPr>
          <a:xfrm>
            <a:off x="901700" y="2133600"/>
            <a:ext cx="2247900" cy="1295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1200">
                <a:solidFill>
                  <a:srgbClr val="3D4B5F"/>
                </a:solidFill>
                <a:latin typeface="Aptos"/>
              </a:rPr>
              <a:t>Pydantic comprueba tipos, campos requeridos y reglas de Field cuando llega el input.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99C0FEBA-822C-484D-AA90-D344CD895131}"/>
              </a:ext>
            </a:extLst>
          </p:cNvPr>
          <p:cNvSpPr/>
          <p:nvPr/>
        </p:nvSpPr>
        <p:spPr>
          <a:xfrm>
            <a:off x="3479800" y="1600200"/>
            <a:ext cx="2603500" cy="1905000"/>
          </a:xfrm>
          <a:prstGeom prst="rect">
            <a:avLst/>
          </a:prstGeom>
          <a:solidFill>
            <a:srgbClr val="F1DCEB"/>
          </a:solidFill>
          <a:ln w="15240" cap="flat" cmpd="sng" algn="ctr">
            <a:solidFill>
              <a:srgbClr val="B35A9D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9BE703E7-C346-4048-8DC5-F027AF5341A4}"/>
              </a:ext>
            </a:extLst>
          </p:cNvPr>
          <p:cNvSpPr/>
          <p:nvPr/>
        </p:nvSpPr>
        <p:spPr>
          <a:xfrm>
            <a:off x="3479800" y="1600200"/>
            <a:ext cx="101600" cy="1905000"/>
          </a:xfrm>
          <a:prstGeom prst="rect">
            <a:avLst/>
          </a:prstGeom>
          <a:solidFill>
            <a:srgbClr val="B35A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9FB9CA68-32B0-BE41-981B-6160A6D3001E}"/>
              </a:ext>
            </a:extLst>
          </p:cNvPr>
          <p:cNvSpPr txBox="1"/>
          <p:nvPr/>
        </p:nvSpPr>
        <p:spPr>
          <a:xfrm>
            <a:off x="3683000" y="1765300"/>
            <a:ext cx="22479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450" b="1">
                <a:solidFill>
                  <a:srgbClr val="B35A9D"/>
                </a:solidFill>
                <a:latin typeface="Aptos"/>
              </a:rPr>
              <a:t>Parsing controlado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05B57376-F6A9-194D-BDED-B3086C877835}"/>
              </a:ext>
            </a:extLst>
          </p:cNvPr>
          <p:cNvSpPr txBox="1"/>
          <p:nvPr/>
        </p:nvSpPr>
        <p:spPr>
          <a:xfrm>
            <a:off x="3683000" y="2133600"/>
            <a:ext cx="2247900" cy="1295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1200">
                <a:solidFill>
                  <a:srgbClr val="3D4B5F"/>
                </a:solidFill>
                <a:latin typeface="Aptos"/>
              </a:rPr>
              <a:t>El parsing convierte valores comunes cuando tiene sentido: strings numéricos, fechas y defaults.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BA86B694-C99A-E14A-9D13-A3E174F5427B}"/>
              </a:ext>
            </a:extLst>
          </p:cNvPr>
          <p:cNvSpPr/>
          <p:nvPr/>
        </p:nvSpPr>
        <p:spPr>
          <a:xfrm>
            <a:off x="6261100" y="1600200"/>
            <a:ext cx="2603500" cy="1905000"/>
          </a:xfrm>
          <a:prstGeom prst="rect">
            <a:avLst/>
          </a:prstGeom>
          <a:solidFill>
            <a:srgbClr val="DDF5F7"/>
          </a:solidFill>
          <a:ln w="15240" cap="flat" cmpd="sng" algn="ctr">
            <a:solidFill>
              <a:srgbClr val="00A6B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1AD78D1F-4C19-6147-B0A1-FDF5786D58BB}"/>
              </a:ext>
            </a:extLst>
          </p:cNvPr>
          <p:cNvSpPr/>
          <p:nvPr/>
        </p:nvSpPr>
        <p:spPr>
          <a:xfrm>
            <a:off x="6261100" y="1600200"/>
            <a:ext cx="101600" cy="19050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08D7CFE8-9930-CB47-BCD0-84B0A8AC165B}"/>
              </a:ext>
            </a:extLst>
          </p:cNvPr>
          <p:cNvSpPr txBox="1"/>
          <p:nvPr/>
        </p:nvSpPr>
        <p:spPr>
          <a:xfrm>
            <a:off x="6464300" y="1765300"/>
            <a:ext cx="22479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450" b="1">
                <a:solidFill>
                  <a:srgbClr val="00A6B0"/>
                </a:solidFill>
                <a:latin typeface="Aptos"/>
              </a:rPr>
              <a:t>Serialización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9B1640DD-D74A-1C46-8D3A-A8FC38511410}"/>
              </a:ext>
            </a:extLst>
          </p:cNvPr>
          <p:cNvSpPr txBox="1"/>
          <p:nvPr/>
        </p:nvSpPr>
        <p:spPr>
          <a:xfrm>
            <a:off x="6464300" y="2133600"/>
            <a:ext cx="2247900" cy="1295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1200" dirty="0">
                <a:solidFill>
                  <a:srgbClr val="3D4B5F"/>
                </a:solidFill>
                <a:latin typeface="Aptos"/>
              </a:rPr>
              <a:t>La serialización produce dicts o JSON consistentes para APIs, colas, logs y storage.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5145E55B-779B-4640-9E97-0191EA162B33}"/>
              </a:ext>
            </a:extLst>
          </p:cNvPr>
          <p:cNvSpPr/>
          <p:nvPr/>
        </p:nvSpPr>
        <p:spPr>
          <a:xfrm>
            <a:off x="9042400" y="1600200"/>
            <a:ext cx="2603500" cy="1905000"/>
          </a:xfrm>
          <a:prstGeom prst="rect">
            <a:avLst/>
          </a:prstGeom>
          <a:solidFill>
            <a:srgbClr val="F1DCEB"/>
          </a:solidFill>
          <a:ln w="15240" cap="flat" cmpd="sng" algn="ctr">
            <a:solidFill>
              <a:srgbClr val="B35A9D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8DAFBB71-D20B-D749-8F1D-0D5A6F65AA31}"/>
              </a:ext>
            </a:extLst>
          </p:cNvPr>
          <p:cNvSpPr/>
          <p:nvPr/>
        </p:nvSpPr>
        <p:spPr>
          <a:xfrm>
            <a:off x="9042400" y="1600200"/>
            <a:ext cx="101600" cy="1905000"/>
          </a:xfrm>
          <a:prstGeom prst="rect">
            <a:avLst/>
          </a:prstGeom>
          <a:solidFill>
            <a:srgbClr val="B35A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C0A0A4BF-F031-304A-A884-49730F86AE35}"/>
              </a:ext>
            </a:extLst>
          </p:cNvPr>
          <p:cNvSpPr txBox="1"/>
          <p:nvPr/>
        </p:nvSpPr>
        <p:spPr>
          <a:xfrm>
            <a:off x="9245600" y="1765300"/>
            <a:ext cx="22479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450" b="1">
                <a:solidFill>
                  <a:srgbClr val="B35A9D"/>
                </a:solidFill>
                <a:latin typeface="Aptos"/>
              </a:rPr>
              <a:t>JSON Schema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0A0C4225-A075-EE4E-B5EA-A99780C00AA3}"/>
              </a:ext>
            </a:extLst>
          </p:cNvPr>
          <p:cNvSpPr txBox="1"/>
          <p:nvPr/>
        </p:nvSpPr>
        <p:spPr>
          <a:xfrm>
            <a:off x="9245600" y="2133600"/>
            <a:ext cx="2247900" cy="1295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1200" dirty="0">
                <a:solidFill>
                  <a:srgbClr val="3D4B5F"/>
                </a:solidFill>
                <a:latin typeface="Aptos"/>
              </a:rPr>
              <a:t>JSON Schema expone el contrato para OpenAPI, herramientas, LLMs o validadores externos.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77E0401C-A5BF-BC4A-BC56-E034121BD09F}"/>
              </a:ext>
            </a:extLst>
          </p:cNvPr>
          <p:cNvSpPr/>
          <p:nvPr/>
        </p:nvSpPr>
        <p:spPr>
          <a:xfrm>
            <a:off x="1422400" y="4191000"/>
            <a:ext cx="9334500" cy="1219200"/>
          </a:xfrm>
          <a:prstGeom prst="rect">
            <a:avLst/>
          </a:prstGeom>
          <a:solidFill>
            <a:srgbClr val="2634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A700A38E-0FEF-D046-A5F1-89BD539B881C}"/>
              </a:ext>
            </a:extLst>
          </p:cNvPr>
          <p:cNvSpPr txBox="1"/>
          <p:nvPr/>
        </p:nvSpPr>
        <p:spPr>
          <a:xfrm>
            <a:off x="1803400" y="4394200"/>
            <a:ext cx="820928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550" b="1" dirty="0">
                <a:solidFill>
                  <a:srgbClr val="FFFFFF"/>
                </a:solidFill>
                <a:latin typeface="Aptos"/>
              </a:rPr>
              <a:t>Pydantic no reemplaza type checkers ni tests.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02239C8D-AD43-AC4E-8363-3122B42508BD}"/>
              </a:ext>
            </a:extLst>
          </p:cNvPr>
          <p:cNvSpPr txBox="1"/>
          <p:nvPr/>
        </p:nvSpPr>
        <p:spPr>
          <a:xfrm>
            <a:off x="1803400" y="4749800"/>
            <a:ext cx="838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320" dirty="0">
                <a:solidFill>
                  <a:srgbClr val="DCE5F0"/>
                </a:solidFill>
                <a:latin typeface="Aptos"/>
              </a:rPr>
              <a:t>Pydantic complementa esas capas donde Python es más vulnerable: entre datos externos y código crítico.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B9955800-2185-7247-8AD9-DC6269009478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630">
                <a:solidFill>
                  <a:srgbClr val="8A94A4"/>
                </a:solidFill>
                <a:latin typeface="Aptos"/>
              </a:rPr>
              <a:t>Fuentes: docs.pydantic.dev · BaseModel, TypeAdapter, Serialization y JSON Schema.</a:t>
            </a:r>
          </a:p>
        </p:txBody>
      </p:sp>
    </p:spTree>
    <p:extLst>
      <p:ext uri="{BB962C8B-B14F-4D97-AF65-F5344CB8AC3E}">
        <p14:creationId xmlns:p14="http://schemas.microsoft.com/office/powerpoint/2010/main" val="197122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92BC8EB-BB5B-8748-AD76-D9FA762390A3}"/>
              </a:ext>
            </a:extLst>
          </p:cNvPr>
          <p:cNvSpPr txBox="1"/>
          <p:nvPr/>
        </p:nvSpPr>
        <p:spPr>
          <a:xfrm>
            <a:off x="609600" y="330200"/>
            <a:ext cx="91440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2400" b="1" dirty="0">
                <a:solidFill>
                  <a:srgbClr val="34445A"/>
                </a:solidFill>
                <a:latin typeface="Aptos"/>
              </a:rPr>
              <a:t>El input externo entra como dato no confiable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93384D6-5D31-A346-92BB-234A5994B0F5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85A2E45-1A11-204F-BB50-C8DB72E30863}"/>
              </a:ext>
            </a:extLst>
          </p:cNvPr>
          <p:cNvSpPr txBox="1"/>
          <p:nvPr/>
        </p:nvSpPr>
        <p:spPr>
          <a:xfrm>
            <a:off x="609600" y="952500"/>
            <a:ext cx="9906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250" b="1" dirty="0">
                <a:solidFill>
                  <a:srgbClr val="6B7788"/>
                </a:solidFill>
                <a:latin typeface="Aptos"/>
              </a:rPr>
              <a:t>El modelo </a:t>
            </a:r>
            <a:r>
              <a:rPr lang="es-US" sz="1250" b="1" dirty="0" err="1">
                <a:solidFill>
                  <a:srgbClr val="6B7788"/>
                </a:solidFill>
                <a:latin typeface="Aptos"/>
              </a:rPr>
              <a:t>Pydantic</a:t>
            </a:r>
            <a:r>
              <a:rPr lang="es-US" sz="1250" b="1" dirty="0">
                <a:solidFill>
                  <a:srgbClr val="6B7788"/>
                </a:solidFill>
                <a:latin typeface="Aptos"/>
              </a:rPr>
              <a:t> funciona como compuerta antes de ejecutar lógica determinística.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E0CEC5D-3893-9146-B0E1-90A41ED0F43F}"/>
              </a:ext>
            </a:extLst>
          </p:cNvPr>
          <p:cNvSpPr/>
          <p:nvPr/>
        </p:nvSpPr>
        <p:spPr>
          <a:xfrm>
            <a:off x="736600" y="2349500"/>
            <a:ext cx="2260600" cy="1066800"/>
          </a:xfrm>
          <a:prstGeom prst="rect">
            <a:avLst/>
          </a:prstGeom>
          <a:solidFill>
            <a:srgbClr val="FDE5E8"/>
          </a:solidFill>
          <a:ln w="17780" cap="flat" cmpd="sng" algn="ctr">
            <a:solidFill>
              <a:srgbClr val="D83B4C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0DB17C03-99A1-6442-BADF-2006B1AB9C4A}"/>
              </a:ext>
            </a:extLst>
          </p:cNvPr>
          <p:cNvSpPr txBox="1"/>
          <p:nvPr/>
        </p:nvSpPr>
        <p:spPr>
          <a:xfrm>
            <a:off x="965200" y="2578100"/>
            <a:ext cx="18034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500" b="1" dirty="0">
                <a:solidFill>
                  <a:srgbClr val="D83B4C"/>
                </a:solidFill>
                <a:latin typeface="Aptos"/>
              </a:rPr>
              <a:t>Datos no confiables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816C1BD5-6FC7-3949-9D7C-BAB46C460257}"/>
              </a:ext>
            </a:extLst>
          </p:cNvPr>
          <p:cNvSpPr txBox="1"/>
          <p:nvPr/>
        </p:nvSpPr>
        <p:spPr>
          <a:xfrm>
            <a:off x="965200" y="3081564"/>
            <a:ext cx="18415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980" dirty="0" err="1">
                <a:solidFill>
                  <a:srgbClr val="3D4B5F"/>
                </a:solidFill>
                <a:latin typeface="Aptos"/>
              </a:rPr>
              <a:t>dict</a:t>
            </a:r>
            <a:r>
              <a:rPr lang="es-US" sz="980" dirty="0">
                <a:solidFill>
                  <a:srgbClr val="3D4B5F"/>
                </a:solidFill>
                <a:latin typeface="Aptos"/>
              </a:rPr>
              <a:t> · JSON · LLM · OCR</a:t>
            </a:r>
          </a:p>
        </p:txBody>
      </p:sp>
      <p:sp>
        <p:nvSpPr>
          <p:cNvPr id="56" name="Flecha derecha 55">
            <a:extLst>
              <a:ext uri="{FF2B5EF4-FFF2-40B4-BE49-F238E27FC236}">
                <a16:creationId xmlns:a16="http://schemas.microsoft.com/office/drawing/2014/main" id="{E7A29227-1FED-A54B-9124-218C3636C04C}"/>
              </a:ext>
            </a:extLst>
          </p:cNvPr>
          <p:cNvSpPr/>
          <p:nvPr/>
        </p:nvSpPr>
        <p:spPr>
          <a:xfrm>
            <a:off x="3200400" y="2692400"/>
            <a:ext cx="889000" cy="381000"/>
          </a:xfrm>
          <a:prstGeom prst="rightArrow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DAB357AC-85D7-E84E-9899-4D4071683DF8}"/>
              </a:ext>
            </a:extLst>
          </p:cNvPr>
          <p:cNvSpPr/>
          <p:nvPr/>
        </p:nvSpPr>
        <p:spPr>
          <a:xfrm>
            <a:off x="4292600" y="2197100"/>
            <a:ext cx="2921000" cy="1371600"/>
          </a:xfrm>
          <a:prstGeom prst="rect">
            <a:avLst/>
          </a:prstGeom>
          <a:solidFill>
            <a:srgbClr val="DDF5F7"/>
          </a:solidFill>
          <a:ln w="22860" cap="flat" cmpd="sng" algn="ctr">
            <a:solidFill>
              <a:srgbClr val="00A6B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20A80CDD-1D60-5642-9B04-DF86F2090153}"/>
              </a:ext>
            </a:extLst>
          </p:cNvPr>
          <p:cNvSpPr txBox="1"/>
          <p:nvPr/>
        </p:nvSpPr>
        <p:spPr>
          <a:xfrm>
            <a:off x="4648200" y="2451100"/>
            <a:ext cx="22225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600" b="1" dirty="0">
                <a:solidFill>
                  <a:srgbClr val="078E98"/>
                </a:solidFill>
                <a:latin typeface="Aptos"/>
              </a:rPr>
              <a:t>Modelo </a:t>
            </a:r>
            <a:r>
              <a:rPr lang="es-US" sz="1600" b="1" dirty="0" err="1">
                <a:solidFill>
                  <a:srgbClr val="078E98"/>
                </a:solidFill>
                <a:latin typeface="Aptos"/>
              </a:rPr>
              <a:t>Pydantic</a:t>
            </a:r>
            <a:endParaRPr lang="es-US" sz="1600" b="1" dirty="0">
              <a:solidFill>
                <a:srgbClr val="078E98"/>
              </a:solidFill>
              <a:latin typeface="Aptos"/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C22983C5-4E81-D742-8D44-704D9821F6E7}"/>
              </a:ext>
            </a:extLst>
          </p:cNvPr>
          <p:cNvSpPr txBox="1"/>
          <p:nvPr/>
        </p:nvSpPr>
        <p:spPr>
          <a:xfrm>
            <a:off x="4597400" y="2882900"/>
            <a:ext cx="2336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1050">
                <a:solidFill>
                  <a:srgbClr val="3D4B5F"/>
                </a:solidFill>
                <a:latin typeface="Aptos"/>
              </a:rPr>
              <a:t>tipos + constraints + validadores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1EFA351A-DA6E-9749-A737-09BF9A8661A3}"/>
              </a:ext>
            </a:extLst>
          </p:cNvPr>
          <p:cNvSpPr txBox="1"/>
          <p:nvPr/>
        </p:nvSpPr>
        <p:spPr>
          <a:xfrm>
            <a:off x="4851400" y="3187700"/>
            <a:ext cx="1828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150" b="1">
                <a:solidFill>
                  <a:srgbClr val="34445A"/>
                </a:solidFill>
                <a:latin typeface="Aptos"/>
              </a:rPr>
              <a:t>model_validate()</a:t>
            </a:r>
          </a:p>
        </p:txBody>
      </p:sp>
      <p:sp>
        <p:nvSpPr>
          <p:cNvPr id="66" name="Flecha derecha 65">
            <a:extLst>
              <a:ext uri="{FF2B5EF4-FFF2-40B4-BE49-F238E27FC236}">
                <a16:creationId xmlns:a16="http://schemas.microsoft.com/office/drawing/2014/main" id="{CAB36C85-838E-0C4F-B9B9-1A17D8A9E505}"/>
              </a:ext>
            </a:extLst>
          </p:cNvPr>
          <p:cNvSpPr/>
          <p:nvPr/>
        </p:nvSpPr>
        <p:spPr>
          <a:xfrm>
            <a:off x="7416800" y="2692400"/>
            <a:ext cx="889000" cy="381000"/>
          </a:xfrm>
          <a:prstGeom prst="rightArrow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60EAFBE0-E45B-5143-9273-6B0DE4F31D99}"/>
              </a:ext>
            </a:extLst>
          </p:cNvPr>
          <p:cNvSpPr/>
          <p:nvPr/>
        </p:nvSpPr>
        <p:spPr>
          <a:xfrm>
            <a:off x="8509000" y="2349500"/>
            <a:ext cx="2603500" cy="1066800"/>
          </a:xfrm>
          <a:prstGeom prst="rect">
            <a:avLst/>
          </a:prstGeom>
          <a:solidFill>
            <a:srgbClr val="E4F6EF"/>
          </a:solidFill>
          <a:ln w="17780" cap="flat" cmpd="sng" algn="ctr">
            <a:solidFill>
              <a:srgbClr val="17A673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C632D831-3E93-6C44-B4E2-94887CE98EAC}"/>
              </a:ext>
            </a:extLst>
          </p:cNvPr>
          <p:cNvSpPr txBox="1"/>
          <p:nvPr/>
        </p:nvSpPr>
        <p:spPr>
          <a:xfrm>
            <a:off x="8763000" y="2552700"/>
            <a:ext cx="20955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500" b="1">
                <a:solidFill>
                  <a:srgbClr val="17A673"/>
                </a:solidFill>
                <a:latin typeface="Aptos"/>
              </a:rPr>
              <a:t>Objeto Python validado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0B4F0D04-4AAF-114E-BEB5-F886C3C52785}"/>
              </a:ext>
            </a:extLst>
          </p:cNvPr>
          <p:cNvSpPr txBox="1"/>
          <p:nvPr/>
        </p:nvSpPr>
        <p:spPr>
          <a:xfrm>
            <a:off x="8782050" y="3094264"/>
            <a:ext cx="2057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 fontScale="92500"/>
          </a:bodyPr>
          <a:lstStyle/>
          <a:p>
            <a:pPr algn="l"/>
            <a:r>
              <a:rPr lang="es-US" sz="1030" dirty="0">
                <a:solidFill>
                  <a:srgbClr val="3D4B5F"/>
                </a:solidFill>
                <a:latin typeface="Aptos"/>
              </a:rPr>
              <a:t>preparado para lógica de negocio</a:t>
            </a: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8F35894B-2509-334B-A58D-8CC703F4321B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630">
                <a:solidFill>
                  <a:srgbClr val="8A94A4"/>
                </a:solidFill>
                <a:latin typeface="Aptos"/>
              </a:rPr>
              <a:t>Fuentes: documentación oficial de Pydantic, Pydantic AI y FastAPI.</a:t>
            </a:r>
          </a:p>
        </p:txBody>
      </p:sp>
    </p:spTree>
    <p:extLst>
      <p:ext uri="{BB962C8B-B14F-4D97-AF65-F5344CB8AC3E}">
        <p14:creationId xmlns:p14="http://schemas.microsoft.com/office/powerpoint/2010/main" val="2731839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adroTexto 53">
            <a:extLst>
              <a:ext uri="{FF2B5EF4-FFF2-40B4-BE49-F238E27FC236}">
                <a16:creationId xmlns:a16="http://schemas.microsoft.com/office/drawing/2014/main" id="{0DF694A8-E299-1F4F-86EF-81CCB8F51952}"/>
              </a:ext>
            </a:extLst>
          </p:cNvPr>
          <p:cNvSpPr txBox="1"/>
          <p:nvPr/>
        </p:nvSpPr>
        <p:spPr>
          <a:xfrm>
            <a:off x="6096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2400" b="1">
                <a:solidFill>
                  <a:srgbClr val="34445A"/>
                </a:solidFill>
                <a:latin typeface="Aptos"/>
              </a:rPr>
              <a:t>BaseModel mantiene el contrato junto a la estructura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9B200A5D-E31E-5A40-B36F-D68A46EB5097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DC65AEA1-9F3D-FF42-9B27-2F2529E2E042}"/>
              </a:ext>
            </a:extLst>
          </p:cNvPr>
          <p:cNvSpPr txBox="1"/>
          <p:nvPr/>
        </p:nvSpPr>
        <p:spPr>
          <a:xfrm>
            <a:off x="609600" y="956129"/>
            <a:ext cx="9906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250" b="1" dirty="0">
                <a:solidFill>
                  <a:srgbClr val="6B7788"/>
                </a:solidFill>
                <a:latin typeface="Aptos"/>
              </a:rPr>
              <a:t>Un modelo transforma un </a:t>
            </a:r>
            <a:r>
              <a:rPr lang="es-US" sz="1250" b="1" dirty="0" err="1">
                <a:solidFill>
                  <a:srgbClr val="6B7788"/>
                </a:solidFill>
                <a:latin typeface="Aptos"/>
              </a:rPr>
              <a:t>dict</a:t>
            </a:r>
            <a:r>
              <a:rPr lang="es-US" sz="1250" b="1" dirty="0">
                <a:solidFill>
                  <a:srgbClr val="6B7788"/>
                </a:solidFill>
                <a:latin typeface="Aptos"/>
              </a:rPr>
              <a:t> sin garantías en una instancia con tipos conocidos.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4D72A4DC-DF6B-6B47-8719-CFE27C1AD545}"/>
              </a:ext>
            </a:extLst>
          </p:cNvPr>
          <p:cNvSpPr/>
          <p:nvPr/>
        </p:nvSpPr>
        <p:spPr>
          <a:xfrm>
            <a:off x="736600" y="1600200"/>
            <a:ext cx="5905500" cy="3238500"/>
          </a:xfrm>
          <a:prstGeom prst="rect">
            <a:avLst/>
          </a:prstGeom>
          <a:solidFill>
            <a:srgbClr val="17212F"/>
          </a:solidFill>
          <a:ln w="13970" cap="flat" cmpd="sng" algn="ctr">
            <a:solidFill>
              <a:srgbClr val="00A6B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458589D7-7DAF-0D49-8F1E-6BDEA3922BFA}"/>
              </a:ext>
            </a:extLst>
          </p:cNvPr>
          <p:cNvSpPr txBox="1"/>
          <p:nvPr/>
        </p:nvSpPr>
        <p:spPr>
          <a:xfrm>
            <a:off x="863600" y="1701800"/>
            <a:ext cx="5651500" cy="30607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1070">
                <a:solidFill>
                  <a:srgbClr val="EAF2FF"/>
                </a:solidFill>
                <a:latin typeface="Consolas"/>
                <a:cs typeface="Consolas"/>
              </a:rPr>
              <a:t>from pydantic import BaseModel
class User(BaseModel):
    id: int
    email: str
    is_active: bool = True
raw_user = {"id": "42", "email": "ana@corp.com"}
user = User.model_validate(raw_user)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EFC62ED1-532B-1E47-9993-7D4B378AAC59}"/>
              </a:ext>
            </a:extLst>
          </p:cNvPr>
          <p:cNvSpPr txBox="1"/>
          <p:nvPr/>
        </p:nvSpPr>
        <p:spPr>
          <a:xfrm>
            <a:off x="7429500" y="1600200"/>
            <a:ext cx="2540000" cy="177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830" b="1">
                <a:solidFill>
                  <a:srgbClr val="17A673"/>
                </a:solidFill>
                <a:latin typeface="Aptos"/>
              </a:rPr>
              <a:t>Salida validada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62408EED-1496-B749-A8D5-8FEAB62E64B8}"/>
              </a:ext>
            </a:extLst>
          </p:cNvPr>
          <p:cNvSpPr/>
          <p:nvPr/>
        </p:nvSpPr>
        <p:spPr>
          <a:xfrm>
            <a:off x="7429500" y="1879600"/>
            <a:ext cx="3873500" cy="1168400"/>
          </a:xfrm>
          <a:prstGeom prst="rect">
            <a:avLst/>
          </a:prstGeom>
          <a:solidFill>
            <a:srgbClr val="E4F6EF"/>
          </a:solidFill>
          <a:ln w="17780" cap="flat" cmpd="sng" algn="ctr">
            <a:solidFill>
              <a:srgbClr val="17A673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72E7FF9D-3A33-CD4F-A0DC-7A479A023A7D}"/>
              </a:ext>
            </a:extLst>
          </p:cNvPr>
          <p:cNvSpPr txBox="1"/>
          <p:nvPr/>
        </p:nvSpPr>
        <p:spPr>
          <a:xfrm>
            <a:off x="7747000" y="2000250"/>
            <a:ext cx="3302000" cy="787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130">
                <a:solidFill>
                  <a:srgbClr val="34445A"/>
                </a:solidFill>
                <a:latin typeface="Consolas"/>
                <a:cs typeface="Consolas"/>
              </a:rPr>
              <a:t>User(
  id=42,
  email='ana@corp.com',
  is_active=True
)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EE2ADEE1-5BD7-374A-B33B-9BD934F09387}"/>
              </a:ext>
            </a:extLst>
          </p:cNvPr>
          <p:cNvSpPr/>
          <p:nvPr/>
        </p:nvSpPr>
        <p:spPr>
          <a:xfrm>
            <a:off x="7429500" y="3429000"/>
            <a:ext cx="3873500" cy="863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B9C4D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E42CA4F8-5C9F-EF43-BD3E-D41CD5B50108}"/>
              </a:ext>
            </a:extLst>
          </p:cNvPr>
          <p:cNvSpPr txBox="1"/>
          <p:nvPr/>
        </p:nvSpPr>
        <p:spPr>
          <a:xfrm>
            <a:off x="7747000" y="3549650"/>
            <a:ext cx="3175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240" b="1" dirty="0">
                <a:solidFill>
                  <a:srgbClr val="6B7788"/>
                </a:solidFill>
                <a:latin typeface="Aptos"/>
              </a:rPr>
              <a:t>1. Entrada externa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357D663C-69BF-6447-8F71-9678493E9B8F}"/>
              </a:ext>
            </a:extLst>
          </p:cNvPr>
          <p:cNvSpPr txBox="1"/>
          <p:nvPr/>
        </p:nvSpPr>
        <p:spPr>
          <a:xfrm>
            <a:off x="7747000" y="384175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980" dirty="0" err="1">
                <a:solidFill>
                  <a:srgbClr val="3D4B5F"/>
                </a:solidFill>
                <a:latin typeface="Aptos"/>
              </a:rPr>
              <a:t>raw_user</a:t>
            </a:r>
            <a:r>
              <a:rPr lang="es-US" sz="980" dirty="0">
                <a:solidFill>
                  <a:srgbClr val="3D4B5F"/>
                </a:solidFill>
                <a:latin typeface="Aptos"/>
              </a:rPr>
              <a:t> puede venir de HTTP, una cola o un JSON de otro servicio.</a:t>
            </a: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7F84347A-4936-824A-A9C8-E95CD02FC316}"/>
              </a:ext>
            </a:extLst>
          </p:cNvPr>
          <p:cNvSpPr/>
          <p:nvPr/>
        </p:nvSpPr>
        <p:spPr>
          <a:xfrm>
            <a:off x="7429500" y="4495800"/>
            <a:ext cx="3873500" cy="965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6B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880C5D80-2651-D040-96E5-A101C4D7BBE5}"/>
              </a:ext>
            </a:extLst>
          </p:cNvPr>
          <p:cNvSpPr/>
          <p:nvPr/>
        </p:nvSpPr>
        <p:spPr>
          <a:xfrm>
            <a:off x="7429500" y="4495800"/>
            <a:ext cx="101600" cy="9652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159EA44A-BDA9-2D4B-BD25-C550F769CB21}"/>
              </a:ext>
            </a:extLst>
          </p:cNvPr>
          <p:cNvSpPr txBox="1"/>
          <p:nvPr/>
        </p:nvSpPr>
        <p:spPr>
          <a:xfrm>
            <a:off x="7747000" y="4641850"/>
            <a:ext cx="3175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240" b="1" dirty="0">
                <a:solidFill>
                  <a:srgbClr val="00A6B0"/>
                </a:solidFill>
                <a:latin typeface="Aptos"/>
              </a:rPr>
              <a:t>2. Validación explícita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2E3466F2-CB2B-ED43-87F0-BF76BEE9D2ED}"/>
              </a:ext>
            </a:extLst>
          </p:cNvPr>
          <p:cNvSpPr txBox="1"/>
          <p:nvPr/>
        </p:nvSpPr>
        <p:spPr>
          <a:xfrm>
            <a:off x="7747000" y="4933950"/>
            <a:ext cx="3175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980">
                <a:solidFill>
                  <a:srgbClr val="3D4B5F"/>
                </a:solidFill>
                <a:latin typeface="Aptos"/>
              </a:rPr>
              <a:t>User.model_validate(raw_user) aplica tipos, defaults y errores estructurados.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D98B2420-9E05-C444-A331-91AC69FDB2CC}"/>
              </a:ext>
            </a:extLst>
          </p:cNvPr>
          <p:cNvSpPr txBox="1"/>
          <p:nvPr/>
        </p:nvSpPr>
        <p:spPr>
          <a:xfrm>
            <a:off x="1016000" y="5727700"/>
            <a:ext cx="10033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500" b="1" dirty="0">
                <a:solidFill>
                  <a:srgbClr val="34445A"/>
                </a:solidFill>
                <a:latin typeface="Aptos"/>
              </a:rPr>
              <a:t>Después de la validación, el resto del código opera con id como </a:t>
            </a:r>
            <a:r>
              <a:rPr lang="es-US" sz="1500" b="1" dirty="0" err="1">
                <a:solidFill>
                  <a:srgbClr val="34445A"/>
                </a:solidFill>
                <a:latin typeface="Aptos"/>
              </a:rPr>
              <a:t>int</a:t>
            </a:r>
            <a:r>
              <a:rPr lang="es-US" sz="1500" b="1" dirty="0">
                <a:solidFill>
                  <a:srgbClr val="34445A"/>
                </a:solidFill>
                <a:latin typeface="Aptos"/>
              </a:rPr>
              <a:t> y email como campo presente.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F3D24D78-5752-A646-A6FB-7DD86E09445E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630">
                <a:solidFill>
                  <a:srgbClr val="8A94A4"/>
                </a:solidFill>
                <a:latin typeface="Aptos"/>
              </a:rPr>
              <a:t>Fuente: docs.pydantic.dev · BaseModel.model_validate().</a:t>
            </a:r>
          </a:p>
        </p:txBody>
      </p:sp>
    </p:spTree>
    <p:extLst>
      <p:ext uri="{BB962C8B-B14F-4D97-AF65-F5344CB8AC3E}">
        <p14:creationId xmlns:p14="http://schemas.microsoft.com/office/powerpoint/2010/main" val="3683557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0A1982B-3EE1-FA4D-8D47-9EEB39DEBFDB}"/>
              </a:ext>
            </a:extLst>
          </p:cNvPr>
          <p:cNvSpPr txBox="1"/>
          <p:nvPr/>
        </p:nvSpPr>
        <p:spPr>
          <a:xfrm>
            <a:off x="609600" y="330200"/>
            <a:ext cx="91440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2400" b="1">
                <a:solidFill>
                  <a:srgbClr val="34445A"/>
                </a:solidFill>
                <a:latin typeface="Aptos"/>
              </a:rPr>
              <a:t>Field agrega reglas que el type hint solo no expresa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72E80BEA-081B-5B4B-9C94-C4CE12B37ED7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CAFBA7B-4B03-5946-BC1B-76DFE7783ED4}"/>
              </a:ext>
            </a:extLst>
          </p:cNvPr>
          <p:cNvSpPr txBox="1"/>
          <p:nvPr/>
        </p:nvSpPr>
        <p:spPr>
          <a:xfrm>
            <a:off x="609600" y="952500"/>
            <a:ext cx="9906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250" b="1" dirty="0">
                <a:solidFill>
                  <a:srgbClr val="6B7788"/>
                </a:solidFill>
                <a:latin typeface="Aptos"/>
              </a:rPr>
              <a:t>Los tipos describen la forma del dato; las </a:t>
            </a:r>
            <a:r>
              <a:rPr lang="es-US" sz="1250" b="1" dirty="0" err="1">
                <a:solidFill>
                  <a:srgbClr val="6B7788"/>
                </a:solidFill>
                <a:latin typeface="Aptos"/>
              </a:rPr>
              <a:t>constraints</a:t>
            </a:r>
            <a:r>
              <a:rPr lang="es-US" sz="1250" b="1" dirty="0">
                <a:solidFill>
                  <a:srgbClr val="6B7788"/>
                </a:solidFill>
                <a:latin typeface="Aptos"/>
              </a:rPr>
              <a:t> definen los valores aceptables.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28336469-AFB4-144D-B4AD-04C05AAA3775}"/>
              </a:ext>
            </a:extLst>
          </p:cNvPr>
          <p:cNvSpPr/>
          <p:nvPr/>
        </p:nvSpPr>
        <p:spPr>
          <a:xfrm>
            <a:off x="736600" y="1524000"/>
            <a:ext cx="5461000" cy="3022600"/>
          </a:xfrm>
          <a:prstGeom prst="rect">
            <a:avLst/>
          </a:prstGeom>
          <a:solidFill>
            <a:srgbClr val="17212F"/>
          </a:solidFill>
          <a:ln w="13970" cap="flat" cmpd="sng" algn="ctr">
            <a:solidFill>
              <a:srgbClr val="00A6B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235B8E87-C377-7542-866A-3B4C4F948CE1}"/>
              </a:ext>
            </a:extLst>
          </p:cNvPr>
          <p:cNvSpPr txBox="1"/>
          <p:nvPr/>
        </p:nvSpPr>
        <p:spPr>
          <a:xfrm>
            <a:off x="863600" y="1625600"/>
            <a:ext cx="5207000" cy="284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1060" dirty="0" err="1">
                <a:solidFill>
                  <a:srgbClr val="EAF2FF"/>
                </a:solidFill>
                <a:latin typeface="Consolas"/>
                <a:cs typeface="Consolas"/>
              </a:rPr>
              <a:t>from</a:t>
            </a:r>
            <a:r>
              <a:rPr lang="es-US" sz="1060" dirty="0">
                <a:solidFill>
                  <a:srgbClr val="EAF2FF"/>
                </a:solidFill>
                <a:latin typeface="Consolas"/>
                <a:cs typeface="Consolas"/>
              </a:rPr>
              <a:t> </a:t>
            </a:r>
            <a:r>
              <a:rPr lang="es-US" sz="1060" dirty="0" err="1">
                <a:solidFill>
                  <a:srgbClr val="EAF2FF"/>
                </a:solidFill>
                <a:latin typeface="Consolas"/>
                <a:cs typeface="Consolas"/>
              </a:rPr>
              <a:t>typing</a:t>
            </a:r>
            <a:r>
              <a:rPr lang="es-US" sz="1060" dirty="0">
                <a:solidFill>
                  <a:srgbClr val="EAF2FF"/>
                </a:solidFill>
                <a:latin typeface="Consolas"/>
                <a:cs typeface="Consolas"/>
              </a:rPr>
              <a:t> </a:t>
            </a:r>
            <a:r>
              <a:rPr lang="es-US" sz="1060" dirty="0" err="1">
                <a:solidFill>
                  <a:srgbClr val="EAF2FF"/>
                </a:solidFill>
                <a:latin typeface="Consolas"/>
                <a:cs typeface="Consolas"/>
              </a:rPr>
              <a:t>import</a:t>
            </a:r>
            <a:r>
              <a:rPr lang="es-US" sz="1060" dirty="0">
                <a:solidFill>
                  <a:srgbClr val="EAF2FF"/>
                </a:solidFill>
                <a:latin typeface="Consolas"/>
                <a:cs typeface="Consolas"/>
              </a:rPr>
              <a:t> Literal
</a:t>
            </a:r>
            <a:r>
              <a:rPr lang="es-US" sz="1060" dirty="0" err="1">
                <a:solidFill>
                  <a:srgbClr val="EAF2FF"/>
                </a:solidFill>
                <a:latin typeface="Consolas"/>
                <a:cs typeface="Consolas"/>
              </a:rPr>
              <a:t>from</a:t>
            </a:r>
            <a:r>
              <a:rPr lang="es-US" sz="1060" dirty="0">
                <a:solidFill>
                  <a:srgbClr val="EAF2FF"/>
                </a:solidFill>
                <a:latin typeface="Consolas"/>
                <a:cs typeface="Consolas"/>
              </a:rPr>
              <a:t> </a:t>
            </a:r>
            <a:r>
              <a:rPr lang="es-US" sz="1060" dirty="0" err="1">
                <a:solidFill>
                  <a:srgbClr val="EAF2FF"/>
                </a:solidFill>
                <a:latin typeface="Consolas"/>
                <a:cs typeface="Consolas"/>
              </a:rPr>
              <a:t>pydantic</a:t>
            </a:r>
            <a:r>
              <a:rPr lang="es-US" sz="1060" dirty="0">
                <a:solidFill>
                  <a:srgbClr val="EAF2FF"/>
                </a:solidFill>
                <a:latin typeface="Consolas"/>
                <a:cs typeface="Consolas"/>
              </a:rPr>
              <a:t> </a:t>
            </a:r>
            <a:r>
              <a:rPr lang="es-US" sz="1060" dirty="0" err="1">
                <a:solidFill>
                  <a:srgbClr val="EAF2FF"/>
                </a:solidFill>
                <a:latin typeface="Consolas"/>
                <a:cs typeface="Consolas"/>
              </a:rPr>
              <a:t>import</a:t>
            </a:r>
            <a:r>
              <a:rPr lang="es-US" sz="1060" dirty="0">
                <a:solidFill>
                  <a:srgbClr val="EAF2FF"/>
                </a:solidFill>
                <a:latin typeface="Consolas"/>
                <a:cs typeface="Consolas"/>
              </a:rPr>
              <a:t> </a:t>
            </a:r>
            <a:r>
              <a:rPr lang="es-US" sz="1060" dirty="0" err="1">
                <a:solidFill>
                  <a:srgbClr val="EAF2FF"/>
                </a:solidFill>
                <a:latin typeface="Consolas"/>
                <a:cs typeface="Consolas"/>
              </a:rPr>
              <a:t>BaseModel</a:t>
            </a:r>
            <a:r>
              <a:rPr lang="es-US" sz="1060" dirty="0">
                <a:solidFill>
                  <a:srgbClr val="EAF2FF"/>
                </a:solidFill>
                <a:latin typeface="Consolas"/>
                <a:cs typeface="Consolas"/>
              </a:rPr>
              <a:t>, Field
</a:t>
            </a:r>
            <a:r>
              <a:rPr lang="es-US" sz="1060" dirty="0" err="1">
                <a:solidFill>
                  <a:srgbClr val="EAF2FF"/>
                </a:solidFill>
                <a:latin typeface="Consolas"/>
                <a:cs typeface="Consolas"/>
              </a:rPr>
              <a:t>class</a:t>
            </a:r>
            <a:r>
              <a:rPr lang="es-US" sz="1060" dirty="0">
                <a:solidFill>
                  <a:srgbClr val="EAF2FF"/>
                </a:solidFill>
                <a:latin typeface="Consolas"/>
                <a:cs typeface="Consolas"/>
              </a:rPr>
              <a:t> </a:t>
            </a:r>
            <a:r>
              <a:rPr lang="es-US" sz="1060" dirty="0" err="1">
                <a:solidFill>
                  <a:srgbClr val="EAF2FF"/>
                </a:solidFill>
                <a:latin typeface="Consolas"/>
                <a:cs typeface="Consolas"/>
              </a:rPr>
              <a:t>ModelConfig</a:t>
            </a:r>
            <a:r>
              <a:rPr lang="es-US" sz="1060" dirty="0">
                <a:solidFill>
                  <a:srgbClr val="EAF2FF"/>
                </a:solidFill>
                <a:latin typeface="Consolas"/>
                <a:cs typeface="Consolas"/>
              </a:rPr>
              <a:t>(</a:t>
            </a:r>
            <a:r>
              <a:rPr lang="es-US" sz="1060" dirty="0" err="1">
                <a:solidFill>
                  <a:srgbClr val="EAF2FF"/>
                </a:solidFill>
                <a:latin typeface="Consolas"/>
                <a:cs typeface="Consolas"/>
              </a:rPr>
              <a:t>BaseModel</a:t>
            </a:r>
            <a:r>
              <a:rPr lang="es-US" sz="1060" dirty="0">
                <a:solidFill>
                  <a:srgbClr val="EAF2FF"/>
                </a:solidFill>
                <a:latin typeface="Consolas"/>
                <a:cs typeface="Consolas"/>
              </a:rPr>
              <a:t>):
    </a:t>
            </a:r>
            <a:r>
              <a:rPr lang="es-US" sz="1060" dirty="0" err="1">
                <a:solidFill>
                  <a:srgbClr val="EAF2FF"/>
                </a:solidFill>
                <a:latin typeface="Consolas"/>
                <a:cs typeface="Consolas"/>
              </a:rPr>
              <a:t>retries</a:t>
            </a:r>
            <a:r>
              <a:rPr lang="es-US" sz="1060" dirty="0">
                <a:solidFill>
                  <a:srgbClr val="EAF2FF"/>
                </a:solidFill>
                <a:latin typeface="Consolas"/>
                <a:cs typeface="Consolas"/>
              </a:rPr>
              <a:t>: </a:t>
            </a:r>
            <a:r>
              <a:rPr lang="es-US" sz="1060" dirty="0" err="1">
                <a:solidFill>
                  <a:srgbClr val="EAF2FF"/>
                </a:solidFill>
                <a:latin typeface="Consolas"/>
                <a:cs typeface="Consolas"/>
              </a:rPr>
              <a:t>int</a:t>
            </a:r>
            <a:r>
              <a:rPr lang="es-US" sz="1060" dirty="0">
                <a:solidFill>
                  <a:srgbClr val="EAF2FF"/>
                </a:solidFill>
                <a:latin typeface="Consolas"/>
                <a:cs typeface="Consolas"/>
              </a:rPr>
              <a:t> = Field(</a:t>
            </a:r>
            <a:r>
              <a:rPr lang="es-US" sz="1060" dirty="0" err="1">
                <a:solidFill>
                  <a:srgbClr val="EAF2FF"/>
                </a:solidFill>
                <a:latin typeface="Consolas"/>
                <a:cs typeface="Consolas"/>
              </a:rPr>
              <a:t>gt</a:t>
            </a:r>
            <a:r>
              <a:rPr lang="es-US" sz="1060" dirty="0">
                <a:solidFill>
                  <a:srgbClr val="EAF2FF"/>
                </a:solidFill>
                <a:latin typeface="Consolas"/>
                <a:cs typeface="Consolas"/>
              </a:rPr>
              <a:t>=0)
    score: </a:t>
            </a:r>
            <a:r>
              <a:rPr lang="es-US" sz="1060" dirty="0" err="1">
                <a:solidFill>
                  <a:srgbClr val="EAF2FF"/>
                </a:solidFill>
                <a:latin typeface="Consolas"/>
                <a:cs typeface="Consolas"/>
              </a:rPr>
              <a:t>float</a:t>
            </a:r>
            <a:r>
              <a:rPr lang="es-US" sz="1060" dirty="0">
                <a:solidFill>
                  <a:srgbClr val="EAF2FF"/>
                </a:solidFill>
                <a:latin typeface="Consolas"/>
                <a:cs typeface="Consolas"/>
              </a:rPr>
              <a:t> = Field(ge=0, le=1)
    country: Literal["PE", "CO", "CL"]
    </a:t>
            </a:r>
            <a:r>
              <a:rPr lang="es-US" sz="1060" dirty="0" err="1">
                <a:solidFill>
                  <a:srgbClr val="EAF2FF"/>
                </a:solidFill>
                <a:latin typeface="Consolas"/>
                <a:cs typeface="Consolas"/>
              </a:rPr>
              <a:t>name</a:t>
            </a:r>
            <a:r>
              <a:rPr lang="es-US" sz="1060" dirty="0">
                <a:solidFill>
                  <a:srgbClr val="EAF2FF"/>
                </a:solidFill>
                <a:latin typeface="Consolas"/>
                <a:cs typeface="Consolas"/>
              </a:rPr>
              <a:t>: </a:t>
            </a:r>
            <a:r>
              <a:rPr lang="es-US" sz="1060" dirty="0" err="1">
                <a:solidFill>
                  <a:srgbClr val="EAF2FF"/>
                </a:solidFill>
                <a:latin typeface="Consolas"/>
                <a:cs typeface="Consolas"/>
              </a:rPr>
              <a:t>str</a:t>
            </a:r>
            <a:r>
              <a:rPr lang="es-US" sz="1060" dirty="0">
                <a:solidFill>
                  <a:srgbClr val="EAF2FF"/>
                </a:solidFill>
                <a:latin typeface="Consolas"/>
                <a:cs typeface="Consolas"/>
              </a:rPr>
              <a:t> = Field(</a:t>
            </a:r>
            <a:r>
              <a:rPr lang="es-US" sz="1060" dirty="0" err="1">
                <a:solidFill>
                  <a:srgbClr val="EAF2FF"/>
                </a:solidFill>
                <a:latin typeface="Consolas"/>
                <a:cs typeface="Consolas"/>
              </a:rPr>
              <a:t>min_length</a:t>
            </a:r>
            <a:r>
              <a:rPr lang="es-US" sz="1060" dirty="0">
                <a:solidFill>
                  <a:srgbClr val="EAF2FF"/>
                </a:solidFill>
                <a:latin typeface="Consolas"/>
                <a:cs typeface="Consolas"/>
              </a:rPr>
              <a:t>=3, </a:t>
            </a:r>
            <a:r>
              <a:rPr lang="es-US" sz="1060" dirty="0" err="1">
                <a:solidFill>
                  <a:srgbClr val="EAF2FF"/>
                </a:solidFill>
                <a:latin typeface="Consolas"/>
                <a:cs typeface="Consolas"/>
              </a:rPr>
              <a:t>max_length</a:t>
            </a:r>
            <a:r>
              <a:rPr lang="es-US" sz="1060" dirty="0">
                <a:solidFill>
                  <a:srgbClr val="EAF2FF"/>
                </a:solidFill>
                <a:latin typeface="Consolas"/>
                <a:cs typeface="Consolas"/>
              </a:rPr>
              <a:t>=80)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234D90AA-B9AC-304B-AE99-481B32997DD6}"/>
              </a:ext>
            </a:extLst>
          </p:cNvPr>
          <p:cNvSpPr/>
          <p:nvPr/>
        </p:nvSpPr>
        <p:spPr>
          <a:xfrm>
            <a:off x="6731000" y="1524000"/>
            <a:ext cx="4635500" cy="406400"/>
          </a:xfrm>
          <a:prstGeom prst="rect">
            <a:avLst/>
          </a:prstGeom>
          <a:solidFill>
            <a:srgbClr val="2634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38CA024B-8451-8C4D-A60A-1A189D89AF50}"/>
              </a:ext>
            </a:extLst>
          </p:cNvPr>
          <p:cNvSpPr txBox="1"/>
          <p:nvPr/>
        </p:nvSpPr>
        <p:spPr>
          <a:xfrm>
            <a:off x="6959600" y="1638300"/>
            <a:ext cx="1206500" cy="177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970" b="1">
                <a:solidFill>
                  <a:srgbClr val="FFFFFF"/>
                </a:solidFill>
                <a:latin typeface="Aptos"/>
              </a:rPr>
              <a:t>API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A09A8C5-E1C0-F045-9ABD-CF7285F49045}"/>
              </a:ext>
            </a:extLst>
          </p:cNvPr>
          <p:cNvSpPr txBox="1"/>
          <p:nvPr/>
        </p:nvSpPr>
        <p:spPr>
          <a:xfrm>
            <a:off x="8382000" y="1638300"/>
            <a:ext cx="1206500" cy="177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970" b="1">
                <a:solidFill>
                  <a:srgbClr val="FFFFFF"/>
                </a:solidFill>
                <a:latin typeface="Aptos"/>
              </a:rPr>
              <a:t>Regla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6F1640A-6F5D-FC48-BBFD-76659A9D3716}"/>
              </a:ext>
            </a:extLst>
          </p:cNvPr>
          <p:cNvSpPr txBox="1"/>
          <p:nvPr/>
        </p:nvSpPr>
        <p:spPr>
          <a:xfrm>
            <a:off x="9842500" y="16383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970" b="1">
                <a:solidFill>
                  <a:srgbClr val="FFFFFF"/>
                </a:solidFill>
                <a:latin typeface="Aptos"/>
              </a:rPr>
              <a:t>Uso típico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66FEEFF-60FB-E648-B414-7E743999BBBF}"/>
              </a:ext>
            </a:extLst>
          </p:cNvPr>
          <p:cNvSpPr/>
          <p:nvPr/>
        </p:nvSpPr>
        <p:spPr>
          <a:xfrm>
            <a:off x="6731000" y="2006600"/>
            <a:ext cx="4635500" cy="609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B9C4D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19D2CB92-EC3E-7B4C-8C2B-0ED825FD3A2F}"/>
              </a:ext>
            </a:extLst>
          </p:cNvPr>
          <p:cNvSpPr txBox="1"/>
          <p:nvPr/>
        </p:nvSpPr>
        <p:spPr>
          <a:xfrm>
            <a:off x="6959600" y="2171700"/>
            <a:ext cx="12446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880" b="1">
                <a:solidFill>
                  <a:srgbClr val="078E98"/>
                </a:solidFill>
                <a:latin typeface="Consolas"/>
                <a:cs typeface="Consolas"/>
              </a:rPr>
              <a:t>Field(gt=0)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891565EE-D172-4A44-96A0-89CDCF169ACB}"/>
              </a:ext>
            </a:extLst>
          </p:cNvPr>
          <p:cNvSpPr txBox="1"/>
          <p:nvPr/>
        </p:nvSpPr>
        <p:spPr>
          <a:xfrm>
            <a:off x="8382000" y="2146300"/>
            <a:ext cx="13335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960" b="1">
                <a:solidFill>
                  <a:srgbClr val="3D4B5F"/>
                </a:solidFill>
                <a:latin typeface="Aptos"/>
              </a:rPr>
              <a:t>Valor mayor que cero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DB3FD004-47CD-F04A-85B4-4B01F724D46D}"/>
              </a:ext>
            </a:extLst>
          </p:cNvPr>
          <p:cNvSpPr txBox="1"/>
          <p:nvPr/>
        </p:nvSpPr>
        <p:spPr>
          <a:xfrm>
            <a:off x="9842500" y="2146300"/>
            <a:ext cx="1295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940">
                <a:solidFill>
                  <a:srgbClr val="3D4B5F"/>
                </a:solidFill>
                <a:latin typeface="Aptos"/>
              </a:rPr>
              <a:t>retries, montos, cantidades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739CD44F-5756-C145-AFD1-3686850B3460}"/>
              </a:ext>
            </a:extLst>
          </p:cNvPr>
          <p:cNvSpPr/>
          <p:nvPr/>
        </p:nvSpPr>
        <p:spPr>
          <a:xfrm>
            <a:off x="6731000" y="2628900"/>
            <a:ext cx="4635500" cy="609600"/>
          </a:xfrm>
          <a:prstGeom prst="rect">
            <a:avLst/>
          </a:prstGeom>
          <a:solidFill>
            <a:srgbClr val="E8EFF6"/>
          </a:solidFill>
          <a:ln w="12700" cap="flat" cmpd="sng" algn="ctr">
            <a:solidFill>
              <a:srgbClr val="B9C4D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A02F0C23-199E-0647-84C9-E64EF9394DB7}"/>
              </a:ext>
            </a:extLst>
          </p:cNvPr>
          <p:cNvSpPr txBox="1"/>
          <p:nvPr/>
        </p:nvSpPr>
        <p:spPr>
          <a:xfrm>
            <a:off x="6959600" y="2794000"/>
            <a:ext cx="12446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880" b="1">
                <a:solidFill>
                  <a:srgbClr val="078E98"/>
                </a:solidFill>
                <a:latin typeface="Consolas"/>
                <a:cs typeface="Consolas"/>
              </a:rPr>
              <a:t>Field(ge=0, le=1)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5DC3A20A-8F50-064A-8F5E-DEEC50AD92BD}"/>
              </a:ext>
            </a:extLst>
          </p:cNvPr>
          <p:cNvSpPr txBox="1"/>
          <p:nvPr/>
        </p:nvSpPr>
        <p:spPr>
          <a:xfrm>
            <a:off x="8382000" y="2768600"/>
            <a:ext cx="13335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960" b="1">
                <a:solidFill>
                  <a:srgbClr val="3D4B5F"/>
                </a:solidFill>
                <a:latin typeface="Aptos"/>
              </a:rPr>
              <a:t>Rango cerrado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5DAADCA2-6961-D04B-BB1C-FA1220D73A09}"/>
              </a:ext>
            </a:extLst>
          </p:cNvPr>
          <p:cNvSpPr txBox="1"/>
          <p:nvPr/>
        </p:nvSpPr>
        <p:spPr>
          <a:xfrm>
            <a:off x="9842500" y="2768600"/>
            <a:ext cx="1295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940">
                <a:solidFill>
                  <a:srgbClr val="3D4B5F"/>
                </a:solidFill>
                <a:latin typeface="Aptos"/>
              </a:rPr>
              <a:t>confianza, score, probabilidad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D2C331D3-B766-6349-A469-83434AF43129}"/>
              </a:ext>
            </a:extLst>
          </p:cNvPr>
          <p:cNvSpPr/>
          <p:nvPr/>
        </p:nvSpPr>
        <p:spPr>
          <a:xfrm>
            <a:off x="6731000" y="3251200"/>
            <a:ext cx="4635500" cy="609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B9C4D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D594E884-0D12-D64F-9B61-EEEAB9ECE91C}"/>
              </a:ext>
            </a:extLst>
          </p:cNvPr>
          <p:cNvSpPr txBox="1"/>
          <p:nvPr/>
        </p:nvSpPr>
        <p:spPr>
          <a:xfrm>
            <a:off x="6959600" y="3416300"/>
            <a:ext cx="12446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880" b="1">
                <a:solidFill>
                  <a:srgbClr val="078E98"/>
                </a:solidFill>
                <a:latin typeface="Consolas"/>
                <a:cs typeface="Consolas"/>
              </a:rPr>
              <a:t>Literal[...]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13D6BEB7-4209-5A47-8E6B-14D9E51DA45B}"/>
              </a:ext>
            </a:extLst>
          </p:cNvPr>
          <p:cNvSpPr txBox="1"/>
          <p:nvPr/>
        </p:nvSpPr>
        <p:spPr>
          <a:xfrm>
            <a:off x="8382000" y="3390900"/>
            <a:ext cx="13335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960" b="1">
                <a:solidFill>
                  <a:srgbClr val="3D4B5F"/>
                </a:solidFill>
                <a:latin typeface="Aptos"/>
              </a:rPr>
              <a:t>Catálogo finito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F054A302-623A-D545-8731-45F630FE83BF}"/>
              </a:ext>
            </a:extLst>
          </p:cNvPr>
          <p:cNvSpPr txBox="1"/>
          <p:nvPr/>
        </p:nvSpPr>
        <p:spPr>
          <a:xfrm>
            <a:off x="9842500" y="3390900"/>
            <a:ext cx="1295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940">
                <a:solidFill>
                  <a:srgbClr val="3D4B5F"/>
                </a:solidFill>
                <a:latin typeface="Aptos"/>
              </a:rPr>
              <a:t>moneda, país, estado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44003569-2A2F-824F-9A6F-2C74F1E01F7C}"/>
              </a:ext>
            </a:extLst>
          </p:cNvPr>
          <p:cNvSpPr/>
          <p:nvPr/>
        </p:nvSpPr>
        <p:spPr>
          <a:xfrm>
            <a:off x="6731000" y="3873500"/>
            <a:ext cx="4635500" cy="609600"/>
          </a:xfrm>
          <a:prstGeom prst="rect">
            <a:avLst/>
          </a:prstGeom>
          <a:solidFill>
            <a:srgbClr val="E8EFF6"/>
          </a:solidFill>
          <a:ln w="12700" cap="flat" cmpd="sng" algn="ctr">
            <a:solidFill>
              <a:srgbClr val="B9C4D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52763E99-B12F-FA4D-A173-AD1545CC19A5}"/>
              </a:ext>
            </a:extLst>
          </p:cNvPr>
          <p:cNvSpPr txBox="1"/>
          <p:nvPr/>
        </p:nvSpPr>
        <p:spPr>
          <a:xfrm>
            <a:off x="6959600" y="4038600"/>
            <a:ext cx="12446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880" b="1">
                <a:solidFill>
                  <a:srgbClr val="078E98"/>
                </a:solidFill>
                <a:latin typeface="Consolas"/>
                <a:cs typeface="Consolas"/>
              </a:rPr>
              <a:t>min_length / max_length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63AF2DB2-5613-944C-9234-4ECE8B3E9290}"/>
              </a:ext>
            </a:extLst>
          </p:cNvPr>
          <p:cNvSpPr txBox="1"/>
          <p:nvPr/>
        </p:nvSpPr>
        <p:spPr>
          <a:xfrm>
            <a:off x="8382000" y="4013200"/>
            <a:ext cx="13335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960" b="1">
                <a:solidFill>
                  <a:srgbClr val="3D4B5F"/>
                </a:solidFill>
                <a:latin typeface="Aptos"/>
              </a:rPr>
              <a:t>Longitud de texto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20474B7C-92BC-574A-9CFC-A243F86052AB}"/>
              </a:ext>
            </a:extLst>
          </p:cNvPr>
          <p:cNvSpPr txBox="1"/>
          <p:nvPr/>
        </p:nvSpPr>
        <p:spPr>
          <a:xfrm>
            <a:off x="9842500" y="4013200"/>
            <a:ext cx="1295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940">
                <a:solidFill>
                  <a:srgbClr val="3D4B5F"/>
                </a:solidFill>
                <a:latin typeface="Aptos"/>
              </a:rPr>
              <a:t>nombres, códigos, IDs externos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05F14BDB-BBB0-494B-B518-5CD8FC8AFDD9}"/>
              </a:ext>
            </a:extLst>
          </p:cNvPr>
          <p:cNvSpPr/>
          <p:nvPr/>
        </p:nvSpPr>
        <p:spPr>
          <a:xfrm>
            <a:off x="1168400" y="4978399"/>
            <a:ext cx="9829800" cy="826407"/>
          </a:xfrm>
          <a:prstGeom prst="rect">
            <a:avLst/>
          </a:prstGeom>
          <a:solidFill>
            <a:srgbClr val="FFF0D7"/>
          </a:solidFill>
          <a:ln w="15240" cap="flat" cmpd="sng" algn="ctr">
            <a:solidFill>
              <a:srgbClr val="D9890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BA0CEA4E-705C-AC47-A077-0135211BE7D3}"/>
              </a:ext>
            </a:extLst>
          </p:cNvPr>
          <p:cNvSpPr txBox="1"/>
          <p:nvPr/>
        </p:nvSpPr>
        <p:spPr>
          <a:xfrm>
            <a:off x="1422400" y="5181600"/>
            <a:ext cx="9271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320" b="1" dirty="0">
                <a:solidFill>
                  <a:srgbClr val="34445A"/>
                </a:solidFill>
                <a:latin typeface="Aptos"/>
              </a:rPr>
              <a:t>Cuando un valor de negocio tiene límites, el modelo concentra esas reglas en lugar de dejarlas escondidas en </a:t>
            </a:r>
            <a:r>
              <a:rPr lang="es-US" sz="1320" b="1" dirty="0" err="1">
                <a:solidFill>
                  <a:srgbClr val="34445A"/>
                </a:solidFill>
                <a:latin typeface="Aptos"/>
              </a:rPr>
              <a:t>ifs</a:t>
            </a:r>
            <a:r>
              <a:rPr lang="es-US" sz="1320" b="1" dirty="0">
                <a:solidFill>
                  <a:srgbClr val="34445A"/>
                </a:solidFill>
                <a:latin typeface="Aptos"/>
              </a:rPr>
              <a:t> posteriores.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BD0B94FC-6D6F-1E45-8761-7964C590EBD1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630">
                <a:solidFill>
                  <a:srgbClr val="8A94A4"/>
                </a:solidFill>
                <a:latin typeface="Aptos"/>
              </a:rPr>
              <a:t>Fuente: docs.pydantic.dev · Fields y constrained values.</a:t>
            </a:r>
          </a:p>
        </p:txBody>
      </p:sp>
    </p:spTree>
    <p:extLst>
      <p:ext uri="{BB962C8B-B14F-4D97-AF65-F5344CB8AC3E}">
        <p14:creationId xmlns:p14="http://schemas.microsoft.com/office/powerpoint/2010/main" val="4074114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CuadroTexto 69">
            <a:extLst>
              <a:ext uri="{FF2B5EF4-FFF2-40B4-BE49-F238E27FC236}">
                <a16:creationId xmlns:a16="http://schemas.microsoft.com/office/drawing/2014/main" id="{0C1CD209-E109-3A4C-A29F-B4CE8FED4356}"/>
              </a:ext>
            </a:extLst>
          </p:cNvPr>
          <p:cNvSpPr txBox="1"/>
          <p:nvPr/>
        </p:nvSpPr>
        <p:spPr>
          <a:xfrm>
            <a:off x="6096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2400" b="1">
                <a:solidFill>
                  <a:srgbClr val="34445A"/>
                </a:solidFill>
                <a:latin typeface="Aptos"/>
              </a:rPr>
              <a:t>Modelos anidados validan estructuras completas</a:t>
            </a:r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08E374BE-FD6E-6441-A307-32AA01B58847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B5D51B25-1AC1-D54F-96EE-0AEF30F8EB72}"/>
              </a:ext>
            </a:extLst>
          </p:cNvPr>
          <p:cNvSpPr txBox="1"/>
          <p:nvPr/>
        </p:nvSpPr>
        <p:spPr>
          <a:xfrm>
            <a:off x="609600" y="952500"/>
            <a:ext cx="9906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250" b="1">
                <a:solidFill>
                  <a:srgbClr val="6B7788"/>
                </a:solidFill>
                <a:latin typeface="Aptos"/>
              </a:rPr>
              <a:t>Pydantic recorre listas y objetos internos hasta producir una estructura Python consistente.</a:t>
            </a: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22DEC219-4AAF-EB4C-B920-48B38B7A2311}"/>
              </a:ext>
            </a:extLst>
          </p:cNvPr>
          <p:cNvSpPr/>
          <p:nvPr/>
        </p:nvSpPr>
        <p:spPr>
          <a:xfrm>
            <a:off x="736600" y="1600200"/>
            <a:ext cx="4191000" cy="2260600"/>
          </a:xfrm>
          <a:prstGeom prst="rect">
            <a:avLst/>
          </a:prstGeom>
          <a:solidFill>
            <a:srgbClr val="17212F"/>
          </a:solidFill>
          <a:ln w="13970" cap="flat" cmpd="sng" algn="ctr">
            <a:solidFill>
              <a:srgbClr val="00A6B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10DEB39B-681F-7447-8ECA-2E4D97C20DBF}"/>
              </a:ext>
            </a:extLst>
          </p:cNvPr>
          <p:cNvSpPr txBox="1"/>
          <p:nvPr/>
        </p:nvSpPr>
        <p:spPr>
          <a:xfrm>
            <a:off x="863600" y="1701800"/>
            <a:ext cx="3937000" cy="208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1130">
                <a:solidFill>
                  <a:srgbClr val="EAF2FF"/>
                </a:solidFill>
                <a:latin typeface="Consolas"/>
                <a:cs typeface="Consolas"/>
              </a:rPr>
              <a:t>class Address(BaseModel):
    city: str
    country: str
class User(BaseModel):
    id: int
    address: Address
    tags: list[str]</a:t>
            </a:r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876D7EF5-B805-A94C-9E04-DC019BD59D2D}"/>
              </a:ext>
            </a:extLst>
          </p:cNvPr>
          <p:cNvSpPr/>
          <p:nvPr/>
        </p:nvSpPr>
        <p:spPr>
          <a:xfrm>
            <a:off x="5994400" y="1587500"/>
            <a:ext cx="4508500" cy="3175000"/>
          </a:xfrm>
          <a:prstGeom prst="rect">
            <a:avLst/>
          </a:prstGeom>
          <a:solidFill>
            <a:srgbClr val="DDF5F7"/>
          </a:solidFill>
          <a:ln w="19050" cap="flat" cmpd="sng" algn="ctr">
            <a:solidFill>
              <a:srgbClr val="00A6B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A753B2F7-E481-4D41-9D8C-6070C41A00DD}"/>
              </a:ext>
            </a:extLst>
          </p:cNvPr>
          <p:cNvSpPr txBox="1"/>
          <p:nvPr/>
        </p:nvSpPr>
        <p:spPr>
          <a:xfrm>
            <a:off x="7747000" y="18161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700" b="1">
                <a:solidFill>
                  <a:srgbClr val="078E98"/>
                </a:solidFill>
                <a:latin typeface="Aptos"/>
              </a:rPr>
              <a:t>User</a:t>
            </a: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9FB0D951-14C9-5447-BB48-78D40FFB8164}"/>
              </a:ext>
            </a:extLst>
          </p:cNvPr>
          <p:cNvSpPr/>
          <p:nvPr/>
        </p:nvSpPr>
        <p:spPr>
          <a:xfrm>
            <a:off x="6413500" y="2349500"/>
            <a:ext cx="1651000" cy="812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6B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3CD78D3B-0BAB-204A-97EC-65AEAEB52429}"/>
              </a:ext>
            </a:extLst>
          </p:cNvPr>
          <p:cNvSpPr txBox="1"/>
          <p:nvPr/>
        </p:nvSpPr>
        <p:spPr>
          <a:xfrm>
            <a:off x="6705600" y="2628900"/>
            <a:ext cx="1066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150" b="1">
                <a:solidFill>
                  <a:srgbClr val="34445A"/>
                </a:solidFill>
                <a:latin typeface="Consolas"/>
                <a:cs typeface="Consolas"/>
              </a:rPr>
              <a:t>id: int</a:t>
            </a: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40BFD239-A6FF-3341-AEEF-E1403A6581E1}"/>
              </a:ext>
            </a:extLst>
          </p:cNvPr>
          <p:cNvSpPr/>
          <p:nvPr/>
        </p:nvSpPr>
        <p:spPr>
          <a:xfrm>
            <a:off x="8483600" y="2349500"/>
            <a:ext cx="1651000" cy="812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B35A9D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BB59D67E-7C29-4D4D-9623-3845CA0A5C37}"/>
              </a:ext>
            </a:extLst>
          </p:cNvPr>
          <p:cNvSpPr txBox="1"/>
          <p:nvPr/>
        </p:nvSpPr>
        <p:spPr>
          <a:xfrm>
            <a:off x="8648700" y="2628900"/>
            <a:ext cx="13335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050" b="1">
                <a:solidFill>
                  <a:srgbClr val="34445A"/>
                </a:solidFill>
                <a:latin typeface="Consolas"/>
                <a:cs typeface="Consolas"/>
              </a:rPr>
              <a:t>tags: list[str]</a:t>
            </a:r>
          </a:p>
        </p:txBody>
      </p:sp>
      <p:sp>
        <p:nvSpPr>
          <p:cNvPr id="82" name="Rectángulo 81">
            <a:extLst>
              <a:ext uri="{FF2B5EF4-FFF2-40B4-BE49-F238E27FC236}">
                <a16:creationId xmlns:a16="http://schemas.microsoft.com/office/drawing/2014/main" id="{8E922A71-3064-334D-AADF-F734E25FA87C}"/>
              </a:ext>
            </a:extLst>
          </p:cNvPr>
          <p:cNvSpPr/>
          <p:nvPr/>
        </p:nvSpPr>
        <p:spPr>
          <a:xfrm>
            <a:off x="7010400" y="3568700"/>
            <a:ext cx="2794000" cy="939800"/>
          </a:xfrm>
          <a:prstGeom prst="rect">
            <a:avLst/>
          </a:prstGeom>
          <a:solidFill>
            <a:srgbClr val="F1DCEB"/>
          </a:solidFill>
          <a:ln w="17780" cap="flat" cmpd="sng" algn="ctr">
            <a:solidFill>
              <a:srgbClr val="B35A9D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7D5EF529-2274-4845-AC3B-57BF7D5B707F}"/>
              </a:ext>
            </a:extLst>
          </p:cNvPr>
          <p:cNvSpPr txBox="1"/>
          <p:nvPr/>
        </p:nvSpPr>
        <p:spPr>
          <a:xfrm>
            <a:off x="7442200" y="37338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150" b="1">
                <a:solidFill>
                  <a:srgbClr val="B35A9D"/>
                </a:solidFill>
                <a:latin typeface="Consolas"/>
                <a:cs typeface="Consolas"/>
              </a:rPr>
              <a:t>address: Address</a:t>
            </a: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127AA5D3-F242-F04E-9D02-A635BEAEF1AA}"/>
              </a:ext>
            </a:extLst>
          </p:cNvPr>
          <p:cNvSpPr txBox="1"/>
          <p:nvPr/>
        </p:nvSpPr>
        <p:spPr>
          <a:xfrm>
            <a:off x="7416800" y="41021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980">
                <a:solidFill>
                  <a:srgbClr val="3D4B5F"/>
                </a:solidFill>
                <a:latin typeface="Consolas"/>
                <a:cs typeface="Consolas"/>
              </a:rPr>
              <a:t>city: str · country: str</a:t>
            </a:r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43AEEFFA-358D-FB4B-BD2F-C6F580645B07}"/>
              </a:ext>
            </a:extLst>
          </p:cNvPr>
          <p:cNvSpPr/>
          <p:nvPr/>
        </p:nvSpPr>
        <p:spPr>
          <a:xfrm>
            <a:off x="736600" y="4292600"/>
            <a:ext cx="4191000" cy="990600"/>
          </a:xfrm>
          <a:prstGeom prst="rect">
            <a:avLst/>
          </a:prstGeom>
          <a:solidFill>
            <a:srgbClr val="FFFFFF"/>
          </a:solidFill>
          <a:ln w="15240" cap="flat" cmpd="sng" algn="ctr">
            <a:solidFill>
              <a:srgbClr val="00A6B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86" name="Rectángulo 85">
            <a:extLst>
              <a:ext uri="{FF2B5EF4-FFF2-40B4-BE49-F238E27FC236}">
                <a16:creationId xmlns:a16="http://schemas.microsoft.com/office/drawing/2014/main" id="{40B20368-EF09-A247-8B8B-3E810B60BCAA}"/>
              </a:ext>
            </a:extLst>
          </p:cNvPr>
          <p:cNvSpPr/>
          <p:nvPr/>
        </p:nvSpPr>
        <p:spPr>
          <a:xfrm>
            <a:off x="736600" y="4292600"/>
            <a:ext cx="101600" cy="9906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2CE4E6CF-F1D0-FE49-BB7D-B4D844440498}"/>
              </a:ext>
            </a:extLst>
          </p:cNvPr>
          <p:cNvSpPr txBox="1"/>
          <p:nvPr/>
        </p:nvSpPr>
        <p:spPr>
          <a:xfrm>
            <a:off x="939800" y="4445000"/>
            <a:ext cx="3835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320" b="1">
                <a:solidFill>
                  <a:srgbClr val="00A6B0"/>
                </a:solidFill>
                <a:latin typeface="Aptos"/>
              </a:rPr>
              <a:t>Impacto técnico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7F246A6A-0EF3-F446-9030-EFE7FF8E9CB4}"/>
              </a:ext>
            </a:extLst>
          </p:cNvPr>
          <p:cNvSpPr txBox="1"/>
          <p:nvPr/>
        </p:nvSpPr>
        <p:spPr>
          <a:xfrm>
            <a:off x="939800" y="4800600"/>
            <a:ext cx="38354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1020">
                <a:solidFill>
                  <a:srgbClr val="3D4B5F"/>
                </a:solidFill>
                <a:latin typeface="Aptos"/>
              </a:rPr>
              <a:t>El error apunta a la ruta exacta, por ejemplo address.country o tags.2, y evita validaciones recursivas manuales.</a:t>
            </a:r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9C19F331-0255-B545-A8D0-F1FE06372834}"/>
              </a:ext>
            </a:extLst>
          </p:cNvPr>
          <p:cNvSpPr/>
          <p:nvPr/>
        </p:nvSpPr>
        <p:spPr>
          <a:xfrm>
            <a:off x="5994400" y="5105400"/>
            <a:ext cx="4508500" cy="990600"/>
          </a:xfrm>
          <a:prstGeom prst="rect">
            <a:avLst/>
          </a:prstGeom>
          <a:solidFill>
            <a:srgbClr val="FFFFFF"/>
          </a:solidFill>
          <a:ln w="15240" cap="flat" cmpd="sng" algn="ctr">
            <a:solidFill>
              <a:srgbClr val="B35A9D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90" name="Rectángulo 89">
            <a:extLst>
              <a:ext uri="{FF2B5EF4-FFF2-40B4-BE49-F238E27FC236}">
                <a16:creationId xmlns:a16="http://schemas.microsoft.com/office/drawing/2014/main" id="{B1CCA6E4-154C-E149-BA50-FCF50688F0C7}"/>
              </a:ext>
            </a:extLst>
          </p:cNvPr>
          <p:cNvSpPr/>
          <p:nvPr/>
        </p:nvSpPr>
        <p:spPr>
          <a:xfrm>
            <a:off x="5994400" y="5105400"/>
            <a:ext cx="101600" cy="990600"/>
          </a:xfrm>
          <a:prstGeom prst="rect">
            <a:avLst/>
          </a:prstGeom>
          <a:solidFill>
            <a:srgbClr val="B35A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AC67DCE7-67BF-0B42-BE2F-5F9131B1FF40}"/>
              </a:ext>
            </a:extLst>
          </p:cNvPr>
          <p:cNvSpPr txBox="1"/>
          <p:nvPr/>
        </p:nvSpPr>
        <p:spPr>
          <a:xfrm>
            <a:off x="6197600" y="5257800"/>
            <a:ext cx="41529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320" b="1">
                <a:solidFill>
                  <a:srgbClr val="B35A9D"/>
                </a:solidFill>
                <a:latin typeface="Aptos"/>
              </a:rPr>
              <a:t>Usos típicos</a:t>
            </a:r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DD4169B4-97F6-6E42-8C96-3A86ECF7489F}"/>
              </a:ext>
            </a:extLst>
          </p:cNvPr>
          <p:cNvSpPr txBox="1"/>
          <p:nvPr/>
        </p:nvSpPr>
        <p:spPr>
          <a:xfrm>
            <a:off x="6197600" y="5613400"/>
            <a:ext cx="41529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010" dirty="0" err="1">
                <a:solidFill>
                  <a:srgbClr val="3D4B5F"/>
                </a:solidFill>
                <a:latin typeface="Aptos"/>
              </a:rPr>
              <a:t>Request</a:t>
            </a:r>
            <a:r>
              <a:rPr lang="es-US" sz="1010" dirty="0">
                <a:solidFill>
                  <a:srgbClr val="3D4B5F"/>
                </a:solidFill>
                <a:latin typeface="Aptos"/>
              </a:rPr>
              <a:t> </a:t>
            </a:r>
            <a:r>
              <a:rPr lang="es-US" sz="1010" dirty="0" err="1">
                <a:solidFill>
                  <a:srgbClr val="3D4B5F"/>
                </a:solidFill>
                <a:latin typeface="Aptos"/>
              </a:rPr>
              <a:t>bodies</a:t>
            </a:r>
            <a:r>
              <a:rPr lang="es-US" sz="1010" dirty="0">
                <a:solidFill>
                  <a:srgbClr val="3D4B5F"/>
                </a:solidFill>
                <a:latin typeface="Aptos"/>
              </a:rPr>
              <a:t>, documentos extraídos, configuración, eventos y resultados de </a:t>
            </a:r>
            <a:r>
              <a:rPr lang="es-US" sz="1010" dirty="0" err="1">
                <a:solidFill>
                  <a:srgbClr val="3D4B5F"/>
                </a:solidFill>
                <a:latin typeface="Aptos"/>
              </a:rPr>
              <a:t>tools</a:t>
            </a:r>
            <a:r>
              <a:rPr lang="es-US" sz="1010" dirty="0">
                <a:solidFill>
                  <a:srgbClr val="3D4B5F"/>
                </a:solidFill>
                <a:latin typeface="Aptos"/>
              </a:rPr>
              <a:t>.</a:t>
            </a:r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64D8C2E8-FBED-ED4B-835C-93CFFA75F2F7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630">
                <a:solidFill>
                  <a:srgbClr val="8A94A4"/>
                </a:solidFill>
                <a:latin typeface="Aptos"/>
              </a:rPr>
              <a:t>Fuente: docs.pydantic.dev · Nested models y list validation.</a:t>
            </a:r>
          </a:p>
        </p:txBody>
      </p:sp>
    </p:spTree>
    <p:extLst>
      <p:ext uri="{BB962C8B-B14F-4D97-AF65-F5344CB8AC3E}">
        <p14:creationId xmlns:p14="http://schemas.microsoft.com/office/powerpoint/2010/main" val="2181534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911495E-3901-D74D-8C6A-6DA366532C1E}"/>
              </a:ext>
            </a:extLst>
          </p:cNvPr>
          <p:cNvSpPr txBox="1"/>
          <p:nvPr/>
        </p:nvSpPr>
        <p:spPr>
          <a:xfrm>
            <a:off x="609600" y="330200"/>
            <a:ext cx="9144000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2050" b="1">
                <a:solidFill>
                  <a:srgbClr val="2D3B4F"/>
                </a:solidFill>
                <a:latin typeface="Aptos Display"/>
              </a:rPr>
              <a:t>TypeAdapter valida expresiones de tipo sin modelos wrapper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DF6A992-2626-0D42-9600-C9C49B452B14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ADDE3DE-4FEE-E945-8E5D-4A25AF415B1E}"/>
              </a:ext>
            </a:extLst>
          </p:cNvPr>
          <p:cNvSpPr txBox="1"/>
          <p:nvPr/>
        </p:nvSpPr>
        <p:spPr>
          <a:xfrm>
            <a:off x="609600" y="952500"/>
            <a:ext cx="9906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1050" b="1" dirty="0">
                <a:solidFill>
                  <a:srgbClr val="718096"/>
                </a:solidFill>
                <a:latin typeface="Aptos"/>
              </a:rPr>
              <a:t>Un </a:t>
            </a:r>
            <a:r>
              <a:rPr lang="es-US" sz="1050" b="1" dirty="0" err="1">
                <a:solidFill>
                  <a:srgbClr val="718096"/>
                </a:solidFill>
                <a:latin typeface="Aptos"/>
              </a:rPr>
              <a:t>BaseModel</a:t>
            </a:r>
            <a:r>
              <a:rPr lang="es-US" sz="1050" b="1" dirty="0">
                <a:solidFill>
                  <a:srgbClr val="718096"/>
                </a:solidFill>
                <a:latin typeface="Aptos"/>
              </a:rPr>
              <a:t> adicional para </a:t>
            </a:r>
            <a:r>
              <a:rPr lang="es-US" sz="1050" b="1" dirty="0" err="1">
                <a:solidFill>
                  <a:srgbClr val="718096"/>
                </a:solidFill>
                <a:latin typeface="Aptos"/>
              </a:rPr>
              <a:t>list</a:t>
            </a:r>
            <a:r>
              <a:rPr lang="es-US" sz="1050" b="1" dirty="0">
                <a:solidFill>
                  <a:srgbClr val="718096"/>
                </a:solidFill>
                <a:latin typeface="Aptos"/>
              </a:rPr>
              <a:t>[</a:t>
            </a:r>
            <a:r>
              <a:rPr lang="es-US" sz="1050" b="1" dirty="0" err="1">
                <a:solidFill>
                  <a:srgbClr val="718096"/>
                </a:solidFill>
                <a:latin typeface="Aptos"/>
              </a:rPr>
              <a:t>User</a:t>
            </a:r>
            <a:r>
              <a:rPr lang="es-US" sz="1050" b="1" dirty="0">
                <a:solidFill>
                  <a:srgbClr val="718096"/>
                </a:solidFill>
                <a:latin typeface="Aptos"/>
              </a:rPr>
              <a:t>] crea una estructura artificial cuando la colección no tiene significado de dominio propio.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415A94B-3ED6-9542-84D4-C0FD2FF16324}"/>
              </a:ext>
            </a:extLst>
          </p:cNvPr>
          <p:cNvSpPr txBox="1"/>
          <p:nvPr/>
        </p:nvSpPr>
        <p:spPr>
          <a:xfrm>
            <a:off x="939800" y="1587500"/>
            <a:ext cx="2032000" cy="177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830" b="1">
                <a:solidFill>
                  <a:srgbClr val="D83B4C"/>
                </a:solidFill>
                <a:latin typeface="Aptos"/>
              </a:rPr>
              <a:t>PATRÓN FRÁGIL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5CB2045-837D-654E-9444-2627A2B29814}"/>
              </a:ext>
            </a:extLst>
          </p:cNvPr>
          <p:cNvSpPr/>
          <p:nvPr/>
        </p:nvSpPr>
        <p:spPr>
          <a:xfrm>
            <a:off x="939800" y="1905000"/>
            <a:ext cx="4381500" cy="1092200"/>
          </a:xfrm>
          <a:prstGeom prst="rect">
            <a:avLst/>
          </a:prstGeom>
          <a:solidFill>
            <a:srgbClr val="17212F"/>
          </a:solidFill>
          <a:ln w="13970" cap="flat" cmpd="sng" algn="ctr">
            <a:solidFill>
              <a:srgbClr val="D83B4C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2144F7C-8DB6-DE48-83F4-A35D2EA85A1A}"/>
              </a:ext>
            </a:extLst>
          </p:cNvPr>
          <p:cNvSpPr txBox="1"/>
          <p:nvPr/>
        </p:nvSpPr>
        <p:spPr>
          <a:xfrm>
            <a:off x="1066800" y="2006600"/>
            <a:ext cx="4127500" cy="914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1230">
                <a:solidFill>
                  <a:srgbClr val="EAF2FF"/>
                </a:solidFill>
                <a:latin typeface="Consolas"/>
                <a:cs typeface="Consolas"/>
              </a:rPr>
              <a:t>class Users(BaseModel):
    users: list[User]</a:t>
            </a: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F400591B-AA5C-7147-847A-69131B3D52D6}"/>
              </a:ext>
            </a:extLst>
          </p:cNvPr>
          <p:cNvSpPr txBox="1"/>
          <p:nvPr/>
        </p:nvSpPr>
        <p:spPr>
          <a:xfrm>
            <a:off x="1041400" y="3263900"/>
            <a:ext cx="40386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100" b="1">
                <a:solidFill>
                  <a:srgbClr val="314055"/>
                </a:solidFill>
                <a:latin typeface="Aptos"/>
              </a:rPr>
              <a:t>La estructura artificial envuelve una colección sin significado propio.</a:t>
            </a:r>
            <a:endParaRPr lang="es-US" sz="1100" b="1" dirty="0">
              <a:solidFill>
                <a:srgbClr val="314055"/>
              </a:solidFill>
              <a:latin typeface="Aptos"/>
            </a:endParaRP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3F651E82-B44C-6C44-AF97-1562C6E3640E}"/>
              </a:ext>
            </a:extLst>
          </p:cNvPr>
          <p:cNvSpPr txBox="1"/>
          <p:nvPr/>
        </p:nvSpPr>
        <p:spPr>
          <a:xfrm>
            <a:off x="6604000" y="1587500"/>
            <a:ext cx="2032000" cy="177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830" b="1">
                <a:solidFill>
                  <a:srgbClr val="17A673"/>
                </a:solidFill>
                <a:latin typeface="Aptos"/>
              </a:rPr>
              <a:t>PATRÓN MÁS CLARO</a:t>
            </a:r>
          </a:p>
        </p:txBody>
      </p:sp>
      <p:sp>
        <p:nvSpPr>
          <p:cNvPr id="86" name="Rectángulo 85">
            <a:extLst>
              <a:ext uri="{FF2B5EF4-FFF2-40B4-BE49-F238E27FC236}">
                <a16:creationId xmlns:a16="http://schemas.microsoft.com/office/drawing/2014/main" id="{4D9F9EC7-0DC4-8143-9989-6AA0164EFCD7}"/>
              </a:ext>
            </a:extLst>
          </p:cNvPr>
          <p:cNvSpPr/>
          <p:nvPr/>
        </p:nvSpPr>
        <p:spPr>
          <a:xfrm>
            <a:off x="6604000" y="1905000"/>
            <a:ext cx="4381500" cy="1600200"/>
          </a:xfrm>
          <a:prstGeom prst="rect">
            <a:avLst/>
          </a:prstGeom>
          <a:solidFill>
            <a:srgbClr val="17212F"/>
          </a:solidFill>
          <a:ln w="13970" cap="flat" cmpd="sng" algn="ctr">
            <a:solidFill>
              <a:srgbClr val="17A673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6352916B-3ACC-C744-BE2B-07586E6E2F94}"/>
              </a:ext>
            </a:extLst>
          </p:cNvPr>
          <p:cNvSpPr txBox="1"/>
          <p:nvPr/>
        </p:nvSpPr>
        <p:spPr>
          <a:xfrm>
            <a:off x="6731000" y="2006600"/>
            <a:ext cx="4127500" cy="1422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1120">
                <a:solidFill>
                  <a:srgbClr val="EAF2FF"/>
                </a:solidFill>
                <a:latin typeface="Consolas"/>
                <a:cs typeface="Consolas"/>
              </a:rPr>
              <a:t>from pydantic import TypeAdapter
users_adapter = TypeAdapter(list[User])
users = users_adapter.validate_python(raw_users)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EF357D71-9ACC-0D47-9F67-87CBF1E4C958}"/>
              </a:ext>
            </a:extLst>
          </p:cNvPr>
          <p:cNvSpPr txBox="1"/>
          <p:nvPr/>
        </p:nvSpPr>
        <p:spPr>
          <a:xfrm>
            <a:off x="6705600" y="3771900"/>
            <a:ext cx="40386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080" b="1">
                <a:solidFill>
                  <a:srgbClr val="314055"/>
                </a:solidFill>
                <a:latin typeface="Aptos"/>
              </a:rPr>
              <a:t>TypeAdapter valida exactamente la expresión de tipo necesaria sin agregar una estructura artificial.</a:t>
            </a:r>
            <a:endParaRPr lang="es-US" sz="1080" b="1" dirty="0">
              <a:solidFill>
                <a:srgbClr val="314055"/>
              </a:solidFill>
              <a:latin typeface="Aptos"/>
            </a:endParaRPr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1373C4F5-0AE5-8C4B-804C-40AC04CF4158}"/>
              </a:ext>
            </a:extLst>
          </p:cNvPr>
          <p:cNvSpPr/>
          <p:nvPr/>
        </p:nvSpPr>
        <p:spPr>
          <a:xfrm>
            <a:off x="1016000" y="4724400"/>
            <a:ext cx="10033000" cy="876300"/>
          </a:xfrm>
          <a:prstGeom prst="rect">
            <a:avLst/>
          </a:prstGeom>
          <a:solidFill>
            <a:srgbClr val="DDF5F7"/>
          </a:solidFill>
          <a:ln w="12700" cap="flat" cmpd="sng" algn="ctr">
            <a:solidFill>
              <a:srgbClr val="00A6B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C6B916D5-FB26-434F-8750-FE118F9B5017}"/>
              </a:ext>
            </a:extLst>
          </p:cNvPr>
          <p:cNvSpPr txBox="1"/>
          <p:nvPr/>
        </p:nvSpPr>
        <p:spPr>
          <a:xfrm>
            <a:off x="1295400" y="4940300"/>
            <a:ext cx="94615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150" b="1">
                <a:solidFill>
                  <a:srgbClr val="314055"/>
                </a:solidFill>
                <a:latin typeface="Aptos"/>
              </a:rPr>
              <a:t>TypeAdapter funciona para list[User], dict[str, User], list[Payment] y otras expresiones de tipo cuando el contenedor no tiene significado de dominio propio.</a:t>
            </a:r>
            <a:endParaRPr lang="es-US" sz="1150" b="1" dirty="0">
              <a:solidFill>
                <a:srgbClr val="314055"/>
              </a:solidFill>
              <a:latin typeface="Aptos"/>
            </a:endParaRPr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8D4AE30E-47D3-B247-B85B-96B899043A77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630">
                <a:solidFill>
                  <a:srgbClr val="8A94A4"/>
                </a:solidFill>
                <a:latin typeface="Aptos"/>
              </a:rPr>
              <a:t>Fuente: docs.pydantic.dev · TypeAdapter validation, serialization y schema sin BaseModel.</a:t>
            </a:r>
          </a:p>
        </p:txBody>
      </p:sp>
    </p:spTree>
    <p:extLst>
      <p:ext uri="{BB962C8B-B14F-4D97-AF65-F5344CB8AC3E}">
        <p14:creationId xmlns:p14="http://schemas.microsoft.com/office/powerpoint/2010/main" val="1451065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3D6DEF9-7B76-C34F-AFBB-C225F405669E}"/>
              </a:ext>
            </a:extLst>
          </p:cNvPr>
          <p:cNvSpPr txBox="1"/>
          <p:nvPr/>
        </p:nvSpPr>
        <p:spPr>
          <a:xfrm>
            <a:off x="609600" y="330200"/>
            <a:ext cx="91440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 fontScale="92500"/>
          </a:bodyPr>
          <a:lstStyle/>
          <a:p>
            <a:pPr algn="l"/>
            <a:r>
              <a:rPr lang="es-US" sz="2400" b="1">
                <a:solidFill>
                  <a:srgbClr val="34445A"/>
                </a:solidFill>
                <a:latin typeface="Aptos"/>
              </a:rPr>
              <a:t>ValidationError entrega errores estructurados, no texto para parsear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68F9AAC-EB18-3645-9C56-03ABB501FD1B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DE20678-7229-904A-9B5E-F67505630381}"/>
              </a:ext>
            </a:extLst>
          </p:cNvPr>
          <p:cNvSpPr txBox="1"/>
          <p:nvPr/>
        </p:nvSpPr>
        <p:spPr>
          <a:xfrm>
            <a:off x="609600" y="952500"/>
            <a:ext cx="9906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250" b="1" dirty="0">
                <a:solidFill>
                  <a:srgbClr val="6B7788"/>
                </a:solidFill>
                <a:latin typeface="Aptos"/>
              </a:rPr>
              <a:t>Cada error conserva ubicación, tipo, mensaje e input; esa estructura funciona para logs, </a:t>
            </a:r>
            <a:r>
              <a:rPr lang="es-US" sz="1250" b="1" dirty="0" err="1">
                <a:solidFill>
                  <a:srgbClr val="6B7788"/>
                </a:solidFill>
                <a:latin typeface="Aptos"/>
              </a:rPr>
              <a:t>APIs</a:t>
            </a:r>
            <a:r>
              <a:rPr lang="es-US" sz="1250" b="1" dirty="0">
                <a:solidFill>
                  <a:srgbClr val="6B7788"/>
                </a:solidFill>
                <a:latin typeface="Aptos"/>
              </a:rPr>
              <a:t> y </a:t>
            </a:r>
            <a:r>
              <a:rPr lang="es-US" sz="1250" b="1" dirty="0" err="1">
                <a:solidFill>
                  <a:srgbClr val="6B7788"/>
                </a:solidFill>
                <a:latin typeface="Aptos"/>
              </a:rPr>
              <a:t>retries</a:t>
            </a:r>
            <a:r>
              <a:rPr lang="es-US" sz="1250" b="1" dirty="0">
                <a:solidFill>
                  <a:srgbClr val="6B7788"/>
                </a:solidFill>
                <a:latin typeface="Aptos"/>
              </a:rPr>
              <a:t> con </a:t>
            </a:r>
            <a:r>
              <a:rPr lang="es-US" sz="1250" b="1" dirty="0" err="1">
                <a:solidFill>
                  <a:srgbClr val="6B7788"/>
                </a:solidFill>
                <a:latin typeface="Aptos"/>
              </a:rPr>
              <a:t>LLMs</a:t>
            </a:r>
            <a:r>
              <a:rPr lang="es-US" sz="1250" b="1" dirty="0">
                <a:solidFill>
                  <a:srgbClr val="6B7788"/>
                </a:solidFill>
                <a:latin typeface="Aptos"/>
              </a:rPr>
              <a:t>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38B1141-FAB8-F54A-BFD8-C0B350AA8B22}"/>
              </a:ext>
            </a:extLst>
          </p:cNvPr>
          <p:cNvSpPr/>
          <p:nvPr/>
        </p:nvSpPr>
        <p:spPr>
          <a:xfrm>
            <a:off x="736600" y="1651000"/>
            <a:ext cx="4064000" cy="1460500"/>
          </a:xfrm>
          <a:prstGeom prst="rect">
            <a:avLst/>
          </a:prstGeom>
          <a:solidFill>
            <a:srgbClr val="17212F"/>
          </a:solidFill>
          <a:ln w="13970" cap="flat" cmpd="sng" algn="ctr">
            <a:solidFill>
              <a:srgbClr val="00A6B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3E1DB9B-4443-7248-AE9C-3FB96399793E}"/>
              </a:ext>
            </a:extLst>
          </p:cNvPr>
          <p:cNvSpPr txBox="1"/>
          <p:nvPr/>
        </p:nvSpPr>
        <p:spPr>
          <a:xfrm>
            <a:off x="863600" y="1752600"/>
            <a:ext cx="3810000" cy="12827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1200">
                <a:solidFill>
                  <a:srgbClr val="EAF2FF"/>
                </a:solidFill>
                <a:latin typeface="Consolas"/>
                <a:cs typeface="Consolas"/>
              </a:rPr>
              <a:t>try:
    User.model_validate(raw)
except ValidationError as e:
    print(e.errors())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8062FBD9-2A0E-C744-BCE2-83877B6FCFCA}"/>
              </a:ext>
            </a:extLst>
          </p:cNvPr>
          <p:cNvSpPr/>
          <p:nvPr/>
        </p:nvSpPr>
        <p:spPr>
          <a:xfrm>
            <a:off x="5435600" y="1625600"/>
            <a:ext cx="1422400" cy="1651000"/>
          </a:xfrm>
          <a:prstGeom prst="rect">
            <a:avLst/>
          </a:prstGeom>
          <a:solidFill>
            <a:srgbClr val="FFFFFF"/>
          </a:solidFill>
          <a:ln w="15240" cap="flat" cmpd="sng" algn="ctr">
            <a:solidFill>
              <a:srgbClr val="00A6B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581BE531-327A-9645-9328-77D15C6FED13}"/>
              </a:ext>
            </a:extLst>
          </p:cNvPr>
          <p:cNvSpPr/>
          <p:nvPr/>
        </p:nvSpPr>
        <p:spPr>
          <a:xfrm>
            <a:off x="5435600" y="1625600"/>
            <a:ext cx="101600" cy="16510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92ECB16-629B-4242-80D0-97D0154D8012}"/>
              </a:ext>
            </a:extLst>
          </p:cNvPr>
          <p:cNvSpPr txBox="1"/>
          <p:nvPr/>
        </p:nvSpPr>
        <p:spPr>
          <a:xfrm>
            <a:off x="5638800" y="1790700"/>
            <a:ext cx="10668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500" b="1">
                <a:solidFill>
                  <a:srgbClr val="00A6B0"/>
                </a:solidFill>
                <a:latin typeface="Aptos"/>
              </a:rPr>
              <a:t>loc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8521A3C4-06B0-4B48-8148-601B1DBB8FA9}"/>
              </a:ext>
            </a:extLst>
          </p:cNvPr>
          <p:cNvSpPr txBox="1"/>
          <p:nvPr/>
        </p:nvSpPr>
        <p:spPr>
          <a:xfrm>
            <a:off x="5638800" y="2159000"/>
            <a:ext cx="1066800" cy="1041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980">
                <a:solidFill>
                  <a:srgbClr val="3D4B5F"/>
                </a:solidFill>
                <a:latin typeface="Aptos"/>
              </a:rPr>
              <a:t>Ruta del campo
('items', 2, 'price')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612681D6-D71C-914F-818C-6C94CA168329}"/>
              </a:ext>
            </a:extLst>
          </p:cNvPr>
          <p:cNvSpPr/>
          <p:nvPr/>
        </p:nvSpPr>
        <p:spPr>
          <a:xfrm>
            <a:off x="6972300" y="1625600"/>
            <a:ext cx="1422400" cy="1651000"/>
          </a:xfrm>
          <a:prstGeom prst="rect">
            <a:avLst/>
          </a:prstGeom>
          <a:solidFill>
            <a:srgbClr val="FFFFFF"/>
          </a:solidFill>
          <a:ln w="15240" cap="flat" cmpd="sng" algn="ctr">
            <a:solidFill>
              <a:srgbClr val="00A6B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6E8A6676-9535-7545-BF37-E930D3071F26}"/>
              </a:ext>
            </a:extLst>
          </p:cNvPr>
          <p:cNvSpPr/>
          <p:nvPr/>
        </p:nvSpPr>
        <p:spPr>
          <a:xfrm>
            <a:off x="6972300" y="1625600"/>
            <a:ext cx="101600" cy="16510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A2A90523-9A9E-6241-BD7E-CC8615238D97}"/>
              </a:ext>
            </a:extLst>
          </p:cNvPr>
          <p:cNvSpPr txBox="1"/>
          <p:nvPr/>
        </p:nvSpPr>
        <p:spPr>
          <a:xfrm>
            <a:off x="7175500" y="1790700"/>
            <a:ext cx="10668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500" b="1">
                <a:solidFill>
                  <a:srgbClr val="00A6B0"/>
                </a:solidFill>
                <a:latin typeface="Aptos"/>
              </a:rPr>
              <a:t>msg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F0336A5D-9D39-EA48-AAD9-6189C3CADFF3}"/>
              </a:ext>
            </a:extLst>
          </p:cNvPr>
          <p:cNvSpPr txBox="1"/>
          <p:nvPr/>
        </p:nvSpPr>
        <p:spPr>
          <a:xfrm>
            <a:off x="7175500" y="2159000"/>
            <a:ext cx="1066800" cy="1041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980">
                <a:solidFill>
                  <a:srgbClr val="3D4B5F"/>
                </a:solidFill>
                <a:latin typeface="Aptos"/>
              </a:rPr>
              <a:t>Mensaje legible
Input should be &gt; 0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CA2D0CE2-DB80-DE41-B20C-F78D4448C49B}"/>
              </a:ext>
            </a:extLst>
          </p:cNvPr>
          <p:cNvSpPr/>
          <p:nvPr/>
        </p:nvSpPr>
        <p:spPr>
          <a:xfrm>
            <a:off x="8509000" y="1625600"/>
            <a:ext cx="1422400" cy="1651000"/>
          </a:xfrm>
          <a:prstGeom prst="rect">
            <a:avLst/>
          </a:prstGeom>
          <a:solidFill>
            <a:srgbClr val="FFFFFF"/>
          </a:solidFill>
          <a:ln w="15240" cap="flat" cmpd="sng" algn="ctr">
            <a:solidFill>
              <a:srgbClr val="00A6B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3FEFBF09-32D4-4D44-AC8D-5F6ED8A7CBA6}"/>
              </a:ext>
            </a:extLst>
          </p:cNvPr>
          <p:cNvSpPr/>
          <p:nvPr/>
        </p:nvSpPr>
        <p:spPr>
          <a:xfrm>
            <a:off x="8509000" y="1625600"/>
            <a:ext cx="101600" cy="16510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42377096-DF61-8440-A962-C512B3E43B5A}"/>
              </a:ext>
            </a:extLst>
          </p:cNvPr>
          <p:cNvSpPr txBox="1"/>
          <p:nvPr/>
        </p:nvSpPr>
        <p:spPr>
          <a:xfrm>
            <a:off x="8712200" y="1790700"/>
            <a:ext cx="10668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500" b="1">
                <a:solidFill>
                  <a:srgbClr val="00A6B0"/>
                </a:solidFill>
                <a:latin typeface="Aptos"/>
              </a:rPr>
              <a:t>type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B7A26DA5-252A-3749-B96C-7E742A4A2F71}"/>
              </a:ext>
            </a:extLst>
          </p:cNvPr>
          <p:cNvSpPr txBox="1"/>
          <p:nvPr/>
        </p:nvSpPr>
        <p:spPr>
          <a:xfrm>
            <a:off x="8712200" y="2159000"/>
            <a:ext cx="1066800" cy="1041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980">
                <a:solidFill>
                  <a:srgbClr val="3D4B5F"/>
                </a:solidFill>
                <a:latin typeface="Aptos"/>
              </a:rPr>
              <a:t>Código estable
greater_than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9DD2FA3A-90FC-CF4D-8BAD-41073A6FBA6F}"/>
              </a:ext>
            </a:extLst>
          </p:cNvPr>
          <p:cNvSpPr/>
          <p:nvPr/>
        </p:nvSpPr>
        <p:spPr>
          <a:xfrm>
            <a:off x="10045700" y="1625600"/>
            <a:ext cx="1422400" cy="1651000"/>
          </a:xfrm>
          <a:prstGeom prst="rect">
            <a:avLst/>
          </a:prstGeom>
          <a:solidFill>
            <a:srgbClr val="FFFFFF"/>
          </a:solidFill>
          <a:ln w="15240" cap="flat" cmpd="sng" algn="ctr">
            <a:solidFill>
              <a:srgbClr val="00A6B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EC02F0CD-4087-D644-872D-BA3B99D8F80B}"/>
              </a:ext>
            </a:extLst>
          </p:cNvPr>
          <p:cNvSpPr/>
          <p:nvPr/>
        </p:nvSpPr>
        <p:spPr>
          <a:xfrm>
            <a:off x="10045700" y="1625600"/>
            <a:ext cx="101600" cy="16510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50C44AA4-3AA2-F84A-86D0-49691400BD92}"/>
              </a:ext>
            </a:extLst>
          </p:cNvPr>
          <p:cNvSpPr txBox="1"/>
          <p:nvPr/>
        </p:nvSpPr>
        <p:spPr>
          <a:xfrm>
            <a:off x="10248900" y="1790700"/>
            <a:ext cx="10668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500" b="1">
                <a:solidFill>
                  <a:srgbClr val="00A6B0"/>
                </a:solidFill>
                <a:latin typeface="Aptos"/>
              </a:rPr>
              <a:t>input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79E1122A-019A-9D47-979F-E9A1C20E2384}"/>
              </a:ext>
            </a:extLst>
          </p:cNvPr>
          <p:cNvSpPr txBox="1"/>
          <p:nvPr/>
        </p:nvSpPr>
        <p:spPr>
          <a:xfrm>
            <a:off x="10248900" y="2159000"/>
            <a:ext cx="1066800" cy="1041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980">
                <a:solidFill>
                  <a:srgbClr val="3D4B5F"/>
                </a:solidFill>
                <a:latin typeface="Aptos"/>
              </a:rPr>
              <a:t>Valor recibido
-10</a:t>
            </a: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16CF2DE8-5999-F441-85A3-A9D299637817}"/>
              </a:ext>
            </a:extLst>
          </p:cNvPr>
          <p:cNvSpPr/>
          <p:nvPr/>
        </p:nvSpPr>
        <p:spPr>
          <a:xfrm>
            <a:off x="736600" y="3911600"/>
            <a:ext cx="10604500" cy="1308100"/>
          </a:xfrm>
          <a:prstGeom prst="rect">
            <a:avLst/>
          </a:prstGeom>
          <a:solidFill>
            <a:srgbClr val="2634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933FA437-3802-3C47-A6EC-6A0E0729AAB0}"/>
              </a:ext>
            </a:extLst>
          </p:cNvPr>
          <p:cNvSpPr txBox="1"/>
          <p:nvPr/>
        </p:nvSpPr>
        <p:spPr>
          <a:xfrm>
            <a:off x="1066800" y="4140200"/>
            <a:ext cx="2032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400" b="1">
                <a:solidFill>
                  <a:srgbClr val="FFFFFF"/>
                </a:solidFill>
                <a:latin typeface="Aptos"/>
              </a:rPr>
              <a:t>Uso operativo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090058CE-5D6C-5047-B3F7-410103FA26F2}"/>
              </a:ext>
            </a:extLst>
          </p:cNvPr>
          <p:cNvSpPr txBox="1"/>
          <p:nvPr/>
        </p:nvSpPr>
        <p:spPr>
          <a:xfrm>
            <a:off x="1066800" y="4521200"/>
            <a:ext cx="98425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250" dirty="0" err="1">
                <a:solidFill>
                  <a:srgbClr val="DCE5F0"/>
                </a:solidFill>
                <a:latin typeface="Aptos"/>
              </a:rPr>
              <a:t>e.errors</a:t>
            </a:r>
            <a:r>
              <a:rPr lang="es-US" sz="1250" dirty="0">
                <a:solidFill>
                  <a:srgbClr val="DCE5F0"/>
                </a:solidFill>
                <a:latin typeface="Aptos"/>
              </a:rPr>
              <a:t>() conserva estructura para respuestas 422 en </a:t>
            </a:r>
            <a:r>
              <a:rPr lang="es-US" sz="1250" dirty="0" err="1">
                <a:solidFill>
                  <a:srgbClr val="DCE5F0"/>
                </a:solidFill>
                <a:latin typeface="Aptos"/>
              </a:rPr>
              <a:t>APIs</a:t>
            </a:r>
            <a:r>
              <a:rPr lang="es-US" sz="1250" dirty="0">
                <a:solidFill>
                  <a:srgbClr val="DCE5F0"/>
                </a:solidFill>
                <a:latin typeface="Aptos"/>
              </a:rPr>
              <a:t>, mensajes de corrección o </a:t>
            </a:r>
            <a:r>
              <a:rPr lang="es-US" sz="1250" dirty="0" err="1">
                <a:solidFill>
                  <a:srgbClr val="DCE5F0"/>
                </a:solidFill>
                <a:latin typeface="Aptos"/>
              </a:rPr>
              <a:t>retries</a:t>
            </a:r>
            <a:r>
              <a:rPr lang="es-US" sz="1250" dirty="0">
                <a:solidFill>
                  <a:srgbClr val="DCE5F0"/>
                </a:solidFill>
                <a:latin typeface="Aptos"/>
              </a:rPr>
              <a:t> controlados con </a:t>
            </a:r>
            <a:r>
              <a:rPr lang="es-US" sz="1250" dirty="0" err="1">
                <a:solidFill>
                  <a:srgbClr val="DCE5F0"/>
                </a:solidFill>
                <a:latin typeface="Aptos"/>
              </a:rPr>
              <a:t>LLMs</a:t>
            </a:r>
            <a:r>
              <a:rPr lang="es-US" sz="1250" dirty="0">
                <a:solidFill>
                  <a:srgbClr val="DCE5F0"/>
                </a:solidFill>
                <a:latin typeface="Aptos"/>
              </a:rPr>
              <a:t>.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6DE84857-D00B-DC47-B1F6-58A91741E53A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630">
                <a:solidFill>
                  <a:srgbClr val="8A94A4"/>
                </a:solidFill>
                <a:latin typeface="Aptos"/>
              </a:rPr>
              <a:t>Fuente: docs.pydantic.dev · ValidationError.errors().</a:t>
            </a:r>
          </a:p>
        </p:txBody>
      </p:sp>
    </p:spTree>
    <p:extLst>
      <p:ext uri="{BB962C8B-B14F-4D97-AF65-F5344CB8AC3E}">
        <p14:creationId xmlns:p14="http://schemas.microsoft.com/office/powerpoint/2010/main" val="4269616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uadroTexto 38">
            <a:extLst>
              <a:ext uri="{FF2B5EF4-FFF2-40B4-BE49-F238E27FC236}">
                <a16:creationId xmlns:a16="http://schemas.microsoft.com/office/drawing/2014/main" id="{6ADC3063-CD75-234D-B66D-6D2F7BCE41DE}"/>
              </a:ext>
            </a:extLst>
          </p:cNvPr>
          <p:cNvSpPr txBox="1"/>
          <p:nvPr/>
        </p:nvSpPr>
        <p:spPr>
          <a:xfrm>
            <a:off x="609600" y="330200"/>
            <a:ext cx="8255000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2050" b="1">
                <a:solidFill>
                  <a:srgbClr val="2D3B4F"/>
                </a:solidFill>
                <a:latin typeface="Aptos Display"/>
              </a:rPr>
              <a:t>La coerción puede ocultar datos inválidos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7D634F2F-A580-BA49-9BAE-83B944ACDC54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D4A698EA-4CCF-6040-B82A-51F32CF53284}"/>
              </a:ext>
            </a:extLst>
          </p:cNvPr>
          <p:cNvSpPr txBox="1"/>
          <p:nvPr/>
        </p:nvSpPr>
        <p:spPr>
          <a:xfrm>
            <a:off x="609600" y="952500"/>
            <a:ext cx="9906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1050" b="1">
                <a:solidFill>
                  <a:srgbClr val="718096"/>
                </a:solidFill>
                <a:latin typeface="Aptos"/>
              </a:rPr>
              <a:t>El parsing default resulta práctico, pero strict mode evita conversiones silenciosas en límites sensibles.</a:t>
            </a:r>
            <a:endParaRPr lang="es-US" sz="1050" b="1" dirty="0">
              <a:solidFill>
                <a:srgbClr val="718096"/>
              </a:solidFill>
              <a:latin typeface="Aptos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9EA5A2AF-C9FC-994C-B29D-4C04D7473104}"/>
              </a:ext>
            </a:extLst>
          </p:cNvPr>
          <p:cNvSpPr/>
          <p:nvPr/>
        </p:nvSpPr>
        <p:spPr>
          <a:xfrm>
            <a:off x="889000" y="1625600"/>
            <a:ext cx="4445000" cy="2641600"/>
          </a:xfrm>
          <a:prstGeom prst="rect">
            <a:avLst/>
          </a:prstGeom>
          <a:solidFill>
            <a:srgbClr val="FFFFFF"/>
          </a:solidFill>
          <a:ln w="17780" cap="flat" cmpd="sng" algn="ctr">
            <a:solidFill>
              <a:srgbClr val="00A6B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F86C625A-F0E9-5343-8682-CC475615DBB7}"/>
              </a:ext>
            </a:extLst>
          </p:cNvPr>
          <p:cNvSpPr txBox="1"/>
          <p:nvPr/>
        </p:nvSpPr>
        <p:spPr>
          <a:xfrm>
            <a:off x="1193800" y="19050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600" b="1">
                <a:solidFill>
                  <a:srgbClr val="078E98"/>
                </a:solidFill>
                <a:latin typeface="Aptos"/>
              </a:rPr>
              <a:t>Modo default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5E88B660-269D-2641-96E4-4C673C535370}"/>
              </a:ext>
            </a:extLst>
          </p:cNvPr>
          <p:cNvSpPr txBox="1"/>
          <p:nvPr/>
        </p:nvSpPr>
        <p:spPr>
          <a:xfrm>
            <a:off x="1270000" y="2476500"/>
            <a:ext cx="3302000" cy="965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1500">
                <a:solidFill>
                  <a:srgbClr val="34445A"/>
                </a:solidFill>
                <a:latin typeface="Consolas"/>
                <a:cs typeface="Consolas"/>
              </a:rPr>
              <a:t>"1250.50"  →  1250.5</a:t>
            </a:r>
          </a:p>
          <a:p>
            <a:pPr algn="l"/>
            <a:r>
              <a:rPr lang="es-US" sz="1500">
                <a:solidFill>
                  <a:srgbClr val="34445A"/>
                </a:solidFill>
                <a:latin typeface="Consolas"/>
                <a:cs typeface="Consolas"/>
              </a:rPr>
              <a:t>"42"       →  42</a:t>
            </a:r>
          </a:p>
          <a:p>
            <a:pPr algn="l"/>
            <a:r>
              <a:rPr lang="es-US" sz="1500">
                <a:solidFill>
                  <a:srgbClr val="34445A"/>
                </a:solidFill>
                <a:latin typeface="Consolas"/>
                <a:cs typeface="Consolas"/>
              </a:rPr>
              <a:t>"true"     →  True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4CF2457A-70EC-E245-86A4-2C563D1DCA2F}"/>
              </a:ext>
            </a:extLst>
          </p:cNvPr>
          <p:cNvSpPr txBox="1"/>
          <p:nvPr/>
        </p:nvSpPr>
        <p:spPr>
          <a:xfrm>
            <a:off x="1219200" y="3708400"/>
            <a:ext cx="3302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950" b="1">
                <a:solidFill>
                  <a:srgbClr val="314055"/>
                </a:solidFill>
                <a:latin typeface="Aptos"/>
              </a:rPr>
              <a:t>El modo default resulta útil cuando la entrada externa acepta JSON de clientes heterogéneos.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10821970-4590-6543-A00A-59B5987EE0BD}"/>
              </a:ext>
            </a:extLst>
          </p:cNvPr>
          <p:cNvSpPr/>
          <p:nvPr/>
        </p:nvSpPr>
        <p:spPr>
          <a:xfrm>
            <a:off x="6858000" y="1625600"/>
            <a:ext cx="4445000" cy="2641600"/>
          </a:xfrm>
          <a:prstGeom prst="rect">
            <a:avLst/>
          </a:prstGeom>
          <a:solidFill>
            <a:srgbClr val="FFFFFF"/>
          </a:solidFill>
          <a:ln w="17780" cap="flat" cmpd="sng" algn="ctr">
            <a:solidFill>
              <a:srgbClr val="D83B4C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B3EF3B87-06FB-7046-8404-BFA105232EC7}"/>
              </a:ext>
            </a:extLst>
          </p:cNvPr>
          <p:cNvSpPr txBox="1"/>
          <p:nvPr/>
        </p:nvSpPr>
        <p:spPr>
          <a:xfrm>
            <a:off x="7162800" y="19050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600" b="1">
                <a:solidFill>
                  <a:srgbClr val="D83B4C"/>
                </a:solidFill>
                <a:latin typeface="Aptos"/>
              </a:rPr>
              <a:t>Strict mode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CDBC8BC7-4D8F-104A-A240-E82877C94274}"/>
              </a:ext>
            </a:extLst>
          </p:cNvPr>
          <p:cNvSpPr/>
          <p:nvPr/>
        </p:nvSpPr>
        <p:spPr>
          <a:xfrm>
            <a:off x="7162800" y="2336800"/>
            <a:ext cx="3492500" cy="1346200"/>
          </a:xfrm>
          <a:prstGeom prst="rect">
            <a:avLst/>
          </a:prstGeom>
          <a:solidFill>
            <a:srgbClr val="17212F"/>
          </a:solidFill>
          <a:ln w="13970" cap="flat" cmpd="sng" algn="ctr">
            <a:solidFill>
              <a:srgbClr val="D83B4C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F765D8D8-6C55-CA48-8AE7-57A5890C7431}"/>
              </a:ext>
            </a:extLst>
          </p:cNvPr>
          <p:cNvSpPr txBox="1"/>
          <p:nvPr/>
        </p:nvSpPr>
        <p:spPr>
          <a:xfrm>
            <a:off x="7289800" y="2438400"/>
            <a:ext cx="3238500" cy="1168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940">
                <a:solidFill>
                  <a:srgbClr val="EAF2FF"/>
                </a:solidFill>
                <a:latin typeface="Consolas"/>
                <a:cs typeface="Consolas"/>
              </a:rPr>
              <a:t>from pydantic import ConfigDict
class StrictPayment(BaseModel):
    model_config = ConfigDict(strict=True)
    amount: float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7E3CFC19-57DC-B846-8A9D-A51FD59D726F}"/>
              </a:ext>
            </a:extLst>
          </p:cNvPr>
          <p:cNvSpPr txBox="1"/>
          <p:nvPr/>
        </p:nvSpPr>
        <p:spPr>
          <a:xfrm>
            <a:off x="7150100" y="3802741"/>
            <a:ext cx="3429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850" b="1">
                <a:solidFill>
                  <a:srgbClr val="314055"/>
                </a:solidFill>
                <a:latin typeface="Aptos"/>
              </a:rPr>
              <a:t>Strict mode rechaza strings cuando el campo espera float; reduce riesgo en decisiones sensibles.</a:t>
            </a:r>
            <a:endParaRPr lang="es-US" sz="850" b="1" dirty="0">
              <a:solidFill>
                <a:srgbClr val="314055"/>
              </a:solidFill>
              <a:latin typeface="Aptos"/>
            </a:endParaRP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D97A44ED-A725-A94C-8491-1D6BB6D03948}"/>
              </a:ext>
            </a:extLst>
          </p:cNvPr>
          <p:cNvSpPr/>
          <p:nvPr/>
        </p:nvSpPr>
        <p:spPr>
          <a:xfrm>
            <a:off x="1485900" y="4851399"/>
            <a:ext cx="9207500" cy="830943"/>
          </a:xfrm>
          <a:prstGeom prst="rect">
            <a:avLst/>
          </a:prstGeom>
          <a:solidFill>
            <a:srgbClr val="FFF0D7"/>
          </a:solidFill>
          <a:ln w="12700" cap="flat" cmpd="sng" algn="ctr">
            <a:solidFill>
              <a:srgbClr val="D9890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B1B2FEFF-1A11-A548-846B-C115AC9F80A6}"/>
              </a:ext>
            </a:extLst>
          </p:cNvPr>
          <p:cNvSpPr txBox="1"/>
          <p:nvPr/>
        </p:nvSpPr>
        <p:spPr>
          <a:xfrm>
            <a:off x="1765300" y="5041900"/>
            <a:ext cx="8636000" cy="452664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080" b="1">
                <a:solidFill>
                  <a:srgbClr val="314055"/>
                </a:solidFill>
                <a:latin typeface="Aptos"/>
              </a:rPr>
              <a:t>La convención más segura combina parsing permisivo cuando los datos vienen de usuarios y strict mode en flujos críticos o outputs de modelos que alimentan decisiones.</a:t>
            </a:r>
            <a:endParaRPr lang="es-US" sz="1080" b="1" dirty="0">
              <a:solidFill>
                <a:srgbClr val="314055"/>
              </a:solidFill>
              <a:latin typeface="Aptos"/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9587D49E-3D6D-A444-AB37-A286B314744C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630">
                <a:solidFill>
                  <a:srgbClr val="8A94A4"/>
                </a:solidFill>
                <a:latin typeface="Aptos"/>
              </a:rPr>
              <a:t>Fuente: docs.pydantic.dev · Strict mode y conversiones de datos.</a:t>
            </a:r>
          </a:p>
        </p:txBody>
      </p:sp>
    </p:spTree>
    <p:extLst>
      <p:ext uri="{BB962C8B-B14F-4D97-AF65-F5344CB8AC3E}">
        <p14:creationId xmlns:p14="http://schemas.microsoft.com/office/powerpoint/2010/main" val="65345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4E4CB0F-7FE7-A54D-AE79-2C9CAB5CD112}"/>
              </a:ext>
            </a:extLst>
          </p:cNvPr>
          <p:cNvSpPr txBox="1"/>
          <p:nvPr/>
        </p:nvSpPr>
        <p:spPr>
          <a:xfrm>
            <a:off x="609600" y="304800"/>
            <a:ext cx="102235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2050" b="1" dirty="0">
                <a:solidFill>
                  <a:srgbClr val="30445E"/>
                </a:solidFill>
                <a:latin typeface="Helvetica Neue"/>
                <a:ea typeface="Helvetica Neue"/>
                <a:cs typeface="Helvetica Neue"/>
              </a:rPr>
              <a:t>Validadores: antes, después y a nivel de modelo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DC35F64-FDE2-4B4C-BFE8-1A3F6C3C57F1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956AFE8-BCAA-FC4C-9A87-257EC8DB5ECE}"/>
              </a:ext>
            </a:extLst>
          </p:cNvPr>
          <p:cNvSpPr txBox="1"/>
          <p:nvPr/>
        </p:nvSpPr>
        <p:spPr>
          <a:xfrm>
            <a:off x="609600" y="965200"/>
            <a:ext cx="113030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1250" b="1" dirty="0">
                <a:solidFill>
                  <a:srgbClr val="687487"/>
                </a:solidFill>
                <a:latin typeface="Helvetica Neue"/>
                <a:ea typeface="Helvetica Neue"/>
                <a:cs typeface="Helvetica Neue"/>
              </a:rPr>
              <a:t>Los validadores permiten normalizar input crudo, validar campos ya </a:t>
            </a:r>
            <a:r>
              <a:rPr lang="es-US" sz="1250" b="1" dirty="0" err="1">
                <a:solidFill>
                  <a:srgbClr val="687487"/>
                </a:solidFill>
                <a:latin typeface="Helvetica Neue"/>
                <a:ea typeface="Helvetica Neue"/>
                <a:cs typeface="Helvetica Neue"/>
              </a:rPr>
              <a:t>parseados</a:t>
            </a:r>
            <a:r>
              <a:rPr lang="es-US" sz="1250" b="1" dirty="0">
                <a:solidFill>
                  <a:srgbClr val="687487"/>
                </a:solidFill>
                <a:latin typeface="Helvetica Neue"/>
                <a:ea typeface="Helvetica Neue"/>
                <a:cs typeface="Helvetica Neue"/>
              </a:rPr>
              <a:t> y comprobar reglas entre campos.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D9D26B7-6FA4-1B4E-AA88-B438F6FF5D04}"/>
              </a:ext>
            </a:extLst>
          </p:cNvPr>
          <p:cNvSpPr/>
          <p:nvPr/>
        </p:nvSpPr>
        <p:spPr>
          <a:xfrm>
            <a:off x="660400" y="1549400"/>
            <a:ext cx="6096000" cy="3708400"/>
          </a:xfrm>
          <a:prstGeom prst="rect">
            <a:avLst/>
          </a:prstGeom>
          <a:solidFill>
            <a:srgbClr val="121E2B"/>
          </a:solidFill>
          <a:ln w="1397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9E77F4C-EFA1-E84D-9081-D7CF24C9BC25}"/>
              </a:ext>
            </a:extLst>
          </p:cNvPr>
          <p:cNvSpPr txBox="1"/>
          <p:nvPr/>
        </p:nvSpPr>
        <p:spPr>
          <a:xfrm>
            <a:off x="863600" y="1663700"/>
            <a:ext cx="5689600" cy="3530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rmAutofit/>
          </a:bodyPr>
          <a:lstStyle/>
          <a:p>
            <a:pPr algn="l"/>
            <a:r>
              <a:rPr lang="es-US" sz="750" b="1">
                <a:solidFill>
                  <a:srgbClr val="E6EDF3"/>
                </a:solidFill>
                <a:latin typeface="Consolas"/>
                <a:cs typeface="Consolas"/>
              </a:rPr>
              <a:t>from typing import Literal
from pydantic import (
    BaseModel, Field, field_validator, model_validator
)
class Payment(BaseModel):
    amount: float = Field(gt=0)
    currency: Literal["USD", "PEN", "EUR"]
    fee: float = Field(ge=0)
    @field_validator("currency", mode="before")
    @classmethod
    def normalize_currency(cls, value):
        return value.upper()
    @field_validator("amount", mode="after")
    @classmethod
    def validate_amount(cls, value):
        if value &gt; 100_000:
            raise ValueError("amount requires manual review")
        return value
    @model_validator(mode="after")
    def validate_total_cost(self):
        if self.fee &gt; self.amount:
            raise ValueError("fee cannot exceed amount")
        return self</a:t>
            </a:r>
            <a:endParaRPr lang="es-US" sz="750" b="1" dirty="0">
              <a:solidFill>
                <a:srgbClr val="E6EDF3"/>
              </a:solidFill>
              <a:latin typeface="Consolas"/>
              <a:cs typeface="Consolas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7280019-DBDB-8D43-936B-F9D1BB7F2174}"/>
              </a:ext>
            </a:extLst>
          </p:cNvPr>
          <p:cNvSpPr/>
          <p:nvPr/>
        </p:nvSpPr>
        <p:spPr>
          <a:xfrm>
            <a:off x="7112000" y="1549400"/>
            <a:ext cx="4495800" cy="1143000"/>
          </a:xfrm>
          <a:prstGeom prst="rect">
            <a:avLst/>
          </a:prstGeom>
          <a:solidFill>
            <a:srgbClr val="DDF7F8"/>
          </a:solidFill>
          <a:ln w="1524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ABDCDCAF-6468-D944-B05C-DC0D2BE7646E}"/>
              </a:ext>
            </a:extLst>
          </p:cNvPr>
          <p:cNvSpPr/>
          <p:nvPr/>
        </p:nvSpPr>
        <p:spPr>
          <a:xfrm>
            <a:off x="7112000" y="1549400"/>
            <a:ext cx="101600" cy="1143000"/>
          </a:xfrm>
          <a:prstGeom prst="rect">
            <a:avLst/>
          </a:prstGeom>
          <a:solidFill>
            <a:srgbClr val="00A7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30D07503-4836-0C4E-9B50-6169AB5274A8}"/>
              </a:ext>
            </a:extLst>
          </p:cNvPr>
          <p:cNvSpPr txBox="1"/>
          <p:nvPr/>
        </p:nvSpPr>
        <p:spPr>
          <a:xfrm>
            <a:off x="7416800" y="1701800"/>
            <a:ext cx="4013200" cy="2413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050" b="1">
                <a:solidFill>
                  <a:srgbClr val="00A7B5"/>
                </a:solidFill>
                <a:latin typeface="Helvetica Neue"/>
                <a:ea typeface="Helvetica Neue"/>
                <a:cs typeface="Helvetica Neue"/>
              </a:rPr>
              <a:t>field_validator(mode="before")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DE58B4AD-AD83-BB4E-ACC9-3D01BFDA5DD0}"/>
              </a:ext>
            </a:extLst>
          </p:cNvPr>
          <p:cNvSpPr txBox="1"/>
          <p:nvPr/>
        </p:nvSpPr>
        <p:spPr>
          <a:xfrm>
            <a:off x="7416800" y="1993900"/>
            <a:ext cx="3987800" cy="6223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780" b="1">
                <a:solidFill>
                  <a:srgbClr val="536078"/>
                </a:solidFill>
                <a:latin typeface="Helvetica Neue"/>
                <a:ea typeface="Helvetica Neue"/>
                <a:cs typeface="Helvetica Neue"/>
              </a:rPr>
              <a:t>Se ejecuta antes del parsing interno de Pydantic. Trabaja con input crudo. Ejemplo: "usd" → "USD".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4E56806C-6625-3C47-8A1D-BA3CFCF9AD4B}"/>
              </a:ext>
            </a:extLst>
          </p:cNvPr>
          <p:cNvSpPr/>
          <p:nvPr/>
        </p:nvSpPr>
        <p:spPr>
          <a:xfrm>
            <a:off x="7112000" y="2819400"/>
            <a:ext cx="4495800" cy="1143000"/>
          </a:xfrm>
          <a:prstGeom prst="rect">
            <a:avLst/>
          </a:prstGeom>
          <a:solidFill>
            <a:srgbClr val="F5DFF0"/>
          </a:solidFill>
          <a:ln w="1524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7A17A70C-6B18-6A46-B4EE-C1FF15B9B00C}"/>
              </a:ext>
            </a:extLst>
          </p:cNvPr>
          <p:cNvSpPr/>
          <p:nvPr/>
        </p:nvSpPr>
        <p:spPr>
          <a:xfrm>
            <a:off x="7112000" y="2819400"/>
            <a:ext cx="101600" cy="1143000"/>
          </a:xfrm>
          <a:prstGeom prst="rect">
            <a:avLst/>
          </a:prstGeom>
          <a:solidFill>
            <a:srgbClr val="C053A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AE2B7AB9-631D-A845-8B64-9D675C1E5497}"/>
              </a:ext>
            </a:extLst>
          </p:cNvPr>
          <p:cNvSpPr txBox="1"/>
          <p:nvPr/>
        </p:nvSpPr>
        <p:spPr>
          <a:xfrm>
            <a:off x="7416800" y="2971800"/>
            <a:ext cx="4013200" cy="2413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050" b="1">
                <a:solidFill>
                  <a:srgbClr val="C053A7"/>
                </a:solidFill>
                <a:latin typeface="Helvetica Neue"/>
                <a:ea typeface="Helvetica Neue"/>
                <a:cs typeface="Helvetica Neue"/>
              </a:rPr>
              <a:t>field_validator(mode="after")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F0E40ED4-4401-C642-94AA-F14898088B50}"/>
              </a:ext>
            </a:extLst>
          </p:cNvPr>
          <p:cNvSpPr txBox="1"/>
          <p:nvPr/>
        </p:nvSpPr>
        <p:spPr>
          <a:xfrm>
            <a:off x="7416800" y="3263900"/>
            <a:ext cx="3987800" cy="6223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780" b="1">
                <a:solidFill>
                  <a:srgbClr val="536078"/>
                </a:solidFill>
                <a:latin typeface="Helvetica Neue"/>
                <a:ea typeface="Helvetica Neue"/>
                <a:cs typeface="Helvetica Neue"/>
              </a:rPr>
              <a:t>Se ejecuta después de validar y parsear el campo. Trabaja con el tipo final esperado. Ejemplo: "1000.50" → 1000.50 → validación de límite.</a:t>
            </a:r>
            <a:endParaRPr lang="es-US" sz="780" b="1" dirty="0">
              <a:solidFill>
                <a:srgbClr val="53607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493E3E86-3D96-E347-8415-8AF622A1AA19}"/>
              </a:ext>
            </a:extLst>
          </p:cNvPr>
          <p:cNvSpPr/>
          <p:nvPr/>
        </p:nvSpPr>
        <p:spPr>
          <a:xfrm>
            <a:off x="7112000" y="4089400"/>
            <a:ext cx="4495800" cy="1143000"/>
          </a:xfrm>
          <a:prstGeom prst="rect">
            <a:avLst/>
          </a:prstGeom>
          <a:solidFill>
            <a:srgbClr val="FFF0CF"/>
          </a:solidFill>
          <a:ln w="1524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0199B74C-F8C8-474E-B6C8-96EBEC6A0AE2}"/>
              </a:ext>
            </a:extLst>
          </p:cNvPr>
          <p:cNvSpPr/>
          <p:nvPr/>
        </p:nvSpPr>
        <p:spPr>
          <a:xfrm>
            <a:off x="7112000" y="4089400"/>
            <a:ext cx="101600" cy="1143000"/>
          </a:xfrm>
          <a:prstGeom prst="rect">
            <a:avLst/>
          </a:prstGeom>
          <a:solidFill>
            <a:srgbClr val="E591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11D05E18-4CF9-B540-A127-0478CF6C0CE2}"/>
              </a:ext>
            </a:extLst>
          </p:cNvPr>
          <p:cNvSpPr txBox="1"/>
          <p:nvPr/>
        </p:nvSpPr>
        <p:spPr>
          <a:xfrm>
            <a:off x="7416800" y="4241800"/>
            <a:ext cx="4013200" cy="2413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050" b="1">
                <a:solidFill>
                  <a:srgbClr val="E59100"/>
                </a:solidFill>
                <a:latin typeface="Helvetica Neue"/>
                <a:ea typeface="Helvetica Neue"/>
                <a:cs typeface="Helvetica Neue"/>
              </a:rPr>
              <a:t>model_validator(mode="after")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2BEA9E1A-43CE-1447-91C4-584FBD10FAE0}"/>
              </a:ext>
            </a:extLst>
          </p:cNvPr>
          <p:cNvSpPr txBox="1"/>
          <p:nvPr/>
        </p:nvSpPr>
        <p:spPr>
          <a:xfrm>
            <a:off x="7416800" y="4533900"/>
            <a:ext cx="3987800" cy="6223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780" b="1">
                <a:solidFill>
                  <a:srgbClr val="536078"/>
                </a:solidFill>
                <a:latin typeface="Helvetica Neue"/>
                <a:ea typeface="Helvetica Neue"/>
                <a:cs typeface="Helvetica Neue"/>
              </a:rPr>
              <a:t>Se ejecuta después de construir el modelo completo. Permite validar reglas entre campos. Ejemplo: fee &lt;= amount.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8DFCDEA8-9024-BD4D-9539-C7823658AE41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550">
                <a:solidFill>
                  <a:srgbClr val="8A94A6"/>
                </a:solidFill>
                <a:latin typeface="Helvetica Neue"/>
                <a:ea typeface="Helvetica Neue"/>
                <a:cs typeface="Helvetica Neue"/>
              </a:rPr>
              <a:t>Fuente: docs.pydantic.dev · field_validator y model_validator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0C6CFC6-E16D-9740-B425-4E5E1ECD46EC}"/>
              </a:ext>
            </a:extLst>
          </p:cNvPr>
          <p:cNvSpPr/>
          <p:nvPr/>
        </p:nvSpPr>
        <p:spPr>
          <a:xfrm>
            <a:off x="889000" y="5511800"/>
            <a:ext cx="10414000" cy="762000"/>
          </a:xfrm>
          <a:prstGeom prst="rect">
            <a:avLst/>
          </a:prstGeom>
          <a:solidFill>
            <a:srgbClr val="FFF0C7"/>
          </a:solidFill>
          <a:ln w="15240" cap="flat" cmpd="sng" algn="ctr">
            <a:solidFill>
              <a:srgbClr val="F2A00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B1E1901-3EBA-B947-B15E-19FAB1A1CE8D}"/>
              </a:ext>
            </a:extLst>
          </p:cNvPr>
          <p:cNvSpPr/>
          <p:nvPr/>
        </p:nvSpPr>
        <p:spPr>
          <a:xfrm>
            <a:off x="889000" y="5511800"/>
            <a:ext cx="101600" cy="762000"/>
          </a:xfrm>
          <a:prstGeom prst="rect">
            <a:avLst/>
          </a:prstGeom>
          <a:solidFill>
            <a:srgbClr val="F2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68FA94E-37DD-9649-8227-ED62D75DBE60}"/>
              </a:ext>
            </a:extLst>
          </p:cNvPr>
          <p:cNvSpPr txBox="1"/>
          <p:nvPr/>
        </p:nvSpPr>
        <p:spPr>
          <a:xfrm>
            <a:off x="1219200" y="5715000"/>
            <a:ext cx="965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S" sz="1100" b="1">
                <a:solidFill>
                  <a:srgbClr val="314055"/>
                </a:solidFill>
                <a:latin typeface="Aptos"/>
              </a:rPr>
              <a:t>Los model validators validan reglas del objeto completo, especialmente invariantes y coherencia entre campos. No deberían ejecutar efectos secundarios ni lógica de servicios.</a:t>
            </a:r>
          </a:p>
        </p:txBody>
      </p:sp>
    </p:spTree>
    <p:extLst>
      <p:ext uri="{BB962C8B-B14F-4D97-AF65-F5344CB8AC3E}">
        <p14:creationId xmlns:p14="http://schemas.microsoft.com/office/powerpoint/2010/main" val="2830352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5C5D6-604B-851F-6982-7C77C8892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uadroTexto 55">
            <a:extLst>
              <a:ext uri="{FF2B5EF4-FFF2-40B4-BE49-F238E27FC236}">
                <a16:creationId xmlns:a16="http://schemas.microsoft.com/office/drawing/2014/main" id="{F32538A2-803A-6D46-B91E-2D8C5A74D6D7}"/>
              </a:ext>
            </a:extLst>
          </p:cNvPr>
          <p:cNvSpPr txBox="1"/>
          <p:nvPr/>
        </p:nvSpPr>
        <p:spPr>
          <a:xfrm>
            <a:off x="6096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2050" b="1" dirty="0">
                <a:solidFill>
                  <a:srgbClr val="34445A"/>
                </a:solidFill>
                <a:latin typeface="Aptos"/>
              </a:rPr>
              <a:t>En </a:t>
            </a:r>
            <a:r>
              <a:rPr lang="es-US" sz="2050" b="1" dirty="0" err="1">
                <a:solidFill>
                  <a:srgbClr val="34445A"/>
                </a:solidFill>
                <a:latin typeface="Aptos"/>
              </a:rPr>
              <a:t>FastAPI</a:t>
            </a:r>
            <a:r>
              <a:rPr lang="es-US" sz="2050" b="1" dirty="0">
                <a:solidFill>
                  <a:srgbClr val="34445A"/>
                </a:solidFill>
                <a:latin typeface="Aptos"/>
              </a:rPr>
              <a:t>, </a:t>
            </a:r>
            <a:r>
              <a:rPr lang="es-US" sz="2050" b="1" dirty="0" err="1">
                <a:solidFill>
                  <a:srgbClr val="34445A"/>
                </a:solidFill>
                <a:latin typeface="Aptos"/>
              </a:rPr>
              <a:t>Pydantic</a:t>
            </a:r>
            <a:r>
              <a:rPr lang="es-US" sz="2050" b="1" dirty="0">
                <a:solidFill>
                  <a:srgbClr val="34445A"/>
                </a:solidFill>
                <a:latin typeface="Aptos"/>
              </a:rPr>
              <a:t> se vuelve el contrato del </a:t>
            </a:r>
            <a:r>
              <a:rPr lang="es-US" sz="2050" b="1" dirty="0" err="1">
                <a:solidFill>
                  <a:srgbClr val="34445A"/>
                </a:solidFill>
                <a:latin typeface="Aptos"/>
              </a:rPr>
              <a:t>endpoint</a:t>
            </a:r>
            <a:endParaRPr lang="es-US" sz="2050" b="1" dirty="0">
              <a:solidFill>
                <a:srgbClr val="34445A"/>
              </a:solidFill>
              <a:latin typeface="Aptos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584DA475-C572-6F49-AF70-6C6CECCA6A97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CB1C2A91-0311-5B48-9EA5-B6D1017FE1AE}"/>
              </a:ext>
            </a:extLst>
          </p:cNvPr>
          <p:cNvSpPr txBox="1"/>
          <p:nvPr/>
        </p:nvSpPr>
        <p:spPr>
          <a:xfrm>
            <a:off x="609600" y="952500"/>
            <a:ext cx="9906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250" b="1" dirty="0" err="1">
                <a:solidFill>
                  <a:srgbClr val="6B7788"/>
                </a:solidFill>
                <a:latin typeface="Aptos"/>
              </a:rPr>
              <a:t>Request</a:t>
            </a:r>
            <a:r>
              <a:rPr lang="es-US" sz="1250" b="1" dirty="0">
                <a:solidFill>
                  <a:srgbClr val="6B7788"/>
                </a:solidFill>
                <a:latin typeface="Aptos"/>
              </a:rPr>
              <a:t>, response y </a:t>
            </a:r>
            <a:r>
              <a:rPr lang="es-US" sz="1250" b="1" dirty="0" err="1">
                <a:solidFill>
                  <a:srgbClr val="6B7788"/>
                </a:solidFill>
                <a:latin typeface="Aptos"/>
              </a:rPr>
              <a:t>OpenAPI</a:t>
            </a:r>
            <a:r>
              <a:rPr lang="es-US" sz="1250" b="1" dirty="0">
                <a:solidFill>
                  <a:srgbClr val="6B7788"/>
                </a:solidFill>
                <a:latin typeface="Aptos"/>
              </a:rPr>
              <a:t> comparten un modelo en lugar de tres definiciones separadas.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A74ACF51-E45D-E34E-AAE6-96AD21148CFE}"/>
              </a:ext>
            </a:extLst>
          </p:cNvPr>
          <p:cNvSpPr/>
          <p:nvPr/>
        </p:nvSpPr>
        <p:spPr>
          <a:xfrm>
            <a:off x="762000" y="1651000"/>
            <a:ext cx="5461000" cy="1651000"/>
          </a:xfrm>
          <a:prstGeom prst="rect">
            <a:avLst/>
          </a:prstGeom>
          <a:solidFill>
            <a:srgbClr val="17212F"/>
          </a:solidFill>
          <a:ln w="13970" cap="flat" cmpd="sng" algn="ctr">
            <a:solidFill>
              <a:srgbClr val="00A6B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0A475562-C9A9-9048-9159-7AD05236582D}"/>
              </a:ext>
            </a:extLst>
          </p:cNvPr>
          <p:cNvSpPr txBox="1"/>
          <p:nvPr/>
        </p:nvSpPr>
        <p:spPr>
          <a:xfrm>
            <a:off x="889000" y="1752600"/>
            <a:ext cx="5207000" cy="147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1140">
                <a:solidFill>
                  <a:srgbClr val="EAF2FF"/>
                </a:solidFill>
                <a:latin typeface="Consolas"/>
                <a:cs typeface="Consolas"/>
              </a:rPr>
              <a:t>@app.post("/invoices", response_model=Invoice)
def create_invoice(invoice: Invoice) -&gt; Invoice:
    # invoice ya pasó validación
    return invoice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9EDDDF0E-2953-F648-8DAD-8BA2EADCC939}"/>
              </a:ext>
            </a:extLst>
          </p:cNvPr>
          <p:cNvSpPr/>
          <p:nvPr/>
        </p:nvSpPr>
        <p:spPr>
          <a:xfrm>
            <a:off x="889000" y="4597400"/>
            <a:ext cx="1651000" cy="685800"/>
          </a:xfrm>
          <a:prstGeom prst="rect">
            <a:avLst/>
          </a:prstGeom>
          <a:solidFill>
            <a:srgbClr val="E8EFF6"/>
          </a:solidFill>
          <a:ln w="12700" cap="flat" cmpd="sng" algn="ctr">
            <a:solidFill>
              <a:srgbClr val="B9C4D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C6965699-9D3B-FE4A-B58C-816D4FE31EAB}"/>
              </a:ext>
            </a:extLst>
          </p:cNvPr>
          <p:cNvSpPr txBox="1"/>
          <p:nvPr/>
        </p:nvSpPr>
        <p:spPr>
          <a:xfrm>
            <a:off x="1155700" y="4826000"/>
            <a:ext cx="11176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200" b="1">
                <a:solidFill>
                  <a:srgbClr val="34445A"/>
                </a:solidFill>
                <a:latin typeface="Aptos"/>
              </a:rPr>
              <a:t>HTTP JSON</a:t>
            </a:r>
          </a:p>
        </p:txBody>
      </p:sp>
      <p:sp>
        <p:nvSpPr>
          <p:cNvPr id="64" name="Flecha derecha 63">
            <a:extLst>
              <a:ext uri="{FF2B5EF4-FFF2-40B4-BE49-F238E27FC236}">
                <a16:creationId xmlns:a16="http://schemas.microsoft.com/office/drawing/2014/main" id="{F6820E5D-6757-9F4C-8815-4F2B7FF9D59B}"/>
              </a:ext>
            </a:extLst>
          </p:cNvPr>
          <p:cNvSpPr/>
          <p:nvPr/>
        </p:nvSpPr>
        <p:spPr>
          <a:xfrm>
            <a:off x="2743200" y="4762500"/>
            <a:ext cx="762000" cy="355600"/>
          </a:xfrm>
          <a:prstGeom prst="rightArrow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E9003A07-F8AA-5440-BA95-BCFB2C70EC1F}"/>
              </a:ext>
            </a:extLst>
          </p:cNvPr>
          <p:cNvSpPr/>
          <p:nvPr/>
        </p:nvSpPr>
        <p:spPr>
          <a:xfrm>
            <a:off x="3733800" y="4470400"/>
            <a:ext cx="2032000" cy="939800"/>
          </a:xfrm>
          <a:prstGeom prst="rect">
            <a:avLst/>
          </a:prstGeom>
          <a:solidFill>
            <a:srgbClr val="DDF5F7"/>
          </a:solidFill>
          <a:ln w="19050" cap="flat" cmpd="sng" algn="ctr">
            <a:solidFill>
              <a:srgbClr val="00A6B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64200A63-6D37-F049-B9D1-9AA98E20BB3E}"/>
              </a:ext>
            </a:extLst>
          </p:cNvPr>
          <p:cNvSpPr txBox="1"/>
          <p:nvPr/>
        </p:nvSpPr>
        <p:spPr>
          <a:xfrm>
            <a:off x="4140200" y="4686300"/>
            <a:ext cx="12446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400" b="1">
                <a:solidFill>
                  <a:srgbClr val="078E98"/>
                </a:solidFill>
                <a:latin typeface="Aptos"/>
              </a:rPr>
              <a:t>Invoice
Pydantic</a:t>
            </a:r>
          </a:p>
        </p:txBody>
      </p:sp>
      <p:sp>
        <p:nvSpPr>
          <p:cNvPr id="67" name="Flecha derecha 66">
            <a:extLst>
              <a:ext uri="{FF2B5EF4-FFF2-40B4-BE49-F238E27FC236}">
                <a16:creationId xmlns:a16="http://schemas.microsoft.com/office/drawing/2014/main" id="{144BF3B2-67AB-A245-B3BB-53E64662C765}"/>
              </a:ext>
            </a:extLst>
          </p:cNvPr>
          <p:cNvSpPr/>
          <p:nvPr/>
        </p:nvSpPr>
        <p:spPr>
          <a:xfrm>
            <a:off x="6019800" y="4762500"/>
            <a:ext cx="762000" cy="355600"/>
          </a:xfrm>
          <a:prstGeom prst="rightArrow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C16CA872-A579-434E-8FDA-93D191DDB9AA}"/>
              </a:ext>
            </a:extLst>
          </p:cNvPr>
          <p:cNvSpPr/>
          <p:nvPr/>
        </p:nvSpPr>
        <p:spPr>
          <a:xfrm>
            <a:off x="7010400" y="4597400"/>
            <a:ext cx="1778000" cy="685800"/>
          </a:xfrm>
          <a:prstGeom prst="rect">
            <a:avLst/>
          </a:prstGeom>
          <a:solidFill>
            <a:srgbClr val="E4F6EF"/>
          </a:solidFill>
          <a:ln w="12700" cap="flat" cmpd="sng" algn="ctr">
            <a:solidFill>
              <a:srgbClr val="17A673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7D4B1ACC-E9D5-5B47-8597-A2301EFC9D12}"/>
              </a:ext>
            </a:extLst>
          </p:cNvPr>
          <p:cNvSpPr txBox="1"/>
          <p:nvPr/>
        </p:nvSpPr>
        <p:spPr>
          <a:xfrm>
            <a:off x="7488464" y="4724400"/>
            <a:ext cx="821871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200" b="1">
                <a:solidFill>
                  <a:srgbClr val="17A673"/>
                </a:solidFill>
                <a:latin typeface="Aptos"/>
              </a:rPr>
              <a:t>Servicio
dominio</a:t>
            </a:r>
          </a:p>
        </p:txBody>
      </p:sp>
      <p:sp>
        <p:nvSpPr>
          <p:cNvPr id="70" name="Flecha derecha 69">
            <a:extLst>
              <a:ext uri="{FF2B5EF4-FFF2-40B4-BE49-F238E27FC236}">
                <a16:creationId xmlns:a16="http://schemas.microsoft.com/office/drawing/2014/main" id="{333921B7-CC07-A640-B827-E56BD268D802}"/>
              </a:ext>
            </a:extLst>
          </p:cNvPr>
          <p:cNvSpPr/>
          <p:nvPr/>
        </p:nvSpPr>
        <p:spPr>
          <a:xfrm>
            <a:off x="9042400" y="4762500"/>
            <a:ext cx="762000" cy="355600"/>
          </a:xfrm>
          <a:prstGeom prst="rightArrow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CBDE2BCA-CBD1-7F4C-81E0-E62BD0B0C568}"/>
              </a:ext>
            </a:extLst>
          </p:cNvPr>
          <p:cNvSpPr/>
          <p:nvPr/>
        </p:nvSpPr>
        <p:spPr>
          <a:xfrm>
            <a:off x="10033000" y="4597400"/>
            <a:ext cx="1397000" cy="685800"/>
          </a:xfrm>
          <a:prstGeom prst="rect">
            <a:avLst/>
          </a:prstGeom>
          <a:solidFill>
            <a:srgbClr val="F1DCEB"/>
          </a:solidFill>
          <a:ln w="12700" cap="flat" cmpd="sng" algn="ctr">
            <a:solidFill>
              <a:srgbClr val="B35A9D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E57CF387-DBCD-0142-ABD7-A6713E19B027}"/>
              </a:ext>
            </a:extLst>
          </p:cNvPr>
          <p:cNvSpPr txBox="1"/>
          <p:nvPr/>
        </p:nvSpPr>
        <p:spPr>
          <a:xfrm>
            <a:off x="10325100" y="4826000"/>
            <a:ext cx="8255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200" b="1" dirty="0" err="1">
                <a:solidFill>
                  <a:srgbClr val="B35A9D"/>
                </a:solidFill>
                <a:latin typeface="Aptos"/>
              </a:rPr>
              <a:t>OpenAPI</a:t>
            </a:r>
            <a:endParaRPr lang="es-US" sz="1200" b="1" dirty="0">
              <a:solidFill>
                <a:srgbClr val="B35A9D"/>
              </a:solidFill>
              <a:latin typeface="Aptos"/>
            </a:endParaRP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76B4BB0E-6794-CE4B-84F3-08BAB9F92022}"/>
              </a:ext>
            </a:extLst>
          </p:cNvPr>
          <p:cNvSpPr/>
          <p:nvPr/>
        </p:nvSpPr>
        <p:spPr>
          <a:xfrm>
            <a:off x="7048500" y="1600200"/>
            <a:ext cx="4381500" cy="1066800"/>
          </a:xfrm>
          <a:prstGeom prst="rect">
            <a:avLst/>
          </a:prstGeom>
          <a:solidFill>
            <a:srgbClr val="FFFFFF"/>
          </a:solidFill>
          <a:ln w="15240" cap="flat" cmpd="sng" algn="ctr">
            <a:solidFill>
              <a:srgbClr val="00A6B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C5B12C47-4E46-BF49-BE0B-A96E65AA35F9}"/>
              </a:ext>
            </a:extLst>
          </p:cNvPr>
          <p:cNvSpPr/>
          <p:nvPr/>
        </p:nvSpPr>
        <p:spPr>
          <a:xfrm>
            <a:off x="7048499" y="1600200"/>
            <a:ext cx="113071" cy="10668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53CFBA5B-2424-674C-A699-66A90A622FCE}"/>
              </a:ext>
            </a:extLst>
          </p:cNvPr>
          <p:cNvSpPr txBox="1"/>
          <p:nvPr/>
        </p:nvSpPr>
        <p:spPr>
          <a:xfrm>
            <a:off x="7251700" y="1752600"/>
            <a:ext cx="3985752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320" b="1">
                <a:solidFill>
                  <a:srgbClr val="00A6B0"/>
                </a:solidFill>
                <a:latin typeface="Aptos"/>
              </a:rPr>
              <a:t>Beneficio operativo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6D894BD9-5314-1E49-B95B-39C8638A876E}"/>
              </a:ext>
            </a:extLst>
          </p:cNvPr>
          <p:cNvSpPr txBox="1"/>
          <p:nvPr/>
        </p:nvSpPr>
        <p:spPr>
          <a:xfrm>
            <a:off x="7251700" y="2108200"/>
            <a:ext cx="3985752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980" dirty="0">
                <a:solidFill>
                  <a:srgbClr val="3D4B5F"/>
                </a:solidFill>
                <a:latin typeface="Aptos"/>
              </a:rPr>
              <a:t>El mismo contrato valida entradas, documenta el </a:t>
            </a:r>
            <a:r>
              <a:rPr lang="es-US" sz="980" dirty="0" err="1">
                <a:solidFill>
                  <a:srgbClr val="3D4B5F"/>
                </a:solidFill>
                <a:latin typeface="Aptos"/>
              </a:rPr>
              <a:t>endpoint</a:t>
            </a:r>
            <a:r>
              <a:rPr lang="es-US" sz="980" dirty="0">
                <a:solidFill>
                  <a:srgbClr val="3D4B5F"/>
                </a:solidFill>
                <a:latin typeface="Aptos"/>
              </a:rPr>
              <a:t> y serializa respuestas.</a:t>
            </a: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10A34392-8CD1-A842-9D8A-1ED5829CEF45}"/>
              </a:ext>
            </a:extLst>
          </p:cNvPr>
          <p:cNvSpPr/>
          <p:nvPr/>
        </p:nvSpPr>
        <p:spPr>
          <a:xfrm>
            <a:off x="7048500" y="2921000"/>
            <a:ext cx="4381500" cy="1066800"/>
          </a:xfrm>
          <a:prstGeom prst="rect">
            <a:avLst/>
          </a:prstGeom>
          <a:solidFill>
            <a:srgbClr val="FFFFFF"/>
          </a:solidFill>
          <a:ln w="15240" cap="flat" cmpd="sng" algn="ctr">
            <a:solidFill>
              <a:srgbClr val="B35A9D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CEDEDF1A-92C4-AE43-AC77-0ABF3921409A}"/>
              </a:ext>
            </a:extLst>
          </p:cNvPr>
          <p:cNvSpPr/>
          <p:nvPr/>
        </p:nvSpPr>
        <p:spPr>
          <a:xfrm>
            <a:off x="7048499" y="2921000"/>
            <a:ext cx="113071" cy="1066800"/>
          </a:xfrm>
          <a:prstGeom prst="rect">
            <a:avLst/>
          </a:prstGeom>
          <a:solidFill>
            <a:srgbClr val="B35A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9369317E-EECF-414C-B7D6-1504D774A444}"/>
              </a:ext>
            </a:extLst>
          </p:cNvPr>
          <p:cNvSpPr txBox="1"/>
          <p:nvPr/>
        </p:nvSpPr>
        <p:spPr>
          <a:xfrm>
            <a:off x="7251700" y="3073400"/>
            <a:ext cx="3985752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320" b="1">
                <a:solidFill>
                  <a:srgbClr val="B35A9D"/>
                </a:solidFill>
                <a:latin typeface="Aptos"/>
              </a:rPr>
              <a:t>Ubicación correcta</a:t>
            </a: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DE07770F-FC65-264C-926F-2A73BE1AB898}"/>
              </a:ext>
            </a:extLst>
          </p:cNvPr>
          <p:cNvSpPr txBox="1"/>
          <p:nvPr/>
        </p:nvSpPr>
        <p:spPr>
          <a:xfrm>
            <a:off x="7251700" y="3429000"/>
            <a:ext cx="3985752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980" dirty="0">
                <a:solidFill>
                  <a:srgbClr val="3D4B5F"/>
                </a:solidFill>
                <a:latin typeface="Aptos"/>
              </a:rPr>
              <a:t>El modelo pertenece al punto de entrada del sistema; la lógica de negocio recibe objetos validados, no </a:t>
            </a:r>
            <a:r>
              <a:rPr lang="es-US" sz="980" dirty="0" err="1">
                <a:solidFill>
                  <a:srgbClr val="3D4B5F"/>
                </a:solidFill>
                <a:latin typeface="Aptos"/>
              </a:rPr>
              <a:t>dicts</a:t>
            </a:r>
            <a:r>
              <a:rPr lang="es-US" sz="980" dirty="0">
                <a:solidFill>
                  <a:srgbClr val="3D4B5F"/>
                </a:solidFill>
                <a:latin typeface="Aptos"/>
              </a:rPr>
              <a:t> crudos.</a:t>
            </a: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A87B6DC9-7F1D-A141-B416-2A94209BE854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630">
                <a:solidFill>
                  <a:srgbClr val="8A94A4"/>
                </a:solidFill>
                <a:latin typeface="Aptos"/>
              </a:rPr>
              <a:t>Fuente: fastapi.tiangolo.com · Request body, response_model y OpenAPI.</a:t>
            </a:r>
          </a:p>
        </p:txBody>
      </p:sp>
    </p:spTree>
    <p:extLst>
      <p:ext uri="{BB962C8B-B14F-4D97-AF65-F5344CB8AC3E}">
        <p14:creationId xmlns:p14="http://schemas.microsoft.com/office/powerpoint/2010/main" val="2131833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7EC30-6CD5-F6FE-58A2-77DBC25A7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uadroTexto 55">
            <a:extLst>
              <a:ext uri="{FF2B5EF4-FFF2-40B4-BE49-F238E27FC236}">
                <a16:creationId xmlns:a16="http://schemas.microsoft.com/office/drawing/2014/main" id="{AE36108A-C7BD-F7F9-FACE-3AC8CBC21F57}"/>
              </a:ext>
            </a:extLst>
          </p:cNvPr>
          <p:cNvSpPr txBox="1"/>
          <p:nvPr/>
        </p:nvSpPr>
        <p:spPr>
          <a:xfrm>
            <a:off x="609600" y="304800"/>
            <a:ext cx="11049000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1900" b="1">
                <a:solidFill>
                  <a:srgbClr val="2D3B4F"/>
                </a:solidFill>
                <a:latin typeface="Aptos Display"/>
              </a:rPr>
              <a:t>Pydantic en MAF: tools tipadas y structured responses</a:t>
            </a:r>
            <a:endParaRPr lang="es-US" sz="1900" b="1" dirty="0">
              <a:solidFill>
                <a:srgbClr val="2D3B4F"/>
              </a:solidFill>
              <a:latin typeface="Aptos Display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9F1A9317-1529-83E7-A678-432AA8F97004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16B6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3898390B-F4B8-3B11-FD62-950BEB0F3E66}"/>
              </a:ext>
            </a:extLst>
          </p:cNvPr>
          <p:cNvSpPr txBox="1"/>
          <p:nvPr/>
        </p:nvSpPr>
        <p:spPr>
          <a:xfrm>
            <a:off x="609600" y="990600"/>
            <a:ext cx="10922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960" b="1">
                <a:solidFill>
                  <a:srgbClr val="718096"/>
                </a:solidFill>
                <a:latin typeface="Aptos"/>
              </a:rPr>
              <a:t>En Microsoft Agent Framework, Pydantic aporta metadata y validación en dos puntos críticos del agente: parámetros de tools y estructura final de respuesta.</a:t>
            </a:r>
            <a:endParaRPr lang="es-US" sz="960" b="1" dirty="0">
              <a:solidFill>
                <a:srgbClr val="718096"/>
              </a:solidFill>
              <a:latin typeface="Aptos"/>
            </a:endParaRP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97BC1906-1F96-A161-EC8C-243811D96167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550">
                <a:solidFill>
                  <a:srgbClr val="9AA4B2"/>
                </a:solidFill>
                <a:latin typeface="Aptos"/>
              </a:rPr>
              <a:t>MAF: tools tipadas, structured responses y contrato Pydantic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1768037-5FC9-1A48-A1CC-73AD7E3B84AD}"/>
              </a:ext>
            </a:extLst>
          </p:cNvPr>
          <p:cNvSpPr/>
          <p:nvPr/>
        </p:nvSpPr>
        <p:spPr>
          <a:xfrm>
            <a:off x="711200" y="1600200"/>
            <a:ext cx="5054600" cy="3987800"/>
          </a:xfrm>
          <a:prstGeom prst="rect">
            <a:avLst/>
          </a:prstGeom>
          <a:solidFill>
            <a:srgbClr val="F6FAFD"/>
          </a:solidFill>
          <a:ln w="13970" cap="flat" cmpd="sng" algn="ctr">
            <a:solidFill>
              <a:srgbClr val="16B6C8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8D59318-A931-C14C-A35C-56C1D5DDD40F}"/>
              </a:ext>
            </a:extLst>
          </p:cNvPr>
          <p:cNvSpPr/>
          <p:nvPr/>
        </p:nvSpPr>
        <p:spPr>
          <a:xfrm>
            <a:off x="711200" y="1600200"/>
            <a:ext cx="101600" cy="3987800"/>
          </a:xfrm>
          <a:prstGeom prst="rect">
            <a:avLst/>
          </a:prstGeom>
          <a:solidFill>
            <a:srgbClr val="16B6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05D3521-84C7-534E-BB49-238024F62C28}"/>
              </a:ext>
            </a:extLst>
          </p:cNvPr>
          <p:cNvSpPr/>
          <p:nvPr/>
        </p:nvSpPr>
        <p:spPr>
          <a:xfrm>
            <a:off x="6400800" y="1600200"/>
            <a:ext cx="5054600" cy="3987800"/>
          </a:xfrm>
          <a:prstGeom prst="rect">
            <a:avLst/>
          </a:prstGeom>
          <a:solidFill>
            <a:srgbClr val="F6FAFD"/>
          </a:solidFill>
          <a:ln w="13970" cap="flat" cmpd="sng" algn="ctr">
            <a:solidFill>
              <a:srgbClr val="D25AA8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5313C16-BF63-BC4D-8041-C672DBD73450}"/>
              </a:ext>
            </a:extLst>
          </p:cNvPr>
          <p:cNvSpPr/>
          <p:nvPr/>
        </p:nvSpPr>
        <p:spPr>
          <a:xfrm>
            <a:off x="6400800" y="1600200"/>
            <a:ext cx="101600" cy="3987800"/>
          </a:xfrm>
          <a:prstGeom prst="rect">
            <a:avLst/>
          </a:prstGeom>
          <a:solidFill>
            <a:srgbClr val="D25A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DB9D9BE-CA5D-174E-9F45-E6F50F75A624}"/>
              </a:ext>
            </a:extLst>
          </p:cNvPr>
          <p:cNvSpPr txBox="1"/>
          <p:nvPr/>
        </p:nvSpPr>
        <p:spPr>
          <a:xfrm>
            <a:off x="1016000" y="1816100"/>
            <a:ext cx="4191000" cy="2921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s-US" sz="1500" b="1">
                <a:solidFill>
                  <a:srgbClr val="16B6C8"/>
                </a:solidFill>
                <a:latin typeface="Aptos Display"/>
              </a:rPr>
              <a:t>Tools tipadas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8CA993C-949E-C04D-AC3F-434C532D47E6}"/>
              </a:ext>
            </a:extLst>
          </p:cNvPr>
          <p:cNvSpPr txBox="1"/>
          <p:nvPr/>
        </p:nvSpPr>
        <p:spPr>
          <a:xfrm>
            <a:off x="1016000" y="2222500"/>
            <a:ext cx="43688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S" sz="980" b="1" dirty="0">
                <a:solidFill>
                  <a:srgbClr val="667085"/>
                </a:solidFill>
                <a:latin typeface="Aptos"/>
              </a:rPr>
              <a:t>Field(</a:t>
            </a:r>
            <a:r>
              <a:rPr lang="es-US" sz="980" b="1" dirty="0" err="1">
                <a:solidFill>
                  <a:srgbClr val="667085"/>
                </a:solidFill>
                <a:latin typeface="Aptos"/>
              </a:rPr>
              <a:t>description</a:t>
            </a:r>
            <a:r>
              <a:rPr lang="es-US" sz="980" b="1" dirty="0">
                <a:solidFill>
                  <a:srgbClr val="667085"/>
                </a:solidFill>
                <a:latin typeface="Aptos"/>
              </a:rPr>
              <a:t>=...) describe parámetros de </a:t>
            </a:r>
            <a:r>
              <a:rPr lang="es-US" sz="980" b="1" dirty="0" err="1">
                <a:solidFill>
                  <a:srgbClr val="667085"/>
                </a:solidFill>
                <a:latin typeface="Aptos"/>
              </a:rPr>
              <a:t>tools</a:t>
            </a:r>
            <a:r>
              <a:rPr lang="es-US" sz="980" b="1" dirty="0">
                <a:solidFill>
                  <a:srgbClr val="667085"/>
                </a:solidFill>
                <a:latin typeface="Aptos"/>
              </a:rPr>
              <a:t> para que el modelo entienda qué valor debe enviar.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ACCA14D-2F61-164D-8B58-BA7E5C1A9EE3}"/>
              </a:ext>
            </a:extLst>
          </p:cNvPr>
          <p:cNvSpPr txBox="1"/>
          <p:nvPr/>
        </p:nvSpPr>
        <p:spPr>
          <a:xfrm>
            <a:off x="6705600" y="1816100"/>
            <a:ext cx="4191000" cy="2921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s-US" sz="1500" b="1">
                <a:solidFill>
                  <a:srgbClr val="D25AA8"/>
                </a:solidFill>
                <a:latin typeface="Aptos Display"/>
              </a:rPr>
              <a:t>Structured responses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B3414A9-60DF-B04E-882D-7D433B57CC77}"/>
              </a:ext>
            </a:extLst>
          </p:cNvPr>
          <p:cNvSpPr txBox="1"/>
          <p:nvPr/>
        </p:nvSpPr>
        <p:spPr>
          <a:xfrm>
            <a:off x="6705600" y="2222500"/>
            <a:ext cx="43688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S" sz="980" b="1">
                <a:solidFill>
                  <a:srgbClr val="667085"/>
                </a:solidFill>
                <a:latin typeface="Aptos"/>
              </a:rPr>
              <a:t>response_format=InvoiceAnalysis define la forma esperada de la salida final del agente.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2AD1999-1C00-2A48-915F-C8F709375DD3}"/>
              </a:ext>
            </a:extLst>
          </p:cNvPr>
          <p:cNvSpPr/>
          <p:nvPr/>
        </p:nvSpPr>
        <p:spPr>
          <a:xfrm>
            <a:off x="1016000" y="2819400"/>
            <a:ext cx="4445000" cy="1524000"/>
          </a:xfrm>
          <a:prstGeom prst="rect">
            <a:avLst/>
          </a:prstGeom>
          <a:solidFill>
            <a:srgbClr val="172333"/>
          </a:solidFill>
          <a:ln w="9525" cap="flat" cmpd="sng" algn="ctr">
            <a:solidFill>
              <a:srgbClr val="16B6C8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33F5430-F2AC-9D4C-A341-32214A3C8B17}"/>
              </a:ext>
            </a:extLst>
          </p:cNvPr>
          <p:cNvSpPr txBox="1"/>
          <p:nvPr/>
        </p:nvSpPr>
        <p:spPr>
          <a:xfrm>
            <a:off x="1168400" y="2946400"/>
            <a:ext cx="4140200" cy="1270000"/>
          </a:xfrm>
          <a:prstGeom prst="rect">
            <a:avLst/>
          </a:prstGeom>
          <a:noFill/>
        </p:spPr>
        <p:txBody>
          <a:bodyPr vertOverflow="overflow" vert="horz" wrap="none" rtlCol="0" anchor="t">
            <a:normAutofit/>
          </a:bodyPr>
          <a:lstStyle/>
          <a:p>
            <a:pPr algn="l"/>
            <a:r>
              <a:rPr lang="es-US" sz="780" b="1">
                <a:solidFill>
                  <a:srgbClr val="E8EEF6"/>
                </a:solidFill>
                <a:latin typeface="Consolas"/>
                <a:cs typeface="Consolas"/>
              </a:rPr>
              <a:t>@tool(name="get_current_time")
def get_current_time(
    timezone: Annotated[
        str,
        Field(description="Zona horaria IANA.")
    ] = "America/Lima",
) -&gt; str: ...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C6783D2-E5FF-774F-9388-C00ADBBAE391}"/>
              </a:ext>
            </a:extLst>
          </p:cNvPr>
          <p:cNvSpPr/>
          <p:nvPr/>
        </p:nvSpPr>
        <p:spPr>
          <a:xfrm>
            <a:off x="6705600" y="2819400"/>
            <a:ext cx="4445000" cy="1524000"/>
          </a:xfrm>
          <a:prstGeom prst="rect">
            <a:avLst/>
          </a:prstGeom>
          <a:solidFill>
            <a:srgbClr val="172333"/>
          </a:solidFill>
          <a:ln w="9525" cap="flat" cmpd="sng" algn="ctr">
            <a:solidFill>
              <a:srgbClr val="D25AA8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EF9EB07-C105-C841-AE0D-297060A94866}"/>
              </a:ext>
            </a:extLst>
          </p:cNvPr>
          <p:cNvSpPr txBox="1"/>
          <p:nvPr/>
        </p:nvSpPr>
        <p:spPr>
          <a:xfrm>
            <a:off x="6858000" y="2997200"/>
            <a:ext cx="4140200" cy="1168400"/>
          </a:xfrm>
          <a:prstGeom prst="rect">
            <a:avLst/>
          </a:prstGeom>
          <a:noFill/>
        </p:spPr>
        <p:txBody>
          <a:bodyPr vertOverflow="overflow" vert="horz" wrap="none" rtlCol="0" anchor="t">
            <a:normAutofit/>
          </a:bodyPr>
          <a:lstStyle/>
          <a:p>
            <a:pPr algn="l"/>
            <a:r>
              <a:rPr lang="es-US" sz="810" b="1">
                <a:solidFill>
                  <a:srgbClr val="E8EEF6"/>
                </a:solidFill>
                <a:latin typeface="Consolas"/>
                <a:cs typeface="Consolas"/>
              </a:rPr>
              <a:t>response = await agent.run(
    invoice_text,
    options={
        "response_format": InvoiceAnalysis
    },
)
analysis = response.value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6A53A04-C7A8-0C47-8A97-731E23AF8011}"/>
              </a:ext>
            </a:extLst>
          </p:cNvPr>
          <p:cNvSpPr txBox="1"/>
          <p:nvPr/>
        </p:nvSpPr>
        <p:spPr>
          <a:xfrm>
            <a:off x="1016000" y="4470400"/>
            <a:ext cx="4368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S" sz="860" b="1">
                <a:solidFill>
                  <a:srgbClr val="314055"/>
                </a:solidFill>
                <a:latin typeface="Aptos"/>
              </a:rPr>
              <a:t>La tool no expone solo una función Python; expone un contrato interpretable por el agente.</a:t>
            </a:r>
            <a:endParaRPr lang="es-US" sz="860" b="1" dirty="0">
              <a:solidFill>
                <a:srgbClr val="314055"/>
              </a:solidFill>
              <a:latin typeface="Aptos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1586F01-396C-2B43-B36C-B6500684B084}"/>
              </a:ext>
            </a:extLst>
          </p:cNvPr>
          <p:cNvSpPr txBox="1"/>
          <p:nvPr/>
        </p:nvSpPr>
        <p:spPr>
          <a:xfrm>
            <a:off x="6705600" y="4528457"/>
            <a:ext cx="2184400" cy="221343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S" sz="860" b="1">
                <a:solidFill>
                  <a:srgbClr val="314055"/>
                </a:solidFill>
                <a:latin typeface="Aptos"/>
              </a:rPr>
              <a:t>La aplicación no consume texto libre; consume un objeto estructurado y validado.</a:t>
            </a:r>
            <a:endParaRPr lang="es-US" sz="860" b="1" dirty="0">
              <a:solidFill>
                <a:srgbClr val="314055"/>
              </a:solidFill>
              <a:latin typeface="Aptos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134D0B7B-109E-6A41-A8A3-48562489677F}"/>
              </a:ext>
            </a:extLst>
          </p:cNvPr>
          <p:cNvSpPr/>
          <p:nvPr/>
        </p:nvSpPr>
        <p:spPr>
          <a:xfrm>
            <a:off x="1168400" y="5778500"/>
            <a:ext cx="9855200" cy="482600"/>
          </a:xfrm>
          <a:prstGeom prst="rect">
            <a:avLst/>
          </a:prstGeom>
          <a:solidFill>
            <a:srgbClr val="2532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6D22CE7B-5330-C940-9289-BDD88CFD7489}"/>
              </a:ext>
            </a:extLst>
          </p:cNvPr>
          <p:cNvSpPr/>
          <p:nvPr/>
        </p:nvSpPr>
        <p:spPr>
          <a:xfrm>
            <a:off x="1168400" y="5778500"/>
            <a:ext cx="101600" cy="482600"/>
          </a:xfrm>
          <a:prstGeom prst="rect">
            <a:avLst/>
          </a:prstGeom>
          <a:solidFill>
            <a:srgbClr val="C653A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33A6CE8-40EE-C647-AEFC-505F857B72DF}"/>
              </a:ext>
            </a:extLst>
          </p:cNvPr>
          <p:cNvSpPr txBox="1"/>
          <p:nvPr/>
        </p:nvSpPr>
        <p:spPr>
          <a:xfrm>
            <a:off x="1498600" y="5918200"/>
            <a:ext cx="9144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s-US" sz="1050" b="1">
                <a:solidFill>
                  <a:srgbClr val="FFFFFF"/>
                </a:solidFill>
                <a:latin typeface="Aptos"/>
              </a:rPr>
              <a:t>Mensaje clave: Pydantic funciona como contrato entre el agente, las tools y el código determinístico.</a:t>
            </a:r>
          </a:p>
        </p:txBody>
      </p:sp>
    </p:spTree>
    <p:extLst>
      <p:ext uri="{BB962C8B-B14F-4D97-AF65-F5344CB8AC3E}">
        <p14:creationId xmlns:p14="http://schemas.microsoft.com/office/powerpoint/2010/main" val="3690418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89AD1-53FC-F5AB-458B-4B00658B7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47CD1AC-50C9-E144-B8DA-7D54A6ADAC1F}"/>
              </a:ext>
            </a:extLst>
          </p:cNvPr>
          <p:cNvSpPr txBox="1"/>
          <p:nvPr/>
        </p:nvSpPr>
        <p:spPr>
          <a:xfrm>
            <a:off x="609600" y="304800"/>
            <a:ext cx="10795000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2000" b="1">
                <a:solidFill>
                  <a:srgbClr val="2D3B4F"/>
                </a:solidFill>
                <a:latin typeface="Aptos Display"/>
              </a:rPr>
              <a:t>Demo: agente + tool + contrato Pydantic</a:t>
            </a:r>
            <a:endParaRPr lang="es-US" sz="2000" b="1" dirty="0">
              <a:solidFill>
                <a:srgbClr val="2D3B4F"/>
              </a:solidFill>
              <a:latin typeface="Aptos Display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4A42F287-7835-154E-9D59-4211A54CAF76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16B6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07263755-8108-CF49-9F59-A17506DD7658}"/>
              </a:ext>
            </a:extLst>
          </p:cNvPr>
          <p:cNvSpPr txBox="1"/>
          <p:nvPr/>
        </p:nvSpPr>
        <p:spPr>
          <a:xfrm>
            <a:off x="609600" y="990600"/>
            <a:ext cx="10922000" cy="406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1050" b="1">
                <a:solidFill>
                  <a:srgbClr val="718096"/>
                </a:solidFill>
                <a:latin typeface="Aptos"/>
              </a:rPr>
              <a:t>Un agente procesa texto de factura, usa una tool de hora y devuelve InvoiceAnalysis como structured output validado.</a:t>
            </a:r>
            <a:endParaRPr lang="es-US" sz="1050" b="1" dirty="0">
              <a:solidFill>
                <a:srgbClr val="718096"/>
              </a:solidFill>
              <a:latin typeface="Aptos"/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3B0F4779-2FB2-6F45-86A8-4F8DFFA64B74}"/>
              </a:ext>
            </a:extLst>
          </p:cNvPr>
          <p:cNvSpPr txBox="1"/>
          <p:nvPr/>
        </p:nvSpPr>
        <p:spPr>
          <a:xfrm>
            <a:off x="736600" y="1473200"/>
            <a:ext cx="3302000" cy="1778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50" b="1">
                <a:solidFill>
                  <a:srgbClr val="D25AA8"/>
                </a:solidFill>
                <a:latin typeface="Aptos"/>
              </a:rPr>
              <a:t>FLUJO PRINCIPAL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8387BB5D-249D-8145-82F2-FAC6C6CBDF53}"/>
              </a:ext>
            </a:extLst>
          </p:cNvPr>
          <p:cNvSpPr/>
          <p:nvPr/>
        </p:nvSpPr>
        <p:spPr>
          <a:xfrm>
            <a:off x="609600" y="1701800"/>
            <a:ext cx="5969000" cy="3860800"/>
          </a:xfrm>
          <a:prstGeom prst="rect">
            <a:avLst/>
          </a:prstGeom>
          <a:solidFill>
            <a:srgbClr val="172333"/>
          </a:solidFill>
          <a:ln w="12700" cap="flat" cmpd="sng" algn="ctr">
            <a:solidFill>
              <a:srgbClr val="D25AA8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A50A32CA-0A83-D84C-90B8-98F8ADC17360}"/>
              </a:ext>
            </a:extLst>
          </p:cNvPr>
          <p:cNvSpPr txBox="1"/>
          <p:nvPr/>
        </p:nvSpPr>
        <p:spPr>
          <a:xfrm>
            <a:off x="863600" y="58166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950" b="1">
                <a:solidFill>
                  <a:srgbClr val="314055"/>
                </a:solidFill>
                <a:latin typeface="Aptos"/>
              </a:rPr>
              <a:t>Mensaje clave: El agente puede producir lenguaje o structured output, pero la aplicación debería operar sobre objetos validados.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A28AC3DB-4B29-1B40-8F81-C007E3D933B6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550">
                <a:solidFill>
                  <a:srgbClr val="9AA4B2"/>
                </a:solidFill>
                <a:latin typeface="Aptos"/>
              </a:rPr>
              <a:t>Demo: agente + tool + contrato Pydantic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D3D2CDC-F8CA-BB40-85AC-C5EFF4E39E09}"/>
              </a:ext>
            </a:extLst>
          </p:cNvPr>
          <p:cNvSpPr/>
          <p:nvPr/>
        </p:nvSpPr>
        <p:spPr>
          <a:xfrm>
            <a:off x="965200" y="1981200"/>
            <a:ext cx="5257800" cy="381000"/>
          </a:xfrm>
          <a:prstGeom prst="rect">
            <a:avLst/>
          </a:prstGeom>
          <a:solidFill>
            <a:srgbClr val="F5F8FB"/>
          </a:solidFill>
          <a:ln w="9525" cap="flat" cmpd="sng" algn="ctr">
            <a:solidFill>
              <a:srgbClr val="B7E3EA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US" sz="850" b="1">
                <a:solidFill>
                  <a:srgbClr val="314055"/>
                </a:solidFill>
                <a:latin typeface="Aptos"/>
              </a:rPr>
              <a:t>Texto de factura</a:t>
            </a:r>
            <a:endParaRPr lang="es-US" sz="850" b="1" dirty="0" err="1">
              <a:solidFill>
                <a:srgbClr val="314055"/>
              </a:solidFill>
              <a:latin typeface="Apto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964B58C-DD8F-BB41-B854-80DF9A5DC6E7}"/>
              </a:ext>
            </a:extLst>
          </p:cNvPr>
          <p:cNvSpPr/>
          <p:nvPr/>
        </p:nvSpPr>
        <p:spPr>
          <a:xfrm>
            <a:off x="965200" y="1981200"/>
            <a:ext cx="76200" cy="381000"/>
          </a:xfrm>
          <a:prstGeom prst="rect">
            <a:avLst/>
          </a:prstGeom>
          <a:solidFill>
            <a:srgbClr val="D25A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" name="Flecha abajo 5">
            <a:extLst>
              <a:ext uri="{FF2B5EF4-FFF2-40B4-BE49-F238E27FC236}">
                <a16:creationId xmlns:a16="http://schemas.microsoft.com/office/drawing/2014/main" id="{ABF9A886-CB23-4041-B543-14E51B15AF95}"/>
              </a:ext>
            </a:extLst>
          </p:cNvPr>
          <p:cNvSpPr/>
          <p:nvPr/>
        </p:nvSpPr>
        <p:spPr>
          <a:xfrm>
            <a:off x="3505200" y="2360385"/>
            <a:ext cx="177800" cy="152400"/>
          </a:xfrm>
          <a:prstGeom prst="downArrow">
            <a:avLst/>
          </a:prstGeom>
          <a:solidFill>
            <a:srgbClr val="16B6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9EC6B54-5B29-3640-82AB-E5F1A16C1DF9}"/>
              </a:ext>
            </a:extLst>
          </p:cNvPr>
          <p:cNvSpPr/>
          <p:nvPr/>
        </p:nvSpPr>
        <p:spPr>
          <a:xfrm>
            <a:off x="965200" y="2527300"/>
            <a:ext cx="5257800" cy="381000"/>
          </a:xfrm>
          <a:prstGeom prst="rect">
            <a:avLst/>
          </a:prstGeom>
          <a:solidFill>
            <a:srgbClr val="F5F8FB"/>
          </a:solidFill>
          <a:ln w="9525" cap="flat" cmpd="sng" algn="ctr">
            <a:solidFill>
              <a:srgbClr val="B7E3EA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US" sz="850" b="1">
                <a:solidFill>
                  <a:srgbClr val="314055"/>
                </a:solidFill>
                <a:latin typeface="Aptos"/>
              </a:rPr>
              <a:t>Microsoft Agent Framework</a:t>
            </a:r>
            <a:endParaRPr lang="es-US" sz="850" b="1" dirty="0" err="1">
              <a:solidFill>
                <a:srgbClr val="314055"/>
              </a:solidFill>
              <a:latin typeface="Aptos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D078959-AFD8-794C-9FE4-B58267229158}"/>
              </a:ext>
            </a:extLst>
          </p:cNvPr>
          <p:cNvSpPr/>
          <p:nvPr/>
        </p:nvSpPr>
        <p:spPr>
          <a:xfrm>
            <a:off x="965200" y="2527300"/>
            <a:ext cx="76200" cy="381000"/>
          </a:xfrm>
          <a:prstGeom prst="rect">
            <a:avLst/>
          </a:prstGeom>
          <a:solidFill>
            <a:srgbClr val="16B6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9" name="Flecha abajo 8">
            <a:extLst>
              <a:ext uri="{FF2B5EF4-FFF2-40B4-BE49-F238E27FC236}">
                <a16:creationId xmlns:a16="http://schemas.microsoft.com/office/drawing/2014/main" id="{5733F94E-D78B-D846-B394-B1F7A54AAB67}"/>
              </a:ext>
            </a:extLst>
          </p:cNvPr>
          <p:cNvSpPr/>
          <p:nvPr/>
        </p:nvSpPr>
        <p:spPr>
          <a:xfrm>
            <a:off x="3505200" y="2906485"/>
            <a:ext cx="177800" cy="152400"/>
          </a:xfrm>
          <a:prstGeom prst="downArrow">
            <a:avLst/>
          </a:prstGeom>
          <a:solidFill>
            <a:srgbClr val="16B6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C69F0E3-BC0E-B044-9237-1AD1F9E46378}"/>
              </a:ext>
            </a:extLst>
          </p:cNvPr>
          <p:cNvSpPr/>
          <p:nvPr/>
        </p:nvSpPr>
        <p:spPr>
          <a:xfrm>
            <a:off x="965200" y="3073400"/>
            <a:ext cx="5257800" cy="381000"/>
          </a:xfrm>
          <a:prstGeom prst="rect">
            <a:avLst/>
          </a:prstGeom>
          <a:solidFill>
            <a:srgbClr val="F5F8FB"/>
          </a:solidFill>
          <a:ln w="9525" cap="flat" cmpd="sng" algn="ctr">
            <a:solidFill>
              <a:srgbClr val="B7E3EA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US" sz="850" b="1">
                <a:solidFill>
                  <a:srgbClr val="314055"/>
                </a:solidFill>
                <a:latin typeface="Aptos"/>
              </a:rPr>
              <a:t>Tool: get_current_time()</a:t>
            </a:r>
            <a:endParaRPr lang="es-US" sz="850" b="1" dirty="0" err="1">
              <a:solidFill>
                <a:srgbClr val="314055"/>
              </a:solidFill>
              <a:latin typeface="Aptos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49FD095-B983-244E-91D4-8AA64507B897}"/>
              </a:ext>
            </a:extLst>
          </p:cNvPr>
          <p:cNvSpPr/>
          <p:nvPr/>
        </p:nvSpPr>
        <p:spPr>
          <a:xfrm>
            <a:off x="965200" y="3073400"/>
            <a:ext cx="76200" cy="381000"/>
          </a:xfrm>
          <a:prstGeom prst="rect">
            <a:avLst/>
          </a:prstGeom>
          <a:solidFill>
            <a:srgbClr val="16B6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2" name="Flecha abajo 11">
            <a:extLst>
              <a:ext uri="{FF2B5EF4-FFF2-40B4-BE49-F238E27FC236}">
                <a16:creationId xmlns:a16="http://schemas.microsoft.com/office/drawing/2014/main" id="{8C07F90D-6EA8-954E-8CB6-F6BE04E8BEAD}"/>
              </a:ext>
            </a:extLst>
          </p:cNvPr>
          <p:cNvSpPr/>
          <p:nvPr/>
        </p:nvSpPr>
        <p:spPr>
          <a:xfrm>
            <a:off x="3505200" y="3452585"/>
            <a:ext cx="177800" cy="152400"/>
          </a:xfrm>
          <a:prstGeom prst="downArrow">
            <a:avLst/>
          </a:prstGeom>
          <a:solidFill>
            <a:srgbClr val="16B6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7B59E2A-427A-B640-B478-C81394FB73F1}"/>
              </a:ext>
            </a:extLst>
          </p:cNvPr>
          <p:cNvSpPr/>
          <p:nvPr/>
        </p:nvSpPr>
        <p:spPr>
          <a:xfrm>
            <a:off x="965200" y="3619500"/>
            <a:ext cx="5257800" cy="381000"/>
          </a:xfrm>
          <a:prstGeom prst="rect">
            <a:avLst/>
          </a:prstGeom>
          <a:solidFill>
            <a:srgbClr val="F5F8FB"/>
          </a:solidFill>
          <a:ln w="9525" cap="flat" cmpd="sng" algn="ctr">
            <a:solidFill>
              <a:srgbClr val="B7E3EA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US" sz="850" b="1">
                <a:solidFill>
                  <a:srgbClr val="314055"/>
                </a:solidFill>
                <a:latin typeface="Aptos"/>
              </a:rPr>
              <a:t>Structured output: response_format=InvoiceAnalysis</a:t>
            </a:r>
            <a:endParaRPr lang="es-US" sz="850" b="1" dirty="0" err="1">
              <a:solidFill>
                <a:srgbClr val="314055"/>
              </a:solidFill>
              <a:latin typeface="Aptos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0071BB9-0643-EF40-9383-EF1996D0BA65}"/>
              </a:ext>
            </a:extLst>
          </p:cNvPr>
          <p:cNvSpPr/>
          <p:nvPr/>
        </p:nvSpPr>
        <p:spPr>
          <a:xfrm>
            <a:off x="965200" y="3619500"/>
            <a:ext cx="76200" cy="381000"/>
          </a:xfrm>
          <a:prstGeom prst="rect">
            <a:avLst/>
          </a:prstGeom>
          <a:solidFill>
            <a:srgbClr val="16B6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5" name="Flecha abajo 14">
            <a:extLst>
              <a:ext uri="{FF2B5EF4-FFF2-40B4-BE49-F238E27FC236}">
                <a16:creationId xmlns:a16="http://schemas.microsoft.com/office/drawing/2014/main" id="{86AD296D-1132-5F4C-AEB1-7270D991478E}"/>
              </a:ext>
            </a:extLst>
          </p:cNvPr>
          <p:cNvSpPr/>
          <p:nvPr/>
        </p:nvSpPr>
        <p:spPr>
          <a:xfrm>
            <a:off x="3505200" y="3998685"/>
            <a:ext cx="177800" cy="152400"/>
          </a:xfrm>
          <a:prstGeom prst="downArrow">
            <a:avLst/>
          </a:prstGeom>
          <a:solidFill>
            <a:srgbClr val="16B6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033A38B-2D1D-C645-985F-2734999B8502}"/>
              </a:ext>
            </a:extLst>
          </p:cNvPr>
          <p:cNvSpPr/>
          <p:nvPr/>
        </p:nvSpPr>
        <p:spPr>
          <a:xfrm>
            <a:off x="965200" y="4165600"/>
            <a:ext cx="5257800" cy="381000"/>
          </a:xfrm>
          <a:prstGeom prst="rect">
            <a:avLst/>
          </a:prstGeom>
          <a:solidFill>
            <a:srgbClr val="F5F8FB"/>
          </a:solidFill>
          <a:ln w="9525" cap="flat" cmpd="sng" algn="ctr">
            <a:solidFill>
              <a:srgbClr val="B7E3EA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US" sz="850" b="1">
                <a:solidFill>
                  <a:srgbClr val="314055"/>
                </a:solidFill>
                <a:latin typeface="Aptos"/>
              </a:rPr>
              <a:t>Validación Pydantic</a:t>
            </a:r>
            <a:endParaRPr lang="es-US" sz="850" b="1" dirty="0" err="1">
              <a:solidFill>
                <a:srgbClr val="314055"/>
              </a:solidFill>
              <a:latin typeface="Aptos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547CAFE-4817-7E48-B589-ACF79C191DF0}"/>
              </a:ext>
            </a:extLst>
          </p:cNvPr>
          <p:cNvSpPr/>
          <p:nvPr/>
        </p:nvSpPr>
        <p:spPr>
          <a:xfrm>
            <a:off x="965200" y="4165600"/>
            <a:ext cx="76200" cy="381000"/>
          </a:xfrm>
          <a:prstGeom prst="rect">
            <a:avLst/>
          </a:prstGeom>
          <a:solidFill>
            <a:srgbClr val="16B6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8" name="Flecha abajo 17">
            <a:extLst>
              <a:ext uri="{FF2B5EF4-FFF2-40B4-BE49-F238E27FC236}">
                <a16:creationId xmlns:a16="http://schemas.microsoft.com/office/drawing/2014/main" id="{FC6A44FB-8BEC-1F4D-8C3D-BED3796FAD00}"/>
              </a:ext>
            </a:extLst>
          </p:cNvPr>
          <p:cNvSpPr/>
          <p:nvPr/>
        </p:nvSpPr>
        <p:spPr>
          <a:xfrm>
            <a:off x="3505200" y="4544785"/>
            <a:ext cx="177800" cy="152400"/>
          </a:xfrm>
          <a:prstGeom prst="downArrow">
            <a:avLst/>
          </a:prstGeom>
          <a:solidFill>
            <a:srgbClr val="16B6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EF44020-2110-E04C-B4EC-94C8A022EAC7}"/>
              </a:ext>
            </a:extLst>
          </p:cNvPr>
          <p:cNvSpPr/>
          <p:nvPr/>
        </p:nvSpPr>
        <p:spPr>
          <a:xfrm>
            <a:off x="965200" y="4711700"/>
            <a:ext cx="5257800" cy="381000"/>
          </a:xfrm>
          <a:prstGeom prst="rect">
            <a:avLst/>
          </a:prstGeom>
          <a:solidFill>
            <a:srgbClr val="F5F8FB"/>
          </a:solidFill>
          <a:ln w="9525" cap="flat" cmpd="sng" algn="ctr">
            <a:solidFill>
              <a:srgbClr val="B7E3EA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US" sz="850" b="1">
                <a:solidFill>
                  <a:srgbClr val="314055"/>
                </a:solidFill>
                <a:latin typeface="Aptos"/>
              </a:rPr>
              <a:t>Objeto validado listo para lógica de negocio</a:t>
            </a:r>
            <a:endParaRPr lang="es-US" sz="850" b="1" dirty="0" err="1">
              <a:solidFill>
                <a:srgbClr val="314055"/>
              </a:solidFill>
              <a:latin typeface="Aptos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4B8EE4B-D2ED-A643-B8B8-106A48F006E1}"/>
              </a:ext>
            </a:extLst>
          </p:cNvPr>
          <p:cNvSpPr/>
          <p:nvPr/>
        </p:nvSpPr>
        <p:spPr>
          <a:xfrm>
            <a:off x="965200" y="4711700"/>
            <a:ext cx="76200" cy="381000"/>
          </a:xfrm>
          <a:prstGeom prst="rect">
            <a:avLst/>
          </a:prstGeom>
          <a:solidFill>
            <a:srgbClr val="D25A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257B2AE-A3A6-494A-A8E8-5CA095895847}"/>
              </a:ext>
            </a:extLst>
          </p:cNvPr>
          <p:cNvSpPr/>
          <p:nvPr/>
        </p:nvSpPr>
        <p:spPr>
          <a:xfrm>
            <a:off x="609600" y="5829300"/>
            <a:ext cx="76200" cy="457200"/>
          </a:xfrm>
          <a:prstGeom prst="rect">
            <a:avLst/>
          </a:prstGeom>
          <a:solidFill>
            <a:srgbClr val="16B6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pic>
        <p:nvPicPr>
          <p:cNvPr id="24" name="Imagen 23" descr="Microsoft Agent Framework: Building Multi-Agent Systems">
            <a:extLst>
              <a:ext uri="{FF2B5EF4-FFF2-40B4-BE49-F238E27FC236}">
                <a16:creationId xmlns:a16="http://schemas.microsoft.com/office/drawing/2014/main" id="{1EEA48BD-CB04-33E0-AD86-A5B11A74A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5571" y="2123281"/>
            <a:ext cx="34290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487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F8E7C-E041-9F22-97EB-D8D529681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FE4D2F3-04C8-F448-9446-49F155133041}"/>
              </a:ext>
            </a:extLst>
          </p:cNvPr>
          <p:cNvSpPr txBox="1"/>
          <p:nvPr/>
        </p:nvSpPr>
        <p:spPr>
          <a:xfrm>
            <a:off x="609600" y="330200"/>
            <a:ext cx="9144000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2050" b="1" dirty="0">
                <a:solidFill>
                  <a:srgbClr val="2D3B4F"/>
                </a:solidFill>
                <a:latin typeface="Aptos Display"/>
              </a:rPr>
              <a:t>Convenciones de equipo para usar </a:t>
            </a:r>
            <a:r>
              <a:rPr lang="es-US" sz="2050" b="1" dirty="0" err="1">
                <a:solidFill>
                  <a:srgbClr val="2D3B4F"/>
                </a:solidFill>
                <a:latin typeface="Aptos Display"/>
              </a:rPr>
              <a:t>Pydantic</a:t>
            </a:r>
            <a:endParaRPr lang="es-US" sz="2050" b="1" dirty="0">
              <a:solidFill>
                <a:srgbClr val="2D3B4F"/>
              </a:solidFill>
              <a:latin typeface="Aptos Display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A528084-E3DA-4440-A97C-2CDD62A1B68D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61D633F-487F-6F4C-843D-0EB4755254C6}"/>
              </a:ext>
            </a:extLst>
          </p:cNvPr>
          <p:cNvSpPr txBox="1"/>
          <p:nvPr/>
        </p:nvSpPr>
        <p:spPr>
          <a:xfrm>
            <a:off x="609600" y="952500"/>
            <a:ext cx="9906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1250" b="1" dirty="0">
                <a:solidFill>
                  <a:srgbClr val="718096"/>
                </a:solidFill>
                <a:latin typeface="Aptos"/>
              </a:rPr>
              <a:t>Los datos externos o generados por modelos pasan primero por contratos explícitos y después por lógica de negocio.</a:t>
            </a:r>
          </a:p>
        </p:txBody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6CABEA8D-49B8-C94A-8671-CEFE18EBBCEE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540">
                <a:solidFill>
                  <a:srgbClr val="8A93A3"/>
                </a:solidFill>
                <a:latin typeface="Aptos"/>
              </a:rPr>
              <a:t>Cierre: convenciones prácticas para equipos backend e IA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5721485-6B75-5A4B-A041-83B822F41716}"/>
              </a:ext>
            </a:extLst>
          </p:cNvPr>
          <p:cNvSpPr txBox="1"/>
          <p:nvPr/>
        </p:nvSpPr>
        <p:spPr>
          <a:xfrm>
            <a:off x="685800" y="1422400"/>
            <a:ext cx="4699000" cy="228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1050" b="1">
                <a:solidFill>
                  <a:srgbClr val="00A6B3"/>
                </a:solidFill>
                <a:latin typeface="Aptos"/>
              </a:rPr>
              <a:t>Situación / Convención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7948B14-5685-484D-9257-348ADC35B77A}"/>
              </a:ext>
            </a:extLst>
          </p:cNvPr>
          <p:cNvSpPr/>
          <p:nvPr/>
        </p:nvSpPr>
        <p:spPr>
          <a:xfrm>
            <a:off x="685800" y="1727200"/>
            <a:ext cx="7302500" cy="400050"/>
          </a:xfrm>
          <a:prstGeom prst="rect">
            <a:avLst/>
          </a:prstGeom>
          <a:solidFill>
            <a:srgbClr val="2532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97AA860-D080-6146-A072-597832D8F023}"/>
              </a:ext>
            </a:extLst>
          </p:cNvPr>
          <p:cNvSpPr txBox="1"/>
          <p:nvPr/>
        </p:nvSpPr>
        <p:spPr>
          <a:xfrm>
            <a:off x="787400" y="1841500"/>
            <a:ext cx="18796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850" b="1">
                <a:solidFill>
                  <a:srgbClr val="FFFFFF"/>
                </a:solidFill>
                <a:latin typeface="Aptos"/>
              </a:rPr>
              <a:t>Situación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3142906-8919-E848-9FD7-5C299870EA8B}"/>
              </a:ext>
            </a:extLst>
          </p:cNvPr>
          <p:cNvSpPr txBox="1"/>
          <p:nvPr/>
        </p:nvSpPr>
        <p:spPr>
          <a:xfrm>
            <a:off x="2819400" y="1841500"/>
            <a:ext cx="51181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850" b="1">
                <a:solidFill>
                  <a:srgbClr val="FFFFFF"/>
                </a:solidFill>
                <a:latin typeface="Aptos"/>
              </a:rPr>
              <a:t>Convención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D719D70-84BD-E449-A551-D645CD902E6C}"/>
              </a:ext>
            </a:extLst>
          </p:cNvPr>
          <p:cNvSpPr/>
          <p:nvPr/>
        </p:nvSpPr>
        <p:spPr>
          <a:xfrm>
            <a:off x="685800" y="2127250"/>
            <a:ext cx="7302500" cy="400050"/>
          </a:xfrm>
          <a:prstGeom prst="rect">
            <a:avLst/>
          </a:prstGeom>
          <a:solidFill>
            <a:srgbClr val="FFFFFF"/>
          </a:solidFill>
          <a:ln w="762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0CBAF4A-414D-6140-B515-870898C7EC67}"/>
              </a:ext>
            </a:extLst>
          </p:cNvPr>
          <p:cNvSpPr txBox="1"/>
          <p:nvPr/>
        </p:nvSpPr>
        <p:spPr>
          <a:xfrm>
            <a:off x="787400" y="2241550"/>
            <a:ext cx="18542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EF4B65"/>
                </a:solidFill>
                <a:latin typeface="Aptos"/>
              </a:rPr>
              <a:t>Payload externo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E3AA5A62-8A64-A94A-9FFC-6B5B64DAA608}"/>
              </a:ext>
            </a:extLst>
          </p:cNvPr>
          <p:cNvSpPr txBox="1"/>
          <p:nvPr/>
        </p:nvSpPr>
        <p:spPr>
          <a:xfrm>
            <a:off x="2819400" y="2241550"/>
            <a:ext cx="50927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314055"/>
                </a:solidFill>
                <a:latin typeface="Aptos"/>
              </a:rPr>
              <a:t>Modelo Pydantic con nombre de dominio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0173661E-E6F9-F247-BDE6-FA026993AD57}"/>
              </a:ext>
            </a:extLst>
          </p:cNvPr>
          <p:cNvSpPr/>
          <p:nvPr/>
        </p:nvSpPr>
        <p:spPr>
          <a:xfrm>
            <a:off x="685800" y="2527300"/>
            <a:ext cx="7302500" cy="400050"/>
          </a:xfrm>
          <a:prstGeom prst="rect">
            <a:avLst/>
          </a:prstGeom>
          <a:solidFill>
            <a:srgbClr val="FFFFFF"/>
          </a:solidFill>
          <a:ln w="762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F227EA7-1D05-6A4F-89DE-23F721E02DBA}"/>
              </a:ext>
            </a:extLst>
          </p:cNvPr>
          <p:cNvSpPr txBox="1"/>
          <p:nvPr/>
        </p:nvSpPr>
        <p:spPr>
          <a:xfrm>
            <a:off x="787400" y="2641600"/>
            <a:ext cx="18542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EF4B65"/>
                </a:solidFill>
                <a:latin typeface="Aptos"/>
              </a:rPr>
              <a:t>Valor con límites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9DD321FF-5B62-664F-ABC6-F8CAEDEC57F5}"/>
              </a:ext>
            </a:extLst>
          </p:cNvPr>
          <p:cNvSpPr txBox="1"/>
          <p:nvPr/>
        </p:nvSpPr>
        <p:spPr>
          <a:xfrm>
            <a:off x="2819400" y="2641600"/>
            <a:ext cx="50927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314055"/>
                </a:solidFill>
                <a:latin typeface="Aptos"/>
              </a:rPr>
              <a:t>Field(...) con constraints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2E55AD93-B8DF-3E43-91D6-9FB434F14058}"/>
              </a:ext>
            </a:extLst>
          </p:cNvPr>
          <p:cNvSpPr/>
          <p:nvPr/>
        </p:nvSpPr>
        <p:spPr>
          <a:xfrm>
            <a:off x="685800" y="2927350"/>
            <a:ext cx="7302500" cy="400050"/>
          </a:xfrm>
          <a:prstGeom prst="rect">
            <a:avLst/>
          </a:prstGeom>
          <a:solidFill>
            <a:srgbClr val="FFFFFF"/>
          </a:solidFill>
          <a:ln w="762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C0E32CC-C10B-D440-850D-A81E261D92E6}"/>
              </a:ext>
            </a:extLst>
          </p:cNvPr>
          <p:cNvSpPr txBox="1"/>
          <p:nvPr/>
        </p:nvSpPr>
        <p:spPr>
          <a:xfrm>
            <a:off x="787400" y="3041650"/>
            <a:ext cx="18542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EF4B65"/>
                </a:solidFill>
                <a:latin typeface="Aptos"/>
              </a:rPr>
              <a:t>Catálogo cerrado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9633370-07BE-B644-8ADB-36317690C459}"/>
              </a:ext>
            </a:extLst>
          </p:cNvPr>
          <p:cNvSpPr txBox="1"/>
          <p:nvPr/>
        </p:nvSpPr>
        <p:spPr>
          <a:xfrm>
            <a:off x="2819400" y="3041650"/>
            <a:ext cx="50927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314055"/>
                </a:solidFill>
                <a:latin typeface="Aptos"/>
              </a:rPr>
              <a:t>Literal o Enum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78F888B5-A1F9-2C48-B598-B0F06F78F624}"/>
              </a:ext>
            </a:extLst>
          </p:cNvPr>
          <p:cNvSpPr/>
          <p:nvPr/>
        </p:nvSpPr>
        <p:spPr>
          <a:xfrm>
            <a:off x="685800" y="3327400"/>
            <a:ext cx="7302500" cy="400050"/>
          </a:xfrm>
          <a:prstGeom prst="rect">
            <a:avLst/>
          </a:prstGeom>
          <a:solidFill>
            <a:srgbClr val="FFFFFF"/>
          </a:solidFill>
          <a:ln w="762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DF0555E-457A-C24F-B91C-F77FDAF8DEBF}"/>
              </a:ext>
            </a:extLst>
          </p:cNvPr>
          <p:cNvSpPr txBox="1"/>
          <p:nvPr/>
        </p:nvSpPr>
        <p:spPr>
          <a:xfrm>
            <a:off x="787400" y="3441700"/>
            <a:ext cx="18542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EF4B65"/>
                </a:solidFill>
                <a:latin typeface="Aptos"/>
              </a:rPr>
              <a:t>Colección simple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C385F92-0E0A-864E-B988-0771F830DE50}"/>
              </a:ext>
            </a:extLst>
          </p:cNvPr>
          <p:cNvSpPr txBox="1"/>
          <p:nvPr/>
        </p:nvSpPr>
        <p:spPr>
          <a:xfrm>
            <a:off x="2819400" y="3441700"/>
            <a:ext cx="50927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314055"/>
                </a:solidFill>
                <a:latin typeface="Aptos"/>
              </a:rPr>
              <a:t>TypeAdapter(list[Modelo])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0EC189C-1A7E-634A-9117-A2C4F8336601}"/>
              </a:ext>
            </a:extLst>
          </p:cNvPr>
          <p:cNvSpPr/>
          <p:nvPr/>
        </p:nvSpPr>
        <p:spPr>
          <a:xfrm>
            <a:off x="685800" y="3727450"/>
            <a:ext cx="7302500" cy="400050"/>
          </a:xfrm>
          <a:prstGeom prst="rect">
            <a:avLst/>
          </a:prstGeom>
          <a:solidFill>
            <a:srgbClr val="FFFFFF"/>
          </a:solidFill>
          <a:ln w="762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59C3A6F9-5FFC-6746-BA5B-F374225152A4}"/>
              </a:ext>
            </a:extLst>
          </p:cNvPr>
          <p:cNvSpPr txBox="1"/>
          <p:nvPr/>
        </p:nvSpPr>
        <p:spPr>
          <a:xfrm>
            <a:off x="787400" y="3841750"/>
            <a:ext cx="18542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EF4B65"/>
                </a:solidFill>
                <a:latin typeface="Aptos"/>
              </a:rPr>
              <a:t>Flujo crítico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ED2746C8-B25E-7D4E-947C-E371319D3281}"/>
              </a:ext>
            </a:extLst>
          </p:cNvPr>
          <p:cNvSpPr txBox="1"/>
          <p:nvPr/>
        </p:nvSpPr>
        <p:spPr>
          <a:xfrm>
            <a:off x="2819400" y="3841750"/>
            <a:ext cx="50927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314055"/>
                </a:solidFill>
                <a:latin typeface="Aptos"/>
              </a:rPr>
              <a:t>strict mode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2F42519E-B9C9-6441-81C4-935A9FC37336}"/>
              </a:ext>
            </a:extLst>
          </p:cNvPr>
          <p:cNvSpPr/>
          <p:nvPr/>
        </p:nvSpPr>
        <p:spPr>
          <a:xfrm>
            <a:off x="685800" y="4127500"/>
            <a:ext cx="7302500" cy="400050"/>
          </a:xfrm>
          <a:prstGeom prst="rect">
            <a:avLst/>
          </a:prstGeom>
          <a:solidFill>
            <a:srgbClr val="FFFFFF"/>
          </a:solidFill>
          <a:ln w="762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F285CE33-32B9-904C-AEAA-744BF054740B}"/>
              </a:ext>
            </a:extLst>
          </p:cNvPr>
          <p:cNvSpPr txBox="1"/>
          <p:nvPr/>
        </p:nvSpPr>
        <p:spPr>
          <a:xfrm>
            <a:off x="787400" y="4241800"/>
            <a:ext cx="18542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EF4B65"/>
                </a:solidFill>
                <a:latin typeface="Aptos"/>
              </a:rPr>
              <a:t>Regla entre campos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945EB12C-AB98-0646-A94E-E5DD1EE71B21}"/>
              </a:ext>
            </a:extLst>
          </p:cNvPr>
          <p:cNvSpPr txBox="1"/>
          <p:nvPr/>
        </p:nvSpPr>
        <p:spPr>
          <a:xfrm>
            <a:off x="2819400" y="4241800"/>
            <a:ext cx="50927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314055"/>
                </a:solidFill>
                <a:latin typeface="Aptos"/>
              </a:rPr>
              <a:t>model_validator puro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B2E5A601-E2FD-604F-AC2B-E470F15A4FFA}"/>
              </a:ext>
            </a:extLst>
          </p:cNvPr>
          <p:cNvSpPr/>
          <p:nvPr/>
        </p:nvSpPr>
        <p:spPr>
          <a:xfrm>
            <a:off x="685800" y="4527550"/>
            <a:ext cx="7302500" cy="400050"/>
          </a:xfrm>
          <a:prstGeom prst="rect">
            <a:avLst/>
          </a:prstGeom>
          <a:solidFill>
            <a:srgbClr val="FFFFFF"/>
          </a:solidFill>
          <a:ln w="762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D8CD6651-9626-DA4B-A353-FA3056D1D796}"/>
              </a:ext>
            </a:extLst>
          </p:cNvPr>
          <p:cNvSpPr txBox="1"/>
          <p:nvPr/>
        </p:nvSpPr>
        <p:spPr>
          <a:xfrm>
            <a:off x="787400" y="4641850"/>
            <a:ext cx="18542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EF4B65"/>
                </a:solidFill>
                <a:latin typeface="Aptos"/>
              </a:rPr>
              <a:t>Regla con DB/API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E5AA4EC1-1790-A745-99F5-FB88E75F6736}"/>
              </a:ext>
            </a:extLst>
          </p:cNvPr>
          <p:cNvSpPr txBox="1"/>
          <p:nvPr/>
        </p:nvSpPr>
        <p:spPr>
          <a:xfrm>
            <a:off x="2819400" y="4641850"/>
            <a:ext cx="50927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314055"/>
                </a:solidFill>
                <a:latin typeface="Aptos"/>
              </a:rPr>
              <a:t>Servicio fuera del validador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6531FDF2-95F2-3443-9860-D295A4F64998}"/>
              </a:ext>
            </a:extLst>
          </p:cNvPr>
          <p:cNvSpPr/>
          <p:nvPr/>
        </p:nvSpPr>
        <p:spPr>
          <a:xfrm>
            <a:off x="685800" y="4927600"/>
            <a:ext cx="7302500" cy="400050"/>
          </a:xfrm>
          <a:prstGeom prst="rect">
            <a:avLst/>
          </a:prstGeom>
          <a:solidFill>
            <a:srgbClr val="FFFFFF"/>
          </a:solidFill>
          <a:ln w="762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7B1F13A4-18FA-9E49-9716-16ACBDAC6DB4}"/>
              </a:ext>
            </a:extLst>
          </p:cNvPr>
          <p:cNvSpPr txBox="1"/>
          <p:nvPr/>
        </p:nvSpPr>
        <p:spPr>
          <a:xfrm>
            <a:off x="787400" y="5041900"/>
            <a:ext cx="18542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EF4B65"/>
                </a:solidFill>
                <a:latin typeface="Aptos"/>
              </a:rPr>
              <a:t>Tipo variable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3CE7B51D-46BE-8142-A0DC-EFCA01055F2D}"/>
              </a:ext>
            </a:extLst>
          </p:cNvPr>
          <p:cNvSpPr txBox="1"/>
          <p:nvPr/>
        </p:nvSpPr>
        <p:spPr>
          <a:xfrm>
            <a:off x="2819400" y="5041900"/>
            <a:ext cx="50927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314055"/>
                </a:solidFill>
                <a:latin typeface="Aptos"/>
              </a:rPr>
              <a:t>Union, Literal o modelo explícito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438DCFC4-B2BC-D94A-A79A-E63BAB6D61E5}"/>
              </a:ext>
            </a:extLst>
          </p:cNvPr>
          <p:cNvSpPr/>
          <p:nvPr/>
        </p:nvSpPr>
        <p:spPr>
          <a:xfrm>
            <a:off x="8407400" y="1727200"/>
            <a:ext cx="2946400" cy="3632200"/>
          </a:xfrm>
          <a:prstGeom prst="rect">
            <a:avLst/>
          </a:prstGeom>
          <a:solidFill>
            <a:srgbClr val="DDF5F7"/>
          </a:solidFill>
          <a:ln w="15240" cap="flat" cmpd="sng" algn="ctr">
            <a:solidFill>
              <a:srgbClr val="00A6B3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3C9031CE-43D4-3546-B767-4B6614A33732}"/>
              </a:ext>
            </a:extLst>
          </p:cNvPr>
          <p:cNvSpPr txBox="1"/>
          <p:nvPr/>
        </p:nvSpPr>
        <p:spPr>
          <a:xfrm>
            <a:off x="8686800" y="2006600"/>
            <a:ext cx="2413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1300" b="1">
                <a:solidFill>
                  <a:srgbClr val="00A6B3"/>
                </a:solidFill>
                <a:latin typeface="Aptos"/>
              </a:rPr>
              <a:t>Convenciones principales</a:t>
            </a:r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9F0F998B-6863-2B49-B7C6-656F073512AF}"/>
              </a:ext>
            </a:extLst>
          </p:cNvPr>
          <p:cNvSpPr/>
          <p:nvPr/>
        </p:nvSpPr>
        <p:spPr>
          <a:xfrm>
            <a:off x="8737600" y="2578100"/>
            <a:ext cx="57150" cy="57150"/>
          </a:xfrm>
          <a:prstGeom prst="ellipse">
            <a:avLst/>
          </a:prstGeom>
          <a:solidFill>
            <a:srgbClr val="2532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63035034-371D-4443-B5E5-153C1398C16D}"/>
              </a:ext>
            </a:extLst>
          </p:cNvPr>
          <p:cNvSpPr txBox="1"/>
          <p:nvPr/>
        </p:nvSpPr>
        <p:spPr>
          <a:xfrm>
            <a:off x="8915400" y="2514600"/>
            <a:ext cx="20955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840" b="1">
                <a:solidFill>
                  <a:srgbClr val="314055"/>
                </a:solidFill>
                <a:latin typeface="Aptos"/>
              </a:rPr>
              <a:t>Cada punto de entrada externo importante tiene un modelo Pydantic.</a:t>
            </a:r>
          </a:p>
        </p:txBody>
      </p:sp>
      <p:sp>
        <p:nvSpPr>
          <p:cNvPr id="57" name="Elipse 56">
            <a:extLst>
              <a:ext uri="{FF2B5EF4-FFF2-40B4-BE49-F238E27FC236}">
                <a16:creationId xmlns:a16="http://schemas.microsoft.com/office/drawing/2014/main" id="{E8A6C6AE-6401-B648-AB2B-E86229E53850}"/>
              </a:ext>
            </a:extLst>
          </p:cNvPr>
          <p:cNvSpPr/>
          <p:nvPr/>
        </p:nvSpPr>
        <p:spPr>
          <a:xfrm>
            <a:off x="8737600" y="3162300"/>
            <a:ext cx="57150" cy="57150"/>
          </a:xfrm>
          <a:prstGeom prst="ellipse">
            <a:avLst/>
          </a:prstGeom>
          <a:solidFill>
            <a:srgbClr val="2532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BF24336C-6002-6C4A-BEE0-3FAF4B468E5A}"/>
              </a:ext>
            </a:extLst>
          </p:cNvPr>
          <p:cNvSpPr txBox="1"/>
          <p:nvPr/>
        </p:nvSpPr>
        <p:spPr>
          <a:xfrm>
            <a:off x="8915400" y="3098800"/>
            <a:ext cx="20955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840" b="1">
                <a:solidFill>
                  <a:srgbClr val="314055"/>
                </a:solidFill>
                <a:latin typeface="Aptos"/>
              </a:rPr>
              <a:t>Montos, scores, estados y catálogos tienen constraints explícitas.</a:t>
            </a:r>
          </a:p>
        </p:txBody>
      </p:sp>
      <p:sp>
        <p:nvSpPr>
          <p:cNvPr id="59" name="Elipse 58">
            <a:extLst>
              <a:ext uri="{FF2B5EF4-FFF2-40B4-BE49-F238E27FC236}">
                <a16:creationId xmlns:a16="http://schemas.microsoft.com/office/drawing/2014/main" id="{1BAA7062-609E-7148-BA80-A62FD179D34F}"/>
              </a:ext>
            </a:extLst>
          </p:cNvPr>
          <p:cNvSpPr/>
          <p:nvPr/>
        </p:nvSpPr>
        <p:spPr>
          <a:xfrm>
            <a:off x="8737600" y="3746500"/>
            <a:ext cx="57150" cy="57150"/>
          </a:xfrm>
          <a:prstGeom prst="ellipse">
            <a:avLst/>
          </a:prstGeom>
          <a:solidFill>
            <a:srgbClr val="2532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60C6211A-6B1A-DC40-9946-8C28894D0709}"/>
              </a:ext>
            </a:extLst>
          </p:cNvPr>
          <p:cNvSpPr txBox="1"/>
          <p:nvPr/>
        </p:nvSpPr>
        <p:spPr>
          <a:xfrm>
            <a:off x="8915400" y="3683000"/>
            <a:ext cx="20955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840" b="1">
                <a:solidFill>
                  <a:srgbClr val="314055"/>
                </a:solidFill>
                <a:latin typeface="Aptos"/>
              </a:rPr>
              <a:t>Las colecciones simples se validan con TypeAdapter.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5FA8AAAE-5465-BD42-B068-79160FADB51C}"/>
              </a:ext>
            </a:extLst>
          </p:cNvPr>
          <p:cNvSpPr/>
          <p:nvPr/>
        </p:nvSpPr>
        <p:spPr>
          <a:xfrm>
            <a:off x="8737600" y="4330700"/>
            <a:ext cx="57150" cy="57150"/>
          </a:xfrm>
          <a:prstGeom prst="ellipse">
            <a:avLst/>
          </a:prstGeom>
          <a:solidFill>
            <a:srgbClr val="2532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8B2C6E4B-10BC-DE43-BD88-D4114AC54B7C}"/>
              </a:ext>
            </a:extLst>
          </p:cNvPr>
          <p:cNvSpPr txBox="1"/>
          <p:nvPr/>
        </p:nvSpPr>
        <p:spPr>
          <a:xfrm>
            <a:off x="8915400" y="4267200"/>
            <a:ext cx="20955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840" b="1">
                <a:solidFill>
                  <a:srgbClr val="314055"/>
                </a:solidFill>
                <a:latin typeface="Aptos"/>
              </a:rPr>
              <a:t>Los validadores se mantienen puros; DB y APIs viven en servicios.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CDC1D73A-3A42-D349-9FF8-6F9DD4148906}"/>
              </a:ext>
            </a:extLst>
          </p:cNvPr>
          <p:cNvSpPr txBox="1"/>
          <p:nvPr/>
        </p:nvSpPr>
        <p:spPr>
          <a:xfrm>
            <a:off x="1714500" y="5816600"/>
            <a:ext cx="8763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1060" b="1">
                <a:solidFill>
                  <a:srgbClr val="FFFFFF"/>
                </a:solidFill>
                <a:latin typeface="Aptos"/>
              </a:rPr>
              <a:t>Los datos externos o generados por modelos pasan primero por contrato y después por lógica de negocio.</a:t>
            </a:r>
          </a:p>
        </p:txBody>
      </p:sp>
    </p:spTree>
    <p:extLst>
      <p:ext uri="{BB962C8B-B14F-4D97-AF65-F5344CB8AC3E}">
        <p14:creationId xmlns:p14="http://schemas.microsoft.com/office/powerpoint/2010/main" val="3759281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EE1CDEC-F0BE-884A-9FA6-4542A5EDF430}"/>
              </a:ext>
            </a:extLst>
          </p:cNvPr>
          <p:cNvSpPr txBox="1"/>
          <p:nvPr/>
        </p:nvSpPr>
        <p:spPr>
          <a:xfrm>
            <a:off x="355600" y="4165600"/>
            <a:ext cx="5842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3200" b="1" dirty="0">
                <a:solidFill>
                  <a:srgbClr val="FFFFFF"/>
                </a:solidFill>
                <a:latin typeface="Aptos Display"/>
              </a:rPr>
              <a:t>Muchas gracias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C43D12B-FD77-DD4F-A5DB-FAAC6C5475ED}"/>
              </a:ext>
            </a:extLst>
          </p:cNvPr>
          <p:cNvSpPr txBox="1"/>
          <p:nvPr/>
        </p:nvSpPr>
        <p:spPr>
          <a:xfrm>
            <a:off x="9906000" y="6375400"/>
            <a:ext cx="203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400" b="1" dirty="0">
                <a:solidFill>
                  <a:srgbClr val="FFFFFF"/>
                </a:solidFill>
                <a:latin typeface="Aptos"/>
              </a:rPr>
              <a:t>28 de mayo de 2026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B0EAF2A-45C7-0A23-76D6-14B5E14A5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959" y="6141866"/>
            <a:ext cx="3488321" cy="357776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lIns="90875" tIns="45438" rIns="90875" bIns="45438" rtlCol="0" anchor="b">
            <a:normAutofit fontScale="97500"/>
          </a:bodyPr>
          <a:lstStyle/>
          <a:p>
            <a:pPr>
              <a:spcBef>
                <a:spcPct val="0"/>
              </a:spcBef>
            </a:pPr>
            <a:r>
              <a:rPr lang="es-PE" sz="1420" b="1" dirty="0">
                <a:solidFill>
                  <a:schemeClr val="bg1"/>
                </a:solidFill>
                <a:latin typeface="Flexo" pitchFamily="50" charset="0"/>
              </a:rPr>
              <a:t>IA Academy · Programa IA Credicorp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D5B5166-5DEF-7385-357C-73D7CDCD74AB}"/>
              </a:ext>
            </a:extLst>
          </p:cNvPr>
          <p:cNvSpPr txBox="1"/>
          <p:nvPr/>
        </p:nvSpPr>
        <p:spPr>
          <a:xfrm>
            <a:off x="9569116" y="6075431"/>
            <a:ext cx="2525215" cy="664797"/>
          </a:xfrm>
          <a:prstGeom prst="rect">
            <a:avLst/>
          </a:prstGeom>
          <a:solidFill>
            <a:schemeClr val="tx1">
              <a:alpha val="52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860" b="1" dirty="0">
                <a:solidFill>
                  <a:schemeClr val="bg1"/>
                </a:solidFill>
                <a:latin typeface="Flexo" pitchFamily="50" charset="0"/>
              </a:rPr>
              <a:t>28 de agosto de 2026</a:t>
            </a:r>
          </a:p>
        </p:txBody>
      </p:sp>
    </p:spTree>
    <p:extLst>
      <p:ext uri="{BB962C8B-B14F-4D97-AF65-F5344CB8AC3E}">
        <p14:creationId xmlns:p14="http://schemas.microsoft.com/office/powerpoint/2010/main" val="38894819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heme/theme1.xml><?xml version="1.0" encoding="utf-8"?>
<a:theme xmlns:a="http://schemas.openxmlformats.org/drawingml/2006/main" name="Plantilla base">
  <a:themeElements>
    <a:clrScheme name="Paleta Credicorp opaca (1° celeste)">
      <a:dk1>
        <a:srgbClr val="000000"/>
      </a:dk1>
      <a:lt1>
        <a:srgbClr val="FFFFFF"/>
      </a:lt1>
      <a:dk2>
        <a:srgbClr val="44546A"/>
      </a:dk2>
      <a:lt2>
        <a:srgbClr val="B2B2B2"/>
      </a:lt2>
      <a:accent1>
        <a:srgbClr val="1DC5CD"/>
      </a:accent1>
      <a:accent2>
        <a:srgbClr val="33C38C"/>
      </a:accent2>
      <a:accent3>
        <a:srgbClr val="FFEA65"/>
      </a:accent3>
      <a:accent4>
        <a:srgbClr val="FB6725"/>
      </a:accent4>
      <a:accent5>
        <a:srgbClr val="C00000"/>
      </a:accent5>
      <a:accent6>
        <a:srgbClr val="B770A6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9050">
          <a:solidFill>
            <a:schemeClr val="tx1"/>
          </a:solidFill>
        </a:ln>
      </a:spPr>
      <a:bodyPr rtlCol="0" anchor="ctr"/>
      <a:lstStyle>
        <a:defPPr algn="ctr">
          <a:defRPr sz="1400" b="1" dirty="0" err="1" smtClean="0">
            <a:solidFill>
              <a:schemeClr val="tx1"/>
            </a:solidFill>
          </a:defRPr>
        </a:defPPr>
      </a:lstStyle>
      <a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lantilla Credicorp 2022" id="{9628B6A0-9D1F-4FED-A66F-6EF6537DA217}" vid="{8EA64694-49C6-4D21-857F-0CF10542796B}"/>
    </a:ext>
  </a:extLst>
</a:theme>
</file>

<file path=ppt/theme/theme2.xml><?xml version="1.0" encoding="utf-8"?>
<a:theme xmlns:a="http://schemas.openxmlformats.org/drawingml/2006/main" name="2_Plantilla base">
  <a:themeElements>
    <a:clrScheme name="Paleta Credicorp opaca (1° celeste)">
      <a:dk1>
        <a:srgbClr val="000000"/>
      </a:dk1>
      <a:lt1>
        <a:srgbClr val="FFFFFF"/>
      </a:lt1>
      <a:dk2>
        <a:srgbClr val="44546A"/>
      </a:dk2>
      <a:lt2>
        <a:srgbClr val="B2B2B2"/>
      </a:lt2>
      <a:accent1>
        <a:srgbClr val="1DC5CD"/>
      </a:accent1>
      <a:accent2>
        <a:srgbClr val="33C38C"/>
      </a:accent2>
      <a:accent3>
        <a:srgbClr val="FFEA65"/>
      </a:accent3>
      <a:accent4>
        <a:srgbClr val="FB6725"/>
      </a:accent4>
      <a:accent5>
        <a:srgbClr val="C00000"/>
      </a:accent5>
      <a:accent6>
        <a:srgbClr val="B770A6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9050">
          <a:solidFill>
            <a:schemeClr val="tx1"/>
          </a:solidFill>
        </a:ln>
      </a:spPr>
      <a:bodyPr rtlCol="0" anchor="ctr"/>
      <a:lstStyle>
        <a:defPPr algn="ctr">
          <a:defRPr sz="1400" b="1" dirty="0" err="1" smtClean="0">
            <a:solidFill>
              <a:schemeClr val="tx1"/>
            </a:solidFill>
          </a:defRPr>
        </a:defPPr>
      </a:lstStyle>
      <a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lantilla Credicorp 2022" id="{9628B6A0-9D1F-4FED-A66F-6EF6537DA217}" vid="{8EA64694-49C6-4D21-857F-0CF10542796B}"/>
    </a:ext>
  </a:extLst>
</a:theme>
</file>

<file path=ppt/theme/theme3.xml><?xml version="1.0" encoding="utf-8"?>
<a:theme xmlns:a="http://schemas.openxmlformats.org/drawingml/2006/main" name="Plantilla base">
  <a:themeElements>
    <a:clrScheme name="Paleta Credicorp opaca (1° celeste)">
      <a:dk1>
        <a:srgbClr val="000000"/>
      </a:dk1>
      <a:lt1>
        <a:srgbClr val="FFFFFF"/>
      </a:lt1>
      <a:dk2>
        <a:srgbClr val="44546A"/>
      </a:dk2>
      <a:lt2>
        <a:srgbClr val="B2B2B2"/>
      </a:lt2>
      <a:accent1>
        <a:srgbClr val="1DC5CD"/>
      </a:accent1>
      <a:accent2>
        <a:srgbClr val="33C38C"/>
      </a:accent2>
      <a:accent3>
        <a:srgbClr val="FFEA65"/>
      </a:accent3>
      <a:accent4>
        <a:srgbClr val="FB6725"/>
      </a:accent4>
      <a:accent5>
        <a:srgbClr val="C00000"/>
      </a:accent5>
      <a:accent6>
        <a:srgbClr val="B770A6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9050">
          <a:solidFill>
            <a:schemeClr val="tx1"/>
          </a:solidFill>
        </a:ln>
      </a:spPr>
      <a:bodyPr rtlCol="0" anchor="ctr"/>
      <a:lstStyle>
        <a:defPPr algn="ctr">
          <a:defRPr sz="1400" b="1" dirty="0" err="1" smtClean="0">
            <a:solidFill>
              <a:schemeClr val="tx1"/>
            </a:solidFill>
          </a:defRPr>
        </a:defPPr>
      </a:lstStyle>
      <a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lantilla Credicorp 2022" id="{9628B6A0-9D1F-4FED-A66F-6EF6537DA217}" vid="{8EA64694-49C6-4D21-857F-0CF10542796B}"/>
    </a:ext>
  </a:extLst>
</a:theme>
</file>

<file path=ppt/theme/theme4.xml><?xml version="1.0" encoding="utf-8"?>
<a:theme xmlns:a="http://schemas.openxmlformats.org/drawingml/2006/main" name="2_Plantilla base">
  <a:themeElements>
    <a:clrScheme name="Paleta Credicorp opaca (1° celeste)">
      <a:dk1>
        <a:srgbClr val="000000"/>
      </a:dk1>
      <a:lt1>
        <a:srgbClr val="FFFFFF"/>
      </a:lt1>
      <a:dk2>
        <a:srgbClr val="44546A"/>
      </a:dk2>
      <a:lt2>
        <a:srgbClr val="B2B2B2"/>
      </a:lt2>
      <a:accent1>
        <a:srgbClr val="1DC5CD"/>
      </a:accent1>
      <a:accent2>
        <a:srgbClr val="33C38C"/>
      </a:accent2>
      <a:accent3>
        <a:srgbClr val="FFEA65"/>
      </a:accent3>
      <a:accent4>
        <a:srgbClr val="FB6725"/>
      </a:accent4>
      <a:accent5>
        <a:srgbClr val="C00000"/>
      </a:accent5>
      <a:accent6>
        <a:srgbClr val="B770A6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9050">
          <a:solidFill>
            <a:schemeClr val="tx1"/>
          </a:solidFill>
        </a:ln>
      </a:spPr>
      <a:bodyPr rtlCol="0" anchor="ctr"/>
      <a:lstStyle>
        <a:defPPr algn="ctr">
          <a:defRPr sz="1400" b="1" dirty="0" err="1" smtClean="0">
            <a:solidFill>
              <a:schemeClr val="tx1"/>
            </a:solidFill>
          </a:defRPr>
        </a:defPPr>
      </a:lstStyle>
      <a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lantilla Credicorp 2022" id="{9628B6A0-9D1F-4FED-A66F-6EF6537DA217}" vid="{8EA64694-49C6-4D21-857F-0CF10542796B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E972A8B-E1AA-D146-84DB-86F49DF23F61}">
  <we:reference id="wa200010215" version="2.0.0.0" store="en-US" storeType="OMEX"/>
  <we:alternateReferences>
    <we:reference id="wa200010215" version="2.0.0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5AB4CF383B5F44A82AAEB8F398B0092" ma:contentTypeVersion="19" ma:contentTypeDescription="Crear nuevo documento." ma:contentTypeScope="" ma:versionID="692a6bb77e5de4f79e3f4c419452eb86">
  <xsd:schema xmlns:xsd="http://www.w3.org/2001/XMLSchema" xmlns:xs="http://www.w3.org/2001/XMLSchema" xmlns:p="http://schemas.microsoft.com/office/2006/metadata/properties" xmlns:ns2="202c78df-9e91-47d5-8244-2cb6576a2346" xmlns:ns3="dabffc8c-5b7a-413d-ad46-e9de22e0e43d" targetNamespace="http://schemas.microsoft.com/office/2006/metadata/properties" ma:root="true" ma:fieldsID="b580411b87d98c9d5eb7fd73ae4b83c6" ns2:_="" ns3:_="">
    <xsd:import namespace="202c78df-9e91-47d5-8244-2cb6576a2346"/>
    <xsd:import namespace="dabffc8c-5b7a-413d-ad46-e9de22e0e43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BillingMetadata" minOccurs="0"/>
                <xsd:element ref="ns2:pregunta_x0020_1" minOccurs="0"/>
                <xsd:element ref="ns2:link" minOccurs="0"/>
                <xsd:element ref="ns2:tipo_x0020_numero" minOccurs="0"/>
                <xsd:element ref="ns2:comentario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2c78df-9e91-47d5-8244-2cb6576a23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99a4d325-e744-4b40-a3b6-bd808253bd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pregunta_x0020_1" ma:index="23" nillable="true" ma:displayName="pregunta 1" ma:internalName="pregunta_x0020_1">
      <xsd:simpleType>
        <xsd:restriction base="dms:Text"/>
      </xsd:simpleType>
    </xsd:element>
    <xsd:element name="link" ma:index="24" nillable="true" ma:displayName="link" ma:internalName="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tipo_x0020_numero" ma:index="25" nillable="true" ma:displayName="tipo numero" ma:internalName="tipo_x0020_numero">
      <xsd:simpleType>
        <xsd:restriction base="dms:Number"/>
      </xsd:simpleType>
    </xsd:element>
    <xsd:element name="comentarios" ma:index="26" nillable="true" ma:displayName="comentarios" ma:internalName="comentarios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bffc8c-5b7a-413d-ad46-e9de22e0e43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1e0fc9e-edee-4fc1-a44e-282a58e8adad}" ma:internalName="TaxCatchAll" ma:showField="CatchAllData" ma:web="dabffc8c-5b7a-413d-ad46-e9de22e0e43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bffc8c-5b7a-413d-ad46-e9de22e0e43d" xsi:nil="true"/>
    <lcf76f155ced4ddcb4097134ff3c332f xmlns="202c78df-9e91-47d5-8244-2cb6576a2346">
      <Terms xmlns="http://schemas.microsoft.com/office/infopath/2007/PartnerControls"/>
    </lcf76f155ced4ddcb4097134ff3c332f>
    <SharedWithUsers xmlns="dabffc8c-5b7a-413d-ad46-e9de22e0e43d">
      <UserInfo>
        <DisplayName>Emanuel Antonio Caceres Diaz</DisplayName>
        <AccountId>12</AccountId>
        <AccountType/>
      </UserInfo>
      <UserInfo>
        <DisplayName>Martin Grisolle Martinez - CREDICORP PERU</DisplayName>
        <AccountId>207</AccountId>
        <AccountType/>
      </UserInfo>
    </SharedWithUsers>
    <pregunta_x0020_1 xmlns="202c78df-9e91-47d5-8244-2cb6576a2346" xsi:nil="true"/>
    <link xmlns="202c78df-9e91-47d5-8244-2cb6576a2346">
      <Url xsi:nil="true"/>
      <Description xsi:nil="true"/>
    </link>
    <tipo_x0020_numero xmlns="202c78df-9e91-47d5-8244-2cb6576a2346" xsi:nil="true"/>
    <comentarios xmlns="202c78df-9e91-47d5-8244-2cb6576a234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8308D9-07A1-48EE-9217-90A2F74985DA}">
  <ds:schemaRefs>
    <ds:schemaRef ds:uri="202c78df-9e91-47d5-8244-2cb6576a2346"/>
    <ds:schemaRef ds:uri="dabffc8c-5b7a-413d-ad46-e9de22e0e43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E029827-14AA-4E0D-AD80-8D4918AF9905}">
  <ds:schemaRefs>
    <ds:schemaRef ds:uri="202c78df-9e91-47d5-8244-2cb6576a2346"/>
    <ds:schemaRef ds:uri="dabffc8c-5b7a-413d-ad46-e9de22e0e43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4B8AA92-19DC-4D1D-9E96-6E265DCDE8C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15ead3b-a842-409e-8059-3e3468c48585}" enabled="1" method="Standard" siteId="{5d93ebcc-f769-4380-8b7e-289fc972da1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2633</TotalTime>
  <Words>2503</Words>
  <Application>Microsoft Office PowerPoint</Application>
  <PresentationFormat>Personalizado</PresentationFormat>
  <Paragraphs>242</Paragraphs>
  <Slides>17</Slides>
  <Notes>16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4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17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Consolas</vt:lpstr>
      <vt:lpstr>Flexo</vt:lpstr>
      <vt:lpstr>Georgia</vt:lpstr>
      <vt:lpstr>Helvetica Neue</vt:lpstr>
      <vt:lpstr>Segoe UI</vt:lpstr>
      <vt:lpstr>Plantilla base</vt:lpstr>
      <vt:lpstr>2_Plantilla base</vt:lpstr>
      <vt:lpstr>Plantilla base</vt:lpstr>
      <vt:lpstr>2_Plantilla base</vt:lpstr>
      <vt:lpstr>Diapositiva de think-cell</vt:lpstr>
      <vt:lpstr>think-cell Slide</vt:lpstr>
      <vt:lpstr>Context Engineering y Ambigüedad en Agentes Conversacionales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Alexis</dc:creator>
  <cp:lastModifiedBy>Kevin Gomez</cp:lastModifiedBy>
  <cp:revision>47</cp:revision>
  <cp:lastPrinted>2026-05-28T07:44:13Z</cp:lastPrinted>
  <dcterms:created xsi:type="dcterms:W3CDTF">2018-11-30T22:18:41Z</dcterms:created>
  <dcterms:modified xsi:type="dcterms:W3CDTF">2026-07-29T03:23:07Z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0x01010045AB4CF383B5F44A82AAEB8F398B0092</vt:lpwstr>
  </property>
  <property fmtid="{D5CDD505-2E9C-101B-9397-08002B2CF9AE}" pid="3" name="Order">
    <vt:r8>66400</vt:r8>
  </property>
  <property fmtid="{D5CDD505-2E9C-101B-9397-08002B2CF9AE}" pid="4" name="ComplianceAssetId">
    <vt:lpwstr/>
  </property>
  <property fmtid="{D5CDD505-2E9C-101B-9397-08002B2CF9AE}" pid="5" name="MediaServiceImageTags">
    <vt:lpwstr/>
  </property>
  <property fmtid="{D5CDD505-2E9C-101B-9397-08002B2CF9AE}" pid="6" name="MSIP_Label_c15ead3b-a842-409e-8059-3e3468c48585_Enabled">
    <vt:lpwstr>true</vt:lpwstr>
  </property>
  <property fmtid="{D5CDD505-2E9C-101B-9397-08002B2CF9AE}" pid="7" name="MSIP_Label_c15ead3b-a842-409e-8059-3e3468c48585_SetDate">
    <vt:lpwstr>2023-07-06T19:52:24Z</vt:lpwstr>
  </property>
  <property fmtid="{D5CDD505-2E9C-101B-9397-08002B2CF9AE}" pid="8" name="MSIP_Label_c15ead3b-a842-409e-8059-3e3468c48585_Method">
    <vt:lpwstr>Standard</vt:lpwstr>
  </property>
  <property fmtid="{D5CDD505-2E9C-101B-9397-08002B2CF9AE}" pid="9" name="MSIP_Label_c15ead3b-a842-409e-8059-3e3468c48585_Name">
    <vt:lpwstr>Interna BCP</vt:lpwstr>
  </property>
  <property fmtid="{D5CDD505-2E9C-101B-9397-08002B2CF9AE}" pid="10" name="MSIP_Label_c15ead3b-a842-409e-8059-3e3468c48585_SiteId">
    <vt:lpwstr>5d93ebcc-f769-4380-8b7e-289fc972da1b</vt:lpwstr>
  </property>
  <property fmtid="{D5CDD505-2E9C-101B-9397-08002B2CF9AE}" pid="11" name="MSIP_Label_c15ead3b-a842-409e-8059-3e3468c48585_ActionId">
    <vt:lpwstr>652cbedf-ae25-4a2d-9348-ec1b6dce3fa0</vt:lpwstr>
  </property>
  <property fmtid="{D5CDD505-2E9C-101B-9397-08002B2CF9AE}" pid="12" name="MSIP_Label_c15ead3b-a842-409e-8059-3e3468c48585_ContentBits">
    <vt:lpwstr>2</vt:lpwstr>
  </property>
  <property fmtid="{D5CDD505-2E9C-101B-9397-08002B2CF9AE}" pid="13" name="ClassificationContentMarkingFooterLocations">
    <vt:lpwstr>Portada 1:5\Portada 2:6\Cierre presentación:6\Tabla contenidos:7\Portadilla / diviciones:5\Portadilla 2 - diviciones:7\1-Contenido libre:5\Texto blanco sobre fondo oscuro:7\3-Contenido Libre :5\4-Contenido Libre:5</vt:lpwstr>
  </property>
  <property fmtid="{D5CDD505-2E9C-101B-9397-08002B2CF9AE}" pid="14" name="ClassificationContentMarkingFooterText">
    <vt:lpwstr>Datos elaborados por BCP para uso Interno</vt:lpwstr>
  </property>
</Properties>
</file>