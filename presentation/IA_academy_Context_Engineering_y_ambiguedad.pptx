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  <p:sldMasterId id="2147483817" r:id="rId5"/>
    <p:sldMasterId id="2147483836" r:id="rId6"/>
    <p:sldMasterId id="2147483851" r:id="rId7"/>
  </p:sldMasterIdLst>
  <p:notesMasterIdLst>
    <p:notesMasterId r:id="rId28"/>
  </p:notesMasterIdLst>
  <p:handoutMasterIdLst>
    <p:handoutMasterId r:id="rId29"/>
  </p:handoutMasterIdLst>
  <p:sldIdLst>
    <p:sldId id="2147482184" r:id="rId8"/>
    <p:sldId id="2147482185" r:id="rId9"/>
    <p:sldId id="2147482186" r:id="rId10"/>
    <p:sldId id="2147482187" r:id="rId11"/>
    <p:sldId id="2147482188" r:id="rId12"/>
    <p:sldId id="2147482189" r:id="rId13"/>
    <p:sldId id="2147482190" r:id="rId14"/>
    <p:sldId id="2147482191" r:id="rId15"/>
    <p:sldId id="2147482192" r:id="rId16"/>
    <p:sldId id="2147482217" r:id="rId17"/>
    <p:sldId id="2147482193" r:id="rId18"/>
    <p:sldId id="2147482211" r:id="rId19"/>
    <p:sldId id="2147482218" r:id="rId20"/>
    <p:sldId id="2147482219" r:id="rId21"/>
    <p:sldId id="2147482215" r:id="rId22"/>
    <p:sldId id="2147482202" r:id="rId23"/>
    <p:sldId id="2147482216" r:id="rId24"/>
    <p:sldId id="2147482197" r:id="rId25"/>
    <p:sldId id="2147482210" r:id="rId26"/>
    <p:sldId id="2147482208" r:id="rId27"/>
  </p:sldIdLst>
  <p:sldSz cx="12147550" cy="6875463"/>
  <p:notesSz cx="6858000" cy="9144000"/>
  <p:custDataLst>
    <p:tags r:id="rId30"/>
  </p:custDataLst>
  <p:defaultTextStyle>
    <a:defPPr>
      <a:defRPr lang="en-US"/>
    </a:defPPr>
    <a:lvl1pPr marL="0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1pPr>
    <a:lvl2pPr marL="543449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2pPr>
    <a:lvl3pPr marL="1086897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3pPr>
    <a:lvl4pPr marL="1630346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4pPr>
    <a:lvl5pPr marL="2173794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5pPr>
    <a:lvl6pPr marL="2717243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6pPr>
    <a:lvl7pPr marL="3260692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7pPr>
    <a:lvl8pPr marL="3804140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8pPr>
    <a:lvl9pPr marL="4347588" algn="l" defTabSz="543449" rtl="0" eaLnBrk="1" latinLnBrk="0" hangingPunct="1">
      <a:defRPr sz="214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26" userDrawn="1">
          <p15:clr>
            <a:srgbClr val="A4A3A4"/>
          </p15:clr>
        </p15:guide>
        <p15:guide id="4" orient="horz" pos="4041" userDrawn="1">
          <p15:clr>
            <a:srgbClr val="A4A3A4"/>
          </p15:clr>
        </p15:guide>
        <p15:guide id="5" pos="301" userDrawn="1">
          <p15:clr>
            <a:srgbClr val="A4A3A4"/>
          </p15:clr>
        </p15:guide>
        <p15:guide id="6" pos="7330" userDrawn="1">
          <p15:clr>
            <a:srgbClr val="A4A3A4"/>
          </p15:clr>
        </p15:guide>
        <p15:guide id="7" pos="7180" userDrawn="1">
          <p15:clr>
            <a:srgbClr val="A4A3A4"/>
          </p15:clr>
        </p15:guide>
        <p15:guide id="9" pos="3818" userDrawn="1">
          <p15:clr>
            <a:srgbClr val="A4A3A4"/>
          </p15:clr>
        </p15:guide>
        <p15:guide id="10" orient="horz" pos="4009" userDrawn="1">
          <p15:clr>
            <a:srgbClr val="A4A3A4"/>
          </p15:clr>
        </p15:guide>
        <p15:guide id="11" orient="horz" pos="2188" userDrawn="1">
          <p15:clr>
            <a:srgbClr val="A4A3A4"/>
          </p15:clr>
        </p15:guide>
        <p15:guide id="13" pos="3823" userDrawn="1">
          <p15:clr>
            <a:srgbClr val="A4A3A4"/>
          </p15:clr>
        </p15:guide>
        <p15:guide id="14" pos="3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agros Cigueñas Espinel" initials="MCE" lastIdx="7" clrIdx="0"/>
  <p:cmAuthor id="2" name="Kathleen Gallagher" initials="KG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D0DC"/>
    <a:srgbClr val="C8D0D3"/>
    <a:srgbClr val="0A9DA5"/>
    <a:srgbClr val="C9EBF0"/>
    <a:srgbClr val="E88020"/>
    <a:srgbClr val="D4A9CA"/>
    <a:srgbClr val="E8EEF1"/>
    <a:srgbClr val="1DC5CD"/>
    <a:srgbClr val="9E4A8C"/>
    <a:srgbClr val="E15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9"/>
    <p:restoredTop sz="97164" autoAdjust="0"/>
  </p:normalViewPr>
  <p:slideViewPr>
    <p:cSldViewPr snapToGrid="0">
      <p:cViewPr varScale="1">
        <p:scale>
          <a:sx n="82" d="100"/>
          <a:sy n="82" d="100"/>
        </p:scale>
        <p:origin x="725" y="67"/>
      </p:cViewPr>
      <p:guideLst>
        <p:guide pos="3826"/>
        <p:guide orient="horz" pos="4041"/>
        <p:guide pos="301"/>
        <p:guide pos="7330"/>
        <p:guide pos="7180"/>
        <p:guide pos="3818"/>
        <p:guide orient="horz" pos="4009"/>
        <p:guide orient="horz" pos="2188"/>
        <p:guide pos="3823"/>
        <p:guide pos="317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EAB9F-CB75-8745-87EF-8E559D0BBB9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8B71C-041F-6047-82C9-1EA74FAD52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13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20E17-5E8F-41AD-A619-A9EE89BB892E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43000"/>
            <a:ext cx="5451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D7CE1-4029-4111-8E61-98237ACE8F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094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1pPr>
    <a:lvl2pPr marL="228234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2pPr>
    <a:lvl3pPr marL="456468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3pPr>
    <a:lvl4pPr marL="684703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4pPr>
    <a:lvl5pPr marL="912937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5pPr>
    <a:lvl6pPr marL="1141171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6pPr>
    <a:lvl7pPr marL="1369405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7pPr>
    <a:lvl8pPr marL="1597640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8pPr>
    <a:lvl9pPr marL="1825874" algn="l" defTabSz="456468" rtl="0" eaLnBrk="1" latinLnBrk="0" hangingPunct="1">
      <a:defRPr sz="5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D7CE1-4029-4111-8E61-98237ACE8F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37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27347-AFF9-85C3-37A2-61672885C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47480-87EC-5ED0-0DD6-E54C60C7E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99925-F459-0AE9-15A9-3F052B843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161C2-A812-08DA-4E64-F13D9BD6A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83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BED8-3B4E-B1A2-7651-631C5190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FE2C6-BDCA-2BF2-1E3E-A4E6F03D9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F0E62-6300-B880-D8EC-2A982E92D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B9AF0-56E8-6656-9FB9-753637973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68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4290-66CD-FD6C-C756-84587D70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DC94F-F5F0-F285-60A5-9D22971B3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05738-B2B8-567F-6365-77BD573F4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9345-37B8-7BD0-CB1B-E7E773432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6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C2C7-9338-8A95-6D7A-4FADC9EE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DFCD3-2B75-8C8D-61BA-16509009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04F72-2181-7FFE-BC10-C7EBE2D73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1C03-1D3E-57C7-8640-142802FF9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6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E6BF-0AB5-02E9-A4C5-795CF24E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79A69-82AC-6A74-413A-DF7200C21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EB455-D55B-362E-8864-CD4D27F12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41AA-0A62-7702-0E5F-F9D86AAF6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7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1E51-C16B-44E7-1033-8F64E223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D1C87-AF32-9B5B-0038-7E0A570E2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28BD7-47A5-FE86-18EB-1E5D2FB55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0414B-A831-D6A7-B6A2-D4D4395B9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9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C8E35-7AC8-FE85-8651-3AA4A4F30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1E170-A940-54DD-633E-BD7368153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E6D12-8232-5EC7-D280-FA6845592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A2F10-E4A7-685B-4D81-C8B31D55E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6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8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8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26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25.emf"/><Relationship Id="rId5" Type="http://schemas.openxmlformats.org/officeDocument/2006/relationships/tags" Target="../tags/tag35.xml"/><Relationship Id="rId10" Type="http://schemas.openxmlformats.org/officeDocument/2006/relationships/oleObject" Target="../embeddings/oleObject16.bin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25.emf"/><Relationship Id="rId4" Type="http://schemas.openxmlformats.org/officeDocument/2006/relationships/tags" Target="../tags/tag42.xml"/><Relationship Id="rId9" Type="http://schemas.openxmlformats.org/officeDocument/2006/relationships/oleObject" Target="../embeddings/oleObject17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8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9.xml"/><Relationship Id="rId4" Type="http://schemas.openxmlformats.org/officeDocument/2006/relationships/image" Target="../media/image8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4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5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6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7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9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0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3.xml"/><Relationship Id="rId4" Type="http://schemas.openxmlformats.org/officeDocument/2006/relationships/image" Target="../media/image8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5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8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7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8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9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0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2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3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4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26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25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16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10" Type="http://schemas.openxmlformats.org/officeDocument/2006/relationships/image" Target="../media/image25.emf"/><Relationship Id="rId4" Type="http://schemas.openxmlformats.org/officeDocument/2006/relationships/tags" Target="../tags/tag86.xml"/><Relationship Id="rId9" Type="http://schemas.openxmlformats.org/officeDocument/2006/relationships/oleObject" Target="../embeddings/oleObject17.bin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906733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985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856087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105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883946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917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6209577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4329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52179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6712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305913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9295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719074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45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79149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43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8031420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1788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613482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5489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600227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1768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00965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5434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879484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1138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426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906733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339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856087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6117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883946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85912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6209577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912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521793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98319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305913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032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719074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06154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79149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4939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8031420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1303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6134822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55602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6002275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51055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00965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00088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879484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01930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2856251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C5B746B-A82B-5B76-11EF-DC1F5C5A358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37" y="3184"/>
            <a:ext cx="12150587" cy="6875463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91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271282" y="6516103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08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89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08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9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0925" rtl="0" eaLnBrk="1" fontAlgn="auto" latinLnBrk="0" hangingPunct="1">
              <a:lnSpc>
                <a:spcPct val="100000"/>
              </a:lnSpc>
              <a:spcBef>
                <a:spcPts val="299"/>
              </a:spcBef>
              <a:spcAft>
                <a:spcPts val="299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2714" y="182836"/>
            <a:ext cx="11042123" cy="733383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33649" y="39307"/>
            <a:ext cx="4464225" cy="202748"/>
          </a:xfrm>
        </p:spPr>
        <p:txBody>
          <a:bodyPr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6" name="SlideLogoText">
            <a:extLst>
              <a:ext uri="{FF2B5EF4-FFF2-40B4-BE49-F238E27FC236}">
                <a16:creationId xmlns:a16="http://schemas.microsoft.com/office/drawing/2014/main" id="{17777A94-E817-F658-EB46-039D380FADEF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black">
          <a:xfrm>
            <a:off x="10103460" y="6516732"/>
            <a:ext cx="1134926" cy="13805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41569207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91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2714" y="182836"/>
            <a:ext cx="11042123" cy="7333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271282" y="6516104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08423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97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08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897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7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33649" y="39307"/>
            <a:ext cx="4464225" cy="202748"/>
          </a:xfrm>
        </p:spPr>
        <p:txBody>
          <a:bodyPr wrap="square"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93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9855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1057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917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43299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67129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92952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459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435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17887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54894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17684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54341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11383"/>
      </p:ext>
    </p:extLst>
  </p:cSld>
  <p:clrMapOvr>
    <a:masterClrMapping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4267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apositiva de títul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EB45E1F9-278A-4FAE-9D98-A47C9D43D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92" imgH="595" progId="TCLayout.ActiveDocument.1">
                  <p:embed/>
                </p:oleObj>
              </mc:Choice>
              <mc:Fallback>
                <p:oleObj name="Diapositiva de think-cell" r:id="rId4" imgW="592" imgH="595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EB45E1F9-278A-4FAE-9D98-A47C9D43D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DE3E51E2-1D46-47BE-9BF1-19170832166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8420"/>
            <a:ext cx="5634375" cy="62770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467E84-7EBF-42F6-8768-A43192B4DE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43" y="3437732"/>
            <a:ext cx="4662938" cy="162412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anchor="b">
            <a:normAutofit/>
          </a:bodyPr>
          <a:lstStyle>
            <a:lvl1pPr algn="l">
              <a:defRPr sz="3586" b="1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9A164-5FDF-4394-B943-995B988CF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3743" y="5427285"/>
            <a:ext cx="4662938" cy="36091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391">
                <a:solidFill>
                  <a:schemeClr val="bg1"/>
                </a:solidFill>
              </a:defRPr>
            </a:lvl1pPr>
            <a:lvl2pPr marL="455463" indent="0" algn="ctr">
              <a:buNone/>
              <a:defRPr sz="1992"/>
            </a:lvl2pPr>
            <a:lvl3pPr marL="910925" indent="0" algn="ctr">
              <a:buNone/>
              <a:defRPr sz="1793"/>
            </a:lvl3pPr>
            <a:lvl4pPr marL="1366388" indent="0" algn="ctr">
              <a:buNone/>
              <a:defRPr sz="1594"/>
            </a:lvl4pPr>
            <a:lvl5pPr marL="1821851" indent="0" algn="ctr">
              <a:buNone/>
              <a:defRPr sz="1594"/>
            </a:lvl5pPr>
            <a:lvl6pPr marL="2277313" indent="0" algn="ctr">
              <a:buNone/>
              <a:defRPr sz="1594"/>
            </a:lvl6pPr>
            <a:lvl7pPr marL="2732776" indent="0" algn="ctr">
              <a:buNone/>
              <a:defRPr sz="1594"/>
            </a:lvl7pPr>
            <a:lvl8pPr marL="3188238" indent="0" algn="ctr">
              <a:buNone/>
              <a:defRPr sz="1594"/>
            </a:lvl8pPr>
            <a:lvl9pPr marL="3643701" indent="0" algn="ctr">
              <a:buNone/>
              <a:defRPr sz="1594"/>
            </a:lvl9pPr>
          </a:lstStyle>
          <a:p>
            <a:r>
              <a:rPr lang="es-ES"/>
              <a:t>Subtítulo o división</a:t>
            </a:r>
            <a:endParaRPr lang="en-US"/>
          </a:p>
        </p:txBody>
      </p:sp>
      <p:sp>
        <p:nvSpPr>
          <p:cNvPr id="29" name="Marcador de texto 9">
            <a:extLst>
              <a:ext uri="{FF2B5EF4-FFF2-40B4-BE49-F238E27FC236}">
                <a16:creationId xmlns:a16="http://schemas.microsoft.com/office/drawing/2014/main" id="{334E3A5C-066E-4A70-81AB-B8143270DD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01621" y="6158671"/>
            <a:ext cx="2145616" cy="438247"/>
          </a:xfrm>
          <a:solidFill>
            <a:srgbClr val="000000">
              <a:alpha val="50196"/>
            </a:srgb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793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Fecha</a:t>
            </a:r>
            <a:endParaRPr lang="en-US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D03E36ED-27BD-4EFB-B566-9BD764D6F20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6" t="39996" r="3728" b="40076"/>
          <a:stretch/>
        </p:blipFill>
        <p:spPr>
          <a:xfrm>
            <a:off x="9577703" y="265347"/>
            <a:ext cx="2223270" cy="2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3393"/>
      </p:ext>
    </p:extLst>
  </p:cSld>
  <p:clrMapOvr>
    <a:masterClrMapping/>
  </p:clrMapOvr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6117"/>
      </p:ext>
    </p:extLst>
  </p:cSld>
  <p:clrMapOvr>
    <a:masterClrMapping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_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55D53E4-FDFC-4096-8A4C-4075A1781233}"/>
              </a:ext>
            </a:extLst>
          </p:cNvPr>
          <p:cNvSpPr/>
          <p:nvPr/>
        </p:nvSpPr>
        <p:spPr>
          <a:xfrm>
            <a:off x="0" y="5869608"/>
            <a:ext cx="5744779" cy="1005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5" b="1" i="1" err="1">
              <a:solidFill>
                <a:schemeClr val="accent6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CE5343-F00F-4B20-8714-19275BB7F2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3088" y="0"/>
            <a:ext cx="1444459" cy="1200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F5007-6506-4BBA-8234-1C2B4AAD547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5138" y="1443332"/>
            <a:ext cx="516850" cy="5998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FEB631-98C0-45F1-9841-402E42766EF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5547" y="874315"/>
            <a:ext cx="372004" cy="8635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9D798F-950B-4706-B91C-456DF92421E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5679" y="1233552"/>
            <a:ext cx="219193" cy="2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85912"/>
      </p:ext>
    </p:extLst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2733" y="3437732"/>
            <a:ext cx="8866853" cy="4331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188" dirty="0"/>
            </a:lvl1pPr>
          </a:lstStyle>
          <a:p>
            <a:pPr marL="0" lvl="0" algn="r"/>
            <a:r>
              <a:rPr lang="es-ES"/>
              <a:t>Haga </a:t>
            </a:r>
            <a:r>
              <a:rPr lang="es-ES" err="1"/>
              <a:t>click</a:t>
            </a:r>
            <a:r>
              <a:rPr lang="es-ES"/>
              <a:t> para modificar el título de la sección</a:t>
            </a:r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F84AF6-8674-49ED-9011-CB314340C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532891" y="2279839"/>
            <a:ext cx="6128515" cy="3062733"/>
          </a:xfrm>
          <a:prstGeom prst="rect">
            <a:avLst/>
          </a:prstGeom>
        </p:spPr>
      </p:pic>
      <p:pic>
        <p:nvPicPr>
          <p:cNvPr id="17" name="Imagen 1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4BF6C012-E334-4434-98DB-426B7B2A36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32" b="40075"/>
          <a:stretch/>
        </p:blipFill>
        <p:spPr>
          <a:xfrm>
            <a:off x="10494836" y="224512"/>
            <a:ext cx="1434750" cy="1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9125"/>
      </p:ext>
    </p:extLst>
  </p:cSld>
  <p:clrMapOvr>
    <a:masterClrMapping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3E653-2556-4FCF-8A4E-D59EBBE621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2254" y="249672"/>
            <a:ext cx="1045356" cy="26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98319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BCP 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29D7E0-A427-4259-9916-52E66C9BCB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13828" y="249671"/>
            <a:ext cx="1043781" cy="3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0329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DDB1BDB-5C05-40AB-B778-E7F0C96D7F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2" cy="5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06154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8FA1749-95D5-4681-9777-169E1C71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89320" y="138692"/>
            <a:ext cx="1076060" cy="547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CC60AF-BC39-4C2B-B28E-7857D52DCB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</a:blip>
          <a:srcRect l="7156" t="6742" r="7158" b="7249"/>
          <a:stretch/>
        </p:blipFill>
        <p:spPr>
          <a:xfrm>
            <a:off x="11857609" y="138692"/>
            <a:ext cx="215212" cy="2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4939"/>
      </p:ext>
    </p:extLst>
  </p:cSld>
  <p:clrMapOvr>
    <a:masterClrMapping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E52F62-C9AE-4731-B56C-3C912158A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13038"/>
      </p:ext>
    </p:extLst>
  </p:cSld>
  <p:clrMapOvr>
    <a:masterClrMapping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Pacífico Sal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9891744-3F45-4DE4-87DB-674EBA99A35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80" t="59916"/>
          <a:stretch/>
        </p:blipFill>
        <p:spPr>
          <a:xfrm>
            <a:off x="11455121" y="525210"/>
            <a:ext cx="506057" cy="1843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D2DE91-66A6-4A78-9B0C-A5EE774A7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180" y="249671"/>
            <a:ext cx="1280509" cy="3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55602"/>
      </p:ext>
    </p:extLst>
  </p:cSld>
  <p:clrMapOvr>
    <a:masterClrMapping/>
  </p:clrMapOvr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Mibanco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2F05DE-46DC-429C-9DC3-5714E86290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39746" y="315763"/>
            <a:ext cx="1058277" cy="1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51055"/>
      </p:ext>
    </p:extLst>
  </p:cSld>
  <p:clrMapOvr>
    <a:masterClrMapping/>
  </p:clrMapOvr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Credicorp Cap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4BFBD62-6BB3-4EFC-9A08-4F78293A11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25" y="249671"/>
            <a:ext cx="1255406" cy="3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00088"/>
      </p:ext>
    </p:extLst>
  </p:cSld>
  <p:clrMapOvr>
    <a:masterClrMapping/>
  </p:clrMapOvr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_Krea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D129F40E-E949-416B-B22C-ED065C484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94" imgH="496" progId="TCLayout.ActiveDocument.1">
                  <p:embed/>
                </p:oleObj>
              </mc:Choice>
              <mc:Fallback>
                <p:oleObj name="Diapositiva de think-cell" r:id="rId3" imgW="494" imgH="496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D129F40E-E949-416B-B22C-ED065C484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1421B34-7900-4FFB-B4BB-05CD50EB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940" y="249671"/>
            <a:ext cx="10006828" cy="4331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E1BE5-475D-451D-BAAF-B25C30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4787C9-1D9A-CD4A-A8C6-C19F0C8E4AE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9852AAF-A21C-4EE4-ABD4-DED655B855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38" y="6442762"/>
            <a:ext cx="9379397" cy="366056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996"/>
            </a:lvl1pPr>
            <a:lvl2pPr marL="455463" indent="0">
              <a:buNone/>
              <a:defRPr sz="996"/>
            </a:lvl2pPr>
            <a:lvl3pPr marL="910925" indent="0">
              <a:buNone/>
              <a:defRPr sz="996"/>
            </a:lvl3pPr>
            <a:lvl4pPr marL="1366388" indent="0">
              <a:buNone/>
              <a:defRPr sz="996"/>
            </a:lvl4pPr>
            <a:lvl5pPr marL="1821851" indent="0">
              <a:buNone/>
              <a:defRPr sz="996"/>
            </a:lvl5pPr>
          </a:lstStyle>
          <a:p>
            <a:pPr lvl="0"/>
            <a:r>
              <a:rPr lang="es-ES"/>
              <a:t>Notas</a:t>
            </a:r>
            <a:endParaRPr 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97509CA-8D3E-44CA-BCD2-A8614AC3C6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r="34058"/>
          <a:stretch/>
        </p:blipFill>
        <p:spPr>
          <a:xfrm>
            <a:off x="10296768" y="-3114"/>
            <a:ext cx="1850783" cy="913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D553E32-7265-4F39-A1CF-C703AA364E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70"/>
          <a:stretch/>
        </p:blipFill>
        <p:spPr>
          <a:xfrm>
            <a:off x="11021633" y="99020"/>
            <a:ext cx="669196" cy="5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01930"/>
      </p:ext>
    </p:extLst>
  </p:cSld>
  <p:clrMapOvr>
    <a:masterClrMapping/>
  </p:clrMapOvr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C5B746B-A82B-5B76-11EF-DC1F5C5A358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37" y="3184"/>
            <a:ext cx="12150587" cy="6875463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91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271282" y="6516103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08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89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08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9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0925" rtl="0" eaLnBrk="1" fontAlgn="auto" latinLnBrk="0" hangingPunct="1">
              <a:lnSpc>
                <a:spcPct val="100000"/>
              </a:lnSpc>
              <a:spcBef>
                <a:spcPts val="299"/>
              </a:spcBef>
              <a:spcAft>
                <a:spcPts val="299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2714" y="182836"/>
            <a:ext cx="11042123" cy="733383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33649" y="39307"/>
            <a:ext cx="4464225" cy="202748"/>
          </a:xfrm>
        </p:spPr>
        <p:txBody>
          <a:bodyPr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6" name="SlideLogoText">
            <a:extLst>
              <a:ext uri="{FF2B5EF4-FFF2-40B4-BE49-F238E27FC236}">
                <a16:creationId xmlns:a16="http://schemas.microsoft.com/office/drawing/2014/main" id="{17777A94-E817-F658-EB46-039D380FADEF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black">
          <a:xfrm>
            <a:off x="10103460" y="6516732"/>
            <a:ext cx="1134926" cy="13805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0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41569207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171" cy="159154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91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2714" y="182836"/>
            <a:ext cx="11042123" cy="7333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271282" y="6516104"/>
            <a:ext cx="324314" cy="138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08423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97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08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897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2714" y="6518225"/>
            <a:ext cx="7251327" cy="12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7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33649" y="39307"/>
            <a:ext cx="4464225" cy="202748"/>
          </a:xfrm>
        </p:spPr>
        <p:txBody>
          <a:bodyPr wrap="square" anchor="ctr" anchorCtr="0">
            <a:spAutoFit/>
          </a:bodyPr>
          <a:lstStyle>
            <a:lvl1pPr algn="r">
              <a:defRPr sz="797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2714" y="906163"/>
            <a:ext cx="11042123" cy="277704"/>
          </a:xfrm>
        </p:spPr>
        <p:txBody>
          <a:bodyPr anchor="ctr" anchorCtr="0"/>
          <a:lstStyle/>
          <a:p>
            <a:r>
              <a:rPr lang="en-US" sz="1594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93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09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image" Target="../media/image4.e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2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7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ags" Target="../tags/tag17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ags" Target="../tags/tag47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31.xml"/><Relationship Id="rId16" Type="http://schemas.openxmlformats.org/officeDocument/2006/relationships/tags" Target="../tags/tag4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23" Type="http://schemas.openxmlformats.org/officeDocument/2006/relationships/image" Target="../media/image4.emf"/><Relationship Id="rId10" Type="http://schemas.openxmlformats.org/officeDocument/2006/relationships/slideLayout" Target="../slideLayouts/slideLayout39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oleObject" Target="../embeddings/oleObject2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ags" Target="../tags/tag61.xml"/><Relationship Id="rId3" Type="http://schemas.openxmlformats.org/officeDocument/2006/relationships/slideLayout" Target="../slideLayouts/slideLayout46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749989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8" imgW="290" imgH="290" progId="TCLayout.ActiveDocument.1">
                  <p:embed/>
                </p:oleObj>
              </mc:Choice>
              <mc:Fallback>
                <p:oleObj name="Diapositiva de think-cell" r:id="rId18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09522"/>
              </p:ext>
            </p:extLst>
          </p:nvPr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51591"/>
              </p:ext>
            </p:extLst>
          </p:nvPr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57038248-6A4B-2AD5-1247-23FECD910F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359837402"/>
              </p:ext>
            </p:extLst>
          </p:nvPr>
        </p:nvGraphicFramePr>
        <p:xfrm>
          <a:off x="791" y="796"/>
          <a:ext cx="791" cy="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2" imgW="216" imgH="216" progId="TCLayout.ActiveDocument.1">
                  <p:embed/>
                </p:oleObj>
              </mc:Choice>
              <mc:Fallback>
                <p:oleObj name="Diapositiva de think-cell" r:id="rId22" imgW="216" imgH="216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57038248-6A4B-2AD5-1247-23FECD910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91" y="796"/>
                        <a:ext cx="791" cy="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F20EC23-EA72-D1E5-4140-65925C7CBD1A}"/>
              </a:ext>
            </a:extLst>
          </p:cNvPr>
          <p:cNvSpPr txBox="1"/>
          <p:nvPr userDrawn="1"/>
        </p:nvSpPr>
        <p:spPr>
          <a:xfrm>
            <a:off x="5850308" y="2200148"/>
            <a:ext cx="6032498" cy="85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981" baseline="0">
                <a:solidFill>
                  <a:schemeClr val="bg1"/>
                </a:solidFill>
                <a:latin typeface="Calibri" panose="020F0502020204030204" pitchFamily="34" charset="0"/>
              </a:rPr>
              <a:t>Título de presentación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4767FA-6E8E-5B7E-2DD3-391194FF1AA1}"/>
              </a:ext>
            </a:extLst>
          </p:cNvPr>
          <p:cNvSpPr txBox="1"/>
          <p:nvPr userDrawn="1"/>
        </p:nvSpPr>
        <p:spPr>
          <a:xfrm>
            <a:off x="5941403" y="3017833"/>
            <a:ext cx="5455564" cy="25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69" baseline="0">
                <a:solidFill>
                  <a:schemeClr val="bg1"/>
                </a:solidFill>
                <a:latin typeface="Calibri" panose="020F0502020204030204" pitchFamily="34" charset="0"/>
              </a:rPr>
              <a:t>Bajada presentación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2675CA-6D65-0AFA-92B7-3C4981C34A49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971" y="827602"/>
            <a:ext cx="12143608" cy="6047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A1C32B-FF3F-138A-09E2-E58512E4FFBC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53979" y="-223430"/>
            <a:ext cx="3251577" cy="17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7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74998968"/>
              </p:ext>
            </p:ext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8" imgW="290" imgH="290" progId="TCLayout.ActiveDocument.1">
                  <p:embed/>
                </p:oleObj>
              </mc:Choice>
              <mc:Fallback>
                <p:oleObj name="Diapositiva de think-cell" r:id="rId18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09522"/>
              </p:ext>
            </p:extLst>
          </p:nvPr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51591"/>
              </p:ext>
            </p:extLst>
          </p:nvPr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31493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3" r:id="rId14"/>
    <p:sldLayoutId id="2147483834" r:id="rId15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8" imgW="290" imgH="290" progId="TCLayout.ActiveDocument.1">
                  <p:embed/>
                </p:oleObj>
              </mc:Choice>
              <mc:Fallback>
                <p:oleObj name="Diapositiva de think-cell" r:id="rId18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/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/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57038248-6A4B-2AD5-1247-23FECD910F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</p:nvPr>
        </p:nvGraphicFramePr>
        <p:xfrm>
          <a:off x="791" y="796"/>
          <a:ext cx="791" cy="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2" imgW="216" imgH="216" progId="TCLayout.ActiveDocument.1">
                  <p:embed/>
                </p:oleObj>
              </mc:Choice>
              <mc:Fallback>
                <p:oleObj name="Diapositiva de think-cell" r:id="rId22" imgW="216" imgH="216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57038248-6A4B-2AD5-1247-23FECD910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91" y="796"/>
                        <a:ext cx="791" cy="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F20EC23-EA72-D1E5-4140-65925C7CBD1A}"/>
              </a:ext>
            </a:extLst>
          </p:cNvPr>
          <p:cNvSpPr txBox="1"/>
          <p:nvPr userDrawn="1"/>
        </p:nvSpPr>
        <p:spPr>
          <a:xfrm>
            <a:off x="5850308" y="2200148"/>
            <a:ext cx="6032498" cy="85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981" baseline="0">
                <a:solidFill>
                  <a:schemeClr val="bg1"/>
                </a:solidFill>
                <a:latin typeface="Calibri" panose="020F0502020204030204" pitchFamily="34" charset="0"/>
              </a:rPr>
              <a:t>Título de presentación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4767FA-6E8E-5B7E-2DD3-391194FF1AA1}"/>
              </a:ext>
            </a:extLst>
          </p:cNvPr>
          <p:cNvSpPr txBox="1"/>
          <p:nvPr userDrawn="1"/>
        </p:nvSpPr>
        <p:spPr>
          <a:xfrm>
            <a:off x="5941403" y="3017833"/>
            <a:ext cx="5455564" cy="25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69" baseline="0">
                <a:solidFill>
                  <a:schemeClr val="bg1"/>
                </a:solidFill>
                <a:latin typeface="Calibri" panose="020F0502020204030204" pitchFamily="34" charset="0"/>
              </a:rPr>
              <a:t>Bajada presentación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2675CA-6D65-0AFA-92B7-3C4981C34A49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971" y="827602"/>
            <a:ext cx="12143608" cy="6047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A1C32B-FF3F-138A-09E2-E58512E4FFBC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53979" y="-223430"/>
            <a:ext cx="3251577" cy="17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7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1EE4FA1-AA98-4139-AC14-6B5C620C1D50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1583" y="1592"/>
          <a:ext cx="1582" cy="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9" imgW="290" imgH="290" progId="TCLayout.ActiveDocument.1">
                  <p:embed/>
                </p:oleObj>
              </mc:Choice>
              <mc:Fallback>
                <p:oleObj name="Diapositiva de think-cell" r:id="rId19" imgW="290" imgH="290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1EE4FA1-AA98-4139-AC14-6B5C620C1D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3" y="1592"/>
                        <a:ext cx="1582" cy="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B1EB5E4D-981C-4A66-96E2-C07DFFFEE206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alphaModFix amt="40000"/>
          </a:blip>
          <a:srcRect r="11707"/>
          <a:stretch/>
        </p:blipFill>
        <p:spPr>
          <a:xfrm flipH="1">
            <a:off x="-2" y="5930171"/>
            <a:ext cx="5314555" cy="961155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1D6A7-9A77-457F-90C8-E79A97CF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39" y="249671"/>
            <a:ext cx="11567672" cy="4331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 la diapositiva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10983-082D-445F-9F22-687B867D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939" y="1129921"/>
            <a:ext cx="11567671" cy="506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4B856-22A4-48D9-9488-A6033691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7803" y="6457521"/>
            <a:ext cx="488725" cy="3660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95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DD001-8635-4A12-8F2A-D42FB2234612}" type="slidenum">
              <a:rPr lang="en-US" smtClean="0"/>
              <a:pPr/>
              <a:t>‹Nº›</a:t>
            </a:fld>
            <a:endParaRPr lang="en-US"/>
          </a:p>
        </p:txBody>
      </p:sp>
      <p:graphicFrame>
        <p:nvGraphicFramePr>
          <p:cNvPr id="58" name="Tabla 58">
            <a:extLst>
              <a:ext uri="{FF2B5EF4-FFF2-40B4-BE49-F238E27FC236}">
                <a16:creationId xmlns:a16="http://schemas.microsoft.com/office/drawing/2014/main" id="{60BB0685-30D1-49A1-B820-06C8ADF8D364}"/>
              </a:ext>
            </a:extLst>
          </p:cNvPr>
          <p:cNvGraphicFramePr>
            <a:graphicFrameLocks noGrp="1"/>
          </p:cNvGraphicFramePr>
          <p:nvPr/>
        </p:nvGraphicFramePr>
        <p:xfrm>
          <a:off x="-644621" y="0"/>
          <a:ext cx="609769" cy="158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196106640"/>
                    </a:ext>
                  </a:extLst>
                </a:gridCol>
                <a:gridCol w="35869">
                  <a:extLst>
                    <a:ext uri="{9D8B030D-6E8A-4147-A177-3AD203B41FA5}">
                      <a16:colId xmlns:a16="http://schemas.microsoft.com/office/drawing/2014/main" val="2734952404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1186814675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4037667467"/>
                    </a:ext>
                  </a:extLst>
                </a:gridCol>
                <a:gridCol w="143475">
                  <a:extLst>
                    <a:ext uri="{9D8B030D-6E8A-4147-A177-3AD203B41FA5}">
                      <a16:colId xmlns:a16="http://schemas.microsoft.com/office/drawing/2014/main" val="2412638856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3496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0572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9807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0513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0930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25149"/>
                  </a:ext>
                </a:extLst>
              </a:tr>
              <a:tr h="72183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63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3201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3CA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168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89C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8485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D2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D9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E5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26807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D07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E6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6419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B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9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847063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5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3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56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37883"/>
                  </a:ext>
                </a:extLst>
              </a:tr>
            </a:tbl>
          </a:graphicData>
        </a:graphic>
      </p:graphicFrame>
      <p:cxnSp>
        <p:nvCxnSpPr>
          <p:cNvPr id="17" name="Separador numeración">
            <a:extLst>
              <a:ext uri="{FF2B5EF4-FFF2-40B4-BE49-F238E27FC236}">
                <a16:creationId xmlns:a16="http://schemas.microsoft.com/office/drawing/2014/main" id="{56965255-92E8-488C-87D2-6344BDD57A9C}"/>
              </a:ext>
            </a:extLst>
          </p:cNvPr>
          <p:cNvCxnSpPr>
            <a:cxnSpLocks/>
          </p:cNvCxnSpPr>
          <p:nvPr/>
        </p:nvCxnSpPr>
        <p:spPr>
          <a:xfrm>
            <a:off x="11497802" y="6523249"/>
            <a:ext cx="0" cy="234596"/>
          </a:xfrm>
          <a:prstGeom prst="line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40ADFF4-56A4-462A-B3E0-B250C0E4E845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t="39632" b="40075"/>
          <a:stretch/>
        </p:blipFill>
        <p:spPr>
          <a:xfrm>
            <a:off x="9989990" y="6562988"/>
            <a:ext cx="1434750" cy="164783"/>
          </a:xfrm>
          <a:prstGeom prst="rect">
            <a:avLst/>
          </a:prstGeom>
        </p:spPr>
      </p:pic>
      <p:graphicFrame>
        <p:nvGraphicFramePr>
          <p:cNvPr id="10" name="Tabla 21">
            <a:extLst>
              <a:ext uri="{FF2B5EF4-FFF2-40B4-BE49-F238E27FC236}">
                <a16:creationId xmlns:a16="http://schemas.microsoft.com/office/drawing/2014/main" id="{7C37C578-8779-4DB5-A6D6-C9CF185196A1}"/>
              </a:ext>
            </a:extLst>
          </p:cNvPr>
          <p:cNvGraphicFramePr>
            <a:graphicFrameLocks noGrp="1"/>
          </p:cNvGraphicFramePr>
          <p:nvPr/>
        </p:nvGraphicFramePr>
        <p:xfrm>
          <a:off x="-178328" y="6442363"/>
          <a:ext cx="143475" cy="43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5">
                  <a:extLst>
                    <a:ext uri="{9D8B030D-6E8A-4147-A177-3AD203B41FA5}">
                      <a16:colId xmlns:a16="http://schemas.microsoft.com/office/drawing/2014/main" val="3819462841"/>
                    </a:ext>
                  </a:extLst>
                </a:gridCol>
              </a:tblGrid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73849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0308"/>
                  </a:ext>
                </a:extLst>
              </a:tr>
              <a:tr h="144367">
                <a:tc>
                  <a:txBody>
                    <a:bodyPr/>
                    <a:lstStyle/>
                    <a:p>
                      <a:endParaRPr lang="es-PE" sz="10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0274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17874D3-35ED-0072-B6BB-5368A5A62D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86435" y="6689571"/>
            <a:ext cx="1796825" cy="12266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97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31493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hf hdr="0" dt="0"/>
  <p:txStyles>
    <p:titleStyle>
      <a:lvl1pPr algn="l" defTabSz="910925" rtl="0" eaLnBrk="1" latinLnBrk="0" hangingPunct="1">
        <a:lnSpc>
          <a:spcPct val="90000"/>
        </a:lnSpc>
        <a:spcBef>
          <a:spcPct val="0"/>
        </a:spcBef>
        <a:buNone/>
        <a:defRPr sz="2391" b="1" kern="1200">
          <a:solidFill>
            <a:schemeClr val="tx1"/>
          </a:solidFill>
          <a:latin typeface="+mj-lt"/>
          <a:ea typeface="Source Sans Pro" panose="020B0503030403020204" pitchFamily="34" charset="0"/>
          <a:cs typeface="Calibri Light" panose="020F0302020204030204" pitchFamily="34" charset="0"/>
        </a:defRPr>
      </a:lvl1pPr>
    </p:titleStyle>
    <p:bodyStyle>
      <a:lvl1pPr marL="227731" indent="-227731" algn="l" defTabSz="910925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1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3194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‒"/>
        <a:defRPr sz="179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38657" indent="-227731" algn="l" defTabSz="910925" rtl="0" eaLnBrk="1" latinLnBrk="0" hangingPunct="1">
        <a:lnSpc>
          <a:spcPct val="90000"/>
        </a:lnSpc>
        <a:spcBef>
          <a:spcPts val="498"/>
        </a:spcBef>
        <a:buFont typeface="Calibri" panose="020F0502020204030204" pitchFamily="34" charset="0"/>
        <a:buChar char="▪"/>
        <a:defRPr sz="159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4119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4pPr>
      <a:lvl5pPr marL="204958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395" kern="1200">
          <a:solidFill>
            <a:schemeClr val="tx1"/>
          </a:solidFill>
          <a:latin typeface="+mn-lt"/>
          <a:ea typeface="+mn-ea"/>
          <a:cs typeface="+mn-cs"/>
        </a:defRPr>
      </a:lvl5pPr>
      <a:lvl6pPr marL="2505045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960507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415970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871432" indent="-227731" algn="l" defTabSz="910925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5546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2pPr>
      <a:lvl3pPr marL="910925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3pPr>
      <a:lvl4pPr marL="136638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4pPr>
      <a:lvl5pPr marL="182185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5pPr>
      <a:lvl6pPr marL="2277313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6pPr>
      <a:lvl7pPr marL="2732776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7pPr>
      <a:lvl8pPr marL="3188238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algn="l" defTabSz="910925" rtl="0" eaLnBrk="1" latinLnBrk="0" hangingPunct="1">
        <a:defRPr sz="17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B9C6EA2-958C-F615-332E-B906FD847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62" y="3072062"/>
            <a:ext cx="5472435" cy="1771291"/>
          </a:xfrm>
        </p:spPr>
        <p:txBody>
          <a:bodyPr>
            <a:normAutofit/>
          </a:bodyPr>
          <a:lstStyle/>
          <a:p>
            <a:r>
              <a:rPr lang="es-PE" sz="4000" b="1" dirty="0" err="1">
                <a:solidFill>
                  <a:schemeClr val="bg1"/>
                </a:solidFill>
                <a:latin typeface="Flexo" pitchFamily="50" charset="0"/>
              </a:rPr>
              <a:t>Context</a:t>
            </a:r>
            <a:r>
              <a:rPr lang="es-PE" sz="4000" b="1" dirty="0">
                <a:solidFill>
                  <a:schemeClr val="bg1"/>
                </a:solidFill>
                <a:latin typeface="Flexo" pitchFamily="50" charset="0"/>
              </a:rPr>
              <a:t> </a:t>
            </a:r>
            <a:r>
              <a:rPr lang="es-PE" sz="4000" b="1" dirty="0" err="1">
                <a:solidFill>
                  <a:schemeClr val="bg1"/>
                </a:solidFill>
                <a:latin typeface="Flexo" pitchFamily="50" charset="0"/>
              </a:rPr>
              <a:t>Engineering</a:t>
            </a:r>
            <a:r>
              <a:rPr lang="es-PE" sz="4000" b="1" dirty="0">
                <a:solidFill>
                  <a:schemeClr val="bg1"/>
                </a:solidFill>
                <a:latin typeface="Flexo" pitchFamily="50" charset="0"/>
              </a:rPr>
              <a:t> y Ambigüedad en Agentes Conversacionales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FC8C3-F4EA-1FCF-0A70-B0E233B55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59" y="6141866"/>
            <a:ext cx="3488321" cy="357776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0875" tIns="45438" rIns="90875" bIns="45438" rtlCol="0" anchor="b"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es-PE" sz="1420" b="1" dirty="0">
                <a:solidFill>
                  <a:schemeClr val="bg1"/>
                </a:solidFill>
                <a:latin typeface="Flexo" pitchFamily="50" charset="0"/>
              </a:rPr>
              <a:t>IA Academy · Programa IA Credicorp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49AA01-E3A0-FA6F-A3F3-6B367FB4D84D}"/>
              </a:ext>
            </a:extLst>
          </p:cNvPr>
          <p:cNvSpPr txBox="1"/>
          <p:nvPr/>
        </p:nvSpPr>
        <p:spPr>
          <a:xfrm>
            <a:off x="165961" y="5042850"/>
            <a:ext cx="6582681" cy="36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760" b="1" dirty="0">
                <a:solidFill>
                  <a:schemeClr val="bg1"/>
                </a:solidFill>
                <a:latin typeface="Flexo" pitchFamily="50" charset="0"/>
              </a:rPr>
              <a:t>Kevin Gómez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5161C4-EF3C-3CFC-8400-712F7E79DB2E}"/>
              </a:ext>
            </a:extLst>
          </p:cNvPr>
          <p:cNvSpPr txBox="1"/>
          <p:nvPr/>
        </p:nvSpPr>
        <p:spPr>
          <a:xfrm>
            <a:off x="9569116" y="6075431"/>
            <a:ext cx="2525215" cy="664797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860" b="1" dirty="0">
                <a:solidFill>
                  <a:schemeClr val="bg1"/>
                </a:solidFill>
                <a:latin typeface="Flexo" pitchFamily="50" charset="0"/>
              </a:rPr>
              <a:t>28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22968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adroTexto 101">
            <a:extLst>
              <a:ext uri="{FF2B5EF4-FFF2-40B4-BE49-F238E27FC236}">
                <a16:creationId xmlns:a16="http://schemas.microsoft.com/office/drawing/2014/main" id="{3A5FAB19-2D5A-DE48-9939-BF0460153473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200" b="1" dirty="0">
                <a:solidFill>
                  <a:srgbClr val="FFFFFF"/>
                </a:solidFill>
                <a:latin typeface="Aptos Display"/>
              </a:rPr>
              <a:t>Resumen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54BF1A8F-6DC1-B44C-B720-61FEC00FA8D8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462852E-12AA-BF40-A54D-807E176A31CA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20">
                <a:solidFill>
                  <a:srgbClr val="D8DEE8"/>
                </a:solidFill>
                <a:latin typeface="Aptos"/>
              </a:rPr>
              <a:t>Fuentes: Documentación oficial de Pydantic, FastAPI y Microsoft Agent Framework.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8735E8D5-2D02-184B-9289-69BE390E3520}"/>
              </a:ext>
            </a:extLst>
          </p:cNvPr>
          <p:cNvSpPr/>
          <p:nvPr/>
        </p:nvSpPr>
        <p:spPr>
          <a:xfrm>
            <a:off x="736600" y="13208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6C7DB6-75B4-E549-BDF7-A60DFA72E61A}"/>
              </a:ext>
            </a:extLst>
          </p:cNvPr>
          <p:cNvSpPr txBox="1"/>
          <p:nvPr/>
        </p:nvSpPr>
        <p:spPr>
          <a:xfrm>
            <a:off x="736600" y="14351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BA5D60-510D-7846-BAC5-1389114BC8DE}"/>
              </a:ext>
            </a:extLst>
          </p:cNvPr>
          <p:cNvSpPr/>
          <p:nvPr/>
        </p:nvSpPr>
        <p:spPr>
          <a:xfrm>
            <a:off x="939800" y="17780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CCA77F-123A-3A4C-87A5-967B5F3A7323}"/>
              </a:ext>
            </a:extLst>
          </p:cNvPr>
          <p:cNvSpPr txBox="1"/>
          <p:nvPr/>
        </p:nvSpPr>
        <p:spPr>
          <a:xfrm>
            <a:off x="1524000" y="13081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800" b="1" dirty="0">
                <a:solidFill>
                  <a:srgbClr val="E7A1D3"/>
                </a:solidFill>
                <a:latin typeface="Aptos"/>
              </a:rPr>
              <a:t>Problema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E2C20D-072D-414D-BFE0-1ED8B08C2446}"/>
              </a:ext>
            </a:extLst>
          </p:cNvPr>
          <p:cNvSpPr txBox="1"/>
          <p:nvPr/>
        </p:nvSpPr>
        <p:spPr>
          <a:xfrm>
            <a:off x="1524000" y="16002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Por qué dar más contexto no garantiza respuestas correctas cuando la consulta o intención es ambigua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605E6C9-26FF-574A-BA31-2960CFB594AA}"/>
              </a:ext>
            </a:extLst>
          </p:cNvPr>
          <p:cNvSpPr/>
          <p:nvPr/>
        </p:nvSpPr>
        <p:spPr>
          <a:xfrm>
            <a:off x="736600" y="20320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ACA867-7AE5-264C-AEAB-A905A51D0ABC}"/>
              </a:ext>
            </a:extLst>
          </p:cNvPr>
          <p:cNvSpPr txBox="1"/>
          <p:nvPr/>
        </p:nvSpPr>
        <p:spPr>
          <a:xfrm>
            <a:off x="736600" y="21463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CE9BA7-9B61-374B-BE93-4DE10EBDB3E3}"/>
              </a:ext>
            </a:extLst>
          </p:cNvPr>
          <p:cNvSpPr/>
          <p:nvPr/>
        </p:nvSpPr>
        <p:spPr>
          <a:xfrm>
            <a:off x="939800" y="24892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6E61313-031D-9448-915F-8E5E5F86F5B2}"/>
              </a:ext>
            </a:extLst>
          </p:cNvPr>
          <p:cNvSpPr txBox="1"/>
          <p:nvPr/>
        </p:nvSpPr>
        <p:spPr>
          <a:xfrm>
            <a:off x="1524000" y="20193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800" b="1" dirty="0">
                <a:solidFill>
                  <a:srgbClr val="E7A1D3"/>
                </a:solidFill>
                <a:latin typeface="Aptos"/>
              </a:rPr>
              <a:t>Qué es </a:t>
            </a:r>
            <a:r>
              <a:rPr lang="es-US" sz="1800" b="1" dirty="0" err="1">
                <a:solidFill>
                  <a:srgbClr val="E7A1D3"/>
                </a:solidFill>
                <a:latin typeface="Aptos"/>
              </a:rPr>
              <a:t>Context</a:t>
            </a:r>
            <a:r>
              <a:rPr lang="es-US" sz="1800" b="1" dirty="0">
                <a:solidFill>
                  <a:srgbClr val="E7A1D3"/>
                </a:solidFill>
                <a:latin typeface="Aptos"/>
              </a:rPr>
              <a:t> </a:t>
            </a:r>
            <a:r>
              <a:rPr lang="es-US" sz="1800" b="1" dirty="0" err="1">
                <a:solidFill>
                  <a:srgbClr val="E7A1D3"/>
                </a:solidFill>
                <a:latin typeface="Aptos"/>
              </a:rPr>
              <a:t>Engineering</a:t>
            </a:r>
            <a:endParaRPr lang="es-US" sz="1800" b="1" dirty="0">
              <a:solidFill>
                <a:srgbClr val="E7A1D3"/>
              </a:solidFill>
              <a:latin typeface="Apto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6CD4C2-9FFA-0248-925E-3AC4F61ADD17}"/>
              </a:ext>
            </a:extLst>
          </p:cNvPr>
          <p:cNvSpPr txBox="1"/>
          <p:nvPr/>
        </p:nvSpPr>
        <p:spPr>
          <a:xfrm>
            <a:off x="1524000" y="23114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Seleccionar y organizar instrucciones, memoria, herramientas y evidencia para orientar al modelo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24ED9AA-92B3-6344-9270-FE12527F80E9}"/>
              </a:ext>
            </a:extLst>
          </p:cNvPr>
          <p:cNvSpPr/>
          <p:nvPr/>
        </p:nvSpPr>
        <p:spPr>
          <a:xfrm>
            <a:off x="736600" y="27432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D981A1-5FFB-FC4A-9D1A-7F22B8A44969}"/>
              </a:ext>
            </a:extLst>
          </p:cNvPr>
          <p:cNvSpPr txBox="1"/>
          <p:nvPr/>
        </p:nvSpPr>
        <p:spPr>
          <a:xfrm>
            <a:off x="736600" y="28575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B3723B-3926-B246-B718-4B3D0898A1D5}"/>
              </a:ext>
            </a:extLst>
          </p:cNvPr>
          <p:cNvSpPr/>
          <p:nvPr/>
        </p:nvSpPr>
        <p:spPr>
          <a:xfrm>
            <a:off x="939800" y="32004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71E048-90A3-CA45-9BCB-98FE0B06A8E7}"/>
              </a:ext>
            </a:extLst>
          </p:cNvPr>
          <p:cNvSpPr txBox="1"/>
          <p:nvPr/>
        </p:nvSpPr>
        <p:spPr>
          <a:xfrm>
            <a:off x="1524000" y="27305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800" b="1" dirty="0">
                <a:solidFill>
                  <a:srgbClr val="E7A1D3"/>
                </a:solidFill>
                <a:latin typeface="Aptos"/>
              </a:rPr>
              <a:t>Modelo Probabilístico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07B6ECC-CCF6-BB40-B617-11FA9FE7F01F}"/>
              </a:ext>
            </a:extLst>
          </p:cNvPr>
          <p:cNvSpPr txBox="1"/>
          <p:nvPr/>
        </p:nvSpPr>
        <p:spPr>
          <a:xfrm>
            <a:off x="1524000" y="30226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El contexto modifica las probabilidades de los tokens y reduce la incertidumbre sobre la respuesta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03AB4BF-5A43-B548-8344-0C7FA6B32B7B}"/>
              </a:ext>
            </a:extLst>
          </p:cNvPr>
          <p:cNvSpPr/>
          <p:nvPr/>
        </p:nvSpPr>
        <p:spPr>
          <a:xfrm>
            <a:off x="736600" y="34544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0DF84CF-1985-FD4A-BCC3-D9DDC7770559}"/>
              </a:ext>
            </a:extLst>
          </p:cNvPr>
          <p:cNvSpPr txBox="1"/>
          <p:nvPr/>
        </p:nvSpPr>
        <p:spPr>
          <a:xfrm>
            <a:off x="736600" y="35687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A997566-CC93-9446-8FF0-0F852DA7B0E6}"/>
              </a:ext>
            </a:extLst>
          </p:cNvPr>
          <p:cNvSpPr/>
          <p:nvPr/>
        </p:nvSpPr>
        <p:spPr>
          <a:xfrm>
            <a:off x="939800" y="39116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12570D-9EEE-E648-B37D-494EC1678A03}"/>
              </a:ext>
            </a:extLst>
          </p:cNvPr>
          <p:cNvSpPr txBox="1"/>
          <p:nvPr/>
        </p:nvSpPr>
        <p:spPr>
          <a:xfrm>
            <a:off x="1524000" y="34417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s-US" sz="1800" b="1" dirty="0">
                <a:solidFill>
                  <a:srgbClr val="E7A1D3"/>
                </a:solidFill>
                <a:latin typeface="Aptos"/>
              </a:rPr>
              <a:t>Ambigüedad</a:t>
            </a:r>
          </a:p>
          <a:p>
            <a:pPr algn="l"/>
            <a:endParaRPr lang="es-US" sz="1800" b="1" dirty="0">
              <a:solidFill>
                <a:srgbClr val="E7A1D3"/>
              </a:solidFill>
              <a:latin typeface="Apto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730F51F-9A4A-6A42-B51C-8F94703DBE31}"/>
              </a:ext>
            </a:extLst>
          </p:cNvPr>
          <p:cNvSpPr txBox="1"/>
          <p:nvPr/>
        </p:nvSpPr>
        <p:spPr>
          <a:xfrm>
            <a:off x="1524000" y="37338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Una misma consulta puede representar varias intenciones plausibles y provocar respuestas incorrectas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A4A2643-D57C-6E4D-A879-6AADA345C2DA}"/>
              </a:ext>
            </a:extLst>
          </p:cNvPr>
          <p:cNvSpPr/>
          <p:nvPr/>
        </p:nvSpPr>
        <p:spPr>
          <a:xfrm>
            <a:off x="736600" y="41656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1B7448-231C-054B-817E-BF1486E1623C}"/>
              </a:ext>
            </a:extLst>
          </p:cNvPr>
          <p:cNvSpPr txBox="1"/>
          <p:nvPr/>
        </p:nvSpPr>
        <p:spPr>
          <a:xfrm>
            <a:off x="736600" y="42799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1D33555-C6DD-264E-B0A9-EE1099BBD0CD}"/>
              </a:ext>
            </a:extLst>
          </p:cNvPr>
          <p:cNvSpPr/>
          <p:nvPr/>
        </p:nvSpPr>
        <p:spPr>
          <a:xfrm>
            <a:off x="939800" y="46228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1924E99-CCCD-EE40-B7F4-9D20994A2ACC}"/>
              </a:ext>
            </a:extLst>
          </p:cNvPr>
          <p:cNvSpPr txBox="1"/>
          <p:nvPr/>
        </p:nvSpPr>
        <p:spPr>
          <a:xfrm>
            <a:off x="1524000" y="41529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800" b="1" dirty="0">
                <a:solidFill>
                  <a:srgbClr val="E7A1D3"/>
                </a:solidFill>
                <a:latin typeface="Aptos"/>
              </a:rPr>
              <a:t>Cuándo clarificar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374DA2C-3F61-9B40-91E3-16A15CEBF917}"/>
              </a:ext>
            </a:extLst>
          </p:cNvPr>
          <p:cNvSpPr txBox="1"/>
          <p:nvPr/>
        </p:nvSpPr>
        <p:spPr>
          <a:xfrm>
            <a:off x="1524000" y="44450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Cómo decidir entre responder o preguntar según la incertidumbre, el costo de interacción y el riesgo de error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42F04291-4B4E-E44D-8963-A1166B14A098}"/>
              </a:ext>
            </a:extLst>
          </p:cNvPr>
          <p:cNvSpPr/>
          <p:nvPr/>
        </p:nvSpPr>
        <p:spPr>
          <a:xfrm>
            <a:off x="736600" y="48768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A5635A2-9316-0C49-9153-AF1E5D6C1D0F}"/>
              </a:ext>
            </a:extLst>
          </p:cNvPr>
          <p:cNvSpPr txBox="1"/>
          <p:nvPr/>
        </p:nvSpPr>
        <p:spPr>
          <a:xfrm>
            <a:off x="736600" y="49911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FA685B2-8520-6348-A35D-8BFFC8A1A74F}"/>
              </a:ext>
            </a:extLst>
          </p:cNvPr>
          <p:cNvSpPr/>
          <p:nvPr/>
        </p:nvSpPr>
        <p:spPr>
          <a:xfrm>
            <a:off x="939800" y="5334000"/>
            <a:ext cx="50800" cy="254000"/>
          </a:xfrm>
          <a:prstGeom prst="rect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043EA08-F495-274A-B4C9-A1CF927B9633}"/>
              </a:ext>
            </a:extLst>
          </p:cNvPr>
          <p:cNvSpPr txBox="1"/>
          <p:nvPr/>
        </p:nvSpPr>
        <p:spPr>
          <a:xfrm>
            <a:off x="1524000" y="48641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800" b="1" dirty="0">
                <a:solidFill>
                  <a:srgbClr val="E7A1D3"/>
                </a:solidFill>
                <a:latin typeface="Aptos"/>
              </a:rPr>
              <a:t>Demo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30C00A9-C49B-724A-9848-C4B30336EE7F}"/>
              </a:ext>
            </a:extLst>
          </p:cNvPr>
          <p:cNvSpPr txBox="1"/>
          <p:nvPr/>
        </p:nvSpPr>
        <p:spPr>
          <a:xfrm>
            <a:off x="1524000" y="51562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Aplicación práctica del enfoque para detectar ambigüedad, recuperar evidencia y formular una aclaración cuando sea necesario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EB059483-3D65-CF48-BD4B-417F799A77EC}"/>
              </a:ext>
            </a:extLst>
          </p:cNvPr>
          <p:cNvSpPr/>
          <p:nvPr/>
        </p:nvSpPr>
        <p:spPr>
          <a:xfrm>
            <a:off x="736600" y="5588000"/>
            <a:ext cx="457200" cy="457200"/>
          </a:xfrm>
          <a:prstGeom prst="ellipse">
            <a:avLst/>
          </a:prstGeom>
          <a:solidFill>
            <a:srgbClr val="00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800" b="1" dirty="0" err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D453191-5234-0B4A-8A94-2BA279E2752F}"/>
              </a:ext>
            </a:extLst>
          </p:cNvPr>
          <p:cNvSpPr txBox="1"/>
          <p:nvPr/>
        </p:nvSpPr>
        <p:spPr>
          <a:xfrm>
            <a:off x="736600" y="5702300"/>
            <a:ext cx="4572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s-US" sz="1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EDA2EAB-CCEE-744C-9BF0-C74CAADF5B2E}"/>
              </a:ext>
            </a:extLst>
          </p:cNvPr>
          <p:cNvSpPr txBox="1"/>
          <p:nvPr/>
        </p:nvSpPr>
        <p:spPr>
          <a:xfrm>
            <a:off x="1524000" y="5575300"/>
            <a:ext cx="228600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800" b="1" dirty="0">
                <a:solidFill>
                  <a:srgbClr val="E7A1D3"/>
                </a:solidFill>
                <a:latin typeface="Aptos"/>
              </a:rPr>
              <a:t>Conclusiones y Anexos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6A17C45-D4AC-A444-9F07-6E7FD911C82E}"/>
              </a:ext>
            </a:extLst>
          </p:cNvPr>
          <p:cNvSpPr txBox="1"/>
          <p:nvPr/>
        </p:nvSpPr>
        <p:spPr>
          <a:xfrm>
            <a:off x="1524000" y="5867400"/>
            <a:ext cx="876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100" b="1" dirty="0">
                <a:solidFill>
                  <a:srgbClr val="FFFFFF"/>
                </a:solidFill>
                <a:latin typeface="Aptos"/>
              </a:rPr>
              <a:t>Síntesis de los hallazgos y desarrollo matemático de las propiedades y decisiones probabilísticas</a:t>
            </a:r>
            <a:r>
              <a:rPr lang="es-US" sz="11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14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adroTexto 81">
            <a:extLst>
              <a:ext uri="{FF2B5EF4-FFF2-40B4-BE49-F238E27FC236}">
                <a16:creationId xmlns:a16="http://schemas.microsoft.com/office/drawing/2014/main" id="{53EB78B0-3034-F94F-86DE-A430B010F31A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El PROBLEMA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2FF6BB7E-9E0B-9942-8D48-5C202BE433BE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C4A9D21-3479-B744-B564-7E8629E8D084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documentación oficial de Pydantic; conceptos de validación de datos no confiables.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ECF281-5327-4096-C098-DACDF2B6FF5D}"/>
              </a:ext>
            </a:extLst>
          </p:cNvPr>
          <p:cNvSpPr>
            <a:spLocks noGrp="1"/>
          </p:cNvSpPr>
          <p:nvPr/>
        </p:nvSpPr>
        <p:spPr>
          <a:xfrm>
            <a:off x="685800" y="1636713"/>
            <a:ext cx="10820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lang="es-PE" sz="3600" b="1" noProof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Una </a:t>
            </a:r>
            <a:r>
              <a:rPr lang="es-PE" sz="3600" b="1" u="sng" noProof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pregunta</a:t>
            </a:r>
            <a:r>
              <a:rPr lang="es-PE" sz="3600" b="1" noProof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puede tener </a:t>
            </a:r>
            <a:r>
              <a:rPr lang="es-PE" sz="3600" b="1" u="sng" noProof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varias respuestas</a:t>
            </a:r>
            <a:r>
              <a:rPr lang="es-PE" sz="3600" b="1" noProof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correctas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18CB3F74-21AA-A966-C9F7-DE66BB13811E}"/>
              </a:ext>
            </a:extLst>
          </p:cNvPr>
          <p:cNvSpPr>
            <a:spLocks noGrp="1"/>
          </p:cNvSpPr>
          <p:nvPr/>
        </p:nvSpPr>
        <p:spPr>
          <a:xfrm>
            <a:off x="685800" y="2384425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A3EE8AB-811E-7676-A86B-CACF9414C229}"/>
              </a:ext>
            </a:extLst>
          </p:cNvPr>
          <p:cNvSpPr>
            <a:spLocks noGrp="1"/>
          </p:cNvSpPr>
          <p:nvPr/>
        </p:nvSpPr>
        <p:spPr>
          <a:xfrm>
            <a:off x="1314450" y="2565400"/>
            <a:ext cx="9563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lang="es-PE" sz="3600" b="1" i="0" noProof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“¿Cuál es el banco más grande?”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340B7FB-723C-EF62-41B7-8A05F7CACA43}"/>
              </a:ext>
            </a:extLst>
          </p:cNvPr>
          <p:cNvSpPr>
            <a:spLocks noGrp="1"/>
          </p:cNvSpPr>
          <p:nvPr/>
        </p:nvSpPr>
        <p:spPr>
          <a:xfrm>
            <a:off x="904875" y="38989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45E0D0">
              <a:alpha val="1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0985F60-8A00-E2FD-F495-9AD58054EB0D}"/>
              </a:ext>
            </a:extLst>
          </p:cNvPr>
          <p:cNvSpPr>
            <a:spLocks noGrp="1"/>
          </p:cNvSpPr>
          <p:nvPr/>
        </p:nvSpPr>
        <p:spPr>
          <a:xfrm>
            <a:off x="1019175" y="39751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E84511A-FCD5-EFB5-9FFE-E3924E32610E}"/>
              </a:ext>
            </a:extLst>
          </p:cNvPr>
          <p:cNvSpPr>
            <a:spLocks noGrp="1"/>
          </p:cNvSpPr>
          <p:nvPr/>
        </p:nvSpPr>
        <p:spPr>
          <a:xfrm>
            <a:off x="3000375" y="38989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7769F4">
              <a:alpha val="12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07C5019-DB52-4225-EC0D-4C879CFB3321}"/>
              </a:ext>
            </a:extLst>
          </p:cNvPr>
          <p:cNvSpPr>
            <a:spLocks noGrp="1"/>
          </p:cNvSpPr>
          <p:nvPr/>
        </p:nvSpPr>
        <p:spPr>
          <a:xfrm>
            <a:off x="3114675" y="39751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04971C4-FD0E-CBC4-40B4-4DE16803207F}"/>
              </a:ext>
            </a:extLst>
          </p:cNvPr>
          <p:cNvSpPr>
            <a:spLocks noGrp="1"/>
          </p:cNvSpPr>
          <p:nvPr/>
        </p:nvSpPr>
        <p:spPr>
          <a:xfrm>
            <a:off x="5095875" y="38989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B66E">
              <a:alpha val="1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F1B680-14EE-7BBF-CD62-5DBBEF5F53F9}"/>
              </a:ext>
            </a:extLst>
          </p:cNvPr>
          <p:cNvSpPr>
            <a:spLocks noGrp="1"/>
          </p:cNvSpPr>
          <p:nvPr/>
        </p:nvSpPr>
        <p:spPr>
          <a:xfrm>
            <a:off x="5210175" y="39751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40052F35-5A52-680F-DFD8-3ECAE44F1B3C}"/>
              </a:ext>
            </a:extLst>
          </p:cNvPr>
          <p:cNvSpPr>
            <a:spLocks noGrp="1"/>
          </p:cNvSpPr>
          <p:nvPr/>
        </p:nvSpPr>
        <p:spPr>
          <a:xfrm>
            <a:off x="7191375" y="38989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6F7D">
              <a:alpha val="12000"/>
            </a:srgbClr>
          </a:solidFill>
          <a:ln w="9525">
            <a:solidFill>
              <a:srgbClr val="FF6F7D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5664F4-917D-EB15-0944-C98065090592}"/>
              </a:ext>
            </a:extLst>
          </p:cNvPr>
          <p:cNvSpPr>
            <a:spLocks noGrp="1"/>
          </p:cNvSpPr>
          <p:nvPr/>
        </p:nvSpPr>
        <p:spPr>
          <a:xfrm>
            <a:off x="7305675" y="39751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lang="es-PE" sz="1400" b="1" i="0" noProof="0">
                <a:solidFill>
                  <a:srgbClr val="101526"/>
                </a:solidFill>
                <a:latin typeface="Aptos"/>
                <a:ea typeface="Aptos"/>
                <a:cs typeface="Aptos"/>
              </a:rPr>
              <a:t>ingresos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6A0292D-A471-43F8-18D6-B0D98744646E}"/>
              </a:ext>
            </a:extLst>
          </p:cNvPr>
          <p:cNvSpPr>
            <a:spLocks noGrp="1"/>
          </p:cNvSpPr>
          <p:nvPr/>
        </p:nvSpPr>
        <p:spPr>
          <a:xfrm>
            <a:off x="9286875" y="38989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62D590">
              <a:alpha val="12000"/>
            </a:srgbClr>
          </a:solidFill>
          <a:ln w="9525">
            <a:solidFill>
              <a:srgbClr val="62D59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3CC429F-F344-774D-1A87-BEA191C2A0BA}"/>
              </a:ext>
            </a:extLst>
          </p:cNvPr>
          <p:cNvSpPr>
            <a:spLocks noGrp="1"/>
          </p:cNvSpPr>
          <p:nvPr/>
        </p:nvSpPr>
        <p:spPr>
          <a:xfrm>
            <a:off x="9401175" y="39751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presencia</a:t>
            </a:r>
            <a:endParaRPr sz="1400" b="1" i="0" dirty="0">
              <a:solidFill>
                <a:srgbClr val="10152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7D9CD26-C637-CF81-DBF0-C8319D4353D3}"/>
              </a:ext>
            </a:extLst>
          </p:cNvPr>
          <p:cNvSpPr>
            <a:spLocks noGrp="1"/>
          </p:cNvSpPr>
          <p:nvPr/>
        </p:nvSpPr>
        <p:spPr>
          <a:xfrm>
            <a:off x="1597025" y="4895849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167" lnSpcReduction="1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dirty="0">
                <a:solidFill/>
                <a:latin typeface="Aptos"/>
                <a:ea typeface="Aptos"/>
                <a:cs typeface="Aptos"/>
              </a:rPr>
              <a:t>Una </a:t>
            </a:r>
            <a:r>
              <a:rPr lang="es-PE" noProof="0" dirty="0">
                <a:solidFill/>
                <a:latin typeface="Aptos"/>
                <a:ea typeface="Aptos"/>
                <a:cs typeface="Aptos"/>
              </a:rPr>
              <a:t>respuesta puede ser correcta y, aun así, interpretar </a:t>
            </a:r>
            <a:r>
              <a:rPr dirty="0">
                <a:solidFill/>
                <a:latin typeface="Aptos"/>
                <a:ea typeface="Aptos"/>
                <a:cs typeface="Aptos"/>
              </a:rPr>
              <a:t>mal </a:t>
            </a:r>
            <a:r>
              <a:rPr lang="es-PE" dirty="0">
                <a:solidFill/>
                <a:latin typeface="Aptos"/>
                <a:ea typeface="Aptos"/>
                <a:cs typeface="Aptos"/>
              </a:rPr>
              <a:t>el contexto o </a:t>
            </a:r>
            <a:r>
              <a:rPr dirty="0">
                <a:solidFill/>
                <a:latin typeface="Aptos"/>
                <a:ea typeface="Aptos"/>
                <a:cs typeface="Aptos"/>
              </a:rPr>
              <a:t>la </a:t>
            </a:r>
            <a:r>
              <a:rPr lang="es-PE" noProof="0" dirty="0">
                <a:solidFill/>
                <a:latin typeface="Aptos"/>
                <a:ea typeface="Aptos"/>
                <a:cs typeface="Aptos"/>
              </a:rPr>
              <a:t>intención</a:t>
            </a:r>
            <a:r>
              <a:rPr dirty="0">
                <a:solidFill/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63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CBAECA-F6A5-1443-A4BE-4FBD2563F7C7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QUÉ ES CONTEXT ENGINEERING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2F2DAED-1110-384A-8D8E-40F9F76D9A38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EDD24A5-24AB-6D4B-B228-3C48F2316420}"/>
              </a:ext>
            </a:extLst>
          </p:cNvPr>
          <p:cNvSpPr/>
          <p:nvPr/>
        </p:nvSpPr>
        <p:spPr>
          <a:xfrm>
            <a:off x="1171510" y="1532731"/>
            <a:ext cx="2882900" cy="1905000"/>
          </a:xfrm>
          <a:prstGeom prst="rect">
            <a:avLst/>
          </a:prstGeom>
          <a:solidFill>
            <a:srgbClr val="DDF5F7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8F3D559-6C87-4944-B274-AFF99AC13563}"/>
              </a:ext>
            </a:extLst>
          </p:cNvPr>
          <p:cNvSpPr/>
          <p:nvPr/>
        </p:nvSpPr>
        <p:spPr>
          <a:xfrm>
            <a:off x="1171510" y="1532731"/>
            <a:ext cx="101600" cy="19050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4FD165B-6E88-5649-A468-2FA47F714BF6}"/>
              </a:ext>
            </a:extLst>
          </p:cNvPr>
          <p:cNvSpPr txBox="1"/>
          <p:nvPr/>
        </p:nvSpPr>
        <p:spPr>
          <a:xfrm>
            <a:off x="1374710" y="1697831"/>
            <a:ext cx="26797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50" b="1" dirty="0">
                <a:solidFill>
                  <a:srgbClr val="00A6B0"/>
                </a:solidFill>
                <a:latin typeface="Aptos"/>
              </a:rPr>
              <a:t>DEFINICIÓN OPERACIONAL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F9F591D-9871-FE46-95CD-7C28954C1E1E}"/>
              </a:ext>
            </a:extLst>
          </p:cNvPr>
          <p:cNvSpPr txBox="1"/>
          <p:nvPr/>
        </p:nvSpPr>
        <p:spPr>
          <a:xfrm>
            <a:off x="1374710" y="2066131"/>
            <a:ext cx="2247900" cy="1295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MX" sz="1400" dirty="0">
                <a:solidFill>
                  <a:srgbClr val="3D4B5F"/>
                </a:solidFill>
                <a:latin typeface="Aptos"/>
              </a:rPr>
              <a:t>Seleccionar, generar, estructurar y administrar la información que condiciona la respuesta.</a:t>
            </a:r>
            <a:endParaRPr lang="es-US" sz="1400" dirty="0">
              <a:solidFill>
                <a:srgbClr val="3D4B5F"/>
              </a:solidFill>
              <a:latin typeface="Aptos"/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77E0401C-A5BF-BC4A-BC56-E034121BD09F}"/>
              </a:ext>
            </a:extLst>
          </p:cNvPr>
          <p:cNvSpPr/>
          <p:nvPr/>
        </p:nvSpPr>
        <p:spPr>
          <a:xfrm>
            <a:off x="1171510" y="5143500"/>
            <a:ext cx="9804529" cy="1219200"/>
          </a:xfrm>
          <a:prstGeom prst="rect">
            <a:avLst/>
          </a:prstGeom>
          <a:solidFill>
            <a:srgbClr val="2634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700A38E-0FEF-D046-A5F1-89BD539B881C}"/>
              </a:ext>
            </a:extLst>
          </p:cNvPr>
          <p:cNvSpPr txBox="1"/>
          <p:nvPr/>
        </p:nvSpPr>
        <p:spPr>
          <a:xfrm>
            <a:off x="1721550" y="5448300"/>
            <a:ext cx="8704450" cy="749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600" b="1" dirty="0">
                <a:solidFill>
                  <a:srgbClr val="FFFFFF"/>
                </a:solidFill>
                <a:latin typeface="Aptos"/>
              </a:rPr>
              <a:t>No es solo </a:t>
            </a:r>
            <a:r>
              <a:rPr lang="es-MX" sz="1600" b="1" dirty="0" err="1">
                <a:solidFill>
                  <a:srgbClr val="FFFFFF"/>
                </a:solidFill>
                <a:latin typeface="Aptos"/>
              </a:rPr>
              <a:t>prompt</a:t>
            </a:r>
            <a:r>
              <a:rPr lang="es-MX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es-MX" sz="1600" b="1" dirty="0" err="1">
                <a:solidFill>
                  <a:srgbClr val="FFFFFF"/>
                </a:solidFill>
                <a:latin typeface="Aptos"/>
              </a:rPr>
              <a:t>engineering</a:t>
            </a:r>
            <a:r>
              <a:rPr lang="es-MX" sz="1600" b="1" dirty="0">
                <a:solidFill>
                  <a:srgbClr val="FFFFFF"/>
                </a:solidFill>
                <a:latin typeface="Aptos"/>
              </a:rPr>
              <a:t>. Incluye recuperación, memoria, herramientas, estructura, compresión y ensamblaje dinámico</a:t>
            </a:r>
            <a:r>
              <a:rPr lang="es-US" sz="16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9955800-2185-7247-8AD9-DC6269009478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Fuentes: docs.pydantic.dev · BaseModel, TypeAdapter, Serialization y JSON Schema.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F3E2FD4-2D52-BFF4-5C67-624F32EB84E2}"/>
              </a:ext>
            </a:extLst>
          </p:cNvPr>
          <p:cNvSpPr>
            <a:spLocks noGrp="1"/>
          </p:cNvSpPr>
          <p:nvPr/>
        </p:nvSpPr>
        <p:spPr>
          <a:xfrm>
            <a:off x="4518089" y="1117600"/>
            <a:ext cx="645795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D9D4AF9-DD33-36AE-FE75-E0E962E58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27639" y="1955468"/>
            <a:ext cx="6038850" cy="2019964"/>
          </a:xfrm>
          <a:prstGeom prst="roundRect">
            <a:avLst>
              <a:gd name="adj" fmla="val 4167"/>
            </a:avLst>
          </a:prstGeom>
        </p:spPr>
      </p:pic>
    </p:spTree>
    <p:extLst>
      <p:ext uri="{BB962C8B-B14F-4D97-AF65-F5344CB8AC3E}">
        <p14:creationId xmlns:p14="http://schemas.microsoft.com/office/powerpoint/2010/main" val="19712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92BC8EB-BB5B-8748-AD76-D9FA762390A3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COMPONENTES DE CONTEXT ENGINEERING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3384D6-5D31-A346-92BB-234A5994B0F5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8F35894B-2509-334B-A58D-8CC703F4321B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Fuentes: documentación oficial de Pydantic, Pydantic AI y FastAPI.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5E949FA-6618-58AE-C0AC-07B9605BD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554480"/>
            <a:ext cx="7315200" cy="411480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3BE6D112-7066-0AFF-300C-ABE53E07F7FB}"/>
              </a:ext>
            </a:extLst>
          </p:cNvPr>
          <p:cNvSpPr>
            <a:spLocks noGrp="1"/>
          </p:cNvSpPr>
          <p:nvPr/>
        </p:nvSpPr>
        <p:spPr>
          <a:xfrm>
            <a:off x="685800" y="5760720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Context Engineering orquesta RAG, memoria, herramientas, historial y formatos estructurados.</a:t>
            </a:r>
          </a:p>
        </p:txBody>
      </p:sp>
    </p:spTree>
    <p:extLst>
      <p:ext uri="{BB962C8B-B14F-4D97-AF65-F5344CB8AC3E}">
        <p14:creationId xmlns:p14="http://schemas.microsoft.com/office/powerpoint/2010/main" val="273183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adroTexto 53">
            <a:extLst>
              <a:ext uri="{FF2B5EF4-FFF2-40B4-BE49-F238E27FC236}">
                <a16:creationId xmlns:a16="http://schemas.microsoft.com/office/drawing/2014/main" id="{0DF694A8-E299-1F4F-86EF-81CCB8F51952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OBJETIVO DE CONTEXT ENGINEERING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B200A5D-E31E-5A40-B36F-D68A46EB509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D72A4DC-DF6B-6B47-8719-CFE27C1AD545}"/>
              </a:ext>
            </a:extLst>
          </p:cNvPr>
          <p:cNvSpPr/>
          <p:nvPr/>
        </p:nvSpPr>
        <p:spPr>
          <a:xfrm>
            <a:off x="736600" y="1600200"/>
            <a:ext cx="6286500" cy="32385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3D24D78-5752-A646-A6FB-7DD86E09445E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BaseModel.model_validate().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71E09D-B68F-076E-3B3A-AD09F20421F7}"/>
              </a:ext>
            </a:extLst>
          </p:cNvPr>
          <p:cNvSpPr>
            <a:spLocks noGrp="1"/>
          </p:cNvSpPr>
          <p:nvPr/>
        </p:nvSpPr>
        <p:spPr>
          <a:xfrm>
            <a:off x="889000" y="1888568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BFC7DA"/>
                </a:solidFill>
                <a:latin typeface="Aptos"/>
                <a:ea typeface="Aptos"/>
                <a:cs typeface="Aptos"/>
              </a:defRPr>
            </a:pPr>
            <a:r>
              <a:rPr sz="1800" b="0" i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</a:t>
            </a:r>
            <a:r>
              <a:rPr sz="1800" b="0" i="0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800" b="0" i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real es </a:t>
            </a:r>
            <a:r>
              <a:rPr sz="1800" b="0" i="0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maximizar</a:t>
            </a:r>
            <a:endParaRPr sz="1800" b="0" i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2FFD76-61A2-0CBC-5FE6-21A1F40A6AB7}"/>
              </a:ext>
            </a:extLst>
          </p:cNvPr>
          <p:cNvSpPr>
            <a:spLocks noGrp="1"/>
          </p:cNvSpPr>
          <p:nvPr/>
        </p:nvSpPr>
        <p:spPr>
          <a:xfrm>
            <a:off x="889000" y="2326718"/>
            <a:ext cx="628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buNone/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calidad bajo un límite de contexto</a:t>
            </a:r>
            <a:endParaRPr sz="360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8E6ED86A-49C7-069E-C59B-65A497CE510C}"/>
              </a:ext>
            </a:extLst>
          </p:cNvPr>
          <p:cNvSpPr>
            <a:spLocks noGrp="1"/>
          </p:cNvSpPr>
          <p:nvPr/>
        </p:nvSpPr>
        <p:spPr>
          <a:xfrm>
            <a:off x="889000" y="4388193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 dirty="0" err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250" b="1" dirty="0">
                <a:solidFill>
                  <a:srgbClr val="3DD6C6"/>
                </a:solidFill>
                <a:latin typeface="Aptos"/>
                <a:ea typeface="Aptos"/>
                <a:cs typeface="Aptos"/>
              </a:rPr>
              <a:t> · 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X consulta · Y </a:t>
            </a:r>
            <a:r>
              <a:rPr sz="125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· C </a:t>
            </a:r>
            <a:r>
              <a:rPr sz="125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· |C| </a:t>
            </a:r>
            <a:r>
              <a:rPr sz="125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número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de tokens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08305F9-FC90-A595-5AE2-7F5E8A498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9500" y="3153760"/>
            <a:ext cx="5600700" cy="4858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B809667-4B87-595F-0C31-F0834F1A4A4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/>
        </p:blipFill>
        <p:spPr>
          <a:xfrm>
            <a:off x="2795228" y="3736418"/>
            <a:ext cx="1582503" cy="415492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D47373E5-6657-6DD1-D301-28BE7C175E3D}"/>
              </a:ext>
            </a:extLst>
          </p:cNvPr>
          <p:cNvSpPr>
            <a:spLocks noGrp="1"/>
          </p:cNvSpPr>
          <p:nvPr/>
        </p:nvSpPr>
        <p:spPr>
          <a:xfrm>
            <a:off x="7333022" y="1307543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QUÉ OPTIMIZA F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369B86B-093B-65F0-114E-F220D2C8A8BF}"/>
              </a:ext>
            </a:extLst>
          </p:cNvPr>
          <p:cNvSpPr>
            <a:spLocks noGrp="1"/>
          </p:cNvSpPr>
          <p:nvPr/>
        </p:nvSpPr>
        <p:spPr>
          <a:xfrm>
            <a:off x="7333022" y="1764743"/>
            <a:ext cx="4038600" cy="628650"/>
          </a:xfrm>
          <a:prstGeom prst="roundRect">
            <a:avLst>
              <a:gd name="adj" fmla="val 18182"/>
            </a:avLst>
          </a:prstGeom>
          <a:solidFill>
            <a:srgbClr val="242C49"/>
          </a:solidFill>
          <a:ln w="1143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E230C09-A0D3-0E7A-784A-8A286258B3AE}"/>
              </a:ext>
            </a:extLst>
          </p:cNvPr>
          <p:cNvSpPr>
            <a:spLocks noGrp="1"/>
          </p:cNvSpPr>
          <p:nvPr/>
        </p:nvSpPr>
        <p:spPr>
          <a:xfrm>
            <a:off x="7523522" y="1879043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372E5BF-C8E6-ED96-6870-D3E0046F3565}"/>
              </a:ext>
            </a:extLst>
          </p:cNvPr>
          <p:cNvSpPr>
            <a:spLocks noGrp="1"/>
          </p:cNvSpPr>
          <p:nvPr/>
        </p:nvSpPr>
        <p:spPr>
          <a:xfrm>
            <a:off x="8799872" y="1879043"/>
            <a:ext cx="2343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crear instrucciones o memoria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1762CBE-59DC-9BEC-80BA-4E81D7AB0ADF}"/>
              </a:ext>
            </a:extLst>
          </p:cNvPr>
          <p:cNvSpPr>
            <a:spLocks noGrp="1"/>
          </p:cNvSpPr>
          <p:nvPr/>
        </p:nvSpPr>
        <p:spPr>
          <a:xfrm>
            <a:off x="7333022" y="2574368"/>
            <a:ext cx="4038600" cy="628650"/>
          </a:xfrm>
          <a:prstGeom prst="roundRect">
            <a:avLst>
              <a:gd name="adj" fmla="val 18182"/>
            </a:avLst>
          </a:prstGeom>
          <a:solidFill>
            <a:srgbClr val="242C49"/>
          </a:solidFill>
          <a:ln w="11430">
            <a:solidFill>
              <a:srgbClr val="33D6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54B22AB-A10D-6B58-DA01-686F1F7DF4D5}"/>
              </a:ext>
            </a:extLst>
          </p:cNvPr>
          <p:cNvSpPr>
            <a:spLocks noGrp="1"/>
          </p:cNvSpPr>
          <p:nvPr/>
        </p:nvSpPr>
        <p:spPr>
          <a:xfrm>
            <a:off x="7523522" y="2688668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D1319FD-E7B1-4D41-ACAF-AAEE99B4AF2C}"/>
              </a:ext>
            </a:extLst>
          </p:cNvPr>
          <p:cNvSpPr>
            <a:spLocks noGrp="1"/>
          </p:cNvSpPr>
          <p:nvPr/>
        </p:nvSpPr>
        <p:spPr>
          <a:xfrm>
            <a:off x="8799872" y="2688668"/>
            <a:ext cx="2343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buscar conocimiento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006BCBD-2D93-0481-6F1B-896F1D398C97}"/>
              </a:ext>
            </a:extLst>
          </p:cNvPr>
          <p:cNvSpPr>
            <a:spLocks noGrp="1"/>
          </p:cNvSpPr>
          <p:nvPr/>
        </p:nvSpPr>
        <p:spPr>
          <a:xfrm>
            <a:off x="7333022" y="3383993"/>
            <a:ext cx="4038600" cy="628650"/>
          </a:xfrm>
          <a:prstGeom prst="roundRect">
            <a:avLst>
              <a:gd name="adj" fmla="val 18182"/>
            </a:avLst>
          </a:prstGeom>
          <a:solidFill>
            <a:srgbClr val="242C49"/>
          </a:solidFill>
          <a:ln w="11430">
            <a:solidFill>
              <a:srgbClr val="49C98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87B7E1A-96B0-36AC-8728-3BBD753BFEB4}"/>
              </a:ext>
            </a:extLst>
          </p:cNvPr>
          <p:cNvSpPr>
            <a:spLocks noGrp="1"/>
          </p:cNvSpPr>
          <p:nvPr/>
        </p:nvSpPr>
        <p:spPr>
          <a:xfrm>
            <a:off x="7523522" y="3498293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9C986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17BC5E1-1167-25E8-20FD-71F70BA9461E}"/>
              </a:ext>
            </a:extLst>
          </p:cNvPr>
          <p:cNvSpPr>
            <a:spLocks noGrp="1"/>
          </p:cNvSpPr>
          <p:nvPr/>
        </p:nvSpPr>
        <p:spPr>
          <a:xfrm>
            <a:off x="8799872" y="3498293"/>
            <a:ext cx="2343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conservar lo relevante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BCB374E9-74E2-9B9C-4FD1-B68B99FD5308}"/>
              </a:ext>
            </a:extLst>
          </p:cNvPr>
          <p:cNvSpPr>
            <a:spLocks noGrp="1"/>
          </p:cNvSpPr>
          <p:nvPr/>
        </p:nvSpPr>
        <p:spPr>
          <a:xfrm>
            <a:off x="7333022" y="4193618"/>
            <a:ext cx="4038600" cy="628650"/>
          </a:xfrm>
          <a:prstGeom prst="roundRect">
            <a:avLst>
              <a:gd name="adj" fmla="val 18182"/>
            </a:avLst>
          </a:prstGeom>
          <a:solidFill>
            <a:srgbClr val="242C49"/>
          </a:solidFill>
          <a:ln w="11430">
            <a:solidFill>
              <a:srgbClr val="F5A14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A973640-B302-9889-2FA2-E3789D9ADEED}"/>
              </a:ext>
            </a:extLst>
          </p:cNvPr>
          <p:cNvSpPr>
            <a:spLocks noGrp="1"/>
          </p:cNvSpPr>
          <p:nvPr/>
        </p:nvSpPr>
        <p:spPr>
          <a:xfrm>
            <a:off x="7523522" y="4307918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A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A14A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AFF5CFF-D64F-8F0D-AE29-58839F3D8C31}"/>
              </a:ext>
            </a:extLst>
          </p:cNvPr>
          <p:cNvSpPr>
            <a:spLocks noGrp="1"/>
          </p:cNvSpPr>
          <p:nvPr/>
        </p:nvSpPr>
        <p:spPr>
          <a:xfrm>
            <a:off x="8799872" y="4307918"/>
            <a:ext cx="2343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reducir longitud con control</a:t>
            </a:r>
          </a:p>
        </p:txBody>
      </p:sp>
    </p:spTree>
    <p:extLst>
      <p:ext uri="{BB962C8B-B14F-4D97-AF65-F5344CB8AC3E}">
        <p14:creationId xmlns:p14="http://schemas.microsoft.com/office/powerpoint/2010/main" val="368355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A1982B-3EE1-FA4D-8D47-9EEB39DEBFDB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MODELO PROBABILÍSTICO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2E80BEA-081B-5B4B-9C94-C4CE12B37ED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D0B94FC-6D6F-1E45-8761-7964C590EBD1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Fields y constrained values.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DF67B4-46C1-FDCA-58F1-970591BC9E95}"/>
              </a:ext>
            </a:extLst>
          </p:cNvPr>
          <p:cNvSpPr>
            <a:spLocks noGrp="1"/>
          </p:cNvSpPr>
          <p:nvPr/>
        </p:nvSpPr>
        <p:spPr>
          <a:xfrm>
            <a:off x="1692275" y="32956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E4A5A"/>
                </a:solidFill>
                <a:latin typeface="Aptos"/>
                <a:ea typeface="Aptos"/>
                <a:cs typeface="Aptos"/>
              </a:rPr>
              <a:t>Conexión: la primera fórmula genera cada factor; la segunda combina esos factores para puntuar la respuesta Y.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33A99E0-40EF-1FAB-F7DD-2F00D23AF4D7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10820400" cy="158115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7E5E177-3E07-2154-4038-19FFDA64073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14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CAE6CF-5FA5-8AAA-C9A6-97584DC62068}"/>
              </a:ext>
            </a:extLst>
          </p:cNvPr>
          <p:cNvSpPr>
            <a:spLocks noGrp="1"/>
          </p:cNvSpPr>
          <p:nvPr/>
        </p:nvSpPr>
        <p:spPr>
          <a:xfrm>
            <a:off x="1028700" y="48006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3D6C8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FE3F611-74E0-E50E-4392-3D1DDE1F75D5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0F30AC-6EF2-A916-0EBD-E9F86C6B885C}"/>
              </a:ext>
            </a:extLst>
          </p:cNvPr>
          <p:cNvSpPr>
            <a:spLocks noGrp="1"/>
          </p:cNvSpPr>
          <p:nvPr/>
        </p:nvSpPr>
        <p:spPr>
          <a:xfrm>
            <a:off x="4762500" y="45720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647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647C"/>
                </a:solidFill>
                <a:latin typeface="Aptos"/>
                <a:ea typeface="Aptos"/>
                <a:cs typeface="Aptos"/>
              </a:rPr>
              <a:t>“12 meses”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79152049-34AE-1FB3-9C87-8F1026066366}"/>
              </a:ext>
            </a:extLst>
          </p:cNvPr>
          <p:cNvSpPr>
            <a:spLocks noGrp="1"/>
          </p:cNvSpPr>
          <p:nvPr/>
        </p:nvSpPr>
        <p:spPr>
          <a:xfrm>
            <a:off x="6591300" y="4810125"/>
            <a:ext cx="647700" cy="0"/>
          </a:xfrm>
          <a:prstGeom prst="line">
            <a:avLst/>
          </a:prstGeom>
          <a:noFill/>
          <a:ln w="28575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7D4C95F-16C3-864C-F804-69DFE84AEE7F}"/>
              </a:ext>
            </a:extLst>
          </p:cNvPr>
          <p:cNvSpPr>
            <a:spLocks noGrp="1"/>
          </p:cNvSpPr>
          <p:nvPr/>
        </p:nvSpPr>
        <p:spPr>
          <a:xfrm>
            <a:off x="752475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3CE0D31-3443-A3AF-186C-DADA8A36121A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49C98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49C986"/>
                </a:solidFill>
                <a:latin typeface="Aptos"/>
                <a:ea typeface="Aptos"/>
                <a:cs typeface="Aptos"/>
              </a:rPr>
              <a:t>“24 meses”</a:t>
            </a:r>
          </a:p>
        </p:txBody>
      </p:sp>
      <p:pic>
        <p:nvPicPr>
          <p:cNvPr id="22" name="Ecuación s05_token">
            <a:extLst>
              <a:ext uri="{FF2B5EF4-FFF2-40B4-BE49-F238E27FC236}">
                <a16:creationId xmlns:a16="http://schemas.microsoft.com/office/drawing/2014/main" id="{E6FE4BC0-18B8-9586-1011-125BF9760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18" y="2050358"/>
            <a:ext cx="2595514" cy="410957"/>
          </a:xfrm>
          <a:prstGeom prst="rect">
            <a:avLst/>
          </a:prstGeom>
        </p:spPr>
      </p:pic>
      <p:pic>
        <p:nvPicPr>
          <p:cNvPr id="24" name="Ecuación s05_sequence">
            <a:extLst>
              <a:ext uri="{FF2B5EF4-FFF2-40B4-BE49-F238E27FC236}">
                <a16:creationId xmlns:a16="http://schemas.microsoft.com/office/drawing/2014/main" id="{AAF83BA3-1588-8C88-90A0-F03AC1648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874836"/>
            <a:ext cx="5086350" cy="847725"/>
          </a:xfrm>
          <a:prstGeom prst="rect">
            <a:avLst/>
          </a:prstGeom>
        </p:spPr>
      </p:pic>
      <p:pic>
        <p:nvPicPr>
          <p:cNvPr id="26" name="Ecuación s05_example">
            <a:extLst>
              <a:ext uri="{FF2B5EF4-FFF2-40B4-BE49-F238E27FC236}">
                <a16:creationId xmlns:a16="http://schemas.microsoft.com/office/drawing/2014/main" id="{71AB3034-FD58-C667-A6AF-2A301B922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5219700"/>
            <a:ext cx="4476750" cy="361950"/>
          </a:xfrm>
          <a:prstGeom prst="rect">
            <a:avLst/>
          </a:prstGeom>
        </p:spPr>
      </p:pic>
      <p:sp>
        <p:nvSpPr>
          <p:cNvPr id="28" name="TextBox 20">
            <a:extLst>
              <a:ext uri="{FF2B5EF4-FFF2-40B4-BE49-F238E27FC236}">
                <a16:creationId xmlns:a16="http://schemas.microsoft.com/office/drawing/2014/main" id="{0BB585E7-3F89-DDB3-92D2-8E94FEDA6721}"/>
              </a:ext>
            </a:extLst>
          </p:cNvPr>
          <p:cNvSpPr>
            <a:spLocks noGrp="1"/>
          </p:cNvSpPr>
          <p:nvPr/>
        </p:nvSpPr>
        <p:spPr>
          <a:xfrm>
            <a:off x="914400" y="4333875"/>
            <a:ext cx="3714750" cy="2857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Consulta: «¿</a:t>
            </a:r>
            <a:r>
              <a:rPr sz="1200" b="1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Cuánto</a:t>
            </a:r>
            <a:r>
              <a:rPr sz="1200" b="1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 dura la </a:t>
            </a:r>
            <a:r>
              <a:rPr sz="1200" b="1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garantía</a:t>
            </a:r>
            <a:r>
              <a:rPr sz="1200" b="1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?»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C76B261B-C876-1338-9D21-13263DB84BF3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001250" cy="2667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050" b="1" dirty="0" err="1">
                <a:solidFill>
                  <a:srgbClr val="6C63FF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050" b="1" dirty="0">
                <a:solidFill>
                  <a:srgbClr val="6C63FF"/>
                </a:solidFill>
                <a:latin typeface="Aptos"/>
                <a:ea typeface="Aptos"/>
                <a:cs typeface="Aptos"/>
              </a:rPr>
              <a:t> · θ </a:t>
            </a:r>
            <a:r>
              <a:rPr sz="1050" b="1" dirty="0" err="1">
                <a:solidFill>
                  <a:srgbClr val="6C63FF"/>
                </a:solidFill>
                <a:latin typeface="Aptos"/>
                <a:ea typeface="Aptos"/>
                <a:cs typeface="Aptos"/>
              </a:rPr>
              <a:t>parámetros</a:t>
            </a:r>
            <a:r>
              <a:rPr sz="1050" b="1" dirty="0">
                <a:solidFill>
                  <a:srgbClr val="6C63FF"/>
                </a:solidFill>
                <a:latin typeface="Aptos"/>
                <a:ea typeface="Aptos"/>
                <a:cs typeface="Aptos"/>
              </a:rPr>
              <a:t> · yₜ token actual · y&lt;ₜ </a:t>
            </a:r>
            <a:r>
              <a:rPr sz="1050" b="1" dirty="0" err="1">
                <a:solidFill>
                  <a:srgbClr val="6C63FF"/>
                </a:solidFill>
                <a:latin typeface="Aptos"/>
                <a:ea typeface="Aptos"/>
                <a:cs typeface="Aptos"/>
              </a:rPr>
              <a:t>prefijo</a:t>
            </a:r>
            <a:r>
              <a:rPr sz="1050" b="1" dirty="0">
                <a:solidFill>
                  <a:srgbClr val="6C63FF"/>
                </a:solidFill>
                <a:latin typeface="Aptos"/>
                <a:ea typeface="Aptos"/>
                <a:cs typeface="Aptos"/>
              </a:rPr>
              <a:t> · X consulta · C </a:t>
            </a:r>
            <a:r>
              <a:rPr sz="1050" b="1" dirty="0" err="1">
                <a:solidFill>
                  <a:srgbClr val="6C63FF"/>
                </a:solidFill>
                <a:latin typeface="Aptos"/>
                <a:ea typeface="Aptos"/>
                <a:cs typeface="Aptos"/>
              </a:rPr>
              <a:t>contrato</a:t>
            </a:r>
            <a:r>
              <a:rPr sz="1050" b="1" dirty="0">
                <a:solidFill>
                  <a:srgbClr val="6C63FF"/>
                </a:solidFill>
                <a:latin typeface="Aptos"/>
                <a:ea typeface="Aptos"/>
                <a:cs typeface="Aptos"/>
              </a:rPr>
              <a:t> · Y </a:t>
            </a:r>
            <a:r>
              <a:rPr sz="1050" b="1" dirty="0" err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1050" b="1" dirty="0">
                <a:solidFill>
                  <a:srgbClr val="6C63FF"/>
                </a:solidFill>
                <a:latin typeface="Aptos"/>
                <a:ea typeface="Aptos"/>
                <a:cs typeface="Aptos"/>
              </a:rPr>
              <a:t> completa</a:t>
            </a:r>
          </a:p>
        </p:txBody>
      </p:sp>
      <p:sp>
        <p:nvSpPr>
          <p:cNvPr id="59" name="slide6-step1-surface">
            <a:extLst>
              <a:ext uri="{FF2B5EF4-FFF2-40B4-BE49-F238E27FC236}">
                <a16:creationId xmlns:a16="http://schemas.microsoft.com/office/drawing/2014/main" id="{9592CE3D-2751-A262-9141-AA5BE33383DB}"/>
              </a:ext>
            </a:extLst>
          </p:cNvPr>
          <p:cNvSpPr>
            <a:spLocks noGrp="1"/>
          </p:cNvSpPr>
          <p:nvPr/>
        </p:nvSpPr>
        <p:spPr>
          <a:xfrm>
            <a:off x="685800" y="1335087"/>
            <a:ext cx="160020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6C6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lide6-step1">
            <a:extLst>
              <a:ext uri="{FF2B5EF4-FFF2-40B4-BE49-F238E27FC236}">
                <a16:creationId xmlns:a16="http://schemas.microsoft.com/office/drawing/2014/main" id="{1CC3F41F-5DB9-3C58-CC5B-AB45F723B270}"/>
              </a:ext>
            </a:extLst>
          </p:cNvPr>
          <p:cNvSpPr>
            <a:spLocks noGrp="1"/>
          </p:cNvSpPr>
          <p:nvPr/>
        </p:nvSpPr>
        <p:spPr>
          <a:xfrm>
            <a:off x="742950" y="1363662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1 · SIGUIENTE TOKEN</a:t>
            </a:r>
          </a:p>
        </p:txBody>
      </p:sp>
      <p:sp>
        <p:nvSpPr>
          <p:cNvPr id="63" name="slide6-step2-surface">
            <a:extLst>
              <a:ext uri="{FF2B5EF4-FFF2-40B4-BE49-F238E27FC236}">
                <a16:creationId xmlns:a16="http://schemas.microsoft.com/office/drawing/2014/main" id="{EEA8767C-55B9-9ABF-EAB1-D9CE8E3221E1}"/>
              </a:ext>
            </a:extLst>
          </p:cNvPr>
          <p:cNvSpPr>
            <a:spLocks noGrp="1"/>
          </p:cNvSpPr>
          <p:nvPr/>
        </p:nvSpPr>
        <p:spPr>
          <a:xfrm>
            <a:off x="6477000" y="1335087"/>
            <a:ext cx="1943100" cy="266700"/>
          </a:xfrm>
          <a:prstGeom prst="roundRect">
            <a:avLst>
              <a:gd name="adj" fmla="val 50000"/>
            </a:avLst>
          </a:prstGeom>
          <a:solidFill>
            <a:srgbClr val="E3F9F6"/>
          </a:solidFill>
          <a:ln w="9525">
            <a:solidFill>
              <a:srgbClr val="168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lide6-step2">
            <a:extLst>
              <a:ext uri="{FF2B5EF4-FFF2-40B4-BE49-F238E27FC236}">
                <a16:creationId xmlns:a16="http://schemas.microsoft.com/office/drawing/2014/main" id="{21482E5B-7260-46ED-98BF-56264F760CEE}"/>
              </a:ext>
            </a:extLst>
          </p:cNvPr>
          <p:cNvSpPr>
            <a:spLocks noGrp="1"/>
          </p:cNvSpPr>
          <p:nvPr/>
        </p:nvSpPr>
        <p:spPr>
          <a:xfrm>
            <a:off x="6534150" y="1363662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2 · RESPUESTA COMPLETA</a:t>
            </a:r>
          </a:p>
        </p:txBody>
      </p:sp>
      <p:sp>
        <p:nvSpPr>
          <p:cNvPr id="67" name="slide6-token-to-sequence">
            <a:extLst>
              <a:ext uri="{FF2B5EF4-FFF2-40B4-BE49-F238E27FC236}">
                <a16:creationId xmlns:a16="http://schemas.microsoft.com/office/drawing/2014/main" id="{EC57E8CF-6774-38B2-0E36-08C50C2388D4}"/>
              </a:ext>
            </a:extLst>
          </p:cNvPr>
          <p:cNvSpPr>
            <a:spLocks noGrp="1"/>
          </p:cNvSpPr>
          <p:nvPr/>
        </p:nvSpPr>
        <p:spPr>
          <a:xfrm>
            <a:off x="5514975" y="2027237"/>
            <a:ext cx="590550" cy="323850"/>
          </a:xfrm>
          <a:prstGeom prst="rightArrow">
            <a:avLst/>
          </a:prstGeom>
          <a:solidFill>
            <a:srgbClr val="B9C0D4"/>
          </a:solidFill>
          <a:ln w="9525">
            <a:solidFill>
              <a:srgbClr val="A5AE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lide6-connector-label">
            <a:extLst>
              <a:ext uri="{FF2B5EF4-FFF2-40B4-BE49-F238E27FC236}">
                <a16:creationId xmlns:a16="http://schemas.microsoft.com/office/drawing/2014/main" id="{C43F1EB9-24BA-8151-665E-4AD7645746E7}"/>
              </a:ext>
            </a:extLst>
          </p:cNvPr>
          <p:cNvSpPr>
            <a:spLocks noGrp="1"/>
          </p:cNvSpPr>
          <p:nvPr/>
        </p:nvSpPr>
        <p:spPr>
          <a:xfrm>
            <a:off x="5219700" y="2360612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repetir para t=1…T</a:t>
            </a:r>
          </a:p>
        </p:txBody>
      </p:sp>
      <p:sp>
        <p:nvSpPr>
          <p:cNvPr id="71" name="slide6-step1-explanation">
            <a:extLst>
              <a:ext uri="{FF2B5EF4-FFF2-40B4-BE49-F238E27FC236}">
                <a16:creationId xmlns:a16="http://schemas.microsoft.com/office/drawing/2014/main" id="{982365DD-E946-EB3B-43A2-0A7F4228F53A}"/>
              </a:ext>
            </a:extLst>
          </p:cNvPr>
          <p:cNvSpPr>
            <a:spLocks noGrp="1"/>
          </p:cNvSpPr>
          <p:nvPr/>
        </p:nvSpPr>
        <p:spPr>
          <a:xfrm>
            <a:off x="685800" y="2713037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4444" lnSpcReduction="10000"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Calcula</a:t>
            </a:r>
            <a:r>
              <a:rPr sz="112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la </a:t>
            </a:r>
            <a:r>
              <a:rPr sz="1125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probabilidad</a:t>
            </a:r>
            <a:r>
              <a:rPr sz="112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de yₜ </a:t>
            </a:r>
            <a:r>
              <a:rPr sz="1125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usando</a:t>
            </a:r>
            <a:r>
              <a:rPr sz="112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la consulta X, el </a:t>
            </a:r>
            <a:r>
              <a:rPr sz="1125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12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C y los tokens </a:t>
            </a:r>
            <a:r>
              <a:rPr sz="1125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anteriores</a:t>
            </a:r>
            <a:r>
              <a:rPr sz="112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y&lt;ₜ.</a:t>
            </a:r>
          </a:p>
        </p:txBody>
      </p:sp>
      <p:sp>
        <p:nvSpPr>
          <p:cNvPr id="73" name="slide6-step2-explanation">
            <a:extLst>
              <a:ext uri="{FF2B5EF4-FFF2-40B4-BE49-F238E27FC236}">
                <a16:creationId xmlns:a16="http://schemas.microsoft.com/office/drawing/2014/main" id="{7E05A98A-7C6B-03E0-AF3D-9D8016438C47}"/>
              </a:ext>
            </a:extLst>
          </p:cNvPr>
          <p:cNvSpPr>
            <a:spLocks noGrp="1"/>
          </p:cNvSpPr>
          <p:nvPr/>
        </p:nvSpPr>
        <p:spPr>
          <a:xfrm>
            <a:off x="6477000" y="26924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Repite el mismo cálculo en cada posición y multiplica todos los factores.</a:t>
            </a:r>
          </a:p>
        </p:txBody>
      </p:sp>
    </p:spTree>
    <p:extLst>
      <p:ext uri="{BB962C8B-B14F-4D97-AF65-F5344CB8AC3E}">
        <p14:creationId xmlns:p14="http://schemas.microsoft.com/office/powerpoint/2010/main" val="407411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adroTexto 69">
            <a:extLst>
              <a:ext uri="{FF2B5EF4-FFF2-40B4-BE49-F238E27FC236}">
                <a16:creationId xmlns:a16="http://schemas.microsoft.com/office/drawing/2014/main" id="{0C1CD209-E109-3A4C-A29F-B4CE8FED4356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VALOR DE LA INFORMACIÓN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08E374BE-FD6E-6441-A307-32AA01B5884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5D51B25-1AC1-D54F-96EE-0AEF30F8EB72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250" b="1" dirty="0">
                <a:solidFill>
                  <a:srgbClr val="6B7788"/>
                </a:solidFill>
                <a:latin typeface="Aptos"/>
              </a:rPr>
              <a:t>La información mutua mide una reducción media de incertidumbre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.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4D8C2E8-FBED-ED4B-835C-93CFFA75F2F7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Nested models y list validation.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6E22C60-39C5-DF05-7A94-7A5E7C5694C3}"/>
              </a:ext>
            </a:extLst>
          </p:cNvPr>
          <p:cNvSpPr>
            <a:spLocks noGrp="1"/>
          </p:cNvSpPr>
          <p:nvPr/>
        </p:nvSpPr>
        <p:spPr>
          <a:xfrm>
            <a:off x="685800" y="4505080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E4A5A"/>
                </a:solidFill>
                <a:latin typeface="Aptos"/>
                <a:ea typeface="Aptos"/>
                <a:cs typeface="Aptos"/>
              </a:defRPr>
            </a:pPr>
            <a:r>
              <a:rPr sz="1350" b="1" i="0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Se </a:t>
            </a:r>
            <a:r>
              <a:rPr sz="1350" b="1" i="0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resta</a:t>
            </a:r>
            <a:r>
              <a:rPr sz="1350" b="1" i="0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 la </a:t>
            </a:r>
            <a:r>
              <a:rPr sz="1350" b="1" i="0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entropía</a:t>
            </a:r>
            <a:r>
              <a:rPr sz="1350" b="1" i="0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 final a la </a:t>
            </a:r>
            <a:r>
              <a:rPr sz="1350" b="1" i="0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inicial</a:t>
            </a:r>
            <a:r>
              <a:rPr sz="1350" b="1" i="0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: </a:t>
            </a:r>
            <a:r>
              <a:rPr sz="1350" b="1" i="0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esa</a:t>
            </a:r>
            <a:r>
              <a:rPr sz="1350" b="1" i="0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 i="0" dirty="0" err="1">
                <a:solidFill>
                  <a:srgbClr val="0E4A5A"/>
                </a:solidFill>
                <a:latin typeface="Aptos"/>
                <a:ea typeface="Aptos"/>
                <a:cs typeface="Aptos"/>
              </a:rPr>
              <a:t>diferencia</a:t>
            </a:r>
            <a:r>
              <a:rPr sz="1350" b="1" i="0" dirty="0">
                <a:solidFill>
                  <a:srgbClr val="0E4A5A"/>
                </a:solidFill>
                <a:latin typeface="Aptos"/>
                <a:ea typeface="Aptos"/>
                <a:cs typeface="Aptos"/>
              </a:rPr>
              <a:t> es I(Y;C|X).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571C3E-96E1-7F86-3DE9-AA71F2A359C2}"/>
              </a:ext>
            </a:extLst>
          </p:cNvPr>
          <p:cNvSpPr>
            <a:spLocks noGrp="1"/>
          </p:cNvSpPr>
          <p:nvPr/>
        </p:nvSpPr>
        <p:spPr>
          <a:xfrm>
            <a:off x="7429500" y="1885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3FEACD6-D751-9886-209F-33FE7C0D8E5E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3238500" cy="552450"/>
          </a:xfrm>
          <a:prstGeom prst="roundRect">
            <a:avLst>
              <a:gd name="adj" fmla="val 50000"/>
            </a:avLst>
          </a:prstGeom>
          <a:solidFill>
            <a:srgbClr val="E4E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CDCDC05-BA15-4E21-32E3-85B1CCC344EE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2905125" cy="552450"/>
          </a:xfrm>
          <a:prstGeom prst="roundRect">
            <a:avLst>
              <a:gd name="adj" fmla="val 50000"/>
            </a:avLst>
          </a:prstGeom>
          <a:solidFill>
            <a:srgbClr val="FF6F7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07C70DD-586C-9B2E-1F55-9168F6F790BC}"/>
              </a:ext>
            </a:extLst>
          </p:cNvPr>
          <p:cNvSpPr>
            <a:spLocks noGrp="1"/>
          </p:cNvSpPr>
          <p:nvPr/>
        </p:nvSpPr>
        <p:spPr>
          <a:xfrm>
            <a:off x="8858250" y="24098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12D531E-CF87-897D-D15D-42F0CF7D994A}"/>
              </a:ext>
            </a:extLst>
          </p:cNvPr>
          <p:cNvSpPr>
            <a:spLocks noGrp="1"/>
          </p:cNvSpPr>
          <p:nvPr/>
        </p:nvSpPr>
        <p:spPr>
          <a:xfrm>
            <a:off x="7429500" y="3105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967E752-8460-34DA-C6A0-2E604B7466E9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3238500" cy="552450"/>
          </a:xfrm>
          <a:prstGeom prst="roundRect">
            <a:avLst>
              <a:gd name="adj" fmla="val 50000"/>
            </a:avLst>
          </a:prstGeom>
          <a:solidFill>
            <a:srgbClr val="E4E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16285D3-96AC-B417-CB94-B0A5E066EE9D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1066800" cy="552450"/>
          </a:xfrm>
          <a:prstGeom prst="roundRect">
            <a:avLst>
              <a:gd name="adj" fmla="val 50000"/>
            </a:avLst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BF3B834-C56B-424F-5503-6CDD2541C59B}"/>
              </a:ext>
            </a:extLst>
          </p:cNvPr>
          <p:cNvSpPr>
            <a:spLocks noGrp="1"/>
          </p:cNvSpPr>
          <p:nvPr/>
        </p:nvSpPr>
        <p:spPr>
          <a:xfrm>
            <a:off x="7486650" y="36290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0D21EB-92FA-4453-ED42-ED68C4EF81EF}"/>
              </a:ext>
            </a:extLst>
          </p:cNvPr>
          <p:cNvSpPr>
            <a:spLocks noGrp="1"/>
          </p:cNvSpPr>
          <p:nvPr/>
        </p:nvSpPr>
        <p:spPr>
          <a:xfrm>
            <a:off x="7429500" y="43434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barra que desaparece representa la información que C aporta sobre Y.</a:t>
            </a:r>
          </a:p>
        </p:txBody>
      </p:sp>
      <p:pic>
        <p:nvPicPr>
          <p:cNvPr id="23" name="Ecuación s06_entropy">
            <a:extLst>
              <a:ext uri="{FF2B5EF4-FFF2-40B4-BE49-F238E27FC236}">
                <a16:creationId xmlns:a16="http://schemas.microsoft.com/office/drawing/2014/main" id="{CA6926EA-677B-5673-9A8F-4F0B85620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562" y="2107082"/>
            <a:ext cx="4085175" cy="490449"/>
          </a:xfrm>
          <a:prstGeom prst="rect">
            <a:avLst/>
          </a:prstGeom>
        </p:spPr>
      </p:pic>
      <p:pic>
        <p:nvPicPr>
          <p:cNvPr id="25" name="Ecuación s06_mutual">
            <a:extLst>
              <a:ext uri="{FF2B5EF4-FFF2-40B4-BE49-F238E27FC236}">
                <a16:creationId xmlns:a16="http://schemas.microsoft.com/office/drawing/2014/main" id="{10F3CF43-2CA4-C574-71E8-24B92AD39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69" y="3947086"/>
            <a:ext cx="5623560" cy="440246"/>
          </a:xfrm>
          <a:prstGeom prst="rect">
            <a:avLst/>
          </a:prstGeom>
        </p:spPr>
      </p:pic>
      <p:sp>
        <p:nvSpPr>
          <p:cNvPr id="27" name="TextBox 19">
            <a:extLst>
              <a:ext uri="{FF2B5EF4-FFF2-40B4-BE49-F238E27FC236}">
                <a16:creationId xmlns:a16="http://schemas.microsoft.com/office/drawing/2014/main" id="{5D177056-F5ED-E6A9-AD10-CB5199C30108}"/>
              </a:ext>
            </a:extLst>
          </p:cNvPr>
          <p:cNvSpPr>
            <a:spLocks noGrp="1"/>
          </p:cNvSpPr>
          <p:nvPr/>
        </p:nvSpPr>
        <p:spPr>
          <a:xfrm>
            <a:off x="685800" y="5190108"/>
            <a:ext cx="6096000" cy="666750"/>
          </a:xfrm>
          <a:prstGeom prst="rect">
            <a:avLst/>
          </a:prstGeom>
          <a:noFill/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 dirty="0" err="1">
                <a:solidFill>
                  <a:srgbClr val="6C63FF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· H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incertidumbre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· I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aportada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· X consulta · C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· Y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respuesta</a:t>
            </a:r>
            <a:endParaRPr sz="1050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Lectura: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más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reducción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de H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implica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más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útil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de C </a:t>
            </a:r>
            <a:r>
              <a:rPr sz="1050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sobre</a:t>
            </a:r>
            <a:r>
              <a:rPr sz="10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Y.</a:t>
            </a:r>
          </a:p>
        </p:txBody>
      </p:sp>
      <p:sp>
        <p:nvSpPr>
          <p:cNvPr id="29" name="slide7-step1-surface">
            <a:extLst>
              <a:ext uri="{FF2B5EF4-FFF2-40B4-BE49-F238E27FC236}">
                <a16:creationId xmlns:a16="http://schemas.microsoft.com/office/drawing/2014/main" id="{96FB46D0-F217-C8DD-9E11-9DB7FF8CC926}"/>
              </a:ext>
            </a:extLst>
          </p:cNvPr>
          <p:cNvSpPr>
            <a:spLocks noGrp="1"/>
          </p:cNvSpPr>
          <p:nvPr/>
        </p:nvSpPr>
        <p:spPr>
          <a:xfrm>
            <a:off x="685800" y="1455737"/>
            <a:ext cx="1885950" cy="266700"/>
          </a:xfrm>
          <a:prstGeom prst="roundRect">
            <a:avLst>
              <a:gd name="adj" fmla="val 50000"/>
            </a:avLst>
          </a:prstGeom>
          <a:solidFill>
            <a:srgbClr val="EEECFF"/>
          </a:solidFill>
          <a:ln w="9525">
            <a:solidFill>
              <a:srgbClr val="6C6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lide7-step1">
            <a:extLst>
              <a:ext uri="{FF2B5EF4-FFF2-40B4-BE49-F238E27FC236}">
                <a16:creationId xmlns:a16="http://schemas.microsoft.com/office/drawing/2014/main" id="{2875F4B5-985C-9795-E5E3-1826E85EE568}"/>
              </a:ext>
            </a:extLst>
          </p:cNvPr>
          <p:cNvSpPr>
            <a:spLocks noGrp="1"/>
          </p:cNvSpPr>
          <p:nvPr/>
        </p:nvSpPr>
        <p:spPr>
          <a:xfrm>
            <a:off x="742950" y="1484312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6C63FF"/>
                </a:solidFill>
                <a:latin typeface="Aptos"/>
                <a:ea typeface="Aptos"/>
                <a:cs typeface="Aptos"/>
              </a:rPr>
              <a:t>1 · EFECTO DE AÑADIR C</a:t>
            </a:r>
          </a:p>
        </p:txBody>
      </p:sp>
      <p:sp>
        <p:nvSpPr>
          <p:cNvPr id="33" name="slide7-step1-explanation">
            <a:extLst>
              <a:ext uri="{FF2B5EF4-FFF2-40B4-BE49-F238E27FC236}">
                <a16:creationId xmlns:a16="http://schemas.microsoft.com/office/drawing/2014/main" id="{F7C2E1B2-5823-B5B3-6B77-7FC8BC6F54E5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incertidumbre restante con contexto es menor o igual que sin contexto.</a:t>
            </a:r>
          </a:p>
        </p:txBody>
      </p:sp>
      <p:sp>
        <p:nvSpPr>
          <p:cNvPr id="35" name="slide7-effect-to-measure">
            <a:extLst>
              <a:ext uri="{FF2B5EF4-FFF2-40B4-BE49-F238E27FC236}">
                <a16:creationId xmlns:a16="http://schemas.microsoft.com/office/drawing/2014/main" id="{AE052659-9E6E-7F23-CC93-FCDB8AEED0C1}"/>
              </a:ext>
            </a:extLst>
          </p:cNvPr>
          <p:cNvSpPr>
            <a:spLocks noGrp="1"/>
          </p:cNvSpPr>
          <p:nvPr/>
        </p:nvSpPr>
        <p:spPr>
          <a:xfrm>
            <a:off x="3324225" y="3209925"/>
            <a:ext cx="323850" cy="285750"/>
          </a:xfrm>
          <a:prstGeom prst="downArrow">
            <a:avLst/>
          </a:prstGeom>
          <a:solidFill>
            <a:srgbClr val="B9C0D4"/>
          </a:solidFill>
          <a:ln w="9525">
            <a:solidFill>
              <a:srgbClr val="A5AE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lide7-step2-surface">
            <a:extLst>
              <a:ext uri="{FF2B5EF4-FFF2-40B4-BE49-F238E27FC236}">
                <a16:creationId xmlns:a16="http://schemas.microsoft.com/office/drawing/2014/main" id="{1A679665-0A75-B581-89CA-1E37063B335A}"/>
              </a:ext>
            </a:extLst>
          </p:cNvPr>
          <p:cNvSpPr>
            <a:spLocks noGrp="1"/>
          </p:cNvSpPr>
          <p:nvPr/>
        </p:nvSpPr>
        <p:spPr>
          <a:xfrm>
            <a:off x="685800" y="3459178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E3F9F6"/>
          </a:solidFill>
          <a:ln w="9525">
            <a:solidFill>
              <a:srgbClr val="168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lide7-step2">
            <a:extLst>
              <a:ext uri="{FF2B5EF4-FFF2-40B4-BE49-F238E27FC236}">
                <a16:creationId xmlns:a16="http://schemas.microsoft.com/office/drawing/2014/main" id="{0A72D632-84D8-6F5A-4DDA-DD618D8F1BDC}"/>
              </a:ext>
            </a:extLst>
          </p:cNvPr>
          <p:cNvSpPr>
            <a:spLocks noGrp="1"/>
          </p:cNvSpPr>
          <p:nvPr/>
        </p:nvSpPr>
        <p:spPr>
          <a:xfrm>
            <a:off x="742950" y="3487753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8E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E83"/>
                </a:solidFill>
                <a:latin typeface="Aptos"/>
                <a:ea typeface="Aptos"/>
                <a:cs typeface="Aptos"/>
              </a:rPr>
              <a:t>2 · MEDIR LA REDUCCIÓN</a:t>
            </a:r>
          </a:p>
        </p:txBody>
      </p:sp>
    </p:spTree>
    <p:extLst>
      <p:ext uri="{BB962C8B-B14F-4D97-AF65-F5344CB8AC3E}">
        <p14:creationId xmlns:p14="http://schemas.microsoft.com/office/powerpoint/2010/main" val="218153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11495E-3901-D74D-8C6A-6DA366532C1E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RAG VS CONTEXT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F6A992-2626-0D42-9600-C9C49B452B14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8D4AE30E-47D3-B247-B85B-96B899043A77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TypeAdapter validation, serialization y schema sin BaseModel.</a:t>
            </a:r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8BD898CE-4358-F339-64CC-2197976764FD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 recupera conocimiento; Context Engineering orquesta C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DDD79BA-FC7D-13F7-84E5-E48FED59ECF2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96C1804D-3378-8F77-E04D-74F3111D104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048250" cy="3676650"/>
          </a:xfrm>
          <a:prstGeom prst="roundRect">
            <a:avLst>
              <a:gd name="adj" fmla="val 4145"/>
            </a:avLst>
          </a:prstGeom>
          <a:solidFill>
            <a:srgbClr val="F3F5FA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1212A4E-FA7D-820F-3B91-C89C00EB6128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AB3F5F1F-441B-5EE9-E32B-A351EE4B8E91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45529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D9F46BE0-650C-0744-07B4-E3F2A62D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5850" y="2673263"/>
            <a:ext cx="4248150" cy="501825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86B37DE8-0E4D-56B3-97F0-7342283C9C26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4438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 función principal es recuperar conocimiento externo relevante para la consulta.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2E9FC7B5-9968-5B1D-9C39-38C448866D79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5353050" cy="3676650"/>
          </a:xfrm>
          <a:prstGeom prst="roundRect">
            <a:avLst>
              <a:gd name="adj" fmla="val 4145"/>
            </a:avLst>
          </a:prstGeom>
          <a:solidFill>
            <a:srgbClr val="EEECFF"/>
          </a:solidFill>
          <a:ln w="13335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2AF4F83-A7F1-A8AE-453D-774E9E04F616}"/>
              </a:ext>
            </a:extLst>
          </p:cNvPr>
          <p:cNvSpPr>
            <a:spLocks noGrp="1"/>
          </p:cNvSpPr>
          <p:nvPr/>
        </p:nvSpPr>
        <p:spPr>
          <a:xfrm>
            <a:off x="6400800" y="20383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33D6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D6C8"/>
                </a:solidFill>
                <a:latin typeface="Aptos"/>
                <a:ea typeface="Aptos"/>
                <a:cs typeface="Aptos"/>
              </a:rPr>
              <a:t>CONTEXT ENGINEERING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3DD39119-0D03-F0B5-FB7D-13A80A92D142}"/>
              </a:ext>
            </a:extLst>
          </p:cNvPr>
          <p:cNvSpPr>
            <a:spLocks noGrp="1"/>
          </p:cNvSpPr>
          <p:nvPr/>
        </p:nvSpPr>
        <p:spPr>
          <a:xfrm>
            <a:off x="6400800" y="2571750"/>
            <a:ext cx="485775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D2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3D43F925-15B1-6B7E-5CA3-2E114A6D9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53200" y="2892488"/>
            <a:ext cx="4552950" cy="330073"/>
          </a:xfrm>
          <a:prstGeom prst="rect">
            <a:avLst/>
          </a:prstGeom>
        </p:spPr>
      </p:pic>
      <p:sp>
        <p:nvSpPr>
          <p:cNvPr id="55" name="Rectángulo 54">
            <a:extLst>
              <a:ext uri="{FF2B5EF4-FFF2-40B4-BE49-F238E27FC236}">
                <a16:creationId xmlns:a16="http://schemas.microsoft.com/office/drawing/2014/main" id="{4FB85F76-3074-B4B9-4C1F-AD33152EBADB}"/>
              </a:ext>
            </a:extLst>
          </p:cNvPr>
          <p:cNvSpPr>
            <a:spLocks noGrp="1"/>
          </p:cNvSpPr>
          <p:nvPr/>
        </p:nvSpPr>
        <p:spPr>
          <a:xfrm>
            <a:off x="6457950" y="3867150"/>
            <a:ext cx="4743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Orquesta recuperación, instrucciones, herramientas, memoria, estado y consulta bajo una función objetivo.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64BB4517-296F-CF7E-B3EF-B32543B11B23}"/>
              </a:ext>
            </a:extLst>
          </p:cNvPr>
          <p:cNvSpPr>
            <a:spLocks noGrp="1"/>
          </p:cNvSpPr>
          <p:nvPr/>
        </p:nvSpPr>
        <p:spPr>
          <a:xfrm>
            <a:off x="1714500" y="57816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6C6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RAG llena una parte de C; Context Engineering gobierna el conjunto.</a:t>
            </a:r>
          </a:p>
        </p:txBody>
      </p:sp>
    </p:spTree>
    <p:extLst>
      <p:ext uri="{BB962C8B-B14F-4D97-AF65-F5344CB8AC3E}">
        <p14:creationId xmlns:p14="http://schemas.microsoft.com/office/powerpoint/2010/main" val="145106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C2F4-065F-4E68-4A15-3C7E9AE7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9E5967-4BF3-378C-6031-7E86D229CD54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MODELAMIENTO PROBABILÍSTICO DE RAG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486132-21D9-1682-FD97-6EB8EA8ECB1B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F8AADC3E-DCF8-AB80-7A62-DCF56CCC133D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TypeAdapter validation, serialization y schema sin BaseModel.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59BFCCF-32A0-6D87-4ED4-11E6BB3C7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18843"/>
            <a:ext cx="10817352" cy="3786073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E1B7EB5A-41C1-5D08-710A-1ACB810410CE}"/>
              </a:ext>
            </a:extLst>
          </p:cNvPr>
          <p:cNvSpPr>
            <a:spLocks noGrp="1"/>
          </p:cNvSpPr>
          <p:nvPr/>
        </p:nvSpPr>
        <p:spPr>
          <a:xfrm>
            <a:off x="685800" y="1133627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recupera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antes de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generar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respuesta</a:t>
            </a:r>
            <a:endParaRPr sz="3400" b="1" dirty="0">
              <a:solidFill>
                <a:srgbClr val="1015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D7D893E9-88D9-A654-DBA7-2C8489F9361C}"/>
              </a:ext>
            </a:extLst>
          </p:cNvPr>
          <p:cNvSpPr>
            <a:spLocks noGrp="1"/>
          </p:cNvSpPr>
          <p:nvPr/>
        </p:nvSpPr>
        <p:spPr>
          <a:xfrm>
            <a:off x="685800" y="5760720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sistema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marginaliza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documentos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recuperados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y genera la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condicionada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a la </a:t>
            </a:r>
            <a:r>
              <a:rPr sz="1400" b="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400" b="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4400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D6DEF9-7B76-C34F-AFBB-C225F405669E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400" b="1" dirty="0">
                <a:solidFill>
                  <a:srgbClr val="34445A"/>
                </a:solidFill>
                <a:latin typeface="Aptos"/>
              </a:rPr>
              <a:t>CHAIN-OF-THOUGHT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8F9AAC-EB18-3645-9C56-03ABB501FD1B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6DE84857-D00B-DC47-B1F6-58A91741E53A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ValidationError.errors().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A9DF75A0-44CE-3A5A-43FA-8A2159E3762F}"/>
              </a:ext>
            </a:extLst>
          </p:cNvPr>
          <p:cNvSpPr>
            <a:spLocks noGrp="1"/>
          </p:cNvSpPr>
          <p:nvPr/>
        </p:nvSpPr>
        <p:spPr>
          <a:xfrm>
            <a:off x="685800" y="2034365"/>
            <a:ext cx="5212080" cy="2971800"/>
          </a:xfrm>
          <a:prstGeom prst="roundRect">
            <a:avLst>
              <a:gd name="adj" fmla="val 9446"/>
            </a:avLst>
          </a:prstGeom>
          <a:solidFill>
            <a:srgbClr val="F0EEFF"/>
          </a:solidFill>
          <a:ln w="1905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4539E395-BAF5-48CD-C9A6-BD7154F53C34}"/>
              </a:ext>
            </a:extLst>
          </p:cNvPr>
          <p:cNvSpPr>
            <a:spLocks noGrp="1"/>
          </p:cNvSpPr>
          <p:nvPr/>
        </p:nvSpPr>
        <p:spPr>
          <a:xfrm>
            <a:off x="6263640" y="2034365"/>
            <a:ext cx="5212080" cy="2971800"/>
          </a:xfrm>
          <a:prstGeom prst="roundRect">
            <a:avLst>
              <a:gd name="adj" fmla="val 8818"/>
            </a:avLst>
          </a:prstGeom>
          <a:solidFill>
            <a:srgbClr val="FFF7F7"/>
          </a:solidFill>
          <a:ln w="1905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A96B6B6F-2EE4-2ECE-691B-D7659DA345F8}"/>
              </a:ext>
            </a:extLst>
          </p:cNvPr>
          <p:cNvSpPr>
            <a:spLocks noGrp="1"/>
          </p:cNvSpPr>
          <p:nvPr/>
        </p:nvSpPr>
        <p:spPr>
          <a:xfrm>
            <a:off x="685800" y="995680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CoT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reduce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entropía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pero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amplificar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errores</a:t>
            </a:r>
            <a:endParaRPr sz="3400" b="1" dirty="0">
              <a:solidFill>
                <a:srgbClr val="1015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D5A38F1-EC88-C2F4-D09F-23A0064CD4E8}"/>
              </a:ext>
            </a:extLst>
          </p:cNvPr>
          <p:cNvSpPr>
            <a:spLocks noGrp="1"/>
          </p:cNvSpPr>
          <p:nvPr/>
        </p:nvSpPr>
        <p:spPr>
          <a:xfrm>
            <a:off x="777240" y="1644904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9EE5F05-BE12-A022-3124-A5B671B9FF46}"/>
              </a:ext>
            </a:extLst>
          </p:cNvPr>
          <p:cNvSpPr>
            <a:spLocks noGrp="1"/>
          </p:cNvSpPr>
          <p:nvPr/>
        </p:nvSpPr>
        <p:spPr>
          <a:xfrm>
            <a:off x="804672" y="2125805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1. Fundamento Probabilístico</a:t>
            </a:r>
          </a:p>
        </p:txBody>
      </p:sp>
      <p:pic>
        <p:nvPicPr>
          <p:cNvPr id="15" name="Ecuación s_cot_formula">
            <a:extLst>
              <a:ext uri="{FF2B5EF4-FFF2-40B4-BE49-F238E27FC236}">
                <a16:creationId xmlns:a16="http://schemas.microsoft.com/office/drawing/2014/main" id="{52177307-2268-EF51-8502-E2170E887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99" y="2577680"/>
            <a:ext cx="4215882" cy="566928"/>
          </a:xfrm>
          <a:prstGeom prst="rect">
            <a:avLst/>
          </a:prstGeom>
        </p:spPr>
      </p:pic>
      <p:pic>
        <p:nvPicPr>
          <p:cNvPr id="17" name="Ecuación s_cot_entropy">
            <a:extLst>
              <a:ext uri="{FF2B5EF4-FFF2-40B4-BE49-F238E27FC236}">
                <a16:creationId xmlns:a16="http://schemas.microsoft.com/office/drawing/2014/main" id="{67ABFD20-0DA7-10B6-1259-36E29F23A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978" y="3388693"/>
            <a:ext cx="3741724" cy="384048"/>
          </a:xfrm>
          <a:prstGeom prst="rect">
            <a:avLst/>
          </a:prstGeom>
        </p:spPr>
      </p:pic>
      <p:sp>
        <p:nvSpPr>
          <p:cNvPr id="22" name="TextBox 8">
            <a:extLst>
              <a:ext uri="{FF2B5EF4-FFF2-40B4-BE49-F238E27FC236}">
                <a16:creationId xmlns:a16="http://schemas.microsoft.com/office/drawing/2014/main" id="{AB02F894-D9A3-DB2F-1EF8-5312433D564D}"/>
              </a:ext>
            </a:extLst>
          </p:cNvPr>
          <p:cNvSpPr>
            <a:spLocks noGrp="1"/>
          </p:cNvSpPr>
          <p:nvPr/>
        </p:nvSpPr>
        <p:spPr>
          <a:xfrm>
            <a:off x="804672" y="4081506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• El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razonamiento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R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amplía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el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prefijo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antes de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generar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Y.</a:t>
            </a:r>
          </a:p>
          <a:p>
            <a:endParaRPr sz="1200" b="1" dirty="0">
              <a:solidFill>
                <a:srgbClr val="101526"/>
              </a:solidFill>
              <a:latin typeface="Aptos"/>
              <a:ea typeface="Aptos"/>
              <a:cs typeface="Aptos"/>
            </a:endParaRPr>
          </a:p>
          <a:p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• Cada paso integra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mejor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de X y C.</a:t>
            </a: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0DEDC443-B80E-8811-89B8-B690888E6CBB}"/>
              </a:ext>
            </a:extLst>
          </p:cNvPr>
          <p:cNvSpPr>
            <a:spLocks noGrp="1"/>
          </p:cNvSpPr>
          <p:nvPr/>
        </p:nvSpPr>
        <p:spPr>
          <a:xfrm>
            <a:off x="6382512" y="2125805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2. Límites y Riesgos de CoT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21F42FAB-174A-221C-C442-B0F9664077DC}"/>
              </a:ext>
            </a:extLst>
          </p:cNvPr>
          <p:cNvSpPr>
            <a:spLocks noGrp="1"/>
          </p:cNvSpPr>
          <p:nvPr/>
        </p:nvSpPr>
        <p:spPr>
          <a:xfrm>
            <a:off x="6382512" y="2509853"/>
            <a:ext cx="4974336" cy="1170432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77D7F05C-B5CC-4A79-054C-AE00E4047354}"/>
              </a:ext>
            </a:extLst>
          </p:cNvPr>
          <p:cNvSpPr>
            <a:spLocks noGrp="1"/>
          </p:cNvSpPr>
          <p:nvPr/>
        </p:nvSpPr>
        <p:spPr>
          <a:xfrm>
            <a:off x="6473952" y="2555573"/>
            <a:ext cx="47914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Cascada de errores</a:t>
            </a:r>
          </a:p>
          <a:p>
            <a:r>
              <a:rPr sz="13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Un error temprano puede fijarse en el prefijo y condicionar la respuesta final.</a:t>
            </a:r>
          </a:p>
        </p:txBody>
      </p:sp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EFF5BAB0-3FCB-D585-3BED-436EF287A79A}"/>
              </a:ext>
            </a:extLst>
          </p:cNvPr>
          <p:cNvSpPr>
            <a:spLocks noGrp="1"/>
          </p:cNvSpPr>
          <p:nvPr/>
        </p:nvSpPr>
        <p:spPr>
          <a:xfrm>
            <a:off x="6382512" y="3744293"/>
            <a:ext cx="4974336" cy="1170432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D3CDCDA7-F4A0-2B64-3CB0-88355A408A10}"/>
              </a:ext>
            </a:extLst>
          </p:cNvPr>
          <p:cNvSpPr>
            <a:spLocks noGrp="1"/>
          </p:cNvSpPr>
          <p:nvPr/>
        </p:nvSpPr>
        <p:spPr>
          <a:xfrm>
            <a:off x="6473952" y="3790013"/>
            <a:ext cx="47914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Overthinking y ruido</a:t>
            </a:r>
          </a:p>
          <a:p>
            <a:r>
              <a:rPr sz="13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Más tokens pueden diluir la señal útil e introducir contexto irrelevante.</a:t>
            </a: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58813390-8A04-5DA9-7E06-C4F509466409}"/>
              </a:ext>
            </a:extLst>
          </p:cNvPr>
          <p:cNvSpPr>
            <a:spLocks noGrp="1"/>
          </p:cNvSpPr>
          <p:nvPr/>
        </p:nvSpPr>
        <p:spPr>
          <a:xfrm>
            <a:off x="790702" y="4848586"/>
            <a:ext cx="10561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15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 · X consulta · C </a:t>
            </a:r>
            <a:r>
              <a:rPr sz="1150" b="1" dirty="0" err="1">
                <a:solidFill>
                  <a:srgbClr val="7065E8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15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 · R </a:t>
            </a:r>
            <a:r>
              <a:rPr sz="1150" b="1" dirty="0" err="1">
                <a:solidFill>
                  <a:srgbClr val="7065E8"/>
                </a:solidFill>
                <a:latin typeface="Aptos"/>
                <a:ea typeface="Aptos"/>
                <a:cs typeface="Aptos"/>
              </a:rPr>
              <a:t>razonamiento</a:t>
            </a:r>
            <a:r>
              <a:rPr sz="115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 · Y </a:t>
            </a:r>
            <a:r>
              <a:rPr sz="1150" b="1" dirty="0" err="1">
                <a:solidFill>
                  <a:srgbClr val="7065E8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115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 · H </a:t>
            </a:r>
            <a:r>
              <a:rPr sz="1150" b="1" dirty="0" err="1">
                <a:solidFill>
                  <a:srgbClr val="7065E8"/>
                </a:solidFill>
                <a:latin typeface="Aptos"/>
                <a:ea typeface="Aptos"/>
                <a:cs typeface="Aptos"/>
              </a:rPr>
              <a:t>entropía</a:t>
            </a:r>
            <a:endParaRPr sz="1150" b="1" dirty="0">
              <a:solidFill>
                <a:srgbClr val="7065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15FE009-29ED-A1A4-0264-935EDE451CBA}"/>
              </a:ext>
            </a:extLst>
          </p:cNvPr>
          <p:cNvSpPr/>
          <p:nvPr/>
        </p:nvSpPr>
        <p:spPr>
          <a:xfrm>
            <a:off x="1123632" y="5680379"/>
            <a:ext cx="9804529" cy="565859"/>
          </a:xfrm>
          <a:prstGeom prst="rect">
            <a:avLst/>
          </a:prstGeom>
          <a:solidFill>
            <a:srgbClr val="2634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5BD5080-C398-BFC1-A698-950DC9AE013D}"/>
              </a:ext>
            </a:extLst>
          </p:cNvPr>
          <p:cNvSpPr txBox="1"/>
          <p:nvPr/>
        </p:nvSpPr>
        <p:spPr>
          <a:xfrm>
            <a:off x="1673672" y="5761871"/>
            <a:ext cx="8704450" cy="31926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600" b="1" dirty="0">
                <a:solidFill>
                  <a:srgbClr val="FFFFFF"/>
                </a:solidFill>
                <a:latin typeface="Aptos"/>
              </a:rPr>
              <a:t>Recomendación: </a:t>
            </a:r>
            <a:r>
              <a:rPr lang="es-PE" sz="1600" b="1" dirty="0">
                <a:solidFill>
                  <a:srgbClr val="FFFFFF"/>
                </a:solidFill>
                <a:latin typeface="Aptos"/>
              </a:rPr>
              <a:t>Generar un razonamiento antes de la respuesta final del agente.</a:t>
            </a:r>
            <a:endParaRPr lang="es-US" sz="16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6961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adroTexto 38">
            <a:extLst>
              <a:ext uri="{FF2B5EF4-FFF2-40B4-BE49-F238E27FC236}">
                <a16:creationId xmlns:a16="http://schemas.microsoft.com/office/drawing/2014/main" id="{6ADC3063-CD75-234D-B66D-6D2F7BCE41DE}"/>
              </a:ext>
            </a:extLst>
          </p:cNvPr>
          <p:cNvSpPr txBox="1"/>
          <p:nvPr/>
        </p:nvSpPr>
        <p:spPr>
          <a:xfrm>
            <a:off x="609600" y="330200"/>
            <a:ext cx="8255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AMBIGÜEDAD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587D49E-3D6D-A444-AB37-A286B314744C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Strict mode y conversiones de datos.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84F698EE-F7E6-5429-84A0-017E9961F20B}"/>
              </a:ext>
            </a:extLst>
          </p:cNvPr>
          <p:cNvSpPr>
            <a:spLocks noGrp="1"/>
          </p:cNvSpPr>
          <p:nvPr/>
        </p:nvSpPr>
        <p:spPr>
          <a:xfrm>
            <a:off x="609600" y="2370949"/>
            <a:ext cx="5212080" cy="132588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FF10C0F7-865E-C969-6890-BC0D0F8230A4}"/>
              </a:ext>
            </a:extLst>
          </p:cNvPr>
          <p:cNvSpPr>
            <a:spLocks noGrp="1"/>
          </p:cNvSpPr>
          <p:nvPr/>
        </p:nvSpPr>
        <p:spPr>
          <a:xfrm>
            <a:off x="6187440" y="2370949"/>
            <a:ext cx="5212080" cy="1325880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C19B9DCF-02A3-1E4F-9DA3-E9C6CE0DDF32}"/>
              </a:ext>
            </a:extLst>
          </p:cNvPr>
          <p:cNvSpPr>
            <a:spLocks noGrp="1"/>
          </p:cNvSpPr>
          <p:nvPr/>
        </p:nvSpPr>
        <p:spPr>
          <a:xfrm>
            <a:off x="609600" y="3833989"/>
            <a:ext cx="5212080" cy="1325880"/>
          </a:xfrm>
          <a:prstGeom prst="roundRect">
            <a:avLst/>
          </a:prstGeom>
          <a:solidFill>
            <a:srgbClr val="E8FCFA"/>
          </a:solidFill>
          <a:ln w="12700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121C6B08-6531-D819-FE4B-B2DDC4ABFCDE}"/>
              </a:ext>
            </a:extLst>
          </p:cNvPr>
          <p:cNvSpPr>
            <a:spLocks noGrp="1"/>
          </p:cNvSpPr>
          <p:nvPr/>
        </p:nvSpPr>
        <p:spPr>
          <a:xfrm>
            <a:off x="6187440" y="3833989"/>
            <a:ext cx="5212080" cy="132588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9EF4D12-AE35-944F-F81C-8C74596FC198}"/>
              </a:ext>
            </a:extLst>
          </p:cNvPr>
          <p:cNvSpPr>
            <a:spLocks noGrp="1"/>
          </p:cNvSpPr>
          <p:nvPr/>
        </p:nvSpPr>
        <p:spPr>
          <a:xfrm>
            <a:off x="701040" y="1071372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Cuando X no representa una intención literal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297FD32-BF62-40EB-DFE2-46D30616B789}"/>
              </a:ext>
            </a:extLst>
          </p:cNvPr>
          <p:cNvSpPr>
            <a:spLocks noGrp="1"/>
          </p:cNvSpPr>
          <p:nvPr/>
        </p:nvSpPr>
        <p:spPr>
          <a:xfrm>
            <a:off x="701040" y="1839468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33F0E2AF-ED17-3D5B-C1C5-0E7E74ABC5D9}"/>
              </a:ext>
            </a:extLst>
          </p:cNvPr>
          <p:cNvSpPr>
            <a:spLocks noGrp="1"/>
          </p:cNvSpPr>
          <p:nvPr/>
        </p:nvSpPr>
        <p:spPr>
          <a:xfrm>
            <a:off x="728472" y="2462389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1. Ironía y sarcasmo</a:t>
            </a:r>
          </a:p>
          <a:p>
            <a:r>
              <a:rPr sz="14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«Qué gran servicio…» → reclamo, no elogio.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1F86D1FF-0EAF-363C-666B-23BFEC9B2D10}"/>
              </a:ext>
            </a:extLst>
          </p:cNvPr>
          <p:cNvSpPr>
            <a:spLocks noGrp="1"/>
          </p:cNvSpPr>
          <p:nvPr/>
        </p:nvSpPr>
        <p:spPr>
          <a:xfrm>
            <a:off x="6306312" y="2462389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2. Actos de habla indirectos</a:t>
            </a:r>
          </a:p>
          <a:p>
            <a:r>
              <a:rPr sz="14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«¿Tienes saldo?» → consulta, no habilidad.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10826DD3-98D1-A33D-1D6E-1B0AAB9743F2}"/>
              </a:ext>
            </a:extLst>
          </p:cNvPr>
          <p:cNvSpPr>
            <a:spLocks noGrp="1"/>
          </p:cNvSpPr>
          <p:nvPr/>
        </p:nvSpPr>
        <p:spPr>
          <a:xfrm>
            <a:off x="728472" y="3925429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3. Elipsis y correferencia</a:t>
            </a:r>
          </a:p>
          <a:p>
            <a:r>
              <a:rPr sz="14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«Haz lo mismo con la otra» → resolver el referente en el historial.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5298A8AF-76EC-71BF-17F2-C9810E17A8EF}"/>
              </a:ext>
            </a:extLst>
          </p:cNvPr>
          <p:cNvSpPr>
            <a:spLocks noGrp="1"/>
          </p:cNvSpPr>
          <p:nvPr/>
        </p:nvSpPr>
        <p:spPr>
          <a:xfrm>
            <a:off x="6306312" y="3925429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4. Modismos</a:t>
            </a:r>
          </a:p>
          <a:p>
            <a:r>
              <a:rPr sz="14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«Se cayó el sistema» → incidente, no caída física.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DEA7D24-E63C-8632-3ECD-E9D5C2C63321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9C0A543-EDC0-A9DB-3835-703F83F0A7A3}"/>
              </a:ext>
            </a:extLst>
          </p:cNvPr>
          <p:cNvSpPr/>
          <p:nvPr/>
        </p:nvSpPr>
        <p:spPr>
          <a:xfrm>
            <a:off x="1123632" y="5680379"/>
            <a:ext cx="9804529" cy="565859"/>
          </a:xfrm>
          <a:prstGeom prst="rect">
            <a:avLst/>
          </a:prstGeom>
          <a:solidFill>
            <a:srgbClr val="2634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98ACB61-8BD9-591D-2B07-CF1DC780A481}"/>
              </a:ext>
            </a:extLst>
          </p:cNvPr>
          <p:cNvSpPr txBox="1"/>
          <p:nvPr/>
        </p:nvSpPr>
        <p:spPr>
          <a:xfrm>
            <a:off x="1673672" y="5761871"/>
            <a:ext cx="8704450" cy="31926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MX" sz="1600" b="1" dirty="0">
                <a:solidFill>
                  <a:srgbClr val="FFFFFF"/>
                </a:solidFill>
                <a:latin typeface="Aptos"/>
              </a:rPr>
              <a:t>La intención se infiere: la consulta literal no siempre describe la acción esperada</a:t>
            </a:r>
            <a:r>
              <a:rPr lang="es-PE" sz="1600" b="1" dirty="0">
                <a:solidFill>
                  <a:srgbClr val="FFFFFF"/>
                </a:solidFill>
                <a:latin typeface="Aptos"/>
              </a:rPr>
              <a:t>.</a:t>
            </a:r>
            <a:endParaRPr lang="es-US" sz="16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534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156D-902E-BDF4-70BC-05348342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adroTexto 38">
            <a:extLst>
              <a:ext uri="{FF2B5EF4-FFF2-40B4-BE49-F238E27FC236}">
                <a16:creationId xmlns:a16="http://schemas.microsoft.com/office/drawing/2014/main" id="{282C15FC-47C1-88ED-D166-B455EE5EA2FD}"/>
              </a:ext>
            </a:extLst>
          </p:cNvPr>
          <p:cNvSpPr txBox="1"/>
          <p:nvPr/>
        </p:nvSpPr>
        <p:spPr>
          <a:xfrm>
            <a:off x="609600" y="330200"/>
            <a:ext cx="8255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LA AMBIGÜEDAD CAMBIA EL PROBLEMA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D68F033-22A8-9C48-F906-68EA9C6948F0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Strict mode y conversiones de datos.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E213199-E7E3-3157-F02B-424C316E3AC4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57EB0D4-E6FC-78DD-B75B-8D261FF0B884}"/>
              </a:ext>
            </a:extLst>
          </p:cNvPr>
          <p:cNvSpPr/>
          <p:nvPr/>
        </p:nvSpPr>
        <p:spPr>
          <a:xfrm>
            <a:off x="609599" y="1278812"/>
            <a:ext cx="5692633" cy="2997038"/>
          </a:xfrm>
          <a:prstGeom prst="rect">
            <a:avLst/>
          </a:prstGeom>
          <a:solidFill>
            <a:srgbClr val="DDF7F8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449584-9058-E7CB-BB4E-D46977222209}"/>
              </a:ext>
            </a:extLst>
          </p:cNvPr>
          <p:cNvSpPr/>
          <p:nvPr/>
        </p:nvSpPr>
        <p:spPr>
          <a:xfrm>
            <a:off x="609600" y="1278811"/>
            <a:ext cx="101600" cy="2997038"/>
          </a:xfrm>
          <a:prstGeom prst="rect">
            <a:avLst/>
          </a:prstGeom>
          <a:solidFill>
            <a:srgbClr val="00A7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A44093-5F4C-E403-E498-294956DB57B8}"/>
              </a:ext>
            </a:extLst>
          </p:cNvPr>
          <p:cNvSpPr txBox="1"/>
          <p:nvPr/>
        </p:nvSpPr>
        <p:spPr>
          <a:xfrm>
            <a:off x="914400" y="1431212"/>
            <a:ext cx="4191000" cy="292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600" b="1" dirty="0">
                <a:solidFill>
                  <a:srgbClr val="00A7B5"/>
                </a:solidFill>
                <a:latin typeface="Helvetica Neue"/>
                <a:ea typeface="Helvetica Neue"/>
                <a:cs typeface="Helvetica Neue"/>
              </a:rPr>
              <a:t>X ya no determina una única intención Z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C3B26F4-C2E9-B9A2-8C87-CE68A01EBA3E}"/>
              </a:ext>
            </a:extLst>
          </p:cNvPr>
          <p:cNvSpPr txBox="1"/>
          <p:nvPr/>
        </p:nvSpPr>
        <p:spPr>
          <a:xfrm>
            <a:off x="901700" y="18161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MX" sz="1200" b="1" dirty="0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Recuperar mejor no basta: primero hay que desambiguar</a:t>
            </a:r>
            <a:endParaRPr lang="es-US" sz="1200" b="1" dirty="0">
              <a:solidFill>
                <a:srgbClr val="536078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F4E86CF-65A1-D3A6-F04A-36951BC8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83" y="876300"/>
            <a:ext cx="5692633" cy="5303980"/>
          </a:xfrm>
          <a:prstGeom prst="rect">
            <a:avLst/>
          </a:prstGeom>
        </p:spPr>
      </p:pic>
      <p:sp>
        <p:nvSpPr>
          <p:cNvPr id="25" name="TextBox 23">
            <a:extLst>
              <a:ext uri="{FF2B5EF4-FFF2-40B4-BE49-F238E27FC236}">
                <a16:creationId xmlns:a16="http://schemas.microsoft.com/office/drawing/2014/main" id="{BBE61BA5-E143-568C-C0D6-E1E02403D7F7}"/>
              </a:ext>
            </a:extLst>
          </p:cNvPr>
          <p:cNvSpPr>
            <a:spLocks noGrp="1"/>
          </p:cNvSpPr>
          <p:nvPr/>
        </p:nvSpPr>
        <p:spPr>
          <a:xfrm>
            <a:off x="609599" y="4416739"/>
            <a:ext cx="5408683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dirty="0" err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25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25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· X consulta · C contexto · Y respuesta completa </a:t>
            </a:r>
            <a:r>
              <a:rPr sz="1250" b="1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· </a:t>
            </a:r>
            <a:r>
              <a:rPr sz="125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Z </a:t>
            </a:r>
            <a:r>
              <a:rPr sz="125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intención</a:t>
            </a:r>
            <a:r>
              <a:rPr sz="125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sz="1250" dirty="0" err="1">
                <a:solidFill>
                  <a:srgbClr val="60687C"/>
                </a:solidFill>
                <a:latin typeface="Aptos"/>
                <a:ea typeface="Aptos"/>
                <a:cs typeface="Aptos"/>
              </a:rPr>
              <a:t>latente</a:t>
            </a:r>
            <a:r>
              <a:rPr sz="125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 </a:t>
            </a:r>
            <a:r>
              <a:rPr lang="es-PE" sz="1250" dirty="0">
                <a:solidFill>
                  <a:srgbClr val="60687C"/>
                </a:solidFill>
                <a:latin typeface="Aptos"/>
                <a:ea typeface="Aptos"/>
                <a:cs typeface="Aptos"/>
              </a:rPr>
              <a:t>· z hipótesis de intención</a:t>
            </a:r>
            <a:endParaRPr sz="1250" dirty="0">
              <a:solidFill>
                <a:srgbClr val="6068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D61EFA7-A9AD-A5F0-7AC7-DC608E3BAD4E}"/>
              </a:ext>
            </a:extLst>
          </p:cNvPr>
          <p:cNvSpPr/>
          <p:nvPr/>
        </p:nvSpPr>
        <p:spPr>
          <a:xfrm>
            <a:off x="869702" y="2615057"/>
            <a:ext cx="5058658" cy="1149223"/>
          </a:xfrm>
          <a:prstGeom prst="rect">
            <a:avLst/>
          </a:prstGeom>
          <a:solidFill>
            <a:srgbClr val="172333"/>
          </a:solidFill>
          <a:ln w="9525" cap="flat" cmpd="sng" algn="ctr">
            <a:solidFill>
              <a:srgbClr val="16B6C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pic>
        <p:nvPicPr>
          <p:cNvPr id="23" name="Ecuación s11_mixture">
            <a:extLst>
              <a:ext uri="{FF2B5EF4-FFF2-40B4-BE49-F238E27FC236}">
                <a16:creationId xmlns:a16="http://schemas.microsoft.com/office/drawing/2014/main" id="{AB465E3F-820D-D5ED-09E4-997C1314B74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01700" y="3073187"/>
            <a:ext cx="4958080" cy="47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99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59CE-6C38-A1D1-5819-F32E24D5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adroTexto 38">
            <a:extLst>
              <a:ext uri="{FF2B5EF4-FFF2-40B4-BE49-F238E27FC236}">
                <a16:creationId xmlns:a16="http://schemas.microsoft.com/office/drawing/2014/main" id="{3AA93EC7-F24E-2323-BDE0-9EEC1A74C08D}"/>
              </a:ext>
            </a:extLst>
          </p:cNvPr>
          <p:cNvSpPr txBox="1"/>
          <p:nvPr/>
        </p:nvSpPr>
        <p:spPr>
          <a:xfrm>
            <a:off x="609600" y="330200"/>
            <a:ext cx="8255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LA AMBIGÜEDAD CAMBIA EL PROBLEMA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91C4E9B-B6B6-1448-B1B4-A55F9DA25D95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docs.pydantic.dev · Strict mode y conversiones de datos.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9B08F9A-44CD-D6A4-5488-A25A6E216036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210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4E4CB0F-7FE7-A54D-AE79-2C9CAB5CD112}"/>
              </a:ext>
            </a:extLst>
          </p:cNvPr>
          <p:cNvSpPr txBox="1"/>
          <p:nvPr/>
        </p:nvSpPr>
        <p:spPr>
          <a:xfrm>
            <a:off x="609600" y="304800"/>
            <a:ext cx="10223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050" b="1" dirty="0">
                <a:solidFill>
                  <a:srgbClr val="30445E"/>
                </a:solidFill>
                <a:latin typeface="Helvetica Neue"/>
                <a:ea typeface="Helvetica Neue"/>
                <a:cs typeface="Helvetica Neue"/>
              </a:rPr>
              <a:t>Validadores: antes, después y a nivel de modelo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C35F64-FDE2-4B4C-BFE8-1A3F6C3C57F1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56AFE8-BCAA-FC4C-9A87-257EC8DB5ECE}"/>
              </a:ext>
            </a:extLst>
          </p:cNvPr>
          <p:cNvSpPr txBox="1"/>
          <p:nvPr/>
        </p:nvSpPr>
        <p:spPr>
          <a:xfrm>
            <a:off x="609600" y="965200"/>
            <a:ext cx="11303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250" b="1" dirty="0">
                <a:solidFill>
                  <a:srgbClr val="687487"/>
                </a:solidFill>
                <a:latin typeface="Helvetica Neue"/>
                <a:ea typeface="Helvetica Neue"/>
                <a:cs typeface="Helvetica Neue"/>
              </a:rPr>
              <a:t>Los validadores permiten normalizar input crudo, validar campos ya </a:t>
            </a:r>
            <a:r>
              <a:rPr lang="es-US" sz="1250" b="1" dirty="0" err="1">
                <a:solidFill>
                  <a:srgbClr val="687487"/>
                </a:solidFill>
                <a:latin typeface="Helvetica Neue"/>
                <a:ea typeface="Helvetica Neue"/>
                <a:cs typeface="Helvetica Neue"/>
              </a:rPr>
              <a:t>parseados</a:t>
            </a:r>
            <a:r>
              <a:rPr lang="es-US" sz="1250" b="1" dirty="0">
                <a:solidFill>
                  <a:srgbClr val="687487"/>
                </a:solidFill>
                <a:latin typeface="Helvetica Neue"/>
                <a:ea typeface="Helvetica Neue"/>
                <a:cs typeface="Helvetica Neue"/>
              </a:rPr>
              <a:t> y comprobar reglas entre campos.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D9D26B7-6FA4-1B4E-AA88-B438F6FF5D04}"/>
              </a:ext>
            </a:extLst>
          </p:cNvPr>
          <p:cNvSpPr/>
          <p:nvPr/>
        </p:nvSpPr>
        <p:spPr>
          <a:xfrm>
            <a:off x="660400" y="1549400"/>
            <a:ext cx="6096000" cy="3708400"/>
          </a:xfrm>
          <a:prstGeom prst="rect">
            <a:avLst/>
          </a:prstGeom>
          <a:solidFill>
            <a:srgbClr val="121E2B"/>
          </a:solidFill>
          <a:ln w="1397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9E77F4C-EFA1-E84D-9081-D7CF24C9BC25}"/>
              </a:ext>
            </a:extLst>
          </p:cNvPr>
          <p:cNvSpPr txBox="1"/>
          <p:nvPr/>
        </p:nvSpPr>
        <p:spPr>
          <a:xfrm>
            <a:off x="863600" y="1663700"/>
            <a:ext cx="5689600" cy="3530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rmAutofit/>
          </a:bodyPr>
          <a:lstStyle/>
          <a:p>
            <a:pPr algn="l"/>
            <a:r>
              <a:rPr lang="es-US" sz="750" b="1">
                <a:solidFill>
                  <a:srgbClr val="E6EDF3"/>
                </a:solidFill>
                <a:latin typeface="Consolas"/>
                <a:cs typeface="Consolas"/>
              </a:rPr>
              <a:t>from typing import Literal
from pydantic import (
    BaseModel, Field, field_validator, model_validator
)
class Payment(BaseModel):
    amount: float = Field(gt=0)
    currency: Literal["USD", "PEN", "EUR"]
    fee: float = Field(ge=0)
    @field_validator("currency", mode="before")
    @classmethod
    def normalize_currency(cls, value):
        return value.upper()
    @field_validator("amount", mode="after")
    @classmethod
    def validate_amount(cls, value):
        if value &gt; 100_000:
            raise ValueError("amount requires manual review")
        return value
    @model_validator(mode="after")
    def validate_total_cost(self):
        if self.fee &gt; self.amount:
            raise ValueError("fee cannot exceed amount")
        return self</a:t>
            </a:r>
            <a:endParaRPr lang="es-US" sz="750" b="1" dirty="0">
              <a:solidFill>
                <a:srgbClr val="E6EDF3"/>
              </a:solidFill>
              <a:latin typeface="Consolas"/>
              <a:cs typeface="Consolas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7280019-DBDB-8D43-936B-F9D1BB7F2174}"/>
              </a:ext>
            </a:extLst>
          </p:cNvPr>
          <p:cNvSpPr/>
          <p:nvPr/>
        </p:nvSpPr>
        <p:spPr>
          <a:xfrm>
            <a:off x="7112000" y="1549400"/>
            <a:ext cx="4495800" cy="1143000"/>
          </a:xfrm>
          <a:prstGeom prst="rect">
            <a:avLst/>
          </a:prstGeom>
          <a:solidFill>
            <a:srgbClr val="DDF7F8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BDCDCAF-6468-D944-B05C-DC0D2BE7646E}"/>
              </a:ext>
            </a:extLst>
          </p:cNvPr>
          <p:cNvSpPr/>
          <p:nvPr/>
        </p:nvSpPr>
        <p:spPr>
          <a:xfrm>
            <a:off x="7112000" y="1549400"/>
            <a:ext cx="101600" cy="1143000"/>
          </a:xfrm>
          <a:prstGeom prst="rect">
            <a:avLst/>
          </a:prstGeom>
          <a:solidFill>
            <a:srgbClr val="00A7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0D07503-4836-0C4E-9B50-6169AB5274A8}"/>
              </a:ext>
            </a:extLst>
          </p:cNvPr>
          <p:cNvSpPr txBox="1"/>
          <p:nvPr/>
        </p:nvSpPr>
        <p:spPr>
          <a:xfrm>
            <a:off x="7416800" y="1701800"/>
            <a:ext cx="4013200" cy="241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00A7B5"/>
                </a:solidFill>
                <a:latin typeface="Helvetica Neue"/>
                <a:ea typeface="Helvetica Neue"/>
                <a:cs typeface="Helvetica Neue"/>
              </a:rPr>
              <a:t>field_validator(mode="before")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E58B4AD-AD83-BB4E-ACC9-3D01BFDA5DD0}"/>
              </a:ext>
            </a:extLst>
          </p:cNvPr>
          <p:cNvSpPr txBox="1"/>
          <p:nvPr/>
        </p:nvSpPr>
        <p:spPr>
          <a:xfrm>
            <a:off x="7416800" y="19939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780" b="1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Se ejecuta antes del parsing interno de Pydantic. Trabaja con input crudo. Ejemplo: "usd" → "USD".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E56806C-6625-3C47-8A1D-BA3CFCF9AD4B}"/>
              </a:ext>
            </a:extLst>
          </p:cNvPr>
          <p:cNvSpPr/>
          <p:nvPr/>
        </p:nvSpPr>
        <p:spPr>
          <a:xfrm>
            <a:off x="7112000" y="2819400"/>
            <a:ext cx="4495800" cy="1143000"/>
          </a:xfrm>
          <a:prstGeom prst="rect">
            <a:avLst/>
          </a:prstGeom>
          <a:solidFill>
            <a:srgbClr val="F5DFF0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7A17A70C-6B18-6A46-B4EE-C1FF15B9B00C}"/>
              </a:ext>
            </a:extLst>
          </p:cNvPr>
          <p:cNvSpPr/>
          <p:nvPr/>
        </p:nvSpPr>
        <p:spPr>
          <a:xfrm>
            <a:off x="7112000" y="2819400"/>
            <a:ext cx="101600" cy="1143000"/>
          </a:xfrm>
          <a:prstGeom prst="rect">
            <a:avLst/>
          </a:prstGeom>
          <a:solidFill>
            <a:srgbClr val="C053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E2B7AB9-631D-A845-8B64-9D675C1E5497}"/>
              </a:ext>
            </a:extLst>
          </p:cNvPr>
          <p:cNvSpPr txBox="1"/>
          <p:nvPr/>
        </p:nvSpPr>
        <p:spPr>
          <a:xfrm>
            <a:off x="7416800" y="2971800"/>
            <a:ext cx="4013200" cy="241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C053A7"/>
                </a:solidFill>
                <a:latin typeface="Helvetica Neue"/>
                <a:ea typeface="Helvetica Neue"/>
                <a:cs typeface="Helvetica Neue"/>
              </a:rPr>
              <a:t>field_validator(mode="after")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0E40ED4-4401-C642-94AA-F14898088B50}"/>
              </a:ext>
            </a:extLst>
          </p:cNvPr>
          <p:cNvSpPr txBox="1"/>
          <p:nvPr/>
        </p:nvSpPr>
        <p:spPr>
          <a:xfrm>
            <a:off x="7416800" y="32639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780" b="1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Se ejecuta después de validar y parsear el campo. Trabaja con el tipo final esperado. Ejemplo: "1000.50" → 1000.50 → validación de límite.</a:t>
            </a:r>
            <a:endParaRPr lang="es-US" sz="780" b="1" dirty="0">
              <a:solidFill>
                <a:srgbClr val="53607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493E3E86-3D96-E347-8415-8AF622A1AA19}"/>
              </a:ext>
            </a:extLst>
          </p:cNvPr>
          <p:cNvSpPr/>
          <p:nvPr/>
        </p:nvSpPr>
        <p:spPr>
          <a:xfrm>
            <a:off x="7112000" y="4089400"/>
            <a:ext cx="4495800" cy="1143000"/>
          </a:xfrm>
          <a:prstGeom prst="rect">
            <a:avLst/>
          </a:prstGeom>
          <a:solidFill>
            <a:srgbClr val="FFF0CF"/>
          </a:solidFill>
          <a:ln w="1524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199B74C-F8C8-474E-B6C8-96EBEC6A0AE2}"/>
              </a:ext>
            </a:extLst>
          </p:cNvPr>
          <p:cNvSpPr/>
          <p:nvPr/>
        </p:nvSpPr>
        <p:spPr>
          <a:xfrm>
            <a:off x="7112000" y="4089400"/>
            <a:ext cx="101600" cy="1143000"/>
          </a:xfrm>
          <a:prstGeom prst="rect">
            <a:avLst/>
          </a:prstGeom>
          <a:solidFill>
            <a:srgbClr val="E591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1D05E18-4CF9-B540-A127-0478CF6C0CE2}"/>
              </a:ext>
            </a:extLst>
          </p:cNvPr>
          <p:cNvSpPr txBox="1"/>
          <p:nvPr/>
        </p:nvSpPr>
        <p:spPr>
          <a:xfrm>
            <a:off x="7416800" y="4241800"/>
            <a:ext cx="4013200" cy="241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E59100"/>
                </a:solidFill>
                <a:latin typeface="Helvetica Neue"/>
                <a:ea typeface="Helvetica Neue"/>
                <a:cs typeface="Helvetica Neue"/>
              </a:rPr>
              <a:t>model_validator(mode="after")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BEA9E1A-43CE-1447-91C4-584FBD10FAE0}"/>
              </a:ext>
            </a:extLst>
          </p:cNvPr>
          <p:cNvSpPr txBox="1"/>
          <p:nvPr/>
        </p:nvSpPr>
        <p:spPr>
          <a:xfrm>
            <a:off x="7416800" y="4533900"/>
            <a:ext cx="3987800" cy="622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780" b="1">
                <a:solidFill>
                  <a:srgbClr val="536078"/>
                </a:solidFill>
                <a:latin typeface="Helvetica Neue"/>
                <a:ea typeface="Helvetica Neue"/>
                <a:cs typeface="Helvetica Neue"/>
              </a:rPr>
              <a:t>Se ejecuta después de construir el modelo completo. Permite validar reglas entre campos. Ejemplo: fee &lt;= amount.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DFCDEA8-9024-BD4D-9539-C7823658AE41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550">
                <a:solidFill>
                  <a:srgbClr val="8A94A6"/>
                </a:solidFill>
                <a:latin typeface="Helvetica Neue"/>
                <a:ea typeface="Helvetica Neue"/>
                <a:cs typeface="Helvetica Neue"/>
              </a:rPr>
              <a:t>Fuente: docs.pydantic.dev · field_validator y model_validator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0C6CFC6-E16D-9740-B425-4E5E1ECD46EC}"/>
              </a:ext>
            </a:extLst>
          </p:cNvPr>
          <p:cNvSpPr/>
          <p:nvPr/>
        </p:nvSpPr>
        <p:spPr>
          <a:xfrm>
            <a:off x="889000" y="5511800"/>
            <a:ext cx="10414000" cy="762000"/>
          </a:xfrm>
          <a:prstGeom prst="rect">
            <a:avLst/>
          </a:prstGeom>
          <a:solidFill>
            <a:srgbClr val="FFF0C7"/>
          </a:solidFill>
          <a:ln w="15240" cap="flat" cmpd="sng" algn="ctr">
            <a:solidFill>
              <a:srgbClr val="F2A00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B1E1901-3EBA-B947-B15E-19FAB1A1CE8D}"/>
              </a:ext>
            </a:extLst>
          </p:cNvPr>
          <p:cNvSpPr/>
          <p:nvPr/>
        </p:nvSpPr>
        <p:spPr>
          <a:xfrm>
            <a:off x="889000" y="5511800"/>
            <a:ext cx="101600" cy="762000"/>
          </a:xfrm>
          <a:prstGeom prst="rect">
            <a:avLst/>
          </a:prstGeom>
          <a:solidFill>
            <a:srgbClr val="F2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8FA94E-37DD-9649-8227-ED62D75DBE60}"/>
              </a:ext>
            </a:extLst>
          </p:cNvPr>
          <p:cNvSpPr txBox="1"/>
          <p:nvPr/>
        </p:nvSpPr>
        <p:spPr>
          <a:xfrm>
            <a:off x="1219200" y="57150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1100" b="1">
                <a:solidFill>
                  <a:srgbClr val="314055"/>
                </a:solidFill>
                <a:latin typeface="Aptos"/>
              </a:rPr>
              <a:t>Los model validators validan reglas del objeto completo, especialmente invariantes y coherencia entre campos. No deberían ejecutar efectos secundarios ni lógica de servicios.</a:t>
            </a:r>
          </a:p>
        </p:txBody>
      </p:sp>
    </p:spTree>
    <p:extLst>
      <p:ext uri="{BB962C8B-B14F-4D97-AF65-F5344CB8AC3E}">
        <p14:creationId xmlns:p14="http://schemas.microsoft.com/office/powerpoint/2010/main" val="2830352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5C5D6-604B-851F-6982-7C77C889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adroTexto 55">
            <a:extLst>
              <a:ext uri="{FF2B5EF4-FFF2-40B4-BE49-F238E27FC236}">
                <a16:creationId xmlns:a16="http://schemas.microsoft.com/office/drawing/2014/main" id="{F32538A2-803A-6D46-B91E-2D8C5A74D6D7}"/>
              </a:ext>
            </a:extLst>
          </p:cNvPr>
          <p:cNvSpPr txBox="1"/>
          <p:nvPr/>
        </p:nvSpPr>
        <p:spPr>
          <a:xfrm>
            <a:off x="609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2050" b="1" dirty="0">
                <a:solidFill>
                  <a:srgbClr val="34445A"/>
                </a:solidFill>
                <a:latin typeface="Aptos"/>
              </a:rPr>
              <a:t>En </a:t>
            </a:r>
            <a:r>
              <a:rPr lang="es-US" sz="2050" b="1" dirty="0" err="1">
                <a:solidFill>
                  <a:srgbClr val="34445A"/>
                </a:solidFill>
                <a:latin typeface="Aptos"/>
              </a:rPr>
              <a:t>FastAPI</a:t>
            </a:r>
            <a:r>
              <a:rPr lang="es-US" sz="2050" b="1" dirty="0">
                <a:solidFill>
                  <a:srgbClr val="34445A"/>
                </a:solidFill>
                <a:latin typeface="Aptos"/>
              </a:rPr>
              <a:t>, </a:t>
            </a:r>
            <a:r>
              <a:rPr lang="es-US" sz="2050" b="1" dirty="0" err="1">
                <a:solidFill>
                  <a:srgbClr val="34445A"/>
                </a:solidFill>
                <a:latin typeface="Aptos"/>
              </a:rPr>
              <a:t>Pydantic</a:t>
            </a:r>
            <a:r>
              <a:rPr lang="es-US" sz="2050" b="1" dirty="0">
                <a:solidFill>
                  <a:srgbClr val="34445A"/>
                </a:solidFill>
                <a:latin typeface="Aptos"/>
              </a:rPr>
              <a:t> se vuelve el contrato del </a:t>
            </a:r>
            <a:r>
              <a:rPr lang="es-US" sz="2050" b="1" dirty="0" err="1">
                <a:solidFill>
                  <a:srgbClr val="34445A"/>
                </a:solidFill>
                <a:latin typeface="Aptos"/>
              </a:rPr>
              <a:t>endpoint</a:t>
            </a:r>
            <a:endParaRPr lang="es-US" sz="2050" b="1" dirty="0">
              <a:solidFill>
                <a:srgbClr val="34445A"/>
              </a:solidFill>
              <a:latin typeface="Aptos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84DA475-C572-6F49-AF70-6C6CECCA6A97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B1C2A91-0311-5B48-9EA5-B6D1017FE1AE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Request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, response y </a:t>
            </a:r>
            <a:r>
              <a:rPr lang="es-US" sz="1250" b="1" dirty="0" err="1">
                <a:solidFill>
                  <a:srgbClr val="6B7788"/>
                </a:solidFill>
                <a:latin typeface="Aptos"/>
              </a:rPr>
              <a:t>OpenAPI</a:t>
            </a:r>
            <a:r>
              <a:rPr lang="es-US" sz="1250" b="1" dirty="0">
                <a:solidFill>
                  <a:srgbClr val="6B7788"/>
                </a:solidFill>
                <a:latin typeface="Aptos"/>
              </a:rPr>
              <a:t> comparten un modelo en lugar de tres definiciones separadas.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74ACF51-E45D-E34E-AAE6-96AD21148CFE}"/>
              </a:ext>
            </a:extLst>
          </p:cNvPr>
          <p:cNvSpPr/>
          <p:nvPr/>
        </p:nvSpPr>
        <p:spPr>
          <a:xfrm>
            <a:off x="762000" y="1651000"/>
            <a:ext cx="5461000" cy="1651000"/>
          </a:xfrm>
          <a:prstGeom prst="rect">
            <a:avLst/>
          </a:prstGeom>
          <a:solidFill>
            <a:srgbClr val="17212F"/>
          </a:solidFill>
          <a:ln w="1397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475562-C9A9-9048-9159-7AD05236582D}"/>
              </a:ext>
            </a:extLst>
          </p:cNvPr>
          <p:cNvSpPr txBox="1"/>
          <p:nvPr/>
        </p:nvSpPr>
        <p:spPr>
          <a:xfrm>
            <a:off x="889000" y="1752600"/>
            <a:ext cx="5207000" cy="147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1140">
                <a:solidFill>
                  <a:srgbClr val="EAF2FF"/>
                </a:solidFill>
                <a:latin typeface="Consolas"/>
                <a:cs typeface="Consolas"/>
              </a:rPr>
              <a:t>@app.post("/invoices", response_model=Invoice)
def create_invoice(invoice: Invoice) -&gt; Invoice:
    # invoice ya pasó validación
    return invoice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EDDDF0E-2953-F648-8DAD-8BA2EADCC939}"/>
              </a:ext>
            </a:extLst>
          </p:cNvPr>
          <p:cNvSpPr/>
          <p:nvPr/>
        </p:nvSpPr>
        <p:spPr>
          <a:xfrm>
            <a:off x="889000" y="4597400"/>
            <a:ext cx="1651000" cy="685800"/>
          </a:xfrm>
          <a:prstGeom prst="rect">
            <a:avLst/>
          </a:prstGeom>
          <a:solidFill>
            <a:srgbClr val="E8EFF6"/>
          </a:solidFill>
          <a:ln w="12700" cap="flat" cmpd="sng" algn="ctr">
            <a:solidFill>
              <a:srgbClr val="B9C4D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6965699-9D3B-FE4A-B58C-816D4FE31EAB}"/>
              </a:ext>
            </a:extLst>
          </p:cNvPr>
          <p:cNvSpPr txBox="1"/>
          <p:nvPr/>
        </p:nvSpPr>
        <p:spPr>
          <a:xfrm>
            <a:off x="1155700" y="4826000"/>
            <a:ext cx="1117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00" b="1">
                <a:solidFill>
                  <a:srgbClr val="34445A"/>
                </a:solidFill>
                <a:latin typeface="Aptos"/>
              </a:rPr>
              <a:t>HTTP JSON</a:t>
            </a:r>
          </a:p>
        </p:txBody>
      </p:sp>
      <p:sp>
        <p:nvSpPr>
          <p:cNvPr id="64" name="Flecha derecha 63">
            <a:extLst>
              <a:ext uri="{FF2B5EF4-FFF2-40B4-BE49-F238E27FC236}">
                <a16:creationId xmlns:a16="http://schemas.microsoft.com/office/drawing/2014/main" id="{F6820E5D-6757-9F4C-8815-4F2B7FF9D59B}"/>
              </a:ext>
            </a:extLst>
          </p:cNvPr>
          <p:cNvSpPr/>
          <p:nvPr/>
        </p:nvSpPr>
        <p:spPr>
          <a:xfrm>
            <a:off x="2743200" y="4762500"/>
            <a:ext cx="762000" cy="3556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E9003A07-F8AA-5440-BA95-BCFB2C70EC1F}"/>
              </a:ext>
            </a:extLst>
          </p:cNvPr>
          <p:cNvSpPr/>
          <p:nvPr/>
        </p:nvSpPr>
        <p:spPr>
          <a:xfrm>
            <a:off x="3733800" y="4470400"/>
            <a:ext cx="2032000" cy="939800"/>
          </a:xfrm>
          <a:prstGeom prst="rect">
            <a:avLst/>
          </a:prstGeom>
          <a:solidFill>
            <a:srgbClr val="DDF5F7"/>
          </a:solidFill>
          <a:ln w="1905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4200A63-6D37-F049-B9D1-9AA98E20BB3E}"/>
              </a:ext>
            </a:extLst>
          </p:cNvPr>
          <p:cNvSpPr txBox="1"/>
          <p:nvPr/>
        </p:nvSpPr>
        <p:spPr>
          <a:xfrm>
            <a:off x="4140200" y="4686300"/>
            <a:ext cx="12446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00" b="1">
                <a:solidFill>
                  <a:srgbClr val="078E98"/>
                </a:solidFill>
                <a:latin typeface="Aptos"/>
              </a:rPr>
              <a:t>Invoice
Pydantic</a:t>
            </a:r>
          </a:p>
        </p:txBody>
      </p:sp>
      <p:sp>
        <p:nvSpPr>
          <p:cNvPr id="67" name="Flecha derecha 66">
            <a:extLst>
              <a:ext uri="{FF2B5EF4-FFF2-40B4-BE49-F238E27FC236}">
                <a16:creationId xmlns:a16="http://schemas.microsoft.com/office/drawing/2014/main" id="{144BF3B2-67AB-A245-B3BB-53E64662C765}"/>
              </a:ext>
            </a:extLst>
          </p:cNvPr>
          <p:cNvSpPr/>
          <p:nvPr/>
        </p:nvSpPr>
        <p:spPr>
          <a:xfrm>
            <a:off x="6019800" y="4762500"/>
            <a:ext cx="762000" cy="3556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C16CA872-A579-434E-8FDA-93D191DDB9AA}"/>
              </a:ext>
            </a:extLst>
          </p:cNvPr>
          <p:cNvSpPr/>
          <p:nvPr/>
        </p:nvSpPr>
        <p:spPr>
          <a:xfrm>
            <a:off x="7010400" y="4597400"/>
            <a:ext cx="1778000" cy="685800"/>
          </a:xfrm>
          <a:prstGeom prst="rect">
            <a:avLst/>
          </a:prstGeom>
          <a:solidFill>
            <a:srgbClr val="E4F6EF"/>
          </a:solidFill>
          <a:ln w="12700" cap="flat" cmpd="sng" algn="ctr">
            <a:solidFill>
              <a:srgbClr val="17A67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D4B1ACC-E9D5-5B47-8597-A2301EFC9D12}"/>
              </a:ext>
            </a:extLst>
          </p:cNvPr>
          <p:cNvSpPr txBox="1"/>
          <p:nvPr/>
        </p:nvSpPr>
        <p:spPr>
          <a:xfrm>
            <a:off x="7488464" y="4724400"/>
            <a:ext cx="821871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00" b="1">
                <a:solidFill>
                  <a:srgbClr val="17A673"/>
                </a:solidFill>
                <a:latin typeface="Aptos"/>
              </a:rPr>
              <a:t>Servicio
dominio</a:t>
            </a:r>
          </a:p>
        </p:txBody>
      </p:sp>
      <p:sp>
        <p:nvSpPr>
          <p:cNvPr id="70" name="Flecha derecha 69">
            <a:extLst>
              <a:ext uri="{FF2B5EF4-FFF2-40B4-BE49-F238E27FC236}">
                <a16:creationId xmlns:a16="http://schemas.microsoft.com/office/drawing/2014/main" id="{333921B7-CC07-A640-B827-E56BD268D802}"/>
              </a:ext>
            </a:extLst>
          </p:cNvPr>
          <p:cNvSpPr/>
          <p:nvPr/>
        </p:nvSpPr>
        <p:spPr>
          <a:xfrm>
            <a:off x="9042400" y="4762500"/>
            <a:ext cx="762000" cy="355600"/>
          </a:xfrm>
          <a:prstGeom prst="rightArrow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CBDE2BCA-CBD1-7F4C-81E0-E62BD0B0C568}"/>
              </a:ext>
            </a:extLst>
          </p:cNvPr>
          <p:cNvSpPr/>
          <p:nvPr/>
        </p:nvSpPr>
        <p:spPr>
          <a:xfrm>
            <a:off x="10033000" y="4597400"/>
            <a:ext cx="1397000" cy="685800"/>
          </a:xfrm>
          <a:prstGeom prst="rect">
            <a:avLst/>
          </a:prstGeom>
          <a:solidFill>
            <a:srgbClr val="F1DCEB"/>
          </a:solidFill>
          <a:ln w="1270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E57CF387-DBCD-0142-ABD7-A6713E19B027}"/>
              </a:ext>
            </a:extLst>
          </p:cNvPr>
          <p:cNvSpPr txBox="1"/>
          <p:nvPr/>
        </p:nvSpPr>
        <p:spPr>
          <a:xfrm>
            <a:off x="10325100" y="48260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200" b="1" dirty="0" err="1">
                <a:solidFill>
                  <a:srgbClr val="B35A9D"/>
                </a:solidFill>
                <a:latin typeface="Aptos"/>
              </a:rPr>
              <a:t>OpenAPI</a:t>
            </a:r>
            <a:endParaRPr lang="es-US" sz="1200" b="1" dirty="0">
              <a:solidFill>
                <a:srgbClr val="B35A9D"/>
              </a:solidFill>
              <a:latin typeface="Aptos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76B4BB0E-6794-CE4B-84F3-08BAB9F92022}"/>
              </a:ext>
            </a:extLst>
          </p:cNvPr>
          <p:cNvSpPr/>
          <p:nvPr/>
        </p:nvSpPr>
        <p:spPr>
          <a:xfrm>
            <a:off x="7048500" y="1600200"/>
            <a:ext cx="4381500" cy="10668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00A6B0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C5B12C47-4E46-BF49-BE0B-A96E65AA35F9}"/>
              </a:ext>
            </a:extLst>
          </p:cNvPr>
          <p:cNvSpPr/>
          <p:nvPr/>
        </p:nvSpPr>
        <p:spPr>
          <a:xfrm>
            <a:off x="7048499" y="1600200"/>
            <a:ext cx="113071" cy="10668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3CFBA5B-2424-674C-A699-66A90A622FCE}"/>
              </a:ext>
            </a:extLst>
          </p:cNvPr>
          <p:cNvSpPr txBox="1"/>
          <p:nvPr/>
        </p:nvSpPr>
        <p:spPr>
          <a:xfrm>
            <a:off x="7251700" y="1752600"/>
            <a:ext cx="3985752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00A6B0"/>
                </a:solidFill>
                <a:latin typeface="Aptos"/>
              </a:rPr>
              <a:t>Beneficio operativo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6D894BD9-5314-1E49-B95B-39C8638A876E}"/>
              </a:ext>
            </a:extLst>
          </p:cNvPr>
          <p:cNvSpPr txBox="1"/>
          <p:nvPr/>
        </p:nvSpPr>
        <p:spPr>
          <a:xfrm>
            <a:off x="7251700" y="2108200"/>
            <a:ext cx="3985752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 dirty="0">
                <a:solidFill>
                  <a:srgbClr val="3D4B5F"/>
                </a:solidFill>
                <a:latin typeface="Aptos"/>
              </a:rPr>
              <a:t>El mismo contrato valida entradas, documenta el </a:t>
            </a:r>
            <a:r>
              <a:rPr lang="es-US" sz="980" dirty="0" err="1">
                <a:solidFill>
                  <a:srgbClr val="3D4B5F"/>
                </a:solidFill>
                <a:latin typeface="Aptos"/>
              </a:rPr>
              <a:t>endpoint</a:t>
            </a:r>
            <a:r>
              <a:rPr lang="es-US" sz="980" dirty="0">
                <a:solidFill>
                  <a:srgbClr val="3D4B5F"/>
                </a:solidFill>
                <a:latin typeface="Aptos"/>
              </a:rPr>
              <a:t> y serializa respuestas.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0A34392-8CD1-A842-9D8A-1ED5829CEF45}"/>
              </a:ext>
            </a:extLst>
          </p:cNvPr>
          <p:cNvSpPr/>
          <p:nvPr/>
        </p:nvSpPr>
        <p:spPr>
          <a:xfrm>
            <a:off x="7048500" y="2921000"/>
            <a:ext cx="4381500" cy="10668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B35A9D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EDEDF1A-92C4-AE43-AC77-0ABF3921409A}"/>
              </a:ext>
            </a:extLst>
          </p:cNvPr>
          <p:cNvSpPr/>
          <p:nvPr/>
        </p:nvSpPr>
        <p:spPr>
          <a:xfrm>
            <a:off x="7048499" y="2921000"/>
            <a:ext cx="113071" cy="1066800"/>
          </a:xfrm>
          <a:prstGeom prst="rect">
            <a:avLst/>
          </a:prstGeom>
          <a:solidFill>
            <a:srgbClr val="B35A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369317E-EECF-414C-B7D6-1504D774A444}"/>
              </a:ext>
            </a:extLst>
          </p:cNvPr>
          <p:cNvSpPr txBox="1"/>
          <p:nvPr/>
        </p:nvSpPr>
        <p:spPr>
          <a:xfrm>
            <a:off x="7251700" y="3073400"/>
            <a:ext cx="3985752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320" b="1">
                <a:solidFill>
                  <a:srgbClr val="B35A9D"/>
                </a:solidFill>
                <a:latin typeface="Aptos"/>
              </a:rPr>
              <a:t>Ubicación correcta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DE07770F-FC65-264C-926F-2A73BE1AB898}"/>
              </a:ext>
            </a:extLst>
          </p:cNvPr>
          <p:cNvSpPr txBox="1"/>
          <p:nvPr/>
        </p:nvSpPr>
        <p:spPr>
          <a:xfrm>
            <a:off x="7251700" y="3429000"/>
            <a:ext cx="3985752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rmAutofit/>
          </a:bodyPr>
          <a:lstStyle/>
          <a:p>
            <a:pPr algn="l"/>
            <a:r>
              <a:rPr lang="es-US" sz="980" dirty="0">
                <a:solidFill>
                  <a:srgbClr val="3D4B5F"/>
                </a:solidFill>
                <a:latin typeface="Aptos"/>
              </a:rPr>
              <a:t>El modelo pertenece al punto de entrada del sistema; la lógica de negocio recibe objetos validados, no </a:t>
            </a:r>
            <a:r>
              <a:rPr lang="es-US" sz="980" dirty="0" err="1">
                <a:solidFill>
                  <a:srgbClr val="3D4B5F"/>
                </a:solidFill>
                <a:latin typeface="Aptos"/>
              </a:rPr>
              <a:t>dicts</a:t>
            </a:r>
            <a:r>
              <a:rPr lang="es-US" sz="980" dirty="0">
                <a:solidFill>
                  <a:srgbClr val="3D4B5F"/>
                </a:solidFill>
                <a:latin typeface="Aptos"/>
              </a:rPr>
              <a:t> crudos.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A87B6DC9-7F1D-A141-B416-2A94209BE854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630">
                <a:solidFill>
                  <a:srgbClr val="8A94A4"/>
                </a:solidFill>
                <a:latin typeface="Aptos"/>
              </a:rPr>
              <a:t>Fuente: fastapi.tiangolo.com · Request body, response_model y OpenAPI.</a:t>
            </a:r>
          </a:p>
        </p:txBody>
      </p:sp>
    </p:spTree>
    <p:extLst>
      <p:ext uri="{BB962C8B-B14F-4D97-AF65-F5344CB8AC3E}">
        <p14:creationId xmlns:p14="http://schemas.microsoft.com/office/powerpoint/2010/main" val="213183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EC30-6CD5-F6FE-58A2-77DBC25A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adroTexto 55">
            <a:extLst>
              <a:ext uri="{FF2B5EF4-FFF2-40B4-BE49-F238E27FC236}">
                <a16:creationId xmlns:a16="http://schemas.microsoft.com/office/drawing/2014/main" id="{AE36108A-C7BD-F7F9-FACE-3AC8CBC21F57}"/>
              </a:ext>
            </a:extLst>
          </p:cNvPr>
          <p:cNvSpPr txBox="1"/>
          <p:nvPr/>
        </p:nvSpPr>
        <p:spPr>
          <a:xfrm>
            <a:off x="609600" y="304800"/>
            <a:ext cx="11049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900" b="1">
                <a:solidFill>
                  <a:srgbClr val="2D3B4F"/>
                </a:solidFill>
                <a:latin typeface="Aptos Display"/>
              </a:rPr>
              <a:t>Pydantic en MAF: tools tipadas y structured responses</a:t>
            </a:r>
            <a:endParaRPr lang="es-US" sz="1900" b="1" dirty="0">
              <a:solidFill>
                <a:srgbClr val="2D3B4F"/>
              </a:solidFill>
              <a:latin typeface="Aptos Display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F1A9317-1529-83E7-A678-432AA8F97004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898390B-F4B8-3B11-FD62-950BEB0F3E66}"/>
              </a:ext>
            </a:extLst>
          </p:cNvPr>
          <p:cNvSpPr txBox="1"/>
          <p:nvPr/>
        </p:nvSpPr>
        <p:spPr>
          <a:xfrm>
            <a:off x="609600" y="990600"/>
            <a:ext cx="10922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60" b="1">
                <a:solidFill>
                  <a:srgbClr val="718096"/>
                </a:solidFill>
                <a:latin typeface="Aptos"/>
              </a:rPr>
              <a:t>En Microsoft Agent Framework, Pydantic aporta metadata y validación en dos puntos críticos del agente: parámetros de tools y estructura final de respuesta.</a:t>
            </a:r>
            <a:endParaRPr lang="es-US" sz="960" b="1" dirty="0">
              <a:solidFill>
                <a:srgbClr val="718096"/>
              </a:solidFill>
              <a:latin typeface="Aptos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97BC1906-1F96-A161-EC8C-243811D96167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50">
                <a:solidFill>
                  <a:srgbClr val="9AA4B2"/>
                </a:solidFill>
                <a:latin typeface="Aptos"/>
              </a:rPr>
              <a:t>MAF: tools tipadas, structured responses y contrato Pydantic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768037-5FC9-1A48-A1CC-73AD7E3B84AD}"/>
              </a:ext>
            </a:extLst>
          </p:cNvPr>
          <p:cNvSpPr/>
          <p:nvPr/>
        </p:nvSpPr>
        <p:spPr>
          <a:xfrm>
            <a:off x="711200" y="1600200"/>
            <a:ext cx="5054600" cy="3987800"/>
          </a:xfrm>
          <a:prstGeom prst="rect">
            <a:avLst/>
          </a:prstGeom>
          <a:solidFill>
            <a:srgbClr val="F6FAFD"/>
          </a:solidFill>
          <a:ln w="13970" cap="flat" cmpd="sng" algn="ctr">
            <a:solidFill>
              <a:srgbClr val="16B6C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D59318-A931-C14C-A35C-56C1D5DDD40F}"/>
              </a:ext>
            </a:extLst>
          </p:cNvPr>
          <p:cNvSpPr/>
          <p:nvPr/>
        </p:nvSpPr>
        <p:spPr>
          <a:xfrm>
            <a:off x="711200" y="1600200"/>
            <a:ext cx="101600" cy="39878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5D3521-84C7-534E-BB49-238024F62C28}"/>
              </a:ext>
            </a:extLst>
          </p:cNvPr>
          <p:cNvSpPr/>
          <p:nvPr/>
        </p:nvSpPr>
        <p:spPr>
          <a:xfrm>
            <a:off x="6400800" y="1600200"/>
            <a:ext cx="5054600" cy="3987800"/>
          </a:xfrm>
          <a:prstGeom prst="rect">
            <a:avLst/>
          </a:prstGeom>
          <a:solidFill>
            <a:srgbClr val="F6FAFD"/>
          </a:solidFill>
          <a:ln w="13970" cap="flat" cmpd="sng" algn="ctr">
            <a:solidFill>
              <a:srgbClr val="D25AA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313C16-BF63-BC4D-8041-C672DBD73450}"/>
              </a:ext>
            </a:extLst>
          </p:cNvPr>
          <p:cNvSpPr/>
          <p:nvPr/>
        </p:nvSpPr>
        <p:spPr>
          <a:xfrm>
            <a:off x="6400800" y="1600200"/>
            <a:ext cx="101600" cy="3987800"/>
          </a:xfrm>
          <a:prstGeom prst="rect">
            <a:avLst/>
          </a:prstGeom>
          <a:solidFill>
            <a:srgbClr val="D25A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B9D9BE-CA5D-174E-9F45-E6F50F75A624}"/>
              </a:ext>
            </a:extLst>
          </p:cNvPr>
          <p:cNvSpPr txBox="1"/>
          <p:nvPr/>
        </p:nvSpPr>
        <p:spPr>
          <a:xfrm>
            <a:off x="1016000" y="1816100"/>
            <a:ext cx="4191000" cy="292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US" sz="1500" b="1">
                <a:solidFill>
                  <a:srgbClr val="16B6C8"/>
                </a:solidFill>
                <a:latin typeface="Aptos Display"/>
              </a:rPr>
              <a:t>Tools tipadas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CA993C-949E-C04D-AC3F-434C532D47E6}"/>
              </a:ext>
            </a:extLst>
          </p:cNvPr>
          <p:cNvSpPr txBox="1"/>
          <p:nvPr/>
        </p:nvSpPr>
        <p:spPr>
          <a:xfrm>
            <a:off x="1016000" y="2222500"/>
            <a:ext cx="4368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980" b="1" dirty="0">
                <a:solidFill>
                  <a:srgbClr val="667085"/>
                </a:solidFill>
                <a:latin typeface="Aptos"/>
              </a:rPr>
              <a:t>Field(</a:t>
            </a:r>
            <a:r>
              <a:rPr lang="es-US" sz="980" b="1" dirty="0" err="1">
                <a:solidFill>
                  <a:srgbClr val="667085"/>
                </a:solidFill>
                <a:latin typeface="Aptos"/>
              </a:rPr>
              <a:t>description</a:t>
            </a:r>
            <a:r>
              <a:rPr lang="es-US" sz="980" b="1" dirty="0">
                <a:solidFill>
                  <a:srgbClr val="667085"/>
                </a:solidFill>
                <a:latin typeface="Aptos"/>
              </a:rPr>
              <a:t>=...) describe parámetros de </a:t>
            </a:r>
            <a:r>
              <a:rPr lang="es-US" sz="980" b="1" dirty="0" err="1">
                <a:solidFill>
                  <a:srgbClr val="667085"/>
                </a:solidFill>
                <a:latin typeface="Aptos"/>
              </a:rPr>
              <a:t>tools</a:t>
            </a:r>
            <a:r>
              <a:rPr lang="es-US" sz="980" b="1" dirty="0">
                <a:solidFill>
                  <a:srgbClr val="667085"/>
                </a:solidFill>
                <a:latin typeface="Aptos"/>
              </a:rPr>
              <a:t> para que el modelo entienda qué valor debe enviar.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CCA14D-2F61-164D-8B58-BA7E5C1A9EE3}"/>
              </a:ext>
            </a:extLst>
          </p:cNvPr>
          <p:cNvSpPr txBox="1"/>
          <p:nvPr/>
        </p:nvSpPr>
        <p:spPr>
          <a:xfrm>
            <a:off x="6705600" y="1816100"/>
            <a:ext cx="4191000" cy="292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US" sz="1500" b="1">
                <a:solidFill>
                  <a:srgbClr val="D25AA8"/>
                </a:solidFill>
                <a:latin typeface="Aptos Display"/>
              </a:rPr>
              <a:t>Structured responses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3414A9-60DF-B04E-882D-7D433B57CC77}"/>
              </a:ext>
            </a:extLst>
          </p:cNvPr>
          <p:cNvSpPr txBox="1"/>
          <p:nvPr/>
        </p:nvSpPr>
        <p:spPr>
          <a:xfrm>
            <a:off x="6705600" y="2222500"/>
            <a:ext cx="4368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980" b="1">
                <a:solidFill>
                  <a:srgbClr val="667085"/>
                </a:solidFill>
                <a:latin typeface="Aptos"/>
              </a:rPr>
              <a:t>response_format=InvoiceAnalysis define la forma esperada de la salida final del agente.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AD1999-1C00-2A48-915F-C8F709375DD3}"/>
              </a:ext>
            </a:extLst>
          </p:cNvPr>
          <p:cNvSpPr/>
          <p:nvPr/>
        </p:nvSpPr>
        <p:spPr>
          <a:xfrm>
            <a:off x="1016000" y="2819400"/>
            <a:ext cx="4445000" cy="1524000"/>
          </a:xfrm>
          <a:prstGeom prst="rect">
            <a:avLst/>
          </a:prstGeom>
          <a:solidFill>
            <a:srgbClr val="172333"/>
          </a:solidFill>
          <a:ln w="9525" cap="flat" cmpd="sng" algn="ctr">
            <a:solidFill>
              <a:srgbClr val="16B6C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3F5430-F2AC-9D4C-A341-32214A3C8B17}"/>
              </a:ext>
            </a:extLst>
          </p:cNvPr>
          <p:cNvSpPr txBox="1"/>
          <p:nvPr/>
        </p:nvSpPr>
        <p:spPr>
          <a:xfrm>
            <a:off x="1168400" y="2946400"/>
            <a:ext cx="4140200" cy="1270000"/>
          </a:xfrm>
          <a:prstGeom prst="rect">
            <a:avLst/>
          </a:prstGeom>
          <a:noFill/>
        </p:spPr>
        <p:txBody>
          <a:bodyPr vertOverflow="overflow" vert="horz" wrap="none" rtlCol="0" anchor="t">
            <a:normAutofit/>
          </a:bodyPr>
          <a:lstStyle/>
          <a:p>
            <a:pPr algn="l"/>
            <a:r>
              <a:rPr lang="es-US" sz="780" b="1">
                <a:solidFill>
                  <a:srgbClr val="E8EEF6"/>
                </a:solidFill>
                <a:latin typeface="Consolas"/>
                <a:cs typeface="Consolas"/>
              </a:rPr>
              <a:t>@tool(name="get_current_time")
def get_current_time(
    timezone: Annotated[
        str,
        Field(description="Zona horaria IANA.")
    ] = "America/Lima",
) -&gt; str: ...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C6783D2-E5FF-774F-9388-C00ADBBAE391}"/>
              </a:ext>
            </a:extLst>
          </p:cNvPr>
          <p:cNvSpPr/>
          <p:nvPr/>
        </p:nvSpPr>
        <p:spPr>
          <a:xfrm>
            <a:off x="6705600" y="2819400"/>
            <a:ext cx="4445000" cy="1524000"/>
          </a:xfrm>
          <a:prstGeom prst="rect">
            <a:avLst/>
          </a:prstGeom>
          <a:solidFill>
            <a:srgbClr val="172333"/>
          </a:solidFill>
          <a:ln w="9525" cap="flat" cmpd="sng" algn="ctr">
            <a:solidFill>
              <a:srgbClr val="D25AA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EF9EB07-C105-C841-AE0D-297060A94866}"/>
              </a:ext>
            </a:extLst>
          </p:cNvPr>
          <p:cNvSpPr txBox="1"/>
          <p:nvPr/>
        </p:nvSpPr>
        <p:spPr>
          <a:xfrm>
            <a:off x="6858000" y="2997200"/>
            <a:ext cx="4140200" cy="1168400"/>
          </a:xfrm>
          <a:prstGeom prst="rect">
            <a:avLst/>
          </a:prstGeom>
          <a:noFill/>
        </p:spPr>
        <p:txBody>
          <a:bodyPr vertOverflow="overflow" vert="horz" wrap="none" rtlCol="0" anchor="t">
            <a:normAutofit/>
          </a:bodyPr>
          <a:lstStyle/>
          <a:p>
            <a:pPr algn="l"/>
            <a:r>
              <a:rPr lang="es-US" sz="810" b="1">
                <a:solidFill>
                  <a:srgbClr val="E8EEF6"/>
                </a:solidFill>
                <a:latin typeface="Consolas"/>
                <a:cs typeface="Consolas"/>
              </a:rPr>
              <a:t>response = await agent.run(
    invoice_text,
    options={
        "response_format": InvoiceAnalysis
    },
)
analysis = response.value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A53A04-C7A8-0C47-8A97-731E23AF8011}"/>
              </a:ext>
            </a:extLst>
          </p:cNvPr>
          <p:cNvSpPr txBox="1"/>
          <p:nvPr/>
        </p:nvSpPr>
        <p:spPr>
          <a:xfrm>
            <a:off x="1016000" y="4470400"/>
            <a:ext cx="436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860" b="1">
                <a:solidFill>
                  <a:srgbClr val="314055"/>
                </a:solidFill>
                <a:latin typeface="Aptos"/>
              </a:rPr>
              <a:t>La tool no expone solo una función Python; expone un contrato interpretable por el agente.</a:t>
            </a:r>
            <a:endParaRPr lang="es-US" sz="86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1586F01-396C-2B43-B36C-B6500684B084}"/>
              </a:ext>
            </a:extLst>
          </p:cNvPr>
          <p:cNvSpPr txBox="1"/>
          <p:nvPr/>
        </p:nvSpPr>
        <p:spPr>
          <a:xfrm>
            <a:off x="6705600" y="4528457"/>
            <a:ext cx="2184400" cy="22134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S" sz="860" b="1">
                <a:solidFill>
                  <a:srgbClr val="314055"/>
                </a:solidFill>
                <a:latin typeface="Aptos"/>
              </a:rPr>
              <a:t>La aplicación no consume texto libre; consume un objeto estructurado y validado.</a:t>
            </a:r>
            <a:endParaRPr lang="es-US" sz="860" b="1" dirty="0">
              <a:solidFill>
                <a:srgbClr val="314055"/>
              </a:solidFill>
              <a:latin typeface="Apto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34D0B7B-109E-6A41-A8A3-48562489677F}"/>
              </a:ext>
            </a:extLst>
          </p:cNvPr>
          <p:cNvSpPr/>
          <p:nvPr/>
        </p:nvSpPr>
        <p:spPr>
          <a:xfrm>
            <a:off x="1168400" y="5778500"/>
            <a:ext cx="9855200" cy="482600"/>
          </a:xfrm>
          <a:prstGeom prst="rect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D22CE7B-5330-C940-9289-BDD88CFD7489}"/>
              </a:ext>
            </a:extLst>
          </p:cNvPr>
          <p:cNvSpPr/>
          <p:nvPr/>
        </p:nvSpPr>
        <p:spPr>
          <a:xfrm>
            <a:off x="1168400" y="5778500"/>
            <a:ext cx="101600" cy="482600"/>
          </a:xfrm>
          <a:prstGeom prst="rect">
            <a:avLst/>
          </a:prstGeom>
          <a:solidFill>
            <a:srgbClr val="C653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33A6CE8-40EE-C647-AEFC-505F857B72DF}"/>
              </a:ext>
            </a:extLst>
          </p:cNvPr>
          <p:cNvSpPr txBox="1"/>
          <p:nvPr/>
        </p:nvSpPr>
        <p:spPr>
          <a:xfrm>
            <a:off x="1498600" y="5918200"/>
            <a:ext cx="9144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US" sz="1050" b="1">
                <a:solidFill>
                  <a:srgbClr val="FFFFFF"/>
                </a:solidFill>
                <a:latin typeface="Aptos"/>
              </a:rPr>
              <a:t>Mensaje clave: Pydantic funciona como contrato entre el agente, las tools y el código determinístico.</a:t>
            </a:r>
          </a:p>
        </p:txBody>
      </p:sp>
    </p:spTree>
    <p:extLst>
      <p:ext uri="{BB962C8B-B14F-4D97-AF65-F5344CB8AC3E}">
        <p14:creationId xmlns:p14="http://schemas.microsoft.com/office/powerpoint/2010/main" val="369041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9AD1-53FC-F5AB-458B-4B00658B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47CD1AC-50C9-E144-B8DA-7D54A6ADAC1F}"/>
              </a:ext>
            </a:extLst>
          </p:cNvPr>
          <p:cNvSpPr txBox="1"/>
          <p:nvPr/>
        </p:nvSpPr>
        <p:spPr>
          <a:xfrm>
            <a:off x="609600" y="304800"/>
            <a:ext cx="10795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00" b="1">
                <a:solidFill>
                  <a:srgbClr val="2D3B4F"/>
                </a:solidFill>
                <a:latin typeface="Aptos Display"/>
              </a:rPr>
              <a:t>Demo: agente + tool + contrato Pydantic</a:t>
            </a:r>
            <a:endParaRPr lang="es-US" sz="2000" b="1" dirty="0">
              <a:solidFill>
                <a:srgbClr val="2D3B4F"/>
              </a:solidFill>
              <a:latin typeface="Aptos Display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A42F287-7835-154E-9D59-4211A54CAF76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7263755-8108-CF49-9F59-A17506DD7658}"/>
              </a:ext>
            </a:extLst>
          </p:cNvPr>
          <p:cNvSpPr txBox="1"/>
          <p:nvPr/>
        </p:nvSpPr>
        <p:spPr>
          <a:xfrm>
            <a:off x="609600" y="990600"/>
            <a:ext cx="10922000" cy="406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718096"/>
                </a:solidFill>
                <a:latin typeface="Aptos"/>
              </a:rPr>
              <a:t>Un agente procesa texto de factura, usa una tool de hora y devuelve InvoiceAnalysis como structured output validado.</a:t>
            </a:r>
            <a:endParaRPr lang="es-US" sz="1050" b="1" dirty="0">
              <a:solidFill>
                <a:srgbClr val="718096"/>
              </a:solidFill>
              <a:latin typeface="Aptos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B0F4779-2FB2-6F45-86A8-4F8DFFA64B74}"/>
              </a:ext>
            </a:extLst>
          </p:cNvPr>
          <p:cNvSpPr txBox="1"/>
          <p:nvPr/>
        </p:nvSpPr>
        <p:spPr>
          <a:xfrm>
            <a:off x="736600" y="1473200"/>
            <a:ext cx="3302000" cy="177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50" b="1">
                <a:solidFill>
                  <a:srgbClr val="D25AA8"/>
                </a:solidFill>
                <a:latin typeface="Aptos"/>
              </a:rPr>
              <a:t>FLUJO PRINCIPAL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8387BB5D-249D-8145-82F2-FAC6C6CBDF53}"/>
              </a:ext>
            </a:extLst>
          </p:cNvPr>
          <p:cNvSpPr/>
          <p:nvPr/>
        </p:nvSpPr>
        <p:spPr>
          <a:xfrm>
            <a:off x="609600" y="1701800"/>
            <a:ext cx="5969000" cy="3860800"/>
          </a:xfrm>
          <a:prstGeom prst="rect">
            <a:avLst/>
          </a:prstGeom>
          <a:solidFill>
            <a:srgbClr val="172333"/>
          </a:solidFill>
          <a:ln w="12700" cap="flat" cmpd="sng" algn="ctr">
            <a:solidFill>
              <a:srgbClr val="D25AA8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0A32CA-0A83-D84C-90B8-98F8ADC17360}"/>
              </a:ext>
            </a:extLst>
          </p:cNvPr>
          <p:cNvSpPr txBox="1"/>
          <p:nvPr/>
        </p:nvSpPr>
        <p:spPr>
          <a:xfrm>
            <a:off x="863600" y="58166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950" b="1">
                <a:solidFill>
                  <a:srgbClr val="314055"/>
                </a:solidFill>
                <a:latin typeface="Aptos"/>
              </a:rPr>
              <a:t>Mensaje clave: El agente puede producir lenguaje o structured output, pero la aplicación debería operar sobre objetos validados.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28AC3DB-4B29-1B40-8F81-C007E3D933B6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50">
                <a:solidFill>
                  <a:srgbClr val="9AA4B2"/>
                </a:solidFill>
                <a:latin typeface="Aptos"/>
              </a:rPr>
              <a:t>Demo: agente + tool + contrato Pydantic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3D2CDC-F8CA-BB40-85AC-C5EFF4E39E09}"/>
              </a:ext>
            </a:extLst>
          </p:cNvPr>
          <p:cNvSpPr/>
          <p:nvPr/>
        </p:nvSpPr>
        <p:spPr>
          <a:xfrm>
            <a:off x="965200" y="19812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Texto de factura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64B58C-DD8F-BB41-B854-80DF9A5DC6E7}"/>
              </a:ext>
            </a:extLst>
          </p:cNvPr>
          <p:cNvSpPr/>
          <p:nvPr/>
        </p:nvSpPr>
        <p:spPr>
          <a:xfrm>
            <a:off x="965200" y="1981200"/>
            <a:ext cx="76200" cy="381000"/>
          </a:xfrm>
          <a:prstGeom prst="rect">
            <a:avLst/>
          </a:prstGeom>
          <a:solidFill>
            <a:srgbClr val="D25A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Flecha abajo 5">
            <a:extLst>
              <a:ext uri="{FF2B5EF4-FFF2-40B4-BE49-F238E27FC236}">
                <a16:creationId xmlns:a16="http://schemas.microsoft.com/office/drawing/2014/main" id="{ABF9A886-CB23-4041-B543-14E51B15AF95}"/>
              </a:ext>
            </a:extLst>
          </p:cNvPr>
          <p:cNvSpPr/>
          <p:nvPr/>
        </p:nvSpPr>
        <p:spPr>
          <a:xfrm>
            <a:off x="3505200" y="23603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9EC6B54-5B29-3640-82AB-E5F1A16C1DF9}"/>
              </a:ext>
            </a:extLst>
          </p:cNvPr>
          <p:cNvSpPr/>
          <p:nvPr/>
        </p:nvSpPr>
        <p:spPr>
          <a:xfrm>
            <a:off x="965200" y="25273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Microsoft Agent Framework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078959-AFD8-794C-9FE4-B58267229158}"/>
              </a:ext>
            </a:extLst>
          </p:cNvPr>
          <p:cNvSpPr/>
          <p:nvPr/>
        </p:nvSpPr>
        <p:spPr>
          <a:xfrm>
            <a:off x="965200" y="25273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9" name="Flecha abajo 8">
            <a:extLst>
              <a:ext uri="{FF2B5EF4-FFF2-40B4-BE49-F238E27FC236}">
                <a16:creationId xmlns:a16="http://schemas.microsoft.com/office/drawing/2014/main" id="{5733F94E-D78B-D846-B394-B1F7A54AAB67}"/>
              </a:ext>
            </a:extLst>
          </p:cNvPr>
          <p:cNvSpPr/>
          <p:nvPr/>
        </p:nvSpPr>
        <p:spPr>
          <a:xfrm>
            <a:off x="3505200" y="29064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69F0E3-BC0E-B044-9237-1AD1F9E46378}"/>
              </a:ext>
            </a:extLst>
          </p:cNvPr>
          <p:cNvSpPr/>
          <p:nvPr/>
        </p:nvSpPr>
        <p:spPr>
          <a:xfrm>
            <a:off x="965200" y="30734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Tool: get_current_time()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9FD095-B983-244E-91D4-8AA64507B897}"/>
              </a:ext>
            </a:extLst>
          </p:cNvPr>
          <p:cNvSpPr/>
          <p:nvPr/>
        </p:nvSpPr>
        <p:spPr>
          <a:xfrm>
            <a:off x="965200" y="30734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2" name="Flecha abajo 11">
            <a:extLst>
              <a:ext uri="{FF2B5EF4-FFF2-40B4-BE49-F238E27FC236}">
                <a16:creationId xmlns:a16="http://schemas.microsoft.com/office/drawing/2014/main" id="{8C07F90D-6EA8-954E-8CB6-F6BE04E8BEAD}"/>
              </a:ext>
            </a:extLst>
          </p:cNvPr>
          <p:cNvSpPr/>
          <p:nvPr/>
        </p:nvSpPr>
        <p:spPr>
          <a:xfrm>
            <a:off x="3505200" y="34525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7B59E2A-427A-B640-B478-C81394FB73F1}"/>
              </a:ext>
            </a:extLst>
          </p:cNvPr>
          <p:cNvSpPr/>
          <p:nvPr/>
        </p:nvSpPr>
        <p:spPr>
          <a:xfrm>
            <a:off x="965200" y="36195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Structured output: response_format=InvoiceAnalysis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071BB9-0643-EF40-9383-EF1996D0BA65}"/>
              </a:ext>
            </a:extLst>
          </p:cNvPr>
          <p:cNvSpPr/>
          <p:nvPr/>
        </p:nvSpPr>
        <p:spPr>
          <a:xfrm>
            <a:off x="965200" y="36195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5" name="Flecha abajo 14">
            <a:extLst>
              <a:ext uri="{FF2B5EF4-FFF2-40B4-BE49-F238E27FC236}">
                <a16:creationId xmlns:a16="http://schemas.microsoft.com/office/drawing/2014/main" id="{86AD296D-1132-5F4C-AEB1-7270D991478E}"/>
              </a:ext>
            </a:extLst>
          </p:cNvPr>
          <p:cNvSpPr/>
          <p:nvPr/>
        </p:nvSpPr>
        <p:spPr>
          <a:xfrm>
            <a:off x="3505200" y="39986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33A38B-2D1D-C645-985F-2734999B8502}"/>
              </a:ext>
            </a:extLst>
          </p:cNvPr>
          <p:cNvSpPr/>
          <p:nvPr/>
        </p:nvSpPr>
        <p:spPr>
          <a:xfrm>
            <a:off x="965200" y="41656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Validación Pydantic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547CAFE-4817-7E48-B589-ACF79C191DF0}"/>
              </a:ext>
            </a:extLst>
          </p:cNvPr>
          <p:cNvSpPr/>
          <p:nvPr/>
        </p:nvSpPr>
        <p:spPr>
          <a:xfrm>
            <a:off x="965200" y="4165600"/>
            <a:ext cx="76200" cy="3810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8" name="Flecha abajo 17">
            <a:extLst>
              <a:ext uri="{FF2B5EF4-FFF2-40B4-BE49-F238E27FC236}">
                <a16:creationId xmlns:a16="http://schemas.microsoft.com/office/drawing/2014/main" id="{FC6A44FB-8BEC-1F4D-8C3D-BED3796FAD00}"/>
              </a:ext>
            </a:extLst>
          </p:cNvPr>
          <p:cNvSpPr/>
          <p:nvPr/>
        </p:nvSpPr>
        <p:spPr>
          <a:xfrm>
            <a:off x="3505200" y="4544785"/>
            <a:ext cx="177800" cy="152400"/>
          </a:xfrm>
          <a:prstGeom prst="downArrow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EF44020-2110-E04C-B4EC-94C8A022EAC7}"/>
              </a:ext>
            </a:extLst>
          </p:cNvPr>
          <p:cNvSpPr/>
          <p:nvPr/>
        </p:nvSpPr>
        <p:spPr>
          <a:xfrm>
            <a:off x="965200" y="4711700"/>
            <a:ext cx="5257800" cy="381000"/>
          </a:xfrm>
          <a:prstGeom prst="rect">
            <a:avLst/>
          </a:prstGeom>
          <a:solidFill>
            <a:srgbClr val="F5F8FB"/>
          </a:solidFill>
          <a:ln w="9525" cap="flat" cmpd="sng" algn="ctr">
            <a:solidFill>
              <a:srgbClr val="B7E3EA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US" sz="850" b="1">
                <a:solidFill>
                  <a:srgbClr val="314055"/>
                </a:solidFill>
                <a:latin typeface="Aptos"/>
              </a:rPr>
              <a:t>Objeto validado listo para lógica de negocio</a:t>
            </a:r>
            <a:endParaRPr lang="es-US" sz="850" b="1" dirty="0" err="1">
              <a:solidFill>
                <a:srgbClr val="314055"/>
              </a:solidFill>
              <a:latin typeface="Apto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B8EE4B-D2ED-A643-B8B8-106A48F006E1}"/>
              </a:ext>
            </a:extLst>
          </p:cNvPr>
          <p:cNvSpPr/>
          <p:nvPr/>
        </p:nvSpPr>
        <p:spPr>
          <a:xfrm>
            <a:off x="965200" y="4711700"/>
            <a:ext cx="76200" cy="381000"/>
          </a:xfrm>
          <a:prstGeom prst="rect">
            <a:avLst/>
          </a:prstGeom>
          <a:solidFill>
            <a:srgbClr val="D25A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257B2AE-A3A6-494A-A8E8-5CA095895847}"/>
              </a:ext>
            </a:extLst>
          </p:cNvPr>
          <p:cNvSpPr/>
          <p:nvPr/>
        </p:nvSpPr>
        <p:spPr>
          <a:xfrm>
            <a:off x="609600" y="5829300"/>
            <a:ext cx="76200" cy="457200"/>
          </a:xfrm>
          <a:prstGeom prst="rect">
            <a:avLst/>
          </a:prstGeom>
          <a:solidFill>
            <a:srgbClr val="16B6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pic>
        <p:nvPicPr>
          <p:cNvPr id="24" name="Imagen 23" descr="Microsoft Agent Framework: Building Multi-Agent Systems">
            <a:extLst>
              <a:ext uri="{FF2B5EF4-FFF2-40B4-BE49-F238E27FC236}">
                <a16:creationId xmlns:a16="http://schemas.microsoft.com/office/drawing/2014/main" id="{1EEA48BD-CB04-33E0-AD86-A5B11A74A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571" y="2123281"/>
            <a:ext cx="34290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87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8E7C-E041-9F22-97EB-D8D52968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E4D2F3-04C8-F448-9446-49F155133041}"/>
              </a:ext>
            </a:extLst>
          </p:cNvPr>
          <p:cNvSpPr txBox="1"/>
          <p:nvPr/>
        </p:nvSpPr>
        <p:spPr>
          <a:xfrm>
            <a:off x="609600" y="330200"/>
            <a:ext cx="9144000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2050" b="1" dirty="0">
                <a:solidFill>
                  <a:srgbClr val="2D3B4F"/>
                </a:solidFill>
                <a:latin typeface="Aptos Display"/>
              </a:rPr>
              <a:t>Convenciones de equipo para usar </a:t>
            </a:r>
            <a:r>
              <a:rPr lang="es-US" sz="2050" b="1" dirty="0" err="1">
                <a:solidFill>
                  <a:srgbClr val="2D3B4F"/>
                </a:solidFill>
                <a:latin typeface="Aptos Display"/>
              </a:rPr>
              <a:t>Pydantic</a:t>
            </a:r>
            <a:endParaRPr lang="es-US" sz="2050" b="1" dirty="0">
              <a:solidFill>
                <a:srgbClr val="2D3B4F"/>
              </a:solidFill>
              <a:latin typeface="Aptos Display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528084-E3DA-4440-A97C-2CDD62A1B68D}"/>
              </a:ext>
            </a:extLst>
          </p:cNvPr>
          <p:cNvSpPr/>
          <p:nvPr/>
        </p:nvSpPr>
        <p:spPr>
          <a:xfrm>
            <a:off x="609600" y="838200"/>
            <a:ext cx="4572000" cy="38100"/>
          </a:xfrm>
          <a:prstGeom prst="rect">
            <a:avLst/>
          </a:prstGeom>
          <a:solidFill>
            <a:srgbClr val="00A6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1D633F-487F-6F4C-843D-0EB4755254C6}"/>
              </a:ext>
            </a:extLst>
          </p:cNvPr>
          <p:cNvSpPr txBox="1"/>
          <p:nvPr/>
        </p:nvSpPr>
        <p:spPr>
          <a:xfrm>
            <a:off x="609600" y="952500"/>
            <a:ext cx="9906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250" b="1" dirty="0">
                <a:solidFill>
                  <a:srgbClr val="718096"/>
                </a:solidFill>
                <a:latin typeface="Aptos"/>
              </a:rPr>
              <a:t>Los datos externos o generados por modelos pasan primero por contratos explícitos y después por lógica de negocio.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6CABEA8D-49B8-C94A-8671-CEFE18EBBCEE}"/>
              </a:ext>
            </a:extLst>
          </p:cNvPr>
          <p:cNvSpPr txBox="1"/>
          <p:nvPr/>
        </p:nvSpPr>
        <p:spPr>
          <a:xfrm>
            <a:off x="355600" y="6578600"/>
            <a:ext cx="8636000" cy="1651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540">
                <a:solidFill>
                  <a:srgbClr val="8A93A3"/>
                </a:solidFill>
                <a:latin typeface="Aptos"/>
              </a:rPr>
              <a:t>Cierre: convenciones prácticas para equipos backend e IA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5721485-6B75-5A4B-A041-83B822F41716}"/>
              </a:ext>
            </a:extLst>
          </p:cNvPr>
          <p:cNvSpPr txBox="1"/>
          <p:nvPr/>
        </p:nvSpPr>
        <p:spPr>
          <a:xfrm>
            <a:off x="685800" y="1422400"/>
            <a:ext cx="4699000" cy="228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50" b="1">
                <a:solidFill>
                  <a:srgbClr val="00A6B3"/>
                </a:solidFill>
                <a:latin typeface="Aptos"/>
              </a:rPr>
              <a:t>Situación / Convención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7948B14-5685-484D-9257-348ADC35B77A}"/>
              </a:ext>
            </a:extLst>
          </p:cNvPr>
          <p:cNvSpPr/>
          <p:nvPr/>
        </p:nvSpPr>
        <p:spPr>
          <a:xfrm>
            <a:off x="685800" y="1727200"/>
            <a:ext cx="7302500" cy="400050"/>
          </a:xfrm>
          <a:prstGeom prst="rect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97AA860-D080-6146-A072-597832D8F023}"/>
              </a:ext>
            </a:extLst>
          </p:cNvPr>
          <p:cNvSpPr txBox="1"/>
          <p:nvPr/>
        </p:nvSpPr>
        <p:spPr>
          <a:xfrm>
            <a:off x="787400" y="1841500"/>
            <a:ext cx="18796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850" b="1">
                <a:solidFill>
                  <a:srgbClr val="FFFFFF"/>
                </a:solidFill>
                <a:latin typeface="Aptos"/>
              </a:rPr>
              <a:t>Situación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3142906-8919-E848-9FD7-5C299870EA8B}"/>
              </a:ext>
            </a:extLst>
          </p:cNvPr>
          <p:cNvSpPr txBox="1"/>
          <p:nvPr/>
        </p:nvSpPr>
        <p:spPr>
          <a:xfrm>
            <a:off x="2819400" y="1841500"/>
            <a:ext cx="51181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850" b="1">
                <a:solidFill>
                  <a:srgbClr val="FFFFFF"/>
                </a:solidFill>
                <a:latin typeface="Aptos"/>
              </a:rPr>
              <a:t>Convención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D719D70-84BD-E449-A551-D645CD902E6C}"/>
              </a:ext>
            </a:extLst>
          </p:cNvPr>
          <p:cNvSpPr/>
          <p:nvPr/>
        </p:nvSpPr>
        <p:spPr>
          <a:xfrm>
            <a:off x="685800" y="21272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0CBAF4A-414D-6140-B515-870898C7EC67}"/>
              </a:ext>
            </a:extLst>
          </p:cNvPr>
          <p:cNvSpPr txBox="1"/>
          <p:nvPr/>
        </p:nvSpPr>
        <p:spPr>
          <a:xfrm>
            <a:off x="787400" y="22415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Payload externo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3AA5A62-8A64-A94A-9FFC-6B5B64DAA608}"/>
              </a:ext>
            </a:extLst>
          </p:cNvPr>
          <p:cNvSpPr txBox="1"/>
          <p:nvPr/>
        </p:nvSpPr>
        <p:spPr>
          <a:xfrm>
            <a:off x="2819400" y="22415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Modelo Pydantic con nombre de dominio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173661E-E6F9-F247-BDE6-FA026993AD57}"/>
              </a:ext>
            </a:extLst>
          </p:cNvPr>
          <p:cNvSpPr/>
          <p:nvPr/>
        </p:nvSpPr>
        <p:spPr>
          <a:xfrm>
            <a:off x="685800" y="25273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F227EA7-1D05-6A4F-89DE-23F721E02DBA}"/>
              </a:ext>
            </a:extLst>
          </p:cNvPr>
          <p:cNvSpPr txBox="1"/>
          <p:nvPr/>
        </p:nvSpPr>
        <p:spPr>
          <a:xfrm>
            <a:off x="787400" y="26416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Valor con límites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DD321FF-5B62-664F-ABC6-F8CAEDEC57F5}"/>
              </a:ext>
            </a:extLst>
          </p:cNvPr>
          <p:cNvSpPr txBox="1"/>
          <p:nvPr/>
        </p:nvSpPr>
        <p:spPr>
          <a:xfrm>
            <a:off x="2819400" y="26416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Field(...) con constraints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E55AD93-B8DF-3E43-91D6-9FB434F14058}"/>
              </a:ext>
            </a:extLst>
          </p:cNvPr>
          <p:cNvSpPr/>
          <p:nvPr/>
        </p:nvSpPr>
        <p:spPr>
          <a:xfrm>
            <a:off x="685800" y="29273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C0E32CC-C10B-D440-850D-A81E261D92E6}"/>
              </a:ext>
            </a:extLst>
          </p:cNvPr>
          <p:cNvSpPr txBox="1"/>
          <p:nvPr/>
        </p:nvSpPr>
        <p:spPr>
          <a:xfrm>
            <a:off x="787400" y="30416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Catálogo cerrado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9633370-07BE-B644-8ADB-36317690C459}"/>
              </a:ext>
            </a:extLst>
          </p:cNvPr>
          <p:cNvSpPr txBox="1"/>
          <p:nvPr/>
        </p:nvSpPr>
        <p:spPr>
          <a:xfrm>
            <a:off x="2819400" y="30416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Literal o Enum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F888B5-A1F9-2C48-B598-B0F06F78F624}"/>
              </a:ext>
            </a:extLst>
          </p:cNvPr>
          <p:cNvSpPr/>
          <p:nvPr/>
        </p:nvSpPr>
        <p:spPr>
          <a:xfrm>
            <a:off x="685800" y="33274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F0555E-457A-C24F-B91C-F77FDAF8DEBF}"/>
              </a:ext>
            </a:extLst>
          </p:cNvPr>
          <p:cNvSpPr txBox="1"/>
          <p:nvPr/>
        </p:nvSpPr>
        <p:spPr>
          <a:xfrm>
            <a:off x="787400" y="34417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Colección simple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C385F92-0E0A-864E-B988-0771F830DE50}"/>
              </a:ext>
            </a:extLst>
          </p:cNvPr>
          <p:cNvSpPr txBox="1"/>
          <p:nvPr/>
        </p:nvSpPr>
        <p:spPr>
          <a:xfrm>
            <a:off x="2819400" y="34417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TypeAdapter(list[Modelo])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0EC189C-1A7E-634A-9117-A2C4F8336601}"/>
              </a:ext>
            </a:extLst>
          </p:cNvPr>
          <p:cNvSpPr/>
          <p:nvPr/>
        </p:nvSpPr>
        <p:spPr>
          <a:xfrm>
            <a:off x="685800" y="37274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9C3A6F9-5FFC-6746-BA5B-F374225152A4}"/>
              </a:ext>
            </a:extLst>
          </p:cNvPr>
          <p:cNvSpPr txBox="1"/>
          <p:nvPr/>
        </p:nvSpPr>
        <p:spPr>
          <a:xfrm>
            <a:off x="787400" y="38417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Flujo crítico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D2746C8-B25E-7D4E-947C-E371319D3281}"/>
              </a:ext>
            </a:extLst>
          </p:cNvPr>
          <p:cNvSpPr txBox="1"/>
          <p:nvPr/>
        </p:nvSpPr>
        <p:spPr>
          <a:xfrm>
            <a:off x="2819400" y="38417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strict mode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F42519E-B9C9-6441-81C4-935A9FC37336}"/>
              </a:ext>
            </a:extLst>
          </p:cNvPr>
          <p:cNvSpPr/>
          <p:nvPr/>
        </p:nvSpPr>
        <p:spPr>
          <a:xfrm>
            <a:off x="685800" y="41275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285CE33-32B9-904C-AEAA-744BF054740B}"/>
              </a:ext>
            </a:extLst>
          </p:cNvPr>
          <p:cNvSpPr txBox="1"/>
          <p:nvPr/>
        </p:nvSpPr>
        <p:spPr>
          <a:xfrm>
            <a:off x="787400" y="42418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Regla entre campos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45EB12C-AB98-0646-A94E-E5DD1EE71B21}"/>
              </a:ext>
            </a:extLst>
          </p:cNvPr>
          <p:cNvSpPr txBox="1"/>
          <p:nvPr/>
        </p:nvSpPr>
        <p:spPr>
          <a:xfrm>
            <a:off x="2819400" y="42418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model_validator puro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2E5A601-E2FD-604F-AC2B-E470F15A4FFA}"/>
              </a:ext>
            </a:extLst>
          </p:cNvPr>
          <p:cNvSpPr/>
          <p:nvPr/>
        </p:nvSpPr>
        <p:spPr>
          <a:xfrm>
            <a:off x="685800" y="452755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8CD6651-9626-DA4B-A353-FA3056D1D796}"/>
              </a:ext>
            </a:extLst>
          </p:cNvPr>
          <p:cNvSpPr txBox="1"/>
          <p:nvPr/>
        </p:nvSpPr>
        <p:spPr>
          <a:xfrm>
            <a:off x="787400" y="464185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Regla con DB/API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5AA4EC1-1790-A745-99F5-FB88E75F6736}"/>
              </a:ext>
            </a:extLst>
          </p:cNvPr>
          <p:cNvSpPr txBox="1"/>
          <p:nvPr/>
        </p:nvSpPr>
        <p:spPr>
          <a:xfrm>
            <a:off x="2819400" y="464185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Servicio fuera del validador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531FDF2-95F2-3443-9860-D295A4F64998}"/>
              </a:ext>
            </a:extLst>
          </p:cNvPr>
          <p:cNvSpPr/>
          <p:nvPr/>
        </p:nvSpPr>
        <p:spPr>
          <a:xfrm>
            <a:off x="685800" y="4927600"/>
            <a:ext cx="7302500" cy="400050"/>
          </a:xfrm>
          <a:prstGeom prst="rect">
            <a:avLst/>
          </a:prstGeom>
          <a:solidFill>
            <a:srgbClr val="FFFFFF"/>
          </a:solidFill>
          <a:ln w="762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B1F13A4-18FA-9E49-9716-16ACBDAC6DB4}"/>
              </a:ext>
            </a:extLst>
          </p:cNvPr>
          <p:cNvSpPr txBox="1"/>
          <p:nvPr/>
        </p:nvSpPr>
        <p:spPr>
          <a:xfrm>
            <a:off x="787400" y="5041900"/>
            <a:ext cx="18542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EF4B65"/>
                </a:solidFill>
                <a:latin typeface="Aptos"/>
              </a:rPr>
              <a:t>Tipo variable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CE7B51D-46BE-8142-A0DC-EFCA01055F2D}"/>
              </a:ext>
            </a:extLst>
          </p:cNvPr>
          <p:cNvSpPr txBox="1"/>
          <p:nvPr/>
        </p:nvSpPr>
        <p:spPr>
          <a:xfrm>
            <a:off x="2819400" y="5041900"/>
            <a:ext cx="5092700" cy="152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780" b="1">
                <a:solidFill>
                  <a:srgbClr val="314055"/>
                </a:solidFill>
                <a:latin typeface="Aptos"/>
              </a:rPr>
              <a:t>Union, Literal o modelo explícito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38DCFC4-B2BC-D94A-A79A-E63BAB6D61E5}"/>
              </a:ext>
            </a:extLst>
          </p:cNvPr>
          <p:cNvSpPr/>
          <p:nvPr/>
        </p:nvSpPr>
        <p:spPr>
          <a:xfrm>
            <a:off x="8407400" y="1727200"/>
            <a:ext cx="2946400" cy="3632200"/>
          </a:xfrm>
          <a:prstGeom prst="rect">
            <a:avLst/>
          </a:prstGeom>
          <a:solidFill>
            <a:srgbClr val="DDF5F7"/>
          </a:solidFill>
          <a:ln w="15240" cap="flat" cmpd="sng" algn="ctr">
            <a:solidFill>
              <a:srgbClr val="00A6B3"/>
            </a:solidFill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C9031CE-43D4-3546-B767-4B6614A33732}"/>
              </a:ext>
            </a:extLst>
          </p:cNvPr>
          <p:cNvSpPr txBox="1"/>
          <p:nvPr/>
        </p:nvSpPr>
        <p:spPr>
          <a:xfrm>
            <a:off x="8686800" y="20066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300" b="1">
                <a:solidFill>
                  <a:srgbClr val="00A6B3"/>
                </a:solidFill>
                <a:latin typeface="Aptos"/>
              </a:rPr>
              <a:t>Convenciones principales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9F0F998B-6863-2B49-B7C6-656F073512AF}"/>
              </a:ext>
            </a:extLst>
          </p:cNvPr>
          <p:cNvSpPr/>
          <p:nvPr/>
        </p:nvSpPr>
        <p:spPr>
          <a:xfrm>
            <a:off x="8737600" y="25781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3035034-371D-4443-B5E5-153C1398C16D}"/>
              </a:ext>
            </a:extLst>
          </p:cNvPr>
          <p:cNvSpPr txBox="1"/>
          <p:nvPr/>
        </p:nvSpPr>
        <p:spPr>
          <a:xfrm>
            <a:off x="8915400" y="25146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Cada punto de entrada externo importante tiene un modelo Pydantic.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E8A6C6AE-6401-B648-AB2B-E86229E53850}"/>
              </a:ext>
            </a:extLst>
          </p:cNvPr>
          <p:cNvSpPr/>
          <p:nvPr/>
        </p:nvSpPr>
        <p:spPr>
          <a:xfrm>
            <a:off x="8737600" y="31623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F24336C-6002-6C4A-BEE0-3FAF4B468E5A}"/>
              </a:ext>
            </a:extLst>
          </p:cNvPr>
          <p:cNvSpPr txBox="1"/>
          <p:nvPr/>
        </p:nvSpPr>
        <p:spPr>
          <a:xfrm>
            <a:off x="8915400" y="30988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Montos, scores, estados y catálogos tienen constraints explícitas.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1BAA7062-609E-7148-BA80-A62FD179D34F}"/>
              </a:ext>
            </a:extLst>
          </p:cNvPr>
          <p:cNvSpPr/>
          <p:nvPr/>
        </p:nvSpPr>
        <p:spPr>
          <a:xfrm>
            <a:off x="8737600" y="37465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0C6211A-6B1A-DC40-9946-8C28894D0709}"/>
              </a:ext>
            </a:extLst>
          </p:cNvPr>
          <p:cNvSpPr txBox="1"/>
          <p:nvPr/>
        </p:nvSpPr>
        <p:spPr>
          <a:xfrm>
            <a:off x="8915400" y="36830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Las colecciones simples se validan con TypeAdapter.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FA8AAAE-5465-BD42-B068-79160FADB51C}"/>
              </a:ext>
            </a:extLst>
          </p:cNvPr>
          <p:cNvSpPr/>
          <p:nvPr/>
        </p:nvSpPr>
        <p:spPr>
          <a:xfrm>
            <a:off x="8737600" y="4330700"/>
            <a:ext cx="57150" cy="57150"/>
          </a:xfrm>
          <a:prstGeom prst="ellipse">
            <a:avLst/>
          </a:prstGeom>
          <a:solidFill>
            <a:srgbClr val="2532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s-US" sz="1400" b="1" dirty="0" err="1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B2C6E4B-10BC-DE43-BD88-D4114AC54B7C}"/>
              </a:ext>
            </a:extLst>
          </p:cNvPr>
          <p:cNvSpPr txBox="1"/>
          <p:nvPr/>
        </p:nvSpPr>
        <p:spPr>
          <a:xfrm>
            <a:off x="8915400" y="4267200"/>
            <a:ext cx="2095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840" b="1">
                <a:solidFill>
                  <a:srgbClr val="314055"/>
                </a:solidFill>
                <a:latin typeface="Aptos"/>
              </a:rPr>
              <a:t>Los validadores se mantienen puros; DB y APIs viven en servicios.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DC1D73A-3A42-D349-9FF8-6F9DD4148906}"/>
              </a:ext>
            </a:extLst>
          </p:cNvPr>
          <p:cNvSpPr txBox="1"/>
          <p:nvPr/>
        </p:nvSpPr>
        <p:spPr>
          <a:xfrm>
            <a:off x="1714500" y="5816600"/>
            <a:ext cx="8763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s-US" sz="1060" b="1">
                <a:solidFill>
                  <a:srgbClr val="FFFFFF"/>
                </a:solidFill>
                <a:latin typeface="Aptos"/>
              </a:rPr>
              <a:t>Los datos externos o generados por modelos pasan primero por contrato y después por lógica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3759281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E1CDEC-F0BE-884A-9FA6-4542A5EDF430}"/>
              </a:ext>
            </a:extLst>
          </p:cNvPr>
          <p:cNvSpPr txBox="1"/>
          <p:nvPr/>
        </p:nvSpPr>
        <p:spPr>
          <a:xfrm>
            <a:off x="355600" y="4165600"/>
            <a:ext cx="5842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3200" b="1" dirty="0">
                <a:solidFill>
                  <a:srgbClr val="FFFFFF"/>
                </a:solidFill>
                <a:latin typeface="Aptos Display"/>
              </a:rPr>
              <a:t>Muchas gracias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43D12B-FD77-DD4F-A5DB-FAAC6C5475ED}"/>
              </a:ext>
            </a:extLst>
          </p:cNvPr>
          <p:cNvSpPr txBox="1"/>
          <p:nvPr/>
        </p:nvSpPr>
        <p:spPr>
          <a:xfrm>
            <a:off x="9906000" y="63754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US" sz="1400" b="1" dirty="0">
                <a:solidFill>
                  <a:srgbClr val="FFFFFF"/>
                </a:solidFill>
                <a:latin typeface="Aptos"/>
              </a:rPr>
              <a:t>28 de mayo de 2026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B0EAF2A-45C7-0A23-76D6-14B5E14A5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59" y="6141866"/>
            <a:ext cx="3488321" cy="357776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0875" tIns="45438" rIns="90875" bIns="45438" rtlCol="0" anchor="b"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es-PE" sz="1420" b="1" dirty="0">
                <a:solidFill>
                  <a:schemeClr val="bg1"/>
                </a:solidFill>
                <a:latin typeface="Flexo" pitchFamily="50" charset="0"/>
              </a:rPr>
              <a:t>IA Academy · Programa IA Credicorp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5B5166-5DEF-7385-357C-73D7CDCD74AB}"/>
              </a:ext>
            </a:extLst>
          </p:cNvPr>
          <p:cNvSpPr txBox="1"/>
          <p:nvPr/>
        </p:nvSpPr>
        <p:spPr>
          <a:xfrm>
            <a:off x="9569116" y="6075431"/>
            <a:ext cx="2525215" cy="664797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860" b="1" dirty="0">
                <a:solidFill>
                  <a:schemeClr val="bg1"/>
                </a:solidFill>
                <a:latin typeface="Flexo" pitchFamily="50" charset="0"/>
              </a:rPr>
              <a:t>28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3889481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heme/theme1.xml><?xml version="1.0" encoding="utf-8"?>
<a:theme xmlns:a="http://schemas.openxmlformats.org/drawingml/2006/main" name="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2.xml><?xml version="1.0" encoding="utf-8"?>
<a:theme xmlns:a="http://schemas.openxmlformats.org/drawingml/2006/main" name="2_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3.xml><?xml version="1.0" encoding="utf-8"?>
<a:theme xmlns:a="http://schemas.openxmlformats.org/drawingml/2006/main" name="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4.xml><?xml version="1.0" encoding="utf-8"?>
<a:theme xmlns:a="http://schemas.openxmlformats.org/drawingml/2006/main" name="2_Plantilla base">
  <a:themeElements>
    <a:clrScheme name="Paleta Credicorp opaca (1° celeste)">
      <a:dk1>
        <a:srgbClr val="000000"/>
      </a:dk1>
      <a:lt1>
        <a:srgbClr val="FFFFFF"/>
      </a:lt1>
      <a:dk2>
        <a:srgbClr val="44546A"/>
      </a:dk2>
      <a:lt2>
        <a:srgbClr val="B2B2B2"/>
      </a:lt2>
      <a:accent1>
        <a:srgbClr val="1DC5CD"/>
      </a:accent1>
      <a:accent2>
        <a:srgbClr val="33C38C"/>
      </a:accent2>
      <a:accent3>
        <a:srgbClr val="FFEA65"/>
      </a:accent3>
      <a:accent4>
        <a:srgbClr val="FB6725"/>
      </a:accent4>
      <a:accent5>
        <a:srgbClr val="C00000"/>
      </a:accent5>
      <a:accent6>
        <a:srgbClr val="B770A6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sz="1400" b="1" dirty="0" err="1" smtClean="0">
            <a:solidFill>
              <a:schemeClr val="tx1"/>
            </a:solidFill>
          </a:defRPr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 Credicorp 2022" id="{9628B6A0-9D1F-4FED-A66F-6EF6537DA217}" vid="{8EA64694-49C6-4D21-857F-0CF10542796B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972A8B-E1AA-D146-84DB-86F49DF23F61}">
  <we:reference id="wa200010215" version="2.0.0.0" store="en-US" storeType="OMEX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bffc8c-5b7a-413d-ad46-e9de22e0e43d" xsi:nil="true"/>
    <lcf76f155ced4ddcb4097134ff3c332f xmlns="202c78df-9e91-47d5-8244-2cb6576a2346">
      <Terms xmlns="http://schemas.microsoft.com/office/infopath/2007/PartnerControls"/>
    </lcf76f155ced4ddcb4097134ff3c332f>
    <SharedWithUsers xmlns="dabffc8c-5b7a-413d-ad46-e9de22e0e43d">
      <UserInfo>
        <DisplayName>Emanuel Antonio Caceres Diaz</DisplayName>
        <AccountId>12</AccountId>
        <AccountType/>
      </UserInfo>
      <UserInfo>
        <DisplayName>Martin Grisolle Martinez - CREDICORP PERU</DisplayName>
        <AccountId>207</AccountId>
        <AccountType/>
      </UserInfo>
    </SharedWithUsers>
    <pregunta_x0020_1 xmlns="202c78df-9e91-47d5-8244-2cb6576a2346" xsi:nil="true"/>
    <link xmlns="202c78df-9e91-47d5-8244-2cb6576a2346">
      <Url xsi:nil="true"/>
      <Description xsi:nil="true"/>
    </link>
    <tipo_x0020_numero xmlns="202c78df-9e91-47d5-8244-2cb6576a2346" xsi:nil="true"/>
    <comentarios xmlns="202c78df-9e91-47d5-8244-2cb6576a234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AB4CF383B5F44A82AAEB8F398B0092" ma:contentTypeVersion="19" ma:contentTypeDescription="Crear nuevo documento." ma:contentTypeScope="" ma:versionID="692a6bb77e5de4f79e3f4c419452eb86">
  <xsd:schema xmlns:xsd="http://www.w3.org/2001/XMLSchema" xmlns:xs="http://www.w3.org/2001/XMLSchema" xmlns:p="http://schemas.microsoft.com/office/2006/metadata/properties" xmlns:ns2="202c78df-9e91-47d5-8244-2cb6576a2346" xmlns:ns3="dabffc8c-5b7a-413d-ad46-e9de22e0e43d" targetNamespace="http://schemas.microsoft.com/office/2006/metadata/properties" ma:root="true" ma:fieldsID="b580411b87d98c9d5eb7fd73ae4b83c6" ns2:_="" ns3:_="">
    <xsd:import namespace="202c78df-9e91-47d5-8244-2cb6576a2346"/>
    <xsd:import namespace="dabffc8c-5b7a-413d-ad46-e9de22e0e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BillingMetadata" minOccurs="0"/>
                <xsd:element ref="ns2:pregunta_x0020_1" minOccurs="0"/>
                <xsd:element ref="ns2:link" minOccurs="0"/>
                <xsd:element ref="ns2:tipo_x0020_numero" minOccurs="0"/>
                <xsd:element ref="ns2:comentari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c78df-9e91-47d5-8244-2cb6576a23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egunta_x0020_1" ma:index="23" nillable="true" ma:displayName="pregunta 1" ma:internalName="pregunta_x0020_1">
      <xsd:simpleType>
        <xsd:restriction base="dms:Text"/>
      </xsd:simpleType>
    </xsd:element>
    <xsd:element name="link" ma:index="24" nillable="true" ma:displayName="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ipo_x0020_numero" ma:index="25" nillable="true" ma:displayName="tipo numero" ma:internalName="tipo_x0020_numero">
      <xsd:simpleType>
        <xsd:restriction base="dms:Number"/>
      </xsd:simpleType>
    </xsd:element>
    <xsd:element name="comentarios" ma:index="26" nillable="true" ma:displayName="comentarios" ma:internalName="comentario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bffc8c-5b7a-413d-ad46-e9de22e0e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1e0fc9e-edee-4fc1-a44e-282a58e8adad}" ma:internalName="TaxCatchAll" ma:showField="CatchAllData" ma:web="dabffc8c-5b7a-413d-ad46-e9de22e0e4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029827-14AA-4E0D-AD80-8D4918AF9905}">
  <ds:schemaRefs>
    <ds:schemaRef ds:uri="202c78df-9e91-47d5-8244-2cb6576a2346"/>
    <ds:schemaRef ds:uri="dabffc8c-5b7a-413d-ad46-e9de22e0e4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B8308D9-07A1-48EE-9217-90A2F74985DA}">
  <ds:schemaRefs>
    <ds:schemaRef ds:uri="202c78df-9e91-47d5-8244-2cb6576a2346"/>
    <ds:schemaRef ds:uri="dabffc8c-5b7a-413d-ad46-e9de22e0e4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4B8AA92-19DC-4D1D-9E96-6E265DCDE8C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5836</TotalTime>
  <Words>2051</Words>
  <Application>Microsoft Office PowerPoint</Application>
  <PresentationFormat>Personalizado</PresentationFormat>
  <Paragraphs>230</Paragraphs>
  <Slides>20</Slides>
  <Notes>19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35" baseType="lpstr">
      <vt:lpstr>Flexo</vt:lpstr>
      <vt:lpstr>Helvetica Neue</vt:lpstr>
      <vt:lpstr>Aptos</vt:lpstr>
      <vt:lpstr>Aptos Display</vt:lpstr>
      <vt:lpstr>Arial</vt:lpstr>
      <vt:lpstr>Calibri</vt:lpstr>
      <vt:lpstr>Consolas</vt:lpstr>
      <vt:lpstr>Georgia</vt:lpstr>
      <vt:lpstr>Segoe UI</vt:lpstr>
      <vt:lpstr>Plantilla base</vt:lpstr>
      <vt:lpstr>2_Plantilla base</vt:lpstr>
      <vt:lpstr>Plantilla base</vt:lpstr>
      <vt:lpstr>2_Plantilla base</vt:lpstr>
      <vt:lpstr>Diapositiva de think-cell</vt:lpstr>
      <vt:lpstr>think-cell Slide</vt:lpstr>
      <vt:lpstr>Context Engineering y Ambigüedad en Agentes Conversacionales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Alexis</dc:creator>
  <cp:lastModifiedBy>Kevin Gomez Villanueva</cp:lastModifiedBy>
  <cp:revision>50</cp:revision>
  <cp:lastPrinted>2026-05-28T07:44:13Z</cp:lastPrinted>
  <dcterms:created xsi:type="dcterms:W3CDTF">2018-11-30T22:18:41Z</dcterms:created>
  <dcterms:modified xsi:type="dcterms:W3CDTF">2026-07-31T22:26:09Z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0x01010045AB4CF383B5F44A82AAEB8F398B0092</vt:lpwstr>
  </property>
  <property fmtid="{D5CDD505-2E9C-101B-9397-08002B2CF9AE}" pid="3" name="Order">
    <vt:r8>66400</vt:r8>
  </property>
  <property fmtid="{D5CDD505-2E9C-101B-9397-08002B2CF9AE}" pid="4" name="ComplianceAssetId">
    <vt:lpwstr/>
  </property>
  <property fmtid="{D5CDD505-2E9C-101B-9397-08002B2CF9AE}" pid="5" name="MediaServiceImageTags">
    <vt:lpwstr/>
  </property>
  <property fmtid="{D5CDD505-2E9C-101B-9397-08002B2CF9AE}" pid="6" name="MSIP_Label_c15ead3b-a842-409e-8059-3e3468c48585_Enabled">
    <vt:lpwstr>true</vt:lpwstr>
  </property>
  <property fmtid="{D5CDD505-2E9C-101B-9397-08002B2CF9AE}" pid="7" name="MSIP_Label_c15ead3b-a842-409e-8059-3e3468c48585_SetDate">
    <vt:lpwstr>2023-07-06T19:52:24Z</vt:lpwstr>
  </property>
  <property fmtid="{D5CDD505-2E9C-101B-9397-08002B2CF9AE}" pid="8" name="MSIP_Label_c15ead3b-a842-409e-8059-3e3468c48585_Method">
    <vt:lpwstr>Standard</vt:lpwstr>
  </property>
  <property fmtid="{D5CDD505-2E9C-101B-9397-08002B2CF9AE}" pid="9" name="MSIP_Label_c15ead3b-a842-409e-8059-3e3468c48585_Name">
    <vt:lpwstr>Interna BCP</vt:lpwstr>
  </property>
  <property fmtid="{D5CDD505-2E9C-101B-9397-08002B2CF9AE}" pid="10" name="MSIP_Label_c15ead3b-a842-409e-8059-3e3468c48585_SiteId">
    <vt:lpwstr>5d93ebcc-f769-4380-8b7e-289fc972da1b</vt:lpwstr>
  </property>
  <property fmtid="{D5CDD505-2E9C-101B-9397-08002B2CF9AE}" pid="11" name="MSIP_Label_c15ead3b-a842-409e-8059-3e3468c48585_ActionId">
    <vt:lpwstr>652cbedf-ae25-4a2d-9348-ec1b6dce3fa0</vt:lpwstr>
  </property>
  <property fmtid="{D5CDD505-2E9C-101B-9397-08002B2CF9AE}" pid="12" name="MSIP_Label_c15ead3b-a842-409e-8059-3e3468c48585_ContentBits">
    <vt:lpwstr>2</vt:lpwstr>
  </property>
  <property fmtid="{D5CDD505-2E9C-101B-9397-08002B2CF9AE}" pid="13" name="ClassificationContentMarkingFooterLocations">
    <vt:lpwstr>Portada 1:5\Portada 2:6\Cierre presentación:6\Tabla contenidos:7\Portadilla / diviciones:5\Portadilla 2 - diviciones:7\1-Contenido libre:5\Texto blanco sobre fondo oscuro:7\3-Contenido Libre :5\4-Contenido Libre:5</vt:lpwstr>
  </property>
  <property fmtid="{D5CDD505-2E9C-101B-9397-08002B2CF9AE}" pid="14" name="ClassificationContentMarkingFooterText">
    <vt:lpwstr>Datos elaborados por BCP para uso Interno</vt:lpwstr>
  </property>
</Properties>
</file>