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3.xml" ContentType="application/vnd.openxmlformats-officedocument.them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4.xml" ContentType="application/vnd.openxmlformats-officedocument.theme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3" r:id="rId4"/>
    <p:sldMasterId id="2147483817" r:id="rId5"/>
    <p:sldMasterId id="2147483836" r:id="rId6"/>
    <p:sldMasterId id="2147483851" r:id="rId7"/>
  </p:sldMasterIdLst>
  <p:notesMasterIdLst>
    <p:notesMasterId r:id="rId30"/>
  </p:notesMasterIdLst>
  <p:handoutMasterIdLst>
    <p:handoutMasterId r:id="rId31"/>
  </p:handoutMasterIdLst>
  <p:sldIdLst>
    <p:sldId id="2147482184" r:id="rId8"/>
    <p:sldId id="2147482185" r:id="rId9"/>
    <p:sldId id="2147482186" r:id="rId10"/>
    <p:sldId id="2147482187" r:id="rId11"/>
    <p:sldId id="2147482188" r:id="rId12"/>
    <p:sldId id="2147482189" r:id="rId13"/>
    <p:sldId id="2147482190" r:id="rId14"/>
    <p:sldId id="2147482191" r:id="rId15"/>
    <p:sldId id="2147482192" r:id="rId16"/>
    <p:sldId id="2147482217" r:id="rId17"/>
    <p:sldId id="2147482193" r:id="rId18"/>
    <p:sldId id="2147482211" r:id="rId19"/>
    <p:sldId id="2147482218" r:id="rId20"/>
    <p:sldId id="2147482219" r:id="rId21"/>
    <p:sldId id="2147482220" r:id="rId22"/>
    <p:sldId id="2147482222" r:id="rId23"/>
    <p:sldId id="2147482221" r:id="rId24"/>
    <p:sldId id="2147482223" r:id="rId25"/>
    <p:sldId id="2147482224" r:id="rId26"/>
    <p:sldId id="2147482225" r:id="rId27"/>
    <p:sldId id="2147482197" r:id="rId28"/>
    <p:sldId id="2147482208" r:id="rId29"/>
  </p:sldIdLst>
  <p:sldSz cx="12147550" cy="6875463"/>
  <p:notesSz cx="6858000" cy="9144000"/>
  <p:custDataLst>
    <p:tags r:id="rId32"/>
  </p:custDataLst>
  <p:defaultTextStyle>
    <a:defPPr>
      <a:defRPr lang="en-US"/>
    </a:defPPr>
    <a:lvl1pPr marL="0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1pPr>
    <a:lvl2pPr marL="543449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2pPr>
    <a:lvl3pPr marL="1086897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3pPr>
    <a:lvl4pPr marL="1630346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4pPr>
    <a:lvl5pPr marL="2173794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5pPr>
    <a:lvl6pPr marL="2717243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6pPr>
    <a:lvl7pPr marL="3260692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7pPr>
    <a:lvl8pPr marL="3804140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8pPr>
    <a:lvl9pPr marL="4347588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26" userDrawn="1">
          <p15:clr>
            <a:srgbClr val="A4A3A4"/>
          </p15:clr>
        </p15:guide>
        <p15:guide id="4" orient="horz" pos="4041" userDrawn="1">
          <p15:clr>
            <a:srgbClr val="A4A3A4"/>
          </p15:clr>
        </p15:guide>
        <p15:guide id="5" pos="301" userDrawn="1">
          <p15:clr>
            <a:srgbClr val="A4A3A4"/>
          </p15:clr>
        </p15:guide>
        <p15:guide id="6" pos="7330" userDrawn="1">
          <p15:clr>
            <a:srgbClr val="A4A3A4"/>
          </p15:clr>
        </p15:guide>
        <p15:guide id="7" pos="7180" userDrawn="1">
          <p15:clr>
            <a:srgbClr val="A4A3A4"/>
          </p15:clr>
        </p15:guide>
        <p15:guide id="9" pos="3818" userDrawn="1">
          <p15:clr>
            <a:srgbClr val="A4A3A4"/>
          </p15:clr>
        </p15:guide>
        <p15:guide id="10" orient="horz" pos="4009" userDrawn="1">
          <p15:clr>
            <a:srgbClr val="A4A3A4"/>
          </p15:clr>
        </p15:guide>
        <p15:guide id="11" orient="horz" pos="2188" userDrawn="1">
          <p15:clr>
            <a:srgbClr val="A4A3A4"/>
          </p15:clr>
        </p15:guide>
        <p15:guide id="13" pos="3823" userDrawn="1">
          <p15:clr>
            <a:srgbClr val="A4A3A4"/>
          </p15:clr>
        </p15:guide>
        <p15:guide id="14" pos="31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lagros Cigueñas Espinel" initials="MCE" lastIdx="7" clrIdx="0"/>
  <p:cmAuthor id="2" name="Kathleen Gallagher" initials="KG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D0DC"/>
    <a:srgbClr val="C8D0D3"/>
    <a:srgbClr val="0A9DA5"/>
    <a:srgbClr val="C9EBF0"/>
    <a:srgbClr val="E88020"/>
    <a:srgbClr val="D4A9CA"/>
    <a:srgbClr val="E8EEF1"/>
    <a:srgbClr val="1DC5CD"/>
    <a:srgbClr val="9E4A8C"/>
    <a:srgbClr val="E15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152" autoAdjust="0"/>
    <p:restoredTop sz="97164" autoAdjust="0"/>
  </p:normalViewPr>
  <p:slideViewPr>
    <p:cSldViewPr snapToGrid="0">
      <p:cViewPr varScale="1">
        <p:scale>
          <a:sx n="82" d="100"/>
          <a:sy n="82" d="100"/>
        </p:scale>
        <p:origin x="725" y="67"/>
      </p:cViewPr>
      <p:guideLst>
        <p:guide pos="3826"/>
        <p:guide orient="horz" pos="4041"/>
        <p:guide pos="301"/>
        <p:guide pos="7330"/>
        <p:guide pos="7180"/>
        <p:guide pos="3818"/>
        <p:guide orient="horz" pos="4009"/>
        <p:guide orient="horz" pos="2188"/>
        <p:guide pos="3823"/>
        <p:guide pos="317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34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tags" Target="tags/tag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notesMaster" Target="notesMasters/notesMaster1.xml"/><Relationship Id="rId35" Type="http://schemas.openxmlformats.org/officeDocument/2006/relationships/viewProps" Target="viewProps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FEAB9F-CB75-8745-87EF-8E559D0BBB93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18B71C-041F-6047-82C9-1EA74FAD525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130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20E17-5E8F-41AD-A619-A9EE89BB892E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43000"/>
            <a:ext cx="54514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0D7CE1-4029-4111-8E61-98237ACE8FD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7094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1pPr>
    <a:lvl2pPr marL="228234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2pPr>
    <a:lvl3pPr marL="456468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3pPr>
    <a:lvl4pPr marL="684703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4pPr>
    <a:lvl5pPr marL="912937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5pPr>
    <a:lvl6pPr marL="1141171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6pPr>
    <a:lvl7pPr marL="1369405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7pPr>
    <a:lvl8pPr marL="1597640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8pPr>
    <a:lvl9pPr marL="1825874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D7CE1-4029-4111-8E61-98237ACE8FD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376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27347-AFF9-85C3-37A2-61672885C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F47480-87EC-5ED0-0DD6-E54C60C7E0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D99925-F459-0AE9-15A9-3F052B843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161C2-A812-08DA-4E64-F13D9BD6A6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2836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FBED8-3B4E-B1A2-7651-631C51908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FE2C6-BDCA-2BF2-1E3E-A4E6F03D9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4F0E62-6300-B880-D8EC-2A982E92D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B9AF0-56E8-6656-9FB9-7536379736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568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84290-66CD-FD6C-C756-84587D700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DC94F-F5F0-F285-60A5-9D22971B3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405738-B2B8-567F-6365-77BD573F44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9345-37B8-7BD0-CB1B-E7E7734329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667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A4489-9A3E-60E4-2F8C-91A36E16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E15C8-7E34-3D95-CDA5-38012EBEB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2B3978-6A90-C11C-1D68-FD2FD2359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6317F-0306-E4FE-E5BA-764E5BA095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2138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83453-4C11-1149-1410-E97CB5530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E63DC-58F3-0819-C118-5B8785703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FE93B-904F-B2C0-EBFF-3A1928B6B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AC26B-F6A7-F631-8A37-6E990489B3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5406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91F7-F0BF-74C4-14B6-2C21C32B8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9AE8E4-07AE-2E25-B0A0-CA593039F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B1F7A9-50FE-AFFC-CCF1-676FC348D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EFA1-553D-6BE5-123A-483EFF89BB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359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79BAA-0D1F-42A1-DA5F-F5A0A40DB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A3035C-24AA-07BF-6F17-A04F84F0D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25620C-6332-8550-3AA0-5A28AB60A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3ADF-A9A2-28E5-E0C1-E1ED550702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473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6752C-3BF4-1464-2203-BFDFE0E34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C7A0C-020C-8876-25DF-53A39A148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0BC8C7-9D1C-B520-357E-7DC332C952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A04322-56E2-8745-77DF-2311944CC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2059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48B8-46FB-B554-12E8-1D7F3468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7E8BA1-8DD8-051C-3424-790B139A6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BA8F33-7DD3-B20E-0A2B-6ECE056656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F6E53-3094-DEB8-4C43-5B7F3A3B16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605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A1E51-C16B-44E7-1033-8F64E223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3D1C87-AF32-9B5B-0038-7E0A570E2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E28BD7-47A5-FE86-18EB-1E5D2FB55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0414B-A831-D6A7-B6A2-D4D4395B9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79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8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8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Relationship Id="rId4" Type="http://schemas.openxmlformats.org/officeDocument/2006/relationships/image" Target="../media/image8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6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7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8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9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0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38.xml"/><Relationship Id="rId3" Type="http://schemas.openxmlformats.org/officeDocument/2006/relationships/tags" Target="../tags/tag33.xml"/><Relationship Id="rId7" Type="http://schemas.openxmlformats.org/officeDocument/2006/relationships/tags" Target="../tags/tag37.xml"/><Relationship Id="rId12" Type="http://schemas.openxmlformats.org/officeDocument/2006/relationships/image" Target="../media/image26.png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tags" Target="../tags/tag36.xml"/><Relationship Id="rId11" Type="http://schemas.openxmlformats.org/officeDocument/2006/relationships/image" Target="../media/image25.emf"/><Relationship Id="rId5" Type="http://schemas.openxmlformats.org/officeDocument/2006/relationships/tags" Target="../tags/tag35.xml"/><Relationship Id="rId10" Type="http://schemas.openxmlformats.org/officeDocument/2006/relationships/oleObject" Target="../embeddings/oleObject16.bin"/><Relationship Id="rId4" Type="http://schemas.openxmlformats.org/officeDocument/2006/relationships/tags" Target="../tags/tag34.xml"/><Relationship Id="rId9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41.xml"/><Relationship Id="rId7" Type="http://schemas.openxmlformats.org/officeDocument/2006/relationships/tags" Target="../tags/tag45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tags" Target="../tags/tag44.xml"/><Relationship Id="rId5" Type="http://schemas.openxmlformats.org/officeDocument/2006/relationships/tags" Target="../tags/tag43.xml"/><Relationship Id="rId10" Type="http://schemas.openxmlformats.org/officeDocument/2006/relationships/image" Target="../media/image25.emf"/><Relationship Id="rId4" Type="http://schemas.openxmlformats.org/officeDocument/2006/relationships/tags" Target="../tags/tag42.xml"/><Relationship Id="rId9" Type="http://schemas.openxmlformats.org/officeDocument/2006/relationships/oleObject" Target="../embeddings/oleObject17.bin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8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9.xml"/><Relationship Id="rId4" Type="http://schemas.openxmlformats.org/officeDocument/2006/relationships/image" Target="../media/image8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1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3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4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5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6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7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8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9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60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2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3.xml"/><Relationship Id="rId4" Type="http://schemas.openxmlformats.org/officeDocument/2006/relationships/image" Target="../media/image8.emf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5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7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8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9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0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1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2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3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4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7.xml.rels><?xml version="1.0" encoding="UTF-8" standalone="yes"?>
<Relationships xmlns="http://schemas.openxmlformats.org/package/2006/relationships"><Relationship Id="rId8" Type="http://schemas.openxmlformats.org/officeDocument/2006/relationships/tags" Target="../tags/tag82.xml"/><Relationship Id="rId3" Type="http://schemas.openxmlformats.org/officeDocument/2006/relationships/tags" Target="../tags/tag77.xml"/><Relationship Id="rId7" Type="http://schemas.openxmlformats.org/officeDocument/2006/relationships/tags" Target="../tags/tag81.xml"/><Relationship Id="rId12" Type="http://schemas.openxmlformats.org/officeDocument/2006/relationships/image" Target="../media/image26.png"/><Relationship Id="rId2" Type="http://schemas.openxmlformats.org/officeDocument/2006/relationships/tags" Target="../tags/tag76.xml"/><Relationship Id="rId1" Type="http://schemas.openxmlformats.org/officeDocument/2006/relationships/tags" Target="../tags/tag75.xml"/><Relationship Id="rId6" Type="http://schemas.openxmlformats.org/officeDocument/2006/relationships/tags" Target="../tags/tag80.xml"/><Relationship Id="rId11" Type="http://schemas.openxmlformats.org/officeDocument/2006/relationships/image" Target="../media/image25.emf"/><Relationship Id="rId5" Type="http://schemas.openxmlformats.org/officeDocument/2006/relationships/tags" Target="../tags/tag79.xml"/><Relationship Id="rId10" Type="http://schemas.openxmlformats.org/officeDocument/2006/relationships/oleObject" Target="../embeddings/oleObject16.bin"/><Relationship Id="rId4" Type="http://schemas.openxmlformats.org/officeDocument/2006/relationships/tags" Target="../tags/tag78.xml"/><Relationship Id="rId9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4.xml"/><Relationship Id="rId3" Type="http://schemas.openxmlformats.org/officeDocument/2006/relationships/tags" Target="../tags/tag85.xml"/><Relationship Id="rId7" Type="http://schemas.openxmlformats.org/officeDocument/2006/relationships/tags" Target="../tags/tag89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10" Type="http://schemas.openxmlformats.org/officeDocument/2006/relationships/image" Target="../media/image25.emf"/><Relationship Id="rId4" Type="http://schemas.openxmlformats.org/officeDocument/2006/relationships/tags" Target="../tags/tag86.xml"/><Relationship Id="rId9" Type="http://schemas.openxmlformats.org/officeDocument/2006/relationships/oleObject" Target="../embeddings/oleObject17.bin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906733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19855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856087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71057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883946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09174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06209577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24329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852179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36712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305913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292952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4719074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88459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9579149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43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38031420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017887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613482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5489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600227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317684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000965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54341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38879484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11383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4267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906733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33393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856087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576117"/>
      </p:ext>
    </p:extLst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883946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385912"/>
      </p:ext>
    </p:extLst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06209577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239125"/>
      </p:ext>
    </p:extLst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852179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98319"/>
      </p:ext>
    </p:extLst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305913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10329"/>
      </p:ext>
    </p:extLst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4719074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906154"/>
      </p:ext>
    </p:extLst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9579149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434939"/>
      </p:ext>
    </p:extLst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38031420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13038"/>
      </p:ext>
    </p:extLst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613482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855602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600227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351055"/>
      </p:ext>
    </p:extLst>
  </p:cSld>
  <p:clrMapOvr>
    <a:masterClrMapping/>
  </p:clrMapOvr>
  <p:hf hd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000965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00088"/>
      </p:ext>
    </p:extLst>
  </p:cSld>
  <p:clrMapOvr>
    <a:masterClrMapping/>
  </p:clrMapOvr>
  <p:hf hd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38879484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01930"/>
      </p:ext>
    </p:extLst>
  </p:cSld>
  <p:clrMapOvr>
    <a:masterClrMapping/>
  </p:clrMapOvr>
  <p:hf hd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Layou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42856251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EC5B746B-A82B-5B76-11EF-DC1F5C5A358A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037" y="3184"/>
            <a:ext cx="12150587" cy="6875463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91" b="1" i="0" u="none" strike="noStrike" kern="1200" cap="none" spc="0" normalizeH="0" baseline="0" noProof="0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271282" y="6516103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0842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897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0842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897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0925" rtl="0" eaLnBrk="1" fontAlgn="auto" latinLnBrk="0" hangingPunct="1">
              <a:lnSpc>
                <a:spcPct val="100000"/>
              </a:lnSpc>
              <a:spcBef>
                <a:spcPts val="299"/>
              </a:spcBef>
              <a:spcAft>
                <a:spcPts val="299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7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2714" y="182836"/>
            <a:ext cx="11042123" cy="733383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33649" y="39307"/>
            <a:ext cx="4464225" cy="202748"/>
          </a:xfrm>
        </p:spPr>
        <p:txBody>
          <a:bodyPr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6" name="SlideLogoText">
            <a:extLst>
              <a:ext uri="{FF2B5EF4-FFF2-40B4-BE49-F238E27FC236}">
                <a16:creationId xmlns:a16="http://schemas.microsoft.com/office/drawing/2014/main" id="{17777A94-E817-F658-EB46-039D380FADEF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black">
          <a:xfrm>
            <a:off x="10103460" y="6516732"/>
            <a:ext cx="1134926" cy="13805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</p:spTree>
    <p:extLst>
      <p:ext uri="{BB962C8B-B14F-4D97-AF65-F5344CB8AC3E}">
        <p14:creationId xmlns:p14="http://schemas.microsoft.com/office/powerpoint/2010/main" val="41569207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91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2714" y="182836"/>
            <a:ext cx="11042123" cy="73338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271282" y="6516104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08423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897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08423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897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797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33649" y="39307"/>
            <a:ext cx="4464225" cy="202748"/>
          </a:xfrm>
        </p:spPr>
        <p:txBody>
          <a:bodyPr wrap="square"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016293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19855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71057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09174"/>
      </p:ext>
    </p:extLst>
  </p:cSld>
  <p:clrMapOvr>
    <a:masterClrMapping/>
  </p:clrMapOvr>
  <p:hf hd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243299"/>
      </p:ext>
    </p:extLst>
  </p:cSld>
  <p:clrMapOvr>
    <a:masterClrMapping/>
  </p:clrMapOvr>
  <p:hf hd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367129"/>
      </p:ext>
    </p:extLst>
  </p:cSld>
  <p:clrMapOvr>
    <a:masterClrMapping/>
  </p:clrMapOvr>
  <p:hf hd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292952"/>
      </p:ext>
    </p:extLst>
  </p:cSld>
  <p:clrMapOvr>
    <a:masterClrMapping/>
  </p:clrMapOvr>
  <p:hf hd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88459"/>
      </p:ext>
    </p:extLst>
  </p:cSld>
  <p:clrMapOvr>
    <a:masterClrMapping/>
  </p:clrMapOvr>
  <p:hf hd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435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017887"/>
      </p:ext>
    </p:extLst>
  </p:cSld>
  <p:clrMapOvr>
    <a:masterClrMapping/>
  </p:clrMapOvr>
  <p:hf hd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54894"/>
      </p:ext>
    </p:extLst>
  </p:cSld>
  <p:clrMapOvr>
    <a:masterClrMapping/>
  </p:clrMapOvr>
  <p:hf hd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317684"/>
      </p:ext>
    </p:extLst>
  </p:cSld>
  <p:clrMapOvr>
    <a:masterClrMapping/>
  </p:clrMapOvr>
  <p:hf hd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54341"/>
      </p:ext>
    </p:extLst>
  </p:cSld>
  <p:clrMapOvr>
    <a:masterClrMapping/>
  </p:clrMapOvr>
  <p:hf hd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11383"/>
      </p:ext>
    </p:extLst>
  </p:cSld>
  <p:clrMapOvr>
    <a:masterClrMapping/>
  </p:clrMapOvr>
  <p:hf hd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42679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33393"/>
      </p:ext>
    </p:extLst>
  </p:cSld>
  <p:clrMapOvr>
    <a:masterClrMapping/>
  </p:clrMapOvr>
  <p:hf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576117"/>
      </p:ext>
    </p:extLst>
  </p:cSld>
  <p:clrMapOvr>
    <a:masterClrMapping/>
  </p:clrMapOvr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385912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239125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98319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10329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906154"/>
      </p:ext>
    </p:extLst>
  </p:cSld>
  <p:clrMapOvr>
    <a:masterClrMapping/>
  </p:clrMapOvr>
  <p:hf hd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434939"/>
      </p:ext>
    </p:extLst>
  </p:cSld>
  <p:clrMapOvr>
    <a:masterClrMapping/>
  </p:clrMapOvr>
  <p:hf hd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13038"/>
      </p:ext>
    </p:extLst>
  </p:cSld>
  <p:clrMapOvr>
    <a:masterClrMapping/>
  </p:clrMapOvr>
  <p:hf hd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855602"/>
      </p:ext>
    </p:extLst>
  </p:cSld>
  <p:clrMapOvr>
    <a:masterClrMapping/>
  </p:clrMapOvr>
  <p:hf hd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351055"/>
      </p:ext>
    </p:extLst>
  </p:cSld>
  <p:clrMapOvr>
    <a:masterClrMapping/>
  </p:clrMapOvr>
  <p:hf hd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00088"/>
      </p:ext>
    </p:extLst>
  </p:cSld>
  <p:clrMapOvr>
    <a:masterClrMapping/>
  </p:clrMapOvr>
  <p:hf hd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01930"/>
      </p:ext>
    </p:extLst>
  </p:cSld>
  <p:clrMapOvr>
    <a:masterClrMapping/>
  </p:clrMapOvr>
  <p:hf hd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Layou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EC5B746B-A82B-5B76-11EF-DC1F5C5A358A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037" y="3184"/>
            <a:ext cx="12150587" cy="6875463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91" b="1" i="0" u="none" strike="noStrike" kern="1200" cap="none" spc="0" normalizeH="0" baseline="0" noProof="0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271282" y="6516103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0842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897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0842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897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0925" rtl="0" eaLnBrk="1" fontAlgn="auto" latinLnBrk="0" hangingPunct="1">
              <a:lnSpc>
                <a:spcPct val="100000"/>
              </a:lnSpc>
              <a:spcBef>
                <a:spcPts val="299"/>
              </a:spcBef>
              <a:spcAft>
                <a:spcPts val="299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7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2714" y="182836"/>
            <a:ext cx="11042123" cy="733383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33649" y="39307"/>
            <a:ext cx="4464225" cy="202748"/>
          </a:xfrm>
        </p:spPr>
        <p:txBody>
          <a:bodyPr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6" name="SlideLogoText">
            <a:extLst>
              <a:ext uri="{FF2B5EF4-FFF2-40B4-BE49-F238E27FC236}">
                <a16:creationId xmlns:a16="http://schemas.microsoft.com/office/drawing/2014/main" id="{17777A94-E817-F658-EB46-039D380FADEF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black">
          <a:xfrm>
            <a:off x="10103460" y="6516732"/>
            <a:ext cx="1134926" cy="13805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</p:spTree>
    <p:extLst>
      <p:ext uri="{BB962C8B-B14F-4D97-AF65-F5344CB8AC3E}">
        <p14:creationId xmlns:p14="http://schemas.microsoft.com/office/powerpoint/2010/main" val="415692074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91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2714" y="182836"/>
            <a:ext cx="11042123" cy="73338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271282" y="6516104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08423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897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08423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897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797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33649" y="39307"/>
            <a:ext cx="4464225" cy="202748"/>
          </a:xfrm>
        </p:spPr>
        <p:txBody>
          <a:bodyPr wrap="square"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0162931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109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3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23" Type="http://schemas.openxmlformats.org/officeDocument/2006/relationships/image" Target="../media/image4.emf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oleObject" Target="../embeddings/oleObject2.bin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17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17" Type="http://schemas.openxmlformats.org/officeDocument/2006/relationships/tags" Target="../tags/tag17.xml"/><Relationship Id="rId2" Type="http://schemas.openxmlformats.org/officeDocument/2006/relationships/slideLayout" Target="../slideLayouts/slideLayout16.xml"/><Relationship Id="rId16" Type="http://schemas.openxmlformats.org/officeDocument/2006/relationships/theme" Target="../theme/theme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24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2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32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41.xml"/><Relationship Id="rId17" Type="http://schemas.openxmlformats.org/officeDocument/2006/relationships/tags" Target="../tags/tag47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31.xml"/><Relationship Id="rId16" Type="http://schemas.openxmlformats.org/officeDocument/2006/relationships/tags" Target="../tags/tag4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40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34.xml"/><Relationship Id="rId15" Type="http://schemas.openxmlformats.org/officeDocument/2006/relationships/theme" Target="../theme/theme3.xml"/><Relationship Id="rId23" Type="http://schemas.openxmlformats.org/officeDocument/2006/relationships/image" Target="../media/image4.emf"/><Relationship Id="rId10" Type="http://schemas.openxmlformats.org/officeDocument/2006/relationships/slideLayout" Target="../slideLayouts/slideLayout39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43.xml"/><Relationship Id="rId22" Type="http://schemas.openxmlformats.org/officeDocument/2006/relationships/oleObject" Target="../embeddings/oleObject2.bin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1.xml"/><Relationship Id="rId13" Type="http://schemas.openxmlformats.org/officeDocument/2006/relationships/slideLayout" Target="../slideLayouts/slideLayout56.xml"/><Relationship Id="rId18" Type="http://schemas.openxmlformats.org/officeDocument/2006/relationships/tags" Target="../tags/tag61.xml"/><Relationship Id="rId3" Type="http://schemas.openxmlformats.org/officeDocument/2006/relationships/slideLayout" Target="../slideLayouts/slideLayout46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50.xml"/><Relationship Id="rId12" Type="http://schemas.openxmlformats.org/officeDocument/2006/relationships/slideLayout" Target="../slideLayouts/slideLayout55.xml"/><Relationship Id="rId17" Type="http://schemas.openxmlformats.org/officeDocument/2006/relationships/theme" Target="../theme/theme4.xml"/><Relationship Id="rId2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59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44.xml"/><Relationship Id="rId6" Type="http://schemas.openxmlformats.org/officeDocument/2006/relationships/slideLayout" Target="../slideLayouts/slideLayout49.xml"/><Relationship Id="rId11" Type="http://schemas.openxmlformats.org/officeDocument/2006/relationships/slideLayout" Target="../slideLayouts/slideLayout54.xml"/><Relationship Id="rId5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3.xml"/><Relationship Id="rId19" Type="http://schemas.openxmlformats.org/officeDocument/2006/relationships/oleObject" Target="../embeddings/oleObject1.bin"/><Relationship Id="rId4" Type="http://schemas.openxmlformats.org/officeDocument/2006/relationships/slideLayout" Target="../slideLayouts/slideLayout47.xml"/><Relationship Id="rId9" Type="http://schemas.openxmlformats.org/officeDocument/2006/relationships/slideLayout" Target="../slideLayouts/slideLayout52.xml"/><Relationship Id="rId14" Type="http://schemas.openxmlformats.org/officeDocument/2006/relationships/slideLayout" Target="../slideLayouts/slideLayout57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749989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709522"/>
              </p:ext>
            </p:extLst>
          </p:nvPr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251591"/>
              </p:ext>
            </p:extLst>
          </p:nvPr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57038248-6A4B-2AD5-1247-23FECD910F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7"/>
            </p:custDataLst>
            <p:extLst>
              <p:ext uri="{D42A27DB-BD31-4B8C-83A1-F6EECF244321}">
                <p14:modId xmlns:p14="http://schemas.microsoft.com/office/powerpoint/2010/main" val="1359837402"/>
              </p:ext>
            </p:extLst>
          </p:nvPr>
        </p:nvGraphicFramePr>
        <p:xfrm>
          <a:off x="791" y="796"/>
          <a:ext cx="791" cy="7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22" imgW="216" imgH="216" progId="TCLayout.ActiveDocument.1">
                  <p:embed/>
                </p:oleObj>
              </mc:Choice>
              <mc:Fallback>
                <p:oleObj name="Diapositiva de think-cell" r:id="rId22" imgW="216" imgH="216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57038248-6A4B-2AD5-1247-23FECD910F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91" y="796"/>
                        <a:ext cx="791" cy="7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8F20EC23-EA72-D1E5-4140-65925C7CBD1A}"/>
              </a:ext>
            </a:extLst>
          </p:cNvPr>
          <p:cNvSpPr txBox="1"/>
          <p:nvPr userDrawn="1"/>
        </p:nvSpPr>
        <p:spPr>
          <a:xfrm>
            <a:off x="5850308" y="2200148"/>
            <a:ext cx="6032498" cy="8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4981" baseline="0">
                <a:solidFill>
                  <a:schemeClr val="bg1"/>
                </a:solidFill>
                <a:latin typeface="Calibri" panose="020F0502020204030204" pitchFamily="34" charset="0"/>
              </a:rPr>
              <a:t>Título de presentación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84767FA-6E8E-5B7E-2DD3-391194FF1AA1}"/>
              </a:ext>
            </a:extLst>
          </p:cNvPr>
          <p:cNvSpPr txBox="1"/>
          <p:nvPr userDrawn="1"/>
        </p:nvSpPr>
        <p:spPr>
          <a:xfrm>
            <a:off x="5941403" y="3017833"/>
            <a:ext cx="5455564" cy="25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69" baseline="0">
                <a:solidFill>
                  <a:schemeClr val="bg1"/>
                </a:solidFill>
                <a:latin typeface="Calibri" panose="020F0502020204030204" pitchFamily="34" charset="0"/>
              </a:rPr>
              <a:t>Bajada presentación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32675CA-6D65-0AFA-92B7-3C4981C34A49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971" y="827602"/>
            <a:ext cx="12143608" cy="60478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4A1C32B-FF3F-138A-09E2-E58512E4FFBC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53979" y="-223430"/>
            <a:ext cx="3251577" cy="1747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276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45" r:id="rId12"/>
    <p:sldLayoutId id="2147483746" r:id="rId13"/>
    <p:sldLayoutId id="2147483747" r:id="rId14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7"/>
            </p:custDataLst>
            <p:extLst>
              <p:ext uri="{D42A27DB-BD31-4B8C-83A1-F6EECF244321}">
                <p14:modId xmlns:p14="http://schemas.microsoft.com/office/powerpoint/2010/main" val="1749989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709522"/>
              </p:ext>
            </p:extLst>
          </p:nvPr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251591"/>
              </p:ext>
            </p:extLst>
          </p:nvPr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</p:spTree>
    <p:extLst>
      <p:ext uri="{BB962C8B-B14F-4D97-AF65-F5344CB8AC3E}">
        <p14:creationId xmlns:p14="http://schemas.microsoft.com/office/powerpoint/2010/main" val="3149305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  <p:sldLayoutId id="2147483830" r:id="rId13"/>
    <p:sldLayoutId id="2147483833" r:id="rId14"/>
    <p:sldLayoutId id="2147483834" r:id="rId15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6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/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/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57038248-6A4B-2AD5-1247-23FECD910F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7"/>
            </p:custDataLst>
          </p:nvPr>
        </p:nvGraphicFramePr>
        <p:xfrm>
          <a:off x="791" y="796"/>
          <a:ext cx="791" cy="7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22" imgW="216" imgH="216" progId="TCLayout.ActiveDocument.1">
                  <p:embed/>
                </p:oleObj>
              </mc:Choice>
              <mc:Fallback>
                <p:oleObj name="Diapositiva de think-cell" r:id="rId22" imgW="216" imgH="216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57038248-6A4B-2AD5-1247-23FECD910F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91" y="796"/>
                        <a:ext cx="791" cy="7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8F20EC23-EA72-D1E5-4140-65925C7CBD1A}"/>
              </a:ext>
            </a:extLst>
          </p:cNvPr>
          <p:cNvSpPr txBox="1"/>
          <p:nvPr userDrawn="1"/>
        </p:nvSpPr>
        <p:spPr>
          <a:xfrm>
            <a:off x="5850308" y="2200148"/>
            <a:ext cx="6032498" cy="8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4981" baseline="0">
                <a:solidFill>
                  <a:schemeClr val="bg1"/>
                </a:solidFill>
                <a:latin typeface="Calibri" panose="020F0502020204030204" pitchFamily="34" charset="0"/>
              </a:rPr>
              <a:t>Título de presentación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84767FA-6E8E-5B7E-2DD3-391194FF1AA1}"/>
              </a:ext>
            </a:extLst>
          </p:cNvPr>
          <p:cNvSpPr txBox="1"/>
          <p:nvPr userDrawn="1"/>
        </p:nvSpPr>
        <p:spPr>
          <a:xfrm>
            <a:off x="5941403" y="3017833"/>
            <a:ext cx="5455564" cy="25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69" baseline="0">
                <a:solidFill>
                  <a:schemeClr val="bg1"/>
                </a:solidFill>
                <a:latin typeface="Calibri" panose="020F0502020204030204" pitchFamily="34" charset="0"/>
              </a:rPr>
              <a:t>Bajada presentación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32675CA-6D65-0AFA-92B7-3C4981C34A49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971" y="827602"/>
            <a:ext cx="12143608" cy="60478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4A1C32B-FF3F-138A-09E2-E58512E4FFBC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53979" y="-223430"/>
            <a:ext cx="3251577" cy="1747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276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8" r:id="rId2"/>
    <p:sldLayoutId id="2147483839" r:id="rId3"/>
    <p:sldLayoutId id="2147483840" r:id="rId4"/>
    <p:sldLayoutId id="2147483841" r:id="rId5"/>
    <p:sldLayoutId id="2147483842" r:id="rId6"/>
    <p:sldLayoutId id="2147483843" r:id="rId7"/>
    <p:sldLayoutId id="2147483844" r:id="rId8"/>
    <p:sldLayoutId id="2147483845" r:id="rId9"/>
    <p:sldLayoutId id="2147483846" r:id="rId10"/>
    <p:sldLayoutId id="2147483847" r:id="rId11"/>
    <p:sldLayoutId id="2147483848" r:id="rId12"/>
    <p:sldLayoutId id="2147483849" r:id="rId13"/>
    <p:sldLayoutId id="2147483850" r:id="rId14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8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9" imgW="290" imgH="290" progId="TCLayout.ActiveDocument.1">
                  <p:embed/>
                </p:oleObj>
              </mc:Choice>
              <mc:Fallback>
                <p:oleObj name="Diapositiva de think-cell" r:id="rId19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1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/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2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/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</p:spTree>
    <p:extLst>
      <p:ext uri="{BB962C8B-B14F-4D97-AF65-F5344CB8AC3E}">
        <p14:creationId xmlns:p14="http://schemas.microsoft.com/office/powerpoint/2010/main" val="3149305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57" r:id="rId6"/>
    <p:sldLayoutId id="2147483858" r:id="rId7"/>
    <p:sldLayoutId id="2147483859" r:id="rId8"/>
    <p:sldLayoutId id="2147483860" r:id="rId9"/>
    <p:sldLayoutId id="2147483861" r:id="rId10"/>
    <p:sldLayoutId id="2147483862" r:id="rId11"/>
    <p:sldLayoutId id="2147483863" r:id="rId12"/>
    <p:sldLayoutId id="2147483864" r:id="rId13"/>
    <p:sldLayoutId id="2147483865" r:id="rId14"/>
    <p:sldLayoutId id="2147483866" r:id="rId15"/>
    <p:sldLayoutId id="2147483867" r:id="rId16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gchain.com/blog/the-rise-of-context-engineer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9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hyperlink" Target="https://pub.towardsai.net/state-of-context-engineering-in-2026-cf92d010eab1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8B9C6EA2-958C-F615-332E-B906FD847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962" y="3072062"/>
            <a:ext cx="5472435" cy="1771291"/>
          </a:xfrm>
        </p:spPr>
        <p:txBody>
          <a:bodyPr>
            <a:normAutofit/>
          </a:bodyPr>
          <a:lstStyle/>
          <a:p>
            <a:r>
              <a:rPr lang="es-PE" sz="4000" b="1" dirty="0" err="1">
                <a:solidFill>
                  <a:schemeClr val="bg1"/>
                </a:solidFill>
                <a:latin typeface="Flexo" pitchFamily="50" charset="0"/>
              </a:rPr>
              <a:t>Context</a:t>
            </a:r>
            <a:r>
              <a:rPr lang="es-PE" sz="4000" b="1" dirty="0">
                <a:solidFill>
                  <a:schemeClr val="bg1"/>
                </a:solidFill>
                <a:latin typeface="Flexo" pitchFamily="50" charset="0"/>
              </a:rPr>
              <a:t> </a:t>
            </a:r>
            <a:r>
              <a:rPr lang="es-PE" sz="4000" b="1" dirty="0" err="1">
                <a:solidFill>
                  <a:schemeClr val="bg1"/>
                </a:solidFill>
                <a:latin typeface="Flexo" pitchFamily="50" charset="0"/>
              </a:rPr>
              <a:t>Engineering</a:t>
            </a:r>
            <a:r>
              <a:rPr lang="es-PE" sz="4000" b="1" dirty="0">
                <a:solidFill>
                  <a:schemeClr val="bg1"/>
                </a:solidFill>
                <a:latin typeface="Flexo" pitchFamily="50" charset="0"/>
              </a:rPr>
              <a:t> y Ambigüedad en Agentes Conversacionales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5FC8C3-F4EA-1FCF-0A70-B0E233B55E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59" y="6141866"/>
            <a:ext cx="3488321" cy="357776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lIns="90875" tIns="45438" rIns="90875" bIns="45438" rtlCol="0" anchor="b">
            <a:normAutofit fontScale="97500"/>
          </a:bodyPr>
          <a:lstStyle/>
          <a:p>
            <a:pPr>
              <a:spcBef>
                <a:spcPct val="0"/>
              </a:spcBef>
            </a:pPr>
            <a:r>
              <a:rPr lang="es-PE" sz="1420" b="1" dirty="0">
                <a:solidFill>
                  <a:schemeClr val="bg1"/>
                </a:solidFill>
                <a:latin typeface="Flexo" pitchFamily="50" charset="0"/>
              </a:rPr>
              <a:t>IA Academy · Programa IA Credicorp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249AA01-E3A0-FA6F-A3F3-6B367FB4D84D}"/>
              </a:ext>
            </a:extLst>
          </p:cNvPr>
          <p:cNvSpPr txBox="1"/>
          <p:nvPr/>
        </p:nvSpPr>
        <p:spPr>
          <a:xfrm>
            <a:off x="165961" y="5042850"/>
            <a:ext cx="6582681" cy="363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760" b="1" dirty="0">
                <a:solidFill>
                  <a:schemeClr val="bg1"/>
                </a:solidFill>
                <a:latin typeface="Flexo" pitchFamily="50" charset="0"/>
              </a:rPr>
              <a:t>Kevin Gómez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A5161C4-EF3C-3CFC-8400-712F7E79DB2E}"/>
              </a:ext>
            </a:extLst>
          </p:cNvPr>
          <p:cNvSpPr txBox="1"/>
          <p:nvPr/>
        </p:nvSpPr>
        <p:spPr>
          <a:xfrm>
            <a:off x="9569116" y="6075431"/>
            <a:ext cx="2525215" cy="664797"/>
          </a:xfrm>
          <a:prstGeom prst="rect">
            <a:avLst/>
          </a:prstGeom>
          <a:solidFill>
            <a:schemeClr val="tx1">
              <a:alpha val="52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860" b="1" dirty="0">
                <a:solidFill>
                  <a:schemeClr val="bg1"/>
                </a:solidFill>
                <a:latin typeface="Flexo" pitchFamily="50" charset="0"/>
              </a:rPr>
              <a:t>28 de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229688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adroTexto 101">
            <a:extLst>
              <a:ext uri="{FF2B5EF4-FFF2-40B4-BE49-F238E27FC236}">
                <a16:creationId xmlns:a16="http://schemas.microsoft.com/office/drawing/2014/main" id="{3A5FAB19-2D5A-DE48-9939-BF0460153473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200" b="1" dirty="0">
                <a:solidFill>
                  <a:srgbClr val="FFFFFF"/>
                </a:solidFill>
                <a:latin typeface="Aptos Display"/>
              </a:rPr>
              <a:t>Resumen</a:t>
            </a:r>
          </a:p>
        </p:txBody>
      </p:sp>
      <p:sp>
        <p:nvSpPr>
          <p:cNvPr id="104" name="Rectángulo 103">
            <a:extLst>
              <a:ext uri="{FF2B5EF4-FFF2-40B4-BE49-F238E27FC236}">
                <a16:creationId xmlns:a16="http://schemas.microsoft.com/office/drawing/2014/main" id="{54BF1A8F-6DC1-B44C-B720-61FEC00FA8D8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E462852E-12AA-BF40-A54D-807E176A31CA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520">
                <a:solidFill>
                  <a:srgbClr val="D8DEE8"/>
                </a:solidFill>
                <a:latin typeface="Aptos"/>
              </a:rPr>
              <a:t>Fuentes: Documentación oficial de Pydantic, FastAPI y Microsoft Agent Framework.</a:t>
            </a: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8735E8D5-2D02-184B-9289-69BE390E3520}"/>
              </a:ext>
            </a:extLst>
          </p:cNvPr>
          <p:cNvSpPr/>
          <p:nvPr/>
        </p:nvSpPr>
        <p:spPr>
          <a:xfrm>
            <a:off x="736600" y="13208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A6C7DB6-75B4-E549-BDF7-A60DFA72E61A}"/>
              </a:ext>
            </a:extLst>
          </p:cNvPr>
          <p:cNvSpPr txBox="1"/>
          <p:nvPr/>
        </p:nvSpPr>
        <p:spPr>
          <a:xfrm>
            <a:off x="736600" y="14351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 dirty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8BA5D60-510D-7846-BAC5-1389114BC8DE}"/>
              </a:ext>
            </a:extLst>
          </p:cNvPr>
          <p:cNvSpPr/>
          <p:nvPr/>
        </p:nvSpPr>
        <p:spPr>
          <a:xfrm>
            <a:off x="939800" y="17780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0CCA77F-123A-3A4C-87A5-967B5F3A7323}"/>
              </a:ext>
            </a:extLst>
          </p:cNvPr>
          <p:cNvSpPr txBox="1"/>
          <p:nvPr/>
        </p:nvSpPr>
        <p:spPr>
          <a:xfrm>
            <a:off x="1524000" y="13081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Problema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CE2C20D-072D-414D-BFE0-1ED8B08C2446}"/>
              </a:ext>
            </a:extLst>
          </p:cNvPr>
          <p:cNvSpPr txBox="1"/>
          <p:nvPr/>
        </p:nvSpPr>
        <p:spPr>
          <a:xfrm>
            <a:off x="1524000" y="16002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Por qué dar más contexto no garantiza respuestas correctas cuando la consulta o intención es ambigua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C605E6C9-26FF-574A-BA31-2960CFB594AA}"/>
              </a:ext>
            </a:extLst>
          </p:cNvPr>
          <p:cNvSpPr/>
          <p:nvPr/>
        </p:nvSpPr>
        <p:spPr>
          <a:xfrm>
            <a:off x="736600" y="20320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9ACA867-7AE5-264C-AEAB-A905A51D0ABC}"/>
              </a:ext>
            </a:extLst>
          </p:cNvPr>
          <p:cNvSpPr txBox="1"/>
          <p:nvPr/>
        </p:nvSpPr>
        <p:spPr>
          <a:xfrm>
            <a:off x="736600" y="21463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3CE9BA7-9B61-374B-BE93-4DE10EBDB3E3}"/>
              </a:ext>
            </a:extLst>
          </p:cNvPr>
          <p:cNvSpPr/>
          <p:nvPr/>
        </p:nvSpPr>
        <p:spPr>
          <a:xfrm>
            <a:off x="939800" y="24892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6E61313-031D-9448-915F-8E5E5F86F5B2}"/>
              </a:ext>
            </a:extLst>
          </p:cNvPr>
          <p:cNvSpPr txBox="1"/>
          <p:nvPr/>
        </p:nvSpPr>
        <p:spPr>
          <a:xfrm>
            <a:off x="1524000" y="20193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Qué es </a:t>
            </a:r>
            <a:r>
              <a:rPr lang="es-US" sz="1800" b="1" dirty="0" err="1">
                <a:solidFill>
                  <a:srgbClr val="E7A1D3"/>
                </a:solidFill>
                <a:latin typeface="Aptos"/>
              </a:rPr>
              <a:t>Context</a:t>
            </a:r>
            <a:r>
              <a:rPr lang="es-US" sz="1800" b="1" dirty="0">
                <a:solidFill>
                  <a:srgbClr val="E7A1D3"/>
                </a:solidFill>
                <a:latin typeface="Aptos"/>
              </a:rPr>
              <a:t> </a:t>
            </a:r>
            <a:r>
              <a:rPr lang="es-US" sz="1800" b="1" dirty="0" err="1">
                <a:solidFill>
                  <a:srgbClr val="E7A1D3"/>
                </a:solidFill>
                <a:latin typeface="Aptos"/>
              </a:rPr>
              <a:t>Engineering</a:t>
            </a:r>
            <a:endParaRPr lang="es-US" sz="1800" b="1" dirty="0">
              <a:solidFill>
                <a:srgbClr val="E7A1D3"/>
              </a:solidFill>
              <a:latin typeface="Aptos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66CD4C2-9FFA-0248-925E-3AC4F61ADD17}"/>
              </a:ext>
            </a:extLst>
          </p:cNvPr>
          <p:cNvSpPr txBox="1"/>
          <p:nvPr/>
        </p:nvSpPr>
        <p:spPr>
          <a:xfrm>
            <a:off x="1524000" y="23114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Seleccionar y organizar instrucciones, memoria, herramientas y evidencia para orientar al modelo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424ED9AA-92B3-6344-9270-FE12527F80E9}"/>
              </a:ext>
            </a:extLst>
          </p:cNvPr>
          <p:cNvSpPr/>
          <p:nvPr/>
        </p:nvSpPr>
        <p:spPr>
          <a:xfrm>
            <a:off x="736600" y="27432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CD981A1-5FFB-FC4A-9D1A-7F22B8A44969}"/>
              </a:ext>
            </a:extLst>
          </p:cNvPr>
          <p:cNvSpPr txBox="1"/>
          <p:nvPr/>
        </p:nvSpPr>
        <p:spPr>
          <a:xfrm>
            <a:off x="736600" y="28575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5B3723B-3926-B246-B718-4B3D0898A1D5}"/>
              </a:ext>
            </a:extLst>
          </p:cNvPr>
          <p:cNvSpPr/>
          <p:nvPr/>
        </p:nvSpPr>
        <p:spPr>
          <a:xfrm>
            <a:off x="939800" y="32004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A71E048-90A3-CA45-9BCB-98FE0B06A8E7}"/>
              </a:ext>
            </a:extLst>
          </p:cNvPr>
          <p:cNvSpPr txBox="1"/>
          <p:nvPr/>
        </p:nvSpPr>
        <p:spPr>
          <a:xfrm>
            <a:off x="1524000" y="27305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Modelo Probabilístico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07B6ECC-CCF6-BB40-B617-11FA9FE7F01F}"/>
              </a:ext>
            </a:extLst>
          </p:cNvPr>
          <p:cNvSpPr txBox="1"/>
          <p:nvPr/>
        </p:nvSpPr>
        <p:spPr>
          <a:xfrm>
            <a:off x="1524000" y="30226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El contexto modifica las probabilidades de los tokens y reduce la incertidumbre sobre la respuesta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103AB4BF-5A43-B548-8344-0C7FA6B32B7B}"/>
              </a:ext>
            </a:extLst>
          </p:cNvPr>
          <p:cNvSpPr/>
          <p:nvPr/>
        </p:nvSpPr>
        <p:spPr>
          <a:xfrm>
            <a:off x="736600" y="34544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0DF84CF-1985-FD4A-BCC3-D9DDC7770559}"/>
              </a:ext>
            </a:extLst>
          </p:cNvPr>
          <p:cNvSpPr txBox="1"/>
          <p:nvPr/>
        </p:nvSpPr>
        <p:spPr>
          <a:xfrm>
            <a:off x="736600" y="35687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A997566-CC93-9446-8FF0-0F852DA7B0E6}"/>
              </a:ext>
            </a:extLst>
          </p:cNvPr>
          <p:cNvSpPr/>
          <p:nvPr/>
        </p:nvSpPr>
        <p:spPr>
          <a:xfrm>
            <a:off x="939800" y="39116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8F12570D-9EEE-E648-B37D-494EC1678A03}"/>
              </a:ext>
            </a:extLst>
          </p:cNvPr>
          <p:cNvSpPr txBox="1"/>
          <p:nvPr/>
        </p:nvSpPr>
        <p:spPr>
          <a:xfrm>
            <a:off x="1524000" y="34417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r>
              <a:rPr lang="es-US" sz="1800" b="1" dirty="0">
                <a:solidFill>
                  <a:srgbClr val="E7A1D3"/>
                </a:solidFill>
                <a:latin typeface="Aptos"/>
              </a:rPr>
              <a:t>Ambigüedad</a:t>
            </a:r>
          </a:p>
          <a:p>
            <a:pPr algn="l"/>
            <a:endParaRPr lang="es-US" sz="1800" b="1" dirty="0">
              <a:solidFill>
                <a:srgbClr val="E7A1D3"/>
              </a:solidFill>
              <a:latin typeface="Aptos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730F51F-9A4A-6A42-B51C-8F94703DBE31}"/>
              </a:ext>
            </a:extLst>
          </p:cNvPr>
          <p:cNvSpPr txBox="1"/>
          <p:nvPr/>
        </p:nvSpPr>
        <p:spPr>
          <a:xfrm>
            <a:off x="1524000" y="37338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Una misma consulta puede representar varias intenciones plausibles y provocar respuestas incorrectas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1A4A2643-D57C-6E4D-A879-6AADA345C2DA}"/>
              </a:ext>
            </a:extLst>
          </p:cNvPr>
          <p:cNvSpPr/>
          <p:nvPr/>
        </p:nvSpPr>
        <p:spPr>
          <a:xfrm>
            <a:off x="736600" y="41656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1B7448-231C-054B-817E-BF1486E1623C}"/>
              </a:ext>
            </a:extLst>
          </p:cNvPr>
          <p:cNvSpPr txBox="1"/>
          <p:nvPr/>
        </p:nvSpPr>
        <p:spPr>
          <a:xfrm>
            <a:off x="736600" y="42799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F1D33555-C6DD-264E-B0A9-EE1099BBD0CD}"/>
              </a:ext>
            </a:extLst>
          </p:cNvPr>
          <p:cNvSpPr/>
          <p:nvPr/>
        </p:nvSpPr>
        <p:spPr>
          <a:xfrm>
            <a:off x="939800" y="46228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01924E99-CCCD-EE40-B7F4-9D20994A2ACC}"/>
              </a:ext>
            </a:extLst>
          </p:cNvPr>
          <p:cNvSpPr txBox="1"/>
          <p:nvPr/>
        </p:nvSpPr>
        <p:spPr>
          <a:xfrm>
            <a:off x="1524000" y="41529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Cuándo clarificar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A374DA2C-3F61-9B40-91E3-16A15CEBF917}"/>
              </a:ext>
            </a:extLst>
          </p:cNvPr>
          <p:cNvSpPr txBox="1"/>
          <p:nvPr/>
        </p:nvSpPr>
        <p:spPr>
          <a:xfrm>
            <a:off x="1524000" y="44450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Cómo decidir entre responder o preguntar según la incertidumbre, el costo de interacción y el riesgo de error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42F04291-4B4E-E44D-8963-A1166B14A098}"/>
              </a:ext>
            </a:extLst>
          </p:cNvPr>
          <p:cNvSpPr/>
          <p:nvPr/>
        </p:nvSpPr>
        <p:spPr>
          <a:xfrm>
            <a:off x="736600" y="48768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EA5635A2-9316-0C49-9153-AF1E5D6C1D0F}"/>
              </a:ext>
            </a:extLst>
          </p:cNvPr>
          <p:cNvSpPr txBox="1"/>
          <p:nvPr/>
        </p:nvSpPr>
        <p:spPr>
          <a:xfrm>
            <a:off x="736600" y="49911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FA685B2-8520-6348-A35D-8BFFC8A1A74F}"/>
              </a:ext>
            </a:extLst>
          </p:cNvPr>
          <p:cNvSpPr/>
          <p:nvPr/>
        </p:nvSpPr>
        <p:spPr>
          <a:xfrm>
            <a:off x="939800" y="53340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043EA08-F495-274A-B4C9-A1CF927B9633}"/>
              </a:ext>
            </a:extLst>
          </p:cNvPr>
          <p:cNvSpPr txBox="1"/>
          <p:nvPr/>
        </p:nvSpPr>
        <p:spPr>
          <a:xfrm>
            <a:off x="1524000" y="48641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Demo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D30C00A9-C49B-724A-9848-C4B30336EE7F}"/>
              </a:ext>
            </a:extLst>
          </p:cNvPr>
          <p:cNvSpPr txBox="1"/>
          <p:nvPr/>
        </p:nvSpPr>
        <p:spPr>
          <a:xfrm>
            <a:off x="1524000" y="51562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Aplicación práctica del enfoque para detectar ambigüedad, recuperar evidencia y formular una aclaración cuando sea necesario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EB059483-3D65-CF48-BD4B-417F799A77EC}"/>
              </a:ext>
            </a:extLst>
          </p:cNvPr>
          <p:cNvSpPr/>
          <p:nvPr/>
        </p:nvSpPr>
        <p:spPr>
          <a:xfrm>
            <a:off x="736600" y="55880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BD453191-5234-0B4A-8A94-2BA279E2752F}"/>
              </a:ext>
            </a:extLst>
          </p:cNvPr>
          <p:cNvSpPr txBox="1"/>
          <p:nvPr/>
        </p:nvSpPr>
        <p:spPr>
          <a:xfrm>
            <a:off x="736600" y="57023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FEDA2EAB-CCEE-744C-9BF0-C74CAADF5B2E}"/>
              </a:ext>
            </a:extLst>
          </p:cNvPr>
          <p:cNvSpPr txBox="1"/>
          <p:nvPr/>
        </p:nvSpPr>
        <p:spPr>
          <a:xfrm>
            <a:off x="1524000" y="55753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Conclusiones y Anexos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E6A17C45-D4AC-A444-9F07-6E7FD911C82E}"/>
              </a:ext>
            </a:extLst>
          </p:cNvPr>
          <p:cNvSpPr txBox="1"/>
          <p:nvPr/>
        </p:nvSpPr>
        <p:spPr>
          <a:xfrm>
            <a:off x="1524000" y="58674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Síntesis de los hallazgos y desarrollo matemático de las propiedades y decisiones probabilísticas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21143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adroTexto 81">
            <a:extLst>
              <a:ext uri="{FF2B5EF4-FFF2-40B4-BE49-F238E27FC236}">
                <a16:creationId xmlns:a16="http://schemas.microsoft.com/office/drawing/2014/main" id="{53EB78B0-3034-F94F-86DE-A430B010F31A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El PROBLEMA</a:t>
            </a:r>
          </a:p>
        </p:txBody>
      </p:sp>
      <p:sp>
        <p:nvSpPr>
          <p:cNvPr id="84" name="Rectángulo 83">
            <a:extLst>
              <a:ext uri="{FF2B5EF4-FFF2-40B4-BE49-F238E27FC236}">
                <a16:creationId xmlns:a16="http://schemas.microsoft.com/office/drawing/2014/main" id="{2FF6BB7E-9E0B-9942-8D48-5C202BE433BE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15" name="CuadroTexto 114">
            <a:extLst>
              <a:ext uri="{FF2B5EF4-FFF2-40B4-BE49-F238E27FC236}">
                <a16:creationId xmlns:a16="http://schemas.microsoft.com/office/drawing/2014/main" id="{6C4A9D21-3479-B744-B564-7E8629E8D08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Zhang y Choi: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Clarify When Necessary: Resolving Ambiguity Through Interaction with LMs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5ECF281-5327-4096-C098-DACDF2B6FF5D}"/>
              </a:ext>
            </a:extLst>
          </p:cNvPr>
          <p:cNvSpPr>
            <a:spLocks noGrp="1"/>
          </p:cNvSpPr>
          <p:nvPr/>
        </p:nvSpPr>
        <p:spPr>
          <a:xfrm>
            <a:off x="685800" y="1636713"/>
            <a:ext cx="10820400" cy="482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Una </a:t>
            </a:r>
            <a:r>
              <a:rPr lang="es-PE" sz="3600" b="1" u="sng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pregunta</a:t>
            </a: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puede tener </a:t>
            </a:r>
            <a:r>
              <a:rPr lang="es-PE" sz="3600" b="1" u="sng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varias respuestas</a:t>
            </a: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correctas</a:t>
            </a:r>
          </a:p>
        </p:txBody>
      </p:sp>
      <p:sp>
        <p:nvSpPr>
          <p:cNvPr id="5" name="Conector recto 4">
            <a:extLst>
              <a:ext uri="{FF2B5EF4-FFF2-40B4-BE49-F238E27FC236}">
                <a16:creationId xmlns:a16="http://schemas.microsoft.com/office/drawing/2014/main" id="{18CB3F74-21AA-A966-C9F7-DE66BB13811E}"/>
              </a:ext>
            </a:extLst>
          </p:cNvPr>
          <p:cNvSpPr>
            <a:spLocks noGrp="1"/>
          </p:cNvSpPr>
          <p:nvPr/>
        </p:nvSpPr>
        <p:spPr>
          <a:xfrm>
            <a:off x="685800" y="2384425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A3EE8AB-811E-7676-A86B-CACF9414C229}"/>
              </a:ext>
            </a:extLst>
          </p:cNvPr>
          <p:cNvSpPr>
            <a:spLocks noGrp="1"/>
          </p:cNvSpPr>
          <p:nvPr/>
        </p:nvSpPr>
        <p:spPr>
          <a:xfrm>
            <a:off x="1314450" y="2565400"/>
            <a:ext cx="95631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36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3600" b="1" i="0" noProof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“¿Cuál es el banco más grande?”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340B7FB-723C-EF62-41B7-8A05F7CACA43}"/>
              </a:ext>
            </a:extLst>
          </p:cNvPr>
          <p:cNvSpPr>
            <a:spLocks noGrp="1"/>
          </p:cNvSpPr>
          <p:nvPr/>
        </p:nvSpPr>
        <p:spPr>
          <a:xfrm>
            <a:off x="904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  <a:alpha val="12000"/>
            </a:scheme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0985F60-8A00-E2FD-F495-9AD58054EB0D}"/>
              </a:ext>
            </a:extLst>
          </p:cNvPr>
          <p:cNvSpPr>
            <a:spLocks noGrp="1"/>
          </p:cNvSpPr>
          <p:nvPr/>
        </p:nvSpPr>
        <p:spPr>
          <a:xfrm>
            <a:off x="1019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activos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E84511A-FCD5-EFB5-9FFE-E3924E32610E}"/>
              </a:ext>
            </a:extLst>
          </p:cNvPr>
          <p:cNvSpPr>
            <a:spLocks noGrp="1"/>
          </p:cNvSpPr>
          <p:nvPr/>
        </p:nvSpPr>
        <p:spPr>
          <a:xfrm>
            <a:off x="30003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  <a:alpha val="12000"/>
            </a:schemeClr>
          </a:solidFill>
          <a:ln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07C5019-DB52-4225-EC0D-4C879CFB3321}"/>
              </a:ext>
            </a:extLst>
          </p:cNvPr>
          <p:cNvSpPr>
            <a:spLocks noGrp="1"/>
          </p:cNvSpPr>
          <p:nvPr/>
        </p:nvSpPr>
        <p:spPr>
          <a:xfrm>
            <a:off x="31146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capitalización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04971C4-FD0E-CBC4-40B4-4DE16803207F}"/>
              </a:ext>
            </a:extLst>
          </p:cNvPr>
          <p:cNvSpPr>
            <a:spLocks noGrp="1"/>
          </p:cNvSpPr>
          <p:nvPr/>
        </p:nvSpPr>
        <p:spPr>
          <a:xfrm>
            <a:off x="5095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3">
              <a:lumMod val="60000"/>
              <a:lumOff val="40000"/>
              <a:alpha val="12000"/>
            </a:schemeClr>
          </a:solidFill>
          <a:ln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DF1B680-14EE-7BBF-CD62-5DBBEF5F53F9}"/>
              </a:ext>
            </a:extLst>
          </p:cNvPr>
          <p:cNvSpPr>
            <a:spLocks noGrp="1"/>
          </p:cNvSpPr>
          <p:nvPr/>
        </p:nvSpPr>
        <p:spPr>
          <a:xfrm>
            <a:off x="5210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40052F35-5A52-680F-DFD8-3ECAE44F1B3C}"/>
              </a:ext>
            </a:extLst>
          </p:cNvPr>
          <p:cNvSpPr>
            <a:spLocks noGrp="1"/>
          </p:cNvSpPr>
          <p:nvPr/>
        </p:nvSpPr>
        <p:spPr>
          <a:xfrm>
            <a:off x="71913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  <a:alpha val="12000"/>
            </a:schemeClr>
          </a:solidFill>
          <a:ln w="9525">
            <a:solidFill>
              <a:srgbClr val="FF6F7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05664F4-917D-EB15-0944-C98065090592}"/>
              </a:ext>
            </a:extLst>
          </p:cNvPr>
          <p:cNvSpPr>
            <a:spLocks noGrp="1"/>
          </p:cNvSpPr>
          <p:nvPr/>
        </p:nvSpPr>
        <p:spPr>
          <a:xfrm>
            <a:off x="73056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1400" b="1" i="0" noProof="0">
                <a:solidFill>
                  <a:srgbClr val="101526"/>
                </a:solidFill>
                <a:latin typeface="Aptos"/>
                <a:ea typeface="Aptos"/>
                <a:cs typeface="Aptos"/>
              </a:rPr>
              <a:t>ingresos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26A0292D-A471-43F8-18D6-B0D98744646E}"/>
              </a:ext>
            </a:extLst>
          </p:cNvPr>
          <p:cNvSpPr>
            <a:spLocks noGrp="1"/>
          </p:cNvSpPr>
          <p:nvPr/>
        </p:nvSpPr>
        <p:spPr>
          <a:xfrm>
            <a:off x="9286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2">
              <a:lumMod val="75000"/>
              <a:alpha val="12000"/>
            </a:schemeClr>
          </a:solidFill>
          <a:ln w="9525">
            <a:solidFill>
              <a:srgbClr val="62D59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3CC429F-F344-774D-1A87-BEA191C2A0BA}"/>
              </a:ext>
            </a:extLst>
          </p:cNvPr>
          <p:cNvSpPr>
            <a:spLocks noGrp="1"/>
          </p:cNvSpPr>
          <p:nvPr/>
        </p:nvSpPr>
        <p:spPr>
          <a:xfrm>
            <a:off x="9401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presencia</a:t>
            </a:r>
            <a:endParaRPr sz="14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7D9CD26-C637-CF81-DBF0-C8319D4353D3}"/>
              </a:ext>
            </a:extLst>
          </p:cNvPr>
          <p:cNvSpPr>
            <a:spLocks noGrp="1"/>
          </p:cNvSpPr>
          <p:nvPr/>
        </p:nvSpPr>
        <p:spPr>
          <a:xfrm>
            <a:off x="1597025" y="4895849"/>
            <a:ext cx="8953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667" lnSpcReduction="10000"/>
          </a:bodyPr>
          <a:lstStyle/>
          <a:p>
            <a:pPr algn="ctr">
              <a:lnSpc>
                <a:spcPct val="100000"/>
              </a:lnSpc>
              <a:buNone/>
              <a:defRPr sz="22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lang="es-MX" dirty="0">
                <a:solidFill/>
                <a:latin typeface="Aptos"/>
                <a:ea typeface="Aptos"/>
                <a:cs typeface="Aptos"/>
              </a:rPr>
              <a:t>Una respuesta puede ser factualmente correcta para una interpretación plausible y, aun así, no corresponder a la intención real del usuario.</a:t>
            </a:r>
            <a:endParaRPr dirty="0">
              <a:solidFill/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73632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4CBAECA-F6A5-1443-A4BE-4FBD2563F7C7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QUÉ ES CONTEXT ENGINEERING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12F2DAED-1110-384A-8D8E-40F9F76D9A38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FEDD24A5-24AB-6D4B-B228-3C48F2316420}"/>
              </a:ext>
            </a:extLst>
          </p:cNvPr>
          <p:cNvSpPr/>
          <p:nvPr/>
        </p:nvSpPr>
        <p:spPr>
          <a:xfrm>
            <a:off x="1171510" y="1532731"/>
            <a:ext cx="2882900" cy="1905000"/>
          </a:xfrm>
          <a:prstGeom prst="rect">
            <a:avLst/>
          </a:prstGeom>
          <a:solidFill>
            <a:srgbClr val="DDF5F7"/>
          </a:solidFill>
          <a:ln w="1524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38F3D559-6C87-4944-B274-AFF99AC13563}"/>
              </a:ext>
            </a:extLst>
          </p:cNvPr>
          <p:cNvSpPr/>
          <p:nvPr/>
        </p:nvSpPr>
        <p:spPr>
          <a:xfrm>
            <a:off x="1171510" y="1532731"/>
            <a:ext cx="101600" cy="19050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E4FD165B-6E88-5649-A468-2FA47F714BF6}"/>
              </a:ext>
            </a:extLst>
          </p:cNvPr>
          <p:cNvSpPr txBox="1"/>
          <p:nvPr/>
        </p:nvSpPr>
        <p:spPr>
          <a:xfrm>
            <a:off x="1374710" y="1697831"/>
            <a:ext cx="26797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450" b="1" dirty="0">
                <a:solidFill>
                  <a:srgbClr val="00A6B0"/>
                </a:solidFill>
                <a:latin typeface="Aptos"/>
              </a:rPr>
              <a:t>DEFINICIÓN OPERACIONAL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CF9F591D-9871-FE46-95CD-7C28954C1E1E}"/>
              </a:ext>
            </a:extLst>
          </p:cNvPr>
          <p:cNvSpPr txBox="1"/>
          <p:nvPr/>
        </p:nvSpPr>
        <p:spPr>
          <a:xfrm>
            <a:off x="1374710" y="2066131"/>
            <a:ext cx="2247900" cy="1295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400" dirty="0">
                <a:solidFill>
                  <a:srgbClr val="3D4B5F"/>
                </a:solidFill>
                <a:latin typeface="Aptos"/>
              </a:rPr>
              <a:t>Seleccionar, generar, estructurar y administrar la información que condiciona la respuesta.</a:t>
            </a:r>
            <a:endParaRPr lang="es-US" sz="1400" dirty="0">
              <a:solidFill>
                <a:srgbClr val="3D4B5F"/>
              </a:solidFill>
              <a:latin typeface="Aptos"/>
            </a:endParaRP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77E0401C-A5BF-BC4A-BC56-E034121BD09F}"/>
              </a:ext>
            </a:extLst>
          </p:cNvPr>
          <p:cNvSpPr/>
          <p:nvPr/>
        </p:nvSpPr>
        <p:spPr>
          <a:xfrm>
            <a:off x="1171510" y="5143500"/>
            <a:ext cx="9804529" cy="1219200"/>
          </a:xfrm>
          <a:prstGeom prst="rect">
            <a:avLst/>
          </a:prstGeom>
          <a:solidFill>
            <a:schemeClr val="tx2">
              <a:lumMod val="75000"/>
            </a:schemeClr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A700A38E-0FEF-D046-A5F1-89BD539B881C}"/>
              </a:ext>
            </a:extLst>
          </p:cNvPr>
          <p:cNvSpPr txBox="1"/>
          <p:nvPr/>
        </p:nvSpPr>
        <p:spPr>
          <a:xfrm>
            <a:off x="1721550" y="5448300"/>
            <a:ext cx="8704450" cy="7493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No es solo </a:t>
            </a:r>
            <a:r>
              <a:rPr lang="es-MX" sz="1600" b="1" dirty="0" err="1">
                <a:solidFill>
                  <a:srgbClr val="FFFFFF"/>
                </a:solidFill>
                <a:latin typeface="Aptos"/>
              </a:rPr>
              <a:t>prompt</a:t>
            </a:r>
            <a:r>
              <a:rPr lang="es-MX" sz="1600" b="1" dirty="0">
                <a:solidFill>
                  <a:srgbClr val="FFFFFF"/>
                </a:solidFill>
                <a:latin typeface="Aptos"/>
              </a:rPr>
              <a:t> </a:t>
            </a:r>
            <a:r>
              <a:rPr lang="es-MX" sz="1600" b="1" dirty="0" err="1">
                <a:solidFill>
                  <a:srgbClr val="FFFFFF"/>
                </a:solidFill>
                <a:latin typeface="Aptos"/>
              </a:rPr>
              <a:t>engineering</a:t>
            </a:r>
            <a:r>
              <a:rPr lang="es-MX" sz="1600" b="1" dirty="0">
                <a:solidFill>
                  <a:srgbClr val="FFFFFF"/>
                </a:solidFill>
                <a:latin typeface="Aptos"/>
              </a:rPr>
              <a:t>. Incluye recuperación, memoria, herramientas, estructura, compresión y ensamblaje dinámico</a:t>
            </a:r>
            <a:r>
              <a:rPr lang="es-US" sz="16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B9955800-2185-7247-8AD9-DC6269009478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CF3E2FD4-2D52-BFF4-5C67-624F32EB84E2}"/>
              </a:ext>
            </a:extLst>
          </p:cNvPr>
          <p:cNvSpPr>
            <a:spLocks noGrp="1"/>
          </p:cNvSpPr>
          <p:nvPr/>
        </p:nvSpPr>
        <p:spPr>
          <a:xfrm>
            <a:off x="4518089" y="1117600"/>
            <a:ext cx="6457950" cy="3695700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3D9D4AF9-DD33-36AE-FE75-E0E962E58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27639" y="1955468"/>
            <a:ext cx="6038850" cy="2019964"/>
          </a:xfrm>
          <a:prstGeom prst="roundRect">
            <a:avLst>
              <a:gd name="adj" fmla="val 4167"/>
            </a:avLst>
          </a:prstGeom>
        </p:spPr>
      </p:pic>
    </p:spTree>
    <p:extLst>
      <p:ext uri="{BB962C8B-B14F-4D97-AF65-F5344CB8AC3E}">
        <p14:creationId xmlns:p14="http://schemas.microsoft.com/office/powerpoint/2010/main" val="1971222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92BC8EB-BB5B-8748-AD76-D9FA762390A3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COMPONENTES DE CONTEXT ENGINEERING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93384D6-5D31-A346-92BB-234A5994B0F5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6" name="CuadroTexto 95">
            <a:extLst>
              <a:ext uri="{FF2B5EF4-FFF2-40B4-BE49-F238E27FC236}">
                <a16:creationId xmlns:a16="http://schemas.microsoft.com/office/drawing/2014/main" id="{8F35894B-2509-334B-A58D-8CC703F4321B}"/>
              </a:ext>
            </a:extLst>
          </p:cNvPr>
          <p:cNvSpPr txBox="1"/>
          <p:nvPr/>
        </p:nvSpPr>
        <p:spPr>
          <a:xfrm>
            <a:off x="355600" y="6578600"/>
            <a:ext cx="956564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Langchain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: “The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rise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of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context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engineering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 (</a:t>
            </a:r>
            <a:r>
              <a:rPr lang="es-US" sz="630" dirty="0">
                <a:solidFill>
                  <a:srgbClr val="8A94A4"/>
                </a:solidFill>
                <a:latin typeface="Aptos"/>
                <a:hlinkClick r:id="rId3"/>
              </a:rPr>
              <a:t>https://www.langchain.com/blog/the-rise-of-context-engineering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) – Kushal: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State of Context Engineering in 2026” (</a:t>
            </a:r>
            <a:r>
              <a:rPr lang="en-US" sz="630" dirty="0">
                <a:solidFill>
                  <a:srgbClr val="8A94A4"/>
                </a:solidFill>
                <a:latin typeface="Aptos"/>
                <a:hlinkClick r:id="rId4"/>
              </a:rPr>
              <a:t>https://pub.towardsai.net/state-of-context-engineering-in-2026-cf92d010eab1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) </a:t>
            </a:r>
            <a:endParaRPr lang="es-US" sz="630" dirty="0">
              <a:solidFill>
                <a:srgbClr val="8A94A4"/>
              </a:solidFill>
              <a:latin typeface="Aptos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E5E949FA-6618-58AE-C0AC-07B9605BD2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30" r="6771"/>
          <a:stretch>
            <a:fillRect/>
          </a:stretch>
        </p:blipFill>
        <p:spPr>
          <a:xfrm>
            <a:off x="539065" y="1430760"/>
            <a:ext cx="5915608" cy="4013942"/>
          </a:xfrm>
          <a:prstGeom prst="rect">
            <a:avLst/>
          </a:prstGeom>
        </p:spPr>
      </p:pic>
      <p:sp>
        <p:nvSpPr>
          <p:cNvPr id="7" name="TextBox 5">
            <a:extLst>
              <a:ext uri="{FF2B5EF4-FFF2-40B4-BE49-F238E27FC236}">
                <a16:creationId xmlns:a16="http://schemas.microsoft.com/office/drawing/2014/main" id="{3BE6D112-7066-0AFF-300C-ABE53E07F7FB}"/>
              </a:ext>
            </a:extLst>
          </p:cNvPr>
          <p:cNvSpPr>
            <a:spLocks noGrp="1"/>
          </p:cNvSpPr>
          <p:nvPr/>
        </p:nvSpPr>
        <p:spPr>
          <a:xfrm>
            <a:off x="685800" y="5950178"/>
            <a:ext cx="10817352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Context Engineering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orquesta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RAG, memoria,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herramientas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historial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y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formatos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estructurados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9991492-51F1-F231-AD72-6B2DF575C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9941" y="1785982"/>
            <a:ext cx="5323317" cy="330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839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adroTexto 53">
            <a:extLst>
              <a:ext uri="{FF2B5EF4-FFF2-40B4-BE49-F238E27FC236}">
                <a16:creationId xmlns:a16="http://schemas.microsoft.com/office/drawing/2014/main" id="{0DF694A8-E299-1F4F-86EF-81CCB8F51952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OBJETIVO DE CONTEXT ENGINEERING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9B200A5D-E31E-5A40-B36F-D68A46EB509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4D72A4DC-DF6B-6B47-8719-CFE27C1AD545}"/>
              </a:ext>
            </a:extLst>
          </p:cNvPr>
          <p:cNvSpPr/>
          <p:nvPr/>
        </p:nvSpPr>
        <p:spPr>
          <a:xfrm>
            <a:off x="736600" y="1600200"/>
            <a:ext cx="6286500" cy="3238500"/>
          </a:xfrm>
          <a:prstGeom prst="rect">
            <a:avLst/>
          </a:prstGeom>
          <a:solidFill>
            <a:schemeClr val="tx2">
              <a:lumMod val="50000"/>
            </a:schemeClr>
          </a:solidFill>
          <a:ln w="1397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471E09D-B68F-076E-3B3A-AD09F20421F7}"/>
              </a:ext>
            </a:extLst>
          </p:cNvPr>
          <p:cNvSpPr>
            <a:spLocks noGrp="1"/>
          </p:cNvSpPr>
          <p:nvPr/>
        </p:nvSpPr>
        <p:spPr>
          <a:xfrm>
            <a:off x="889000" y="1888568"/>
            <a:ext cx="485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0" i="0">
                <a:solidFill>
                  <a:srgbClr val="BFC7DA"/>
                </a:solidFill>
                <a:latin typeface="Aptos"/>
                <a:ea typeface="Aptos"/>
                <a:cs typeface="Aptos"/>
              </a:defRPr>
            </a:pPr>
            <a:r>
              <a:rPr sz="1800" b="0" i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El </a:t>
            </a:r>
            <a:r>
              <a:rPr sz="1800" b="0" i="0" dirty="0" err="1">
                <a:solidFill>
                  <a:schemeClr val="bg1"/>
                </a:solidFill>
                <a:latin typeface="Aptos"/>
                <a:ea typeface="Aptos"/>
                <a:cs typeface="Aptos"/>
              </a:rPr>
              <a:t>objetivo</a:t>
            </a:r>
            <a:r>
              <a:rPr sz="1800" b="0" i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real es </a:t>
            </a:r>
            <a:r>
              <a:rPr sz="1800" b="0" i="0" dirty="0" err="1">
                <a:solidFill>
                  <a:schemeClr val="bg1"/>
                </a:solidFill>
                <a:latin typeface="Aptos"/>
                <a:ea typeface="Aptos"/>
                <a:cs typeface="Aptos"/>
              </a:rPr>
              <a:t>maximizar</a:t>
            </a:r>
            <a:endParaRPr sz="1800" b="0" i="0" dirty="0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92FFD76-61A2-0CBC-5FE6-21A1F40A6AB7}"/>
              </a:ext>
            </a:extLst>
          </p:cNvPr>
          <p:cNvSpPr>
            <a:spLocks noGrp="1"/>
          </p:cNvSpPr>
          <p:nvPr/>
        </p:nvSpPr>
        <p:spPr>
          <a:xfrm>
            <a:off x="889000" y="2326718"/>
            <a:ext cx="628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l">
              <a:buNone/>
              <a:defRPr sz="3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calidad bajo un límite de contexto</a:t>
            </a:r>
            <a:endParaRPr sz="360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8E6ED86A-49C7-069E-C59B-65A497CE510C}"/>
              </a:ext>
            </a:extLst>
          </p:cNvPr>
          <p:cNvSpPr>
            <a:spLocks noGrp="1"/>
          </p:cNvSpPr>
          <p:nvPr/>
        </p:nvSpPr>
        <p:spPr>
          <a:xfrm>
            <a:off x="889000" y="4388193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 dirty="0" err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250" b="1" dirty="0">
                <a:solidFill>
                  <a:srgbClr val="3DD6C6"/>
                </a:solidFill>
                <a:latin typeface="Aptos"/>
                <a:ea typeface="Aptos"/>
                <a:cs typeface="Aptos"/>
              </a:rPr>
              <a:t> · 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X consulta · Y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· C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· |C|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número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de tokens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008305F9-FC90-A595-5AE2-7F5E8A498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79500" y="3153760"/>
            <a:ext cx="5600700" cy="48580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B809667-4B87-595F-0C31-F0834F1A4A4C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/>
        </p:blipFill>
        <p:spPr>
          <a:xfrm>
            <a:off x="2795228" y="3736418"/>
            <a:ext cx="1582503" cy="415492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D47373E5-6657-6DD1-D301-28BE7C175E3D}"/>
              </a:ext>
            </a:extLst>
          </p:cNvPr>
          <p:cNvSpPr>
            <a:spLocks noGrp="1"/>
          </p:cNvSpPr>
          <p:nvPr/>
        </p:nvSpPr>
        <p:spPr>
          <a:xfrm>
            <a:off x="7333022" y="1307543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Aptos"/>
                <a:ea typeface="Aptos"/>
                <a:cs typeface="Aptos"/>
              </a:rPr>
              <a:t>QUÉ OPTIMIZA F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369B86B-093B-65F0-114E-F220D2C8A8BF}"/>
              </a:ext>
            </a:extLst>
          </p:cNvPr>
          <p:cNvSpPr>
            <a:spLocks noGrp="1"/>
          </p:cNvSpPr>
          <p:nvPr/>
        </p:nvSpPr>
        <p:spPr>
          <a:xfrm>
            <a:off x="7333022" y="1764743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E230C09-A0D3-0E7A-784A-8A286258B3AE}"/>
              </a:ext>
            </a:extLst>
          </p:cNvPr>
          <p:cNvSpPr>
            <a:spLocks noGrp="1"/>
          </p:cNvSpPr>
          <p:nvPr/>
        </p:nvSpPr>
        <p:spPr>
          <a:xfrm>
            <a:off x="7523522" y="1879043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GENERAR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372E5BF-C8E6-ED96-6870-D3E0046F3565}"/>
              </a:ext>
            </a:extLst>
          </p:cNvPr>
          <p:cNvSpPr>
            <a:spLocks noGrp="1"/>
          </p:cNvSpPr>
          <p:nvPr/>
        </p:nvSpPr>
        <p:spPr>
          <a:xfrm>
            <a:off x="8799872" y="1879043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crear instrucciones o memoria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01762CBE-59DC-9BEC-80BA-4E81D7AB0ADF}"/>
              </a:ext>
            </a:extLst>
          </p:cNvPr>
          <p:cNvSpPr>
            <a:spLocks noGrp="1"/>
          </p:cNvSpPr>
          <p:nvPr/>
        </p:nvSpPr>
        <p:spPr>
          <a:xfrm>
            <a:off x="7333022" y="2574368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54B22AB-A10D-6B58-DA01-686F1F7DF4D5}"/>
              </a:ext>
            </a:extLst>
          </p:cNvPr>
          <p:cNvSpPr>
            <a:spLocks noGrp="1"/>
          </p:cNvSpPr>
          <p:nvPr/>
        </p:nvSpPr>
        <p:spPr>
          <a:xfrm>
            <a:off x="7523522" y="2688668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D1319FD-E7B1-4D41-ACAF-AAEE99B4AF2C}"/>
              </a:ext>
            </a:extLst>
          </p:cNvPr>
          <p:cNvSpPr>
            <a:spLocks noGrp="1"/>
          </p:cNvSpPr>
          <p:nvPr/>
        </p:nvSpPr>
        <p:spPr>
          <a:xfrm>
            <a:off x="8799872" y="2688668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buscar conocimiento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A006BCBD-2D93-0481-6F1B-896F1D398C97}"/>
              </a:ext>
            </a:extLst>
          </p:cNvPr>
          <p:cNvSpPr>
            <a:spLocks noGrp="1"/>
          </p:cNvSpPr>
          <p:nvPr/>
        </p:nvSpPr>
        <p:spPr>
          <a:xfrm>
            <a:off x="7333022" y="3383993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787B7E1A-96B0-36AC-8728-3BBD753BFEB4}"/>
              </a:ext>
            </a:extLst>
          </p:cNvPr>
          <p:cNvSpPr>
            <a:spLocks noGrp="1"/>
          </p:cNvSpPr>
          <p:nvPr/>
        </p:nvSpPr>
        <p:spPr>
          <a:xfrm>
            <a:off x="7523522" y="3498293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SELECCIONAR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17BC5E1-1167-25E8-20FD-71F70BA9461E}"/>
              </a:ext>
            </a:extLst>
          </p:cNvPr>
          <p:cNvSpPr>
            <a:spLocks noGrp="1"/>
          </p:cNvSpPr>
          <p:nvPr/>
        </p:nvSpPr>
        <p:spPr>
          <a:xfrm>
            <a:off x="8799872" y="3498293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conservar lo relevante</a:t>
            </a: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BCB374E9-74E2-9B9C-4FD1-B68B99FD5308}"/>
              </a:ext>
            </a:extLst>
          </p:cNvPr>
          <p:cNvSpPr>
            <a:spLocks noGrp="1"/>
          </p:cNvSpPr>
          <p:nvPr/>
        </p:nvSpPr>
        <p:spPr>
          <a:xfrm>
            <a:off x="7333022" y="4193618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4A973640-B302-9889-2FA2-E3789D9ADEED}"/>
              </a:ext>
            </a:extLst>
          </p:cNvPr>
          <p:cNvSpPr>
            <a:spLocks noGrp="1"/>
          </p:cNvSpPr>
          <p:nvPr/>
        </p:nvSpPr>
        <p:spPr>
          <a:xfrm>
            <a:off x="7523522" y="4307918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4">
                    <a:lumMod val="75000"/>
                  </a:schemeClr>
                </a:solidFill>
                <a:latin typeface="Aptos"/>
                <a:ea typeface="Aptos"/>
                <a:cs typeface="Aptos"/>
              </a:rPr>
              <a:t>COMPRIMIR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EAFF5CFF-D64F-8F0D-AE29-58839F3D8C31}"/>
              </a:ext>
            </a:extLst>
          </p:cNvPr>
          <p:cNvSpPr>
            <a:spLocks noGrp="1"/>
          </p:cNvSpPr>
          <p:nvPr/>
        </p:nvSpPr>
        <p:spPr>
          <a:xfrm>
            <a:off x="8799872" y="4307918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reducir longitud con control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80ABBF6-A8CA-5E43-CEDB-A7C1F4AC7007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3683557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0A1982B-3EE1-FA4D-8D47-9EEB39DEBFDB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MODELO PROBABILÍSTICO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72E80BEA-081B-5B4B-9C94-C4CE12B37ED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2DF67B4-46C1-FDCA-58F1-970591BC9E95}"/>
              </a:ext>
            </a:extLst>
          </p:cNvPr>
          <p:cNvSpPr>
            <a:spLocks noGrp="1"/>
          </p:cNvSpPr>
          <p:nvPr/>
        </p:nvSpPr>
        <p:spPr>
          <a:xfrm>
            <a:off x="1692275" y="32956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E4A5A"/>
                </a:solidFill>
                <a:latin typeface="Aptos"/>
                <a:ea typeface="Aptos"/>
                <a:cs typeface="Aptos"/>
              </a:rPr>
              <a:t>Conexión: la primera fórmula genera cada factor; la segunda combina esos factores para puntuar la respuesta Y.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33A99E0-40EF-1FAB-F7DD-2F00D23AF4D7}"/>
              </a:ext>
            </a:extLst>
          </p:cNvPr>
          <p:cNvSpPr>
            <a:spLocks noGrp="1"/>
          </p:cNvSpPr>
          <p:nvPr/>
        </p:nvSpPr>
        <p:spPr>
          <a:xfrm>
            <a:off x="685800" y="4152900"/>
            <a:ext cx="10820400" cy="1581150"/>
          </a:xfrm>
          <a:prstGeom prst="roundRect">
            <a:avLst>
              <a:gd name="adj" fmla="val 7453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7E5E177-3E07-2154-4038-19FFDA640735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952500" cy="285750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  <a:alpha val="14000"/>
            </a:scheme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FCAE6CF-5FA5-8AAA-C9A6-97584DC62068}"/>
              </a:ext>
            </a:extLst>
          </p:cNvPr>
          <p:cNvSpPr>
            <a:spLocks noGrp="1"/>
          </p:cNvSpPr>
          <p:nvPr/>
        </p:nvSpPr>
        <p:spPr>
          <a:xfrm>
            <a:off x="1028700" y="4800600"/>
            <a:ext cx="72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33D6C8"/>
                </a:solidFill>
                <a:latin typeface="Aptos"/>
                <a:ea typeface="Aptos"/>
                <a:cs typeface="Aptos"/>
              </a:rPr>
              <a:t>EJEMPLO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FE3F611-74E0-E50E-4392-3D1DDE1F75D5}"/>
              </a:ext>
            </a:extLst>
          </p:cNvPr>
          <p:cNvSpPr>
            <a:spLocks noGrp="1"/>
          </p:cNvSpPr>
          <p:nvPr/>
        </p:nvSpPr>
        <p:spPr>
          <a:xfrm>
            <a:off x="4762500" y="43053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Sin contrato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C0F30AC-6EF2-A916-0EBD-E9F86C6B885C}"/>
              </a:ext>
            </a:extLst>
          </p:cNvPr>
          <p:cNvSpPr>
            <a:spLocks noGrp="1"/>
          </p:cNvSpPr>
          <p:nvPr/>
        </p:nvSpPr>
        <p:spPr>
          <a:xfrm>
            <a:off x="4762500" y="4572000"/>
            <a:ext cx="161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2025" b="1" i="0" dirty="0">
                <a:solidFill>
                  <a:schemeClr val="accent4">
                    <a:lumMod val="60000"/>
                    <a:lumOff val="40000"/>
                  </a:schemeClr>
                </a:solidFill>
                <a:latin typeface="Aptos"/>
                <a:ea typeface="Aptos"/>
                <a:cs typeface="Aptos"/>
              </a:rPr>
              <a:t>“12 meses”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79152049-34AE-1FB3-9C87-8F1026066366}"/>
              </a:ext>
            </a:extLst>
          </p:cNvPr>
          <p:cNvSpPr>
            <a:spLocks noGrp="1"/>
          </p:cNvSpPr>
          <p:nvPr/>
        </p:nvSpPr>
        <p:spPr>
          <a:xfrm>
            <a:off x="6591300" y="4810125"/>
            <a:ext cx="647700" cy="0"/>
          </a:xfrm>
          <a:prstGeom prst="line">
            <a:avLst/>
          </a:prstGeom>
          <a:noFill/>
          <a:ln w="28575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7D4C95F-16C3-864C-F804-69DFE84AEE7F}"/>
              </a:ext>
            </a:extLst>
          </p:cNvPr>
          <p:cNvSpPr>
            <a:spLocks noGrp="1"/>
          </p:cNvSpPr>
          <p:nvPr/>
        </p:nvSpPr>
        <p:spPr>
          <a:xfrm>
            <a:off x="7524750" y="43053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Con contrato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73CE0D31-3443-A3AF-186C-DADA8A36121A}"/>
              </a:ext>
            </a:extLst>
          </p:cNvPr>
          <p:cNvSpPr>
            <a:spLocks noGrp="1"/>
          </p:cNvSpPr>
          <p:nvPr/>
        </p:nvSpPr>
        <p:spPr>
          <a:xfrm>
            <a:off x="7524750" y="4572000"/>
            <a:ext cx="1714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2025" b="1" i="0" dirty="0">
                <a:solidFill>
                  <a:schemeClr val="accent2">
                    <a:lumMod val="75000"/>
                  </a:schemeClr>
                </a:solidFill>
                <a:latin typeface="Aptos"/>
                <a:ea typeface="Aptos"/>
                <a:cs typeface="Aptos"/>
              </a:rPr>
              <a:t>“24 meses”</a:t>
            </a:r>
          </a:p>
        </p:txBody>
      </p:sp>
      <p:pic>
        <p:nvPicPr>
          <p:cNvPr id="22" name="Ecuación s05_token">
            <a:extLst>
              <a:ext uri="{FF2B5EF4-FFF2-40B4-BE49-F238E27FC236}">
                <a16:creationId xmlns:a16="http://schemas.microsoft.com/office/drawing/2014/main" id="{E6FE4BC0-18B8-9586-1011-125BF97601DF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tretch>
            <a:fillRect/>
          </a:stretch>
        </p:blipFill>
        <p:spPr>
          <a:xfrm>
            <a:off x="1474018" y="2050358"/>
            <a:ext cx="2595514" cy="410957"/>
          </a:xfrm>
          <a:prstGeom prst="rect">
            <a:avLst/>
          </a:prstGeom>
        </p:spPr>
      </p:pic>
      <p:pic>
        <p:nvPicPr>
          <p:cNvPr id="24" name="Ecuación s05_sequence">
            <a:extLst>
              <a:ext uri="{FF2B5EF4-FFF2-40B4-BE49-F238E27FC236}">
                <a16:creationId xmlns:a16="http://schemas.microsoft.com/office/drawing/2014/main" id="{AAF83BA3-1588-8C88-90A0-F03AC1648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1874836"/>
            <a:ext cx="5086350" cy="847725"/>
          </a:xfrm>
          <a:prstGeom prst="rect">
            <a:avLst/>
          </a:prstGeom>
        </p:spPr>
      </p:pic>
      <p:pic>
        <p:nvPicPr>
          <p:cNvPr id="26" name="Ecuación s05_example">
            <a:extLst>
              <a:ext uri="{FF2B5EF4-FFF2-40B4-BE49-F238E27FC236}">
                <a16:creationId xmlns:a16="http://schemas.microsoft.com/office/drawing/2014/main" id="{71AB3034-FD58-C667-A6AF-2A301B9221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0" y="5219700"/>
            <a:ext cx="4476750" cy="361950"/>
          </a:xfrm>
          <a:prstGeom prst="rect">
            <a:avLst/>
          </a:prstGeom>
        </p:spPr>
      </p:pic>
      <p:sp>
        <p:nvSpPr>
          <p:cNvPr id="28" name="TextBox 20">
            <a:extLst>
              <a:ext uri="{FF2B5EF4-FFF2-40B4-BE49-F238E27FC236}">
                <a16:creationId xmlns:a16="http://schemas.microsoft.com/office/drawing/2014/main" id="{0BB585E7-3F89-DDB3-92D2-8E94FEDA6721}"/>
              </a:ext>
            </a:extLst>
          </p:cNvPr>
          <p:cNvSpPr>
            <a:spLocks noGrp="1"/>
          </p:cNvSpPr>
          <p:nvPr/>
        </p:nvSpPr>
        <p:spPr>
          <a:xfrm>
            <a:off x="914400" y="4333875"/>
            <a:ext cx="3714750" cy="285750"/>
          </a:xfrm>
          <a:prstGeom prst="rect">
            <a:avLst/>
          </a:prstGeom>
          <a:noFill/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Consulta: «¿</a:t>
            </a:r>
            <a:r>
              <a:rPr sz="1200" b="1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Cuánto</a:t>
            </a: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dura la </a:t>
            </a:r>
            <a:r>
              <a:rPr sz="1200" b="1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garantía</a:t>
            </a: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?»</a:t>
            </a:r>
          </a:p>
        </p:txBody>
      </p:sp>
      <p:sp>
        <p:nvSpPr>
          <p:cNvPr id="30" name="TextBox 21">
            <a:extLst>
              <a:ext uri="{FF2B5EF4-FFF2-40B4-BE49-F238E27FC236}">
                <a16:creationId xmlns:a16="http://schemas.microsoft.com/office/drawing/2014/main" id="{C76B261B-C876-1338-9D21-13263DB84BF3}"/>
              </a:ext>
            </a:extLst>
          </p:cNvPr>
          <p:cNvSpPr>
            <a:spLocks noGrp="1"/>
          </p:cNvSpPr>
          <p:nvPr/>
        </p:nvSpPr>
        <p:spPr>
          <a:xfrm>
            <a:off x="685800" y="5886450"/>
            <a:ext cx="10001250" cy="266700"/>
          </a:xfrm>
          <a:prstGeom prst="rect">
            <a:avLst/>
          </a:prstGeom>
          <a:noFill/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θ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parámetros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yₜ token actual · y&lt;ₜ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prefijo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contrato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Y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completa</a:t>
            </a:r>
          </a:p>
        </p:txBody>
      </p:sp>
      <p:sp>
        <p:nvSpPr>
          <p:cNvPr id="59" name="slide6-step1-surface">
            <a:extLst>
              <a:ext uri="{FF2B5EF4-FFF2-40B4-BE49-F238E27FC236}">
                <a16:creationId xmlns:a16="http://schemas.microsoft.com/office/drawing/2014/main" id="{9592CE3D-2751-A262-9141-AA5BE33383DB}"/>
              </a:ext>
            </a:extLst>
          </p:cNvPr>
          <p:cNvSpPr>
            <a:spLocks noGrp="1"/>
          </p:cNvSpPr>
          <p:nvPr/>
        </p:nvSpPr>
        <p:spPr>
          <a:xfrm>
            <a:off x="685800" y="1335087"/>
            <a:ext cx="1600200" cy="26670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lide6-step1">
            <a:extLst>
              <a:ext uri="{FF2B5EF4-FFF2-40B4-BE49-F238E27FC236}">
                <a16:creationId xmlns:a16="http://schemas.microsoft.com/office/drawing/2014/main" id="{1CC3F41F-5DB9-3C58-CC5B-AB45F723B270}"/>
              </a:ext>
            </a:extLst>
          </p:cNvPr>
          <p:cNvSpPr>
            <a:spLocks noGrp="1"/>
          </p:cNvSpPr>
          <p:nvPr/>
        </p:nvSpPr>
        <p:spPr>
          <a:xfrm>
            <a:off x="742950" y="1363662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SIGUIENTE TOKEN</a:t>
            </a:r>
          </a:p>
        </p:txBody>
      </p:sp>
      <p:sp>
        <p:nvSpPr>
          <p:cNvPr id="63" name="slide6-step2-surface">
            <a:extLst>
              <a:ext uri="{FF2B5EF4-FFF2-40B4-BE49-F238E27FC236}">
                <a16:creationId xmlns:a16="http://schemas.microsoft.com/office/drawing/2014/main" id="{EEA8767C-55B9-9ABF-EAB1-D9CE8E3221E1}"/>
              </a:ext>
            </a:extLst>
          </p:cNvPr>
          <p:cNvSpPr>
            <a:spLocks noGrp="1"/>
          </p:cNvSpPr>
          <p:nvPr/>
        </p:nvSpPr>
        <p:spPr>
          <a:xfrm>
            <a:off x="6477000" y="1335087"/>
            <a:ext cx="1943100" cy="26670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168E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lide6-step2">
            <a:extLst>
              <a:ext uri="{FF2B5EF4-FFF2-40B4-BE49-F238E27FC236}">
                <a16:creationId xmlns:a16="http://schemas.microsoft.com/office/drawing/2014/main" id="{21482E5B-7260-46ED-98BF-56264F760CEE}"/>
              </a:ext>
            </a:extLst>
          </p:cNvPr>
          <p:cNvSpPr>
            <a:spLocks noGrp="1"/>
          </p:cNvSpPr>
          <p:nvPr/>
        </p:nvSpPr>
        <p:spPr>
          <a:xfrm>
            <a:off x="6534150" y="1363662"/>
            <a:ext cx="1828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RESPUESTA COMPLETA</a:t>
            </a:r>
          </a:p>
        </p:txBody>
      </p:sp>
      <p:sp>
        <p:nvSpPr>
          <p:cNvPr id="67" name="slide6-token-to-sequence">
            <a:extLst>
              <a:ext uri="{FF2B5EF4-FFF2-40B4-BE49-F238E27FC236}">
                <a16:creationId xmlns:a16="http://schemas.microsoft.com/office/drawing/2014/main" id="{EC57E8CF-6774-38B2-0E36-08C50C2388D4}"/>
              </a:ext>
            </a:extLst>
          </p:cNvPr>
          <p:cNvSpPr>
            <a:spLocks noGrp="1"/>
          </p:cNvSpPr>
          <p:nvPr/>
        </p:nvSpPr>
        <p:spPr>
          <a:xfrm>
            <a:off x="5514975" y="2027237"/>
            <a:ext cx="590550" cy="3238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rgbClr val="A5AE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lide6-connector-label">
            <a:extLst>
              <a:ext uri="{FF2B5EF4-FFF2-40B4-BE49-F238E27FC236}">
                <a16:creationId xmlns:a16="http://schemas.microsoft.com/office/drawing/2014/main" id="{C43F1EB9-24BA-8151-665E-4AD7645746E7}"/>
              </a:ext>
            </a:extLst>
          </p:cNvPr>
          <p:cNvSpPr>
            <a:spLocks noGrp="1"/>
          </p:cNvSpPr>
          <p:nvPr/>
        </p:nvSpPr>
        <p:spPr>
          <a:xfrm>
            <a:off x="5219700" y="2360612"/>
            <a:ext cx="1181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repetir para t=1…T</a:t>
            </a:r>
          </a:p>
        </p:txBody>
      </p:sp>
      <p:sp>
        <p:nvSpPr>
          <p:cNvPr id="71" name="slide6-step1-explanation">
            <a:extLst>
              <a:ext uri="{FF2B5EF4-FFF2-40B4-BE49-F238E27FC236}">
                <a16:creationId xmlns:a16="http://schemas.microsoft.com/office/drawing/2014/main" id="{982365DD-E946-EB3B-43A2-0A7F4228F53A}"/>
              </a:ext>
            </a:extLst>
          </p:cNvPr>
          <p:cNvSpPr>
            <a:spLocks noGrp="1"/>
          </p:cNvSpPr>
          <p:nvPr/>
        </p:nvSpPr>
        <p:spPr>
          <a:xfrm>
            <a:off x="685800" y="2713037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 fontScale="94444" lnSpcReduction="10000"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Calcula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la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probabilidad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yₜ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usando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la consulta X, el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C y los tokens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anteriores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y&lt;ₜ.</a:t>
            </a:r>
          </a:p>
        </p:txBody>
      </p:sp>
      <p:sp>
        <p:nvSpPr>
          <p:cNvPr id="73" name="slide6-step2-explanation">
            <a:extLst>
              <a:ext uri="{FF2B5EF4-FFF2-40B4-BE49-F238E27FC236}">
                <a16:creationId xmlns:a16="http://schemas.microsoft.com/office/drawing/2014/main" id="{7E05A98A-7C6B-03E0-AF3D-9D8016438C47}"/>
              </a:ext>
            </a:extLst>
          </p:cNvPr>
          <p:cNvSpPr>
            <a:spLocks noGrp="1"/>
          </p:cNvSpPr>
          <p:nvPr/>
        </p:nvSpPr>
        <p:spPr>
          <a:xfrm>
            <a:off x="6477000" y="2692400"/>
            <a:ext cx="4572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Repite el mismo cálculo en cada posición y multiplica todos los factores.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B02589C-3A1F-4E25-35D8-1BC557BA4956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4074114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CuadroTexto 69">
            <a:extLst>
              <a:ext uri="{FF2B5EF4-FFF2-40B4-BE49-F238E27FC236}">
                <a16:creationId xmlns:a16="http://schemas.microsoft.com/office/drawing/2014/main" id="{0C1CD209-E109-3A4C-A29F-B4CE8FED4356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VALOR DE LA INFORMACIÓN</a:t>
            </a:r>
          </a:p>
        </p:txBody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08E374BE-FD6E-6441-A307-32AA01B5884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B5D51B25-1AC1-D54F-96EE-0AEF30F8EB72}"/>
              </a:ext>
            </a:extLst>
          </p:cNvPr>
          <p:cNvSpPr txBox="1"/>
          <p:nvPr/>
        </p:nvSpPr>
        <p:spPr>
          <a:xfrm>
            <a:off x="609600" y="952500"/>
            <a:ext cx="9906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250" b="1" dirty="0">
                <a:solidFill>
                  <a:srgbClr val="6B7788"/>
                </a:solidFill>
                <a:latin typeface="Aptos"/>
              </a:rPr>
              <a:t>La información mutua mide una reducción media de incertidumbre</a:t>
            </a:r>
            <a:r>
              <a:rPr lang="es-US" sz="1250" b="1" dirty="0">
                <a:solidFill>
                  <a:srgbClr val="6B7788"/>
                </a:solidFill>
                <a:latin typeface="Aptos"/>
              </a:rPr>
              <a:t>.</a:t>
            </a:r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64D8C2E8-FBED-ED4B-835C-93CFFA75F2F7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Xiao y Wang: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On Hallucination and Predictive Uncertainty in Conditional Language Generation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6E22C60-39C5-DF05-7A94-7A5E7C5694C3}"/>
              </a:ext>
            </a:extLst>
          </p:cNvPr>
          <p:cNvSpPr>
            <a:spLocks noGrp="1"/>
          </p:cNvSpPr>
          <p:nvPr/>
        </p:nvSpPr>
        <p:spPr>
          <a:xfrm>
            <a:off x="685800" y="4505080"/>
            <a:ext cx="6096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Se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resta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la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entropía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final a la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inicial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: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esa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diferencia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es I(Y;C|X).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C571C3E-96E1-7F86-3DE9-AA71F2A359C2}"/>
              </a:ext>
            </a:extLst>
          </p:cNvPr>
          <p:cNvSpPr>
            <a:spLocks noGrp="1"/>
          </p:cNvSpPr>
          <p:nvPr/>
        </p:nvSpPr>
        <p:spPr>
          <a:xfrm>
            <a:off x="7429500" y="1885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contexto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3FEACD6-D751-9886-209F-33FE7C0D8E5E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CDCDC05-BA15-4E21-32E3-85B1CCC344EE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2905125" cy="552450"/>
          </a:xfrm>
          <a:prstGeom prst="roundRect">
            <a:avLst>
              <a:gd name="adj" fmla="val 50000"/>
            </a:avLst>
          </a:prstGeom>
          <a:solidFill>
            <a:srgbClr val="FF6F7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07C70DD-586C-9B2E-1F55-9168F6F790BC}"/>
              </a:ext>
            </a:extLst>
          </p:cNvPr>
          <p:cNvSpPr>
            <a:spLocks noGrp="1"/>
          </p:cNvSpPr>
          <p:nvPr/>
        </p:nvSpPr>
        <p:spPr>
          <a:xfrm>
            <a:off x="8858250" y="240982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 alta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D12D531E-CF87-897D-D15D-42F0CF7D994A}"/>
              </a:ext>
            </a:extLst>
          </p:cNvPr>
          <p:cNvSpPr>
            <a:spLocks noGrp="1"/>
          </p:cNvSpPr>
          <p:nvPr/>
        </p:nvSpPr>
        <p:spPr>
          <a:xfrm>
            <a:off x="7429500" y="31051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 relevante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967E752-8460-34DA-C6A0-2E604B7466E9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16285D3-96AC-B417-CB94-B0A5E066EE9D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1066800" cy="552450"/>
          </a:xfrm>
          <a:prstGeom prst="roundRect">
            <a:avLst>
              <a:gd name="adj" fmla="val 50000"/>
            </a:avLst>
          </a:prstGeom>
          <a:solidFill>
            <a:srgbClr val="45E0D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BF3B834-C56B-424F-5503-6CDD2541C59B}"/>
              </a:ext>
            </a:extLst>
          </p:cNvPr>
          <p:cNvSpPr>
            <a:spLocks noGrp="1"/>
          </p:cNvSpPr>
          <p:nvPr/>
        </p:nvSpPr>
        <p:spPr>
          <a:xfrm>
            <a:off x="7486650" y="362902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H baja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B0D21EB-92FA-4453-ED42-ED68C4EF81EF}"/>
              </a:ext>
            </a:extLst>
          </p:cNvPr>
          <p:cNvSpPr>
            <a:spLocks noGrp="1"/>
          </p:cNvSpPr>
          <p:nvPr/>
        </p:nvSpPr>
        <p:spPr>
          <a:xfrm>
            <a:off x="7429500" y="4343400"/>
            <a:ext cx="3524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La barra que desaparece representa la información que C aporta sobre Y.</a:t>
            </a:r>
          </a:p>
        </p:txBody>
      </p:sp>
      <p:pic>
        <p:nvPicPr>
          <p:cNvPr id="23" name="Ecuación s06_entropy">
            <a:extLst>
              <a:ext uri="{FF2B5EF4-FFF2-40B4-BE49-F238E27FC236}">
                <a16:creationId xmlns:a16="http://schemas.microsoft.com/office/drawing/2014/main" id="{CA6926EA-677B-5673-9A8F-4F0B85620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562" y="2107082"/>
            <a:ext cx="4085175" cy="490449"/>
          </a:xfrm>
          <a:prstGeom prst="rect">
            <a:avLst/>
          </a:prstGeom>
        </p:spPr>
      </p:pic>
      <p:pic>
        <p:nvPicPr>
          <p:cNvPr id="25" name="Ecuación s06_mutual">
            <a:extLst>
              <a:ext uri="{FF2B5EF4-FFF2-40B4-BE49-F238E27FC236}">
                <a16:creationId xmlns:a16="http://schemas.microsoft.com/office/drawing/2014/main" id="{10F3CF43-2CA4-C574-71E8-24B92AD39B97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674369" y="3947086"/>
            <a:ext cx="5623560" cy="440246"/>
          </a:xfrm>
          <a:prstGeom prst="rect">
            <a:avLst/>
          </a:prstGeom>
        </p:spPr>
      </p:pic>
      <p:sp>
        <p:nvSpPr>
          <p:cNvPr id="27" name="TextBox 19">
            <a:extLst>
              <a:ext uri="{FF2B5EF4-FFF2-40B4-BE49-F238E27FC236}">
                <a16:creationId xmlns:a16="http://schemas.microsoft.com/office/drawing/2014/main" id="{5D177056-F5ED-E6A9-AD10-CB5199C30108}"/>
              </a:ext>
            </a:extLst>
          </p:cNvPr>
          <p:cNvSpPr>
            <a:spLocks noGrp="1"/>
          </p:cNvSpPr>
          <p:nvPr/>
        </p:nvSpPr>
        <p:spPr>
          <a:xfrm>
            <a:off x="685800" y="5190108"/>
            <a:ext cx="6096000" cy="666750"/>
          </a:xfrm>
          <a:prstGeom prst="rect">
            <a:avLst/>
          </a:prstGeom>
          <a:noFill/>
        </p:spPr>
        <p:txBody>
          <a:bodyPr wrap="square" lIns="28575" tIns="19050" rIns="28575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H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incertidumbre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I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aportada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Y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respuesta</a:t>
            </a:r>
            <a:endParaRPr sz="1050" b="0" dirty="0">
              <a:solidFill>
                <a:srgbClr val="667085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Lectura: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más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reducción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H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implica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más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útil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C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sobre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Y.</a:t>
            </a:r>
          </a:p>
        </p:txBody>
      </p:sp>
      <p:sp>
        <p:nvSpPr>
          <p:cNvPr id="29" name="slide7-step1-surface">
            <a:extLst>
              <a:ext uri="{FF2B5EF4-FFF2-40B4-BE49-F238E27FC236}">
                <a16:creationId xmlns:a16="http://schemas.microsoft.com/office/drawing/2014/main" id="{96FB46D0-F217-C8DD-9E11-9DB7FF8CC926}"/>
              </a:ext>
            </a:extLst>
          </p:cNvPr>
          <p:cNvSpPr>
            <a:spLocks noGrp="1"/>
          </p:cNvSpPr>
          <p:nvPr/>
        </p:nvSpPr>
        <p:spPr>
          <a:xfrm>
            <a:off x="685800" y="1455737"/>
            <a:ext cx="1885950" cy="26670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lide7-step1">
            <a:extLst>
              <a:ext uri="{FF2B5EF4-FFF2-40B4-BE49-F238E27FC236}">
                <a16:creationId xmlns:a16="http://schemas.microsoft.com/office/drawing/2014/main" id="{2875F4B5-985C-9795-E5E3-1826E85EE568}"/>
              </a:ext>
            </a:extLst>
          </p:cNvPr>
          <p:cNvSpPr>
            <a:spLocks noGrp="1"/>
          </p:cNvSpPr>
          <p:nvPr/>
        </p:nvSpPr>
        <p:spPr>
          <a:xfrm>
            <a:off x="742950" y="1484312"/>
            <a:ext cx="1771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EFECTO DE AÑADIR C</a:t>
            </a:r>
          </a:p>
        </p:txBody>
      </p:sp>
      <p:sp>
        <p:nvSpPr>
          <p:cNvPr id="33" name="slide7-step1-explanation">
            <a:extLst>
              <a:ext uri="{FF2B5EF4-FFF2-40B4-BE49-F238E27FC236}">
                <a16:creationId xmlns:a16="http://schemas.microsoft.com/office/drawing/2014/main" id="{F7C2E1B2-5823-B5B3-6B77-7FC8BC6F54E5}"/>
              </a:ext>
            </a:extLst>
          </p:cNvPr>
          <p:cNvSpPr>
            <a:spLocks noGrp="1"/>
          </p:cNvSpPr>
          <p:nvPr/>
        </p:nvSpPr>
        <p:spPr>
          <a:xfrm>
            <a:off x="685800" y="2838450"/>
            <a:ext cx="581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La incertidumbre restante con contexto es menor o igual que sin contexto.</a:t>
            </a:r>
          </a:p>
        </p:txBody>
      </p:sp>
      <p:sp>
        <p:nvSpPr>
          <p:cNvPr id="35" name="slide7-effect-to-measure">
            <a:extLst>
              <a:ext uri="{FF2B5EF4-FFF2-40B4-BE49-F238E27FC236}">
                <a16:creationId xmlns:a16="http://schemas.microsoft.com/office/drawing/2014/main" id="{AE052659-9E6E-7F23-CC93-FCDB8AEED0C1}"/>
              </a:ext>
            </a:extLst>
          </p:cNvPr>
          <p:cNvSpPr>
            <a:spLocks noGrp="1"/>
          </p:cNvSpPr>
          <p:nvPr/>
        </p:nvSpPr>
        <p:spPr>
          <a:xfrm>
            <a:off x="3324225" y="3209925"/>
            <a:ext cx="323850" cy="285750"/>
          </a:xfrm>
          <a:prstGeom prst="downArrow">
            <a:avLst/>
          </a:prstGeom>
          <a:solidFill>
            <a:srgbClr val="B9C0D4"/>
          </a:solidFill>
          <a:ln w="9525">
            <a:solidFill>
              <a:srgbClr val="A5AE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lide7-step2-surface">
            <a:extLst>
              <a:ext uri="{FF2B5EF4-FFF2-40B4-BE49-F238E27FC236}">
                <a16:creationId xmlns:a16="http://schemas.microsoft.com/office/drawing/2014/main" id="{1A679665-0A75-B581-89CA-1E37063B335A}"/>
              </a:ext>
            </a:extLst>
          </p:cNvPr>
          <p:cNvSpPr>
            <a:spLocks noGrp="1"/>
          </p:cNvSpPr>
          <p:nvPr/>
        </p:nvSpPr>
        <p:spPr>
          <a:xfrm>
            <a:off x="685800" y="3459178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E3F9F6"/>
          </a:solidFill>
          <a:ln w="9525">
            <a:solidFill>
              <a:srgbClr val="168E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lide7-step2">
            <a:extLst>
              <a:ext uri="{FF2B5EF4-FFF2-40B4-BE49-F238E27FC236}">
                <a16:creationId xmlns:a16="http://schemas.microsoft.com/office/drawing/2014/main" id="{0A72D632-84D8-6F5A-4DDA-DD618D8F1BDC}"/>
              </a:ext>
            </a:extLst>
          </p:cNvPr>
          <p:cNvSpPr>
            <a:spLocks noGrp="1"/>
          </p:cNvSpPr>
          <p:nvPr/>
        </p:nvSpPr>
        <p:spPr>
          <a:xfrm>
            <a:off x="742950" y="3487753"/>
            <a:ext cx="1752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MEDIR LA REDUCCIÓN</a:t>
            </a:r>
          </a:p>
        </p:txBody>
      </p:sp>
    </p:spTree>
    <p:extLst>
      <p:ext uri="{BB962C8B-B14F-4D97-AF65-F5344CB8AC3E}">
        <p14:creationId xmlns:p14="http://schemas.microsoft.com/office/powerpoint/2010/main" val="2181534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911495E-3901-D74D-8C6A-6DA366532C1E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RAG VS CONTEXT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DF6A992-2626-0D42-9600-C9C49B452B14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3" name="TextBox 2">
            <a:extLst>
              <a:ext uri="{FF2B5EF4-FFF2-40B4-BE49-F238E27FC236}">
                <a16:creationId xmlns:a16="http://schemas.microsoft.com/office/drawing/2014/main" id="{8BD898CE-4358-F339-64CC-2197976764FD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recupera conocimiento; Context Engineering orquesta C</a:t>
            </a:r>
          </a:p>
        </p:txBody>
      </p:sp>
      <p:sp>
        <p:nvSpPr>
          <p:cNvPr id="35" name="Rectangle 3">
            <a:extLst>
              <a:ext uri="{FF2B5EF4-FFF2-40B4-BE49-F238E27FC236}">
                <a16:creationId xmlns:a16="http://schemas.microsoft.com/office/drawing/2014/main" id="{3DDD79BA-FC7D-13F7-84E5-E48FED59ECF2}"/>
              </a:ext>
            </a:extLst>
          </p:cNvPr>
          <p:cNvSpPr>
            <a:spLocks noGrp="1"/>
          </p:cNvSpPr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96C1804D-3378-8F77-E04D-74F3111D1041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048250" cy="3676650"/>
          </a:xfrm>
          <a:prstGeom prst="roundRect">
            <a:avLst>
              <a:gd name="adj" fmla="val 4145"/>
            </a:avLst>
          </a:prstGeom>
          <a:solidFill>
            <a:srgbClr val="F3F5FA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1212A4E-FA7D-820F-3B91-C89C00EB6128}"/>
              </a:ext>
            </a:extLst>
          </p:cNvPr>
          <p:cNvSpPr>
            <a:spLocks noGrp="1"/>
          </p:cNvSpPr>
          <p:nvPr/>
        </p:nvSpPr>
        <p:spPr>
          <a:xfrm>
            <a:off x="933450" y="203835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RAG</a:t>
            </a:r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AB3F5F1F-441B-5EE9-E32B-A351EE4B8E91}"/>
              </a:ext>
            </a:extLst>
          </p:cNvPr>
          <p:cNvSpPr>
            <a:spLocks noGrp="1"/>
          </p:cNvSpPr>
          <p:nvPr/>
        </p:nvSpPr>
        <p:spPr>
          <a:xfrm>
            <a:off x="933450" y="2571750"/>
            <a:ext cx="455295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43" name="Imagen 42">
            <a:extLst>
              <a:ext uri="{FF2B5EF4-FFF2-40B4-BE49-F238E27FC236}">
                <a16:creationId xmlns:a16="http://schemas.microsoft.com/office/drawing/2014/main" id="{D9F46BE0-650C-0744-07B4-E3F2A62D1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464" y="2760545"/>
            <a:ext cx="3320921" cy="392294"/>
          </a:xfrm>
          <a:prstGeom prst="rect">
            <a:avLst/>
          </a:prstGeom>
        </p:spPr>
      </p:pic>
      <p:sp>
        <p:nvSpPr>
          <p:cNvPr id="45" name="Rectángulo 44">
            <a:extLst>
              <a:ext uri="{FF2B5EF4-FFF2-40B4-BE49-F238E27FC236}">
                <a16:creationId xmlns:a16="http://schemas.microsoft.com/office/drawing/2014/main" id="{86B37DE8-0E4D-56B3-97F0-7342283C9C26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44386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Su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función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principal es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recuperar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conocimiento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externo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relevante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para la consulta.</a:t>
            </a:r>
          </a:p>
        </p:txBody>
      </p:sp>
      <p:sp>
        <p:nvSpPr>
          <p:cNvPr id="47" name="Rectángulo: esquinas redondeadas 46">
            <a:extLst>
              <a:ext uri="{FF2B5EF4-FFF2-40B4-BE49-F238E27FC236}">
                <a16:creationId xmlns:a16="http://schemas.microsoft.com/office/drawing/2014/main" id="{2E9FC7B5-9968-5B1D-9C39-38C448866D79}"/>
              </a:ext>
            </a:extLst>
          </p:cNvPr>
          <p:cNvSpPr>
            <a:spLocks noGrp="1"/>
          </p:cNvSpPr>
          <p:nvPr/>
        </p:nvSpPr>
        <p:spPr>
          <a:xfrm>
            <a:off x="6153150" y="1809750"/>
            <a:ext cx="5353050" cy="3676650"/>
          </a:xfrm>
          <a:prstGeom prst="roundRect">
            <a:avLst>
              <a:gd name="adj" fmla="val 4145"/>
            </a:avLst>
          </a:prstGeom>
          <a:solidFill>
            <a:srgbClr val="EEECFF"/>
          </a:solidFill>
          <a:ln w="1333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42AF4F83-A7F1-A8AE-453D-774E9E04F616}"/>
              </a:ext>
            </a:extLst>
          </p:cNvPr>
          <p:cNvSpPr>
            <a:spLocks noGrp="1"/>
          </p:cNvSpPr>
          <p:nvPr/>
        </p:nvSpPr>
        <p:spPr>
          <a:xfrm>
            <a:off x="6400800" y="20383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CONTEXT ENGINEERING</a:t>
            </a:r>
          </a:p>
        </p:txBody>
      </p:sp>
      <p:sp>
        <p:nvSpPr>
          <p:cNvPr id="51" name="Rectángulo: esquinas redondeadas 50">
            <a:extLst>
              <a:ext uri="{FF2B5EF4-FFF2-40B4-BE49-F238E27FC236}">
                <a16:creationId xmlns:a16="http://schemas.microsoft.com/office/drawing/2014/main" id="{3DD39119-0D03-F0B5-FB7D-13A80A92D142}"/>
              </a:ext>
            </a:extLst>
          </p:cNvPr>
          <p:cNvSpPr>
            <a:spLocks noGrp="1"/>
          </p:cNvSpPr>
          <p:nvPr/>
        </p:nvSpPr>
        <p:spPr>
          <a:xfrm>
            <a:off x="6400800" y="2571750"/>
            <a:ext cx="485775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D2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3" name="Imagen 52">
            <a:extLst>
              <a:ext uri="{FF2B5EF4-FFF2-40B4-BE49-F238E27FC236}">
                <a16:creationId xmlns:a16="http://schemas.microsoft.com/office/drawing/2014/main" id="{3D43F925-15B1-6B7E-5CA3-2E114A6D944D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/>
        </p:blipFill>
        <p:spPr>
          <a:xfrm>
            <a:off x="6553200" y="2892488"/>
            <a:ext cx="4552950" cy="330073"/>
          </a:xfrm>
          <a:prstGeom prst="rect">
            <a:avLst/>
          </a:prstGeom>
        </p:spPr>
      </p:pic>
      <p:sp>
        <p:nvSpPr>
          <p:cNvPr id="55" name="Rectángulo 54">
            <a:extLst>
              <a:ext uri="{FF2B5EF4-FFF2-40B4-BE49-F238E27FC236}">
                <a16:creationId xmlns:a16="http://schemas.microsoft.com/office/drawing/2014/main" id="{4FB85F76-3074-B4B9-4C1F-AD33152EBADB}"/>
              </a:ext>
            </a:extLst>
          </p:cNvPr>
          <p:cNvSpPr>
            <a:spLocks noGrp="1"/>
          </p:cNvSpPr>
          <p:nvPr/>
        </p:nvSpPr>
        <p:spPr>
          <a:xfrm>
            <a:off x="6457950" y="3867150"/>
            <a:ext cx="47434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Orquesta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recuperación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instrucciones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herramientas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memoria,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estado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y consulta bajo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una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función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objetivo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64BB4517-296F-CF7E-B3EF-B32543B11B23}"/>
              </a:ext>
            </a:extLst>
          </p:cNvPr>
          <p:cNvSpPr>
            <a:spLocks noGrp="1"/>
          </p:cNvSpPr>
          <p:nvPr/>
        </p:nvSpPr>
        <p:spPr>
          <a:xfrm>
            <a:off x="1714500" y="5781675"/>
            <a:ext cx="876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RAG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llena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una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parte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de C; Context Engineering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gobierna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el conjunto.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F44FF98-56CD-30D3-AA55-3614202CB40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1451065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EC2F4-065F-4E68-4A15-3C7E9AE7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E9E5967-4BF3-378C-6031-7E86D229CD54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MODELAMIENTO PROBABILÍSTICO DE RAG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1486132-21D9-1682-FD97-6EB8EA8ECB1B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1" name="CuadroTexto 90">
            <a:extLst>
              <a:ext uri="{FF2B5EF4-FFF2-40B4-BE49-F238E27FC236}">
                <a16:creationId xmlns:a16="http://schemas.microsoft.com/office/drawing/2014/main" id="{F8AADC3E-DCF8-AB80-7A62-DCF56CCC133D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Gusseppe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Bravo: “</a:t>
            </a:r>
            <a:r>
              <a:rPr lang="es-MX" sz="630" dirty="0">
                <a:solidFill>
                  <a:srgbClr val="8A94A4"/>
                </a:solidFill>
                <a:latin typeface="Aptos"/>
              </a:rPr>
              <a:t>Clase 2: Procesamiento de lenguaje natural y representación del conocimiento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F59BFCCF-32A0-6D87-4ED4-11E6BB3C7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18843"/>
            <a:ext cx="10817352" cy="3786073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E1B7EB5A-41C1-5D08-710A-1ACB810410CE}"/>
              </a:ext>
            </a:extLst>
          </p:cNvPr>
          <p:cNvSpPr>
            <a:spLocks noGrp="1"/>
          </p:cNvSpPr>
          <p:nvPr/>
        </p:nvSpPr>
        <p:spPr>
          <a:xfrm>
            <a:off x="685800" y="1133627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RAG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recupera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evidencia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antes de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generar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la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respuesta</a:t>
            </a:r>
            <a:endParaRPr sz="34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D7D893E9-88D9-A654-DBA7-2C8489F9361C}"/>
              </a:ext>
            </a:extLst>
          </p:cNvPr>
          <p:cNvSpPr>
            <a:spLocks noGrp="1"/>
          </p:cNvSpPr>
          <p:nvPr/>
        </p:nvSpPr>
        <p:spPr>
          <a:xfrm>
            <a:off x="685800" y="5760720"/>
            <a:ext cx="10817352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sistema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marginaliza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documentos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recuperados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y genera la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condicionada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a la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evidencia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4400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3D6DEF9-7B76-C34F-AFBB-C225F405669E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CHAIN-OF-THOUGHT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68F9AAC-EB18-3645-9C56-03ABB501FD1B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A9DF75A0-44CE-3A5A-43FA-8A2159E3762F}"/>
              </a:ext>
            </a:extLst>
          </p:cNvPr>
          <p:cNvSpPr>
            <a:spLocks noGrp="1"/>
          </p:cNvSpPr>
          <p:nvPr/>
        </p:nvSpPr>
        <p:spPr>
          <a:xfrm>
            <a:off x="685800" y="2034365"/>
            <a:ext cx="5212080" cy="2971800"/>
          </a:xfrm>
          <a:prstGeom prst="roundRect">
            <a:avLst>
              <a:gd name="adj" fmla="val 9446"/>
            </a:avLst>
          </a:prstGeom>
          <a:solidFill>
            <a:srgbClr val="F0EEFF"/>
          </a:solidFill>
          <a:ln w="1905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9">
            <a:extLst>
              <a:ext uri="{FF2B5EF4-FFF2-40B4-BE49-F238E27FC236}">
                <a16:creationId xmlns:a16="http://schemas.microsoft.com/office/drawing/2014/main" id="{4539E395-BAF5-48CD-C9A6-BD7154F53C34}"/>
              </a:ext>
            </a:extLst>
          </p:cNvPr>
          <p:cNvSpPr>
            <a:spLocks noGrp="1"/>
          </p:cNvSpPr>
          <p:nvPr/>
        </p:nvSpPr>
        <p:spPr>
          <a:xfrm>
            <a:off x="6263640" y="2034365"/>
            <a:ext cx="5212080" cy="2971800"/>
          </a:xfrm>
          <a:prstGeom prst="roundRect">
            <a:avLst>
              <a:gd name="adj" fmla="val 8818"/>
            </a:avLst>
          </a:prstGeom>
          <a:solidFill>
            <a:srgbClr val="FFF7F7"/>
          </a:solidFill>
          <a:ln w="1905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A96B6B6F-2EE4-2ECE-691B-D7659DA345F8}"/>
              </a:ext>
            </a:extLst>
          </p:cNvPr>
          <p:cNvSpPr>
            <a:spLocks noGrp="1"/>
          </p:cNvSpPr>
          <p:nvPr/>
        </p:nvSpPr>
        <p:spPr>
          <a:xfrm>
            <a:off x="685800" y="995680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CoT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reduce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entropía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pero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puede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amplificar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errores</a:t>
            </a:r>
            <a:endParaRPr sz="34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8D5A38F1-EC88-C2F4-D09F-23A0064CD4E8}"/>
              </a:ext>
            </a:extLst>
          </p:cNvPr>
          <p:cNvSpPr>
            <a:spLocks noGrp="1"/>
          </p:cNvSpPr>
          <p:nvPr/>
        </p:nvSpPr>
        <p:spPr>
          <a:xfrm>
            <a:off x="777240" y="1644904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9EE5F05-BE12-A022-3124-A5B671B9FF46}"/>
              </a:ext>
            </a:extLst>
          </p:cNvPr>
          <p:cNvSpPr>
            <a:spLocks noGrp="1"/>
          </p:cNvSpPr>
          <p:nvPr/>
        </p:nvSpPr>
        <p:spPr>
          <a:xfrm>
            <a:off x="804672" y="2125805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1. Fundamento Probabilístico</a:t>
            </a:r>
          </a:p>
        </p:txBody>
      </p:sp>
      <p:pic>
        <p:nvPicPr>
          <p:cNvPr id="15" name="Ecuación s_cot_formula">
            <a:extLst>
              <a:ext uri="{FF2B5EF4-FFF2-40B4-BE49-F238E27FC236}">
                <a16:creationId xmlns:a16="http://schemas.microsoft.com/office/drawing/2014/main" id="{52177307-2268-EF51-8502-E2170E887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142" y="2584569"/>
            <a:ext cx="4838328" cy="650631"/>
          </a:xfrm>
          <a:prstGeom prst="rect">
            <a:avLst/>
          </a:prstGeom>
        </p:spPr>
      </p:pic>
      <p:pic>
        <p:nvPicPr>
          <p:cNvPr id="17" name="Ecuación s_cot_entropy">
            <a:extLst>
              <a:ext uri="{FF2B5EF4-FFF2-40B4-BE49-F238E27FC236}">
                <a16:creationId xmlns:a16="http://schemas.microsoft.com/office/drawing/2014/main" id="{67ABFD20-0DA7-10B6-1259-36E29F23AB05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1847462" y="3513500"/>
            <a:ext cx="3249926" cy="333570"/>
          </a:xfrm>
          <a:prstGeom prst="rect">
            <a:avLst/>
          </a:prstGeom>
        </p:spPr>
      </p:pic>
      <p:sp>
        <p:nvSpPr>
          <p:cNvPr id="22" name="TextBox 8">
            <a:extLst>
              <a:ext uri="{FF2B5EF4-FFF2-40B4-BE49-F238E27FC236}">
                <a16:creationId xmlns:a16="http://schemas.microsoft.com/office/drawing/2014/main" id="{AB02F894-D9A3-DB2F-1EF8-5312433D564D}"/>
              </a:ext>
            </a:extLst>
          </p:cNvPr>
          <p:cNvSpPr>
            <a:spLocks noGrp="1"/>
          </p:cNvSpPr>
          <p:nvPr/>
        </p:nvSpPr>
        <p:spPr>
          <a:xfrm>
            <a:off x="804672" y="4081506"/>
            <a:ext cx="4983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El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razonamiento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R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amplía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el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prefijo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antes de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generar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Y.</a:t>
            </a:r>
          </a:p>
          <a:p>
            <a:endParaRPr sz="1200" b="1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Cada paso integra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mejor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la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evidencia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de X y C.</a:t>
            </a:r>
          </a:p>
        </p:txBody>
      </p:sp>
      <p:sp>
        <p:nvSpPr>
          <p:cNvPr id="24" name="TextBox 10">
            <a:extLst>
              <a:ext uri="{FF2B5EF4-FFF2-40B4-BE49-F238E27FC236}">
                <a16:creationId xmlns:a16="http://schemas.microsoft.com/office/drawing/2014/main" id="{0DEDC443-B80E-8811-89B8-B690888E6CBB}"/>
              </a:ext>
            </a:extLst>
          </p:cNvPr>
          <p:cNvSpPr>
            <a:spLocks noGrp="1"/>
          </p:cNvSpPr>
          <p:nvPr/>
        </p:nvSpPr>
        <p:spPr>
          <a:xfrm>
            <a:off x="6382512" y="2125805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2. Límites y Riesgos de CoT</a:t>
            </a:r>
          </a:p>
        </p:txBody>
      </p:sp>
      <p:sp>
        <p:nvSpPr>
          <p:cNvPr id="26" name="Rounded Rectangle 11">
            <a:extLst>
              <a:ext uri="{FF2B5EF4-FFF2-40B4-BE49-F238E27FC236}">
                <a16:creationId xmlns:a16="http://schemas.microsoft.com/office/drawing/2014/main" id="{21F42FAB-174A-221C-C442-B0F9664077DC}"/>
              </a:ext>
            </a:extLst>
          </p:cNvPr>
          <p:cNvSpPr>
            <a:spLocks noGrp="1"/>
          </p:cNvSpPr>
          <p:nvPr/>
        </p:nvSpPr>
        <p:spPr>
          <a:xfrm>
            <a:off x="6382512" y="2509853"/>
            <a:ext cx="4974336" cy="1170432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12">
            <a:extLst>
              <a:ext uri="{FF2B5EF4-FFF2-40B4-BE49-F238E27FC236}">
                <a16:creationId xmlns:a16="http://schemas.microsoft.com/office/drawing/2014/main" id="{77D7F05C-B5CC-4A79-054C-AE00E4047354}"/>
              </a:ext>
            </a:extLst>
          </p:cNvPr>
          <p:cNvSpPr>
            <a:spLocks noGrp="1"/>
          </p:cNvSpPr>
          <p:nvPr/>
        </p:nvSpPr>
        <p:spPr>
          <a:xfrm>
            <a:off x="6473952" y="2555573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Cascada de errores</a:t>
            </a:r>
          </a:p>
          <a:p>
            <a:r>
              <a:rPr sz="13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Un error temprano puede fijarse en el prefijo y condicionar la respuesta final.</a:t>
            </a:r>
          </a:p>
        </p:txBody>
      </p:sp>
      <p:sp>
        <p:nvSpPr>
          <p:cNvPr id="30" name="Rounded Rectangle 13">
            <a:extLst>
              <a:ext uri="{FF2B5EF4-FFF2-40B4-BE49-F238E27FC236}">
                <a16:creationId xmlns:a16="http://schemas.microsoft.com/office/drawing/2014/main" id="{EFF5BAB0-3FCB-D585-3BED-436EF287A79A}"/>
              </a:ext>
            </a:extLst>
          </p:cNvPr>
          <p:cNvSpPr>
            <a:spLocks noGrp="1"/>
          </p:cNvSpPr>
          <p:nvPr/>
        </p:nvSpPr>
        <p:spPr>
          <a:xfrm>
            <a:off x="6382512" y="3744293"/>
            <a:ext cx="4974336" cy="1170432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D3CDCDA7-F4A0-2B64-3CB0-88355A408A10}"/>
              </a:ext>
            </a:extLst>
          </p:cNvPr>
          <p:cNvSpPr>
            <a:spLocks noGrp="1"/>
          </p:cNvSpPr>
          <p:nvPr/>
        </p:nvSpPr>
        <p:spPr>
          <a:xfrm>
            <a:off x="6473952" y="3790013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Overthinking y ruido</a:t>
            </a:r>
          </a:p>
          <a:p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Más tokens pueden diluir la señal útil e introducir contexto irrelevante.</a:t>
            </a:r>
          </a:p>
        </p:txBody>
      </p:sp>
      <p:sp>
        <p:nvSpPr>
          <p:cNvPr id="37" name="TextBox 16">
            <a:extLst>
              <a:ext uri="{FF2B5EF4-FFF2-40B4-BE49-F238E27FC236}">
                <a16:creationId xmlns:a16="http://schemas.microsoft.com/office/drawing/2014/main" id="{58813390-8A04-5DA9-7E06-C4F509466409}"/>
              </a:ext>
            </a:extLst>
          </p:cNvPr>
          <p:cNvSpPr>
            <a:spLocks noGrp="1"/>
          </p:cNvSpPr>
          <p:nvPr/>
        </p:nvSpPr>
        <p:spPr>
          <a:xfrm>
            <a:off x="790702" y="4848586"/>
            <a:ext cx="1056132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R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razonamiento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Y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H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entropía</a:t>
            </a:r>
            <a:endParaRPr sz="115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115FE009-29ED-A1A4-0264-935EDE451CBA}"/>
              </a:ext>
            </a:extLst>
          </p:cNvPr>
          <p:cNvSpPr/>
          <p:nvPr/>
        </p:nvSpPr>
        <p:spPr>
          <a:xfrm>
            <a:off x="1123632" y="5680379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D5BD5080-C398-BFC1-A698-950DC9AE013D}"/>
              </a:ext>
            </a:extLst>
          </p:cNvPr>
          <p:cNvSpPr txBox="1"/>
          <p:nvPr/>
        </p:nvSpPr>
        <p:spPr>
          <a:xfrm>
            <a:off x="1673672" y="5761871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Recomendación: 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Generar un razonamiento antes de la respuesta final del agente.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8849A9F-A085-A9D6-6549-A424833B9FB1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Xiao y Wang: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On Hallucination and Predictive Uncertainty in Conditional Language Generation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4269616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6ADC3063-CD75-234D-B66D-6D2F7BCE41DE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AMBIGÜEDAD</a:t>
            </a: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84F698EE-F7E6-5429-84A0-017E9961F20B}"/>
              </a:ext>
            </a:extLst>
          </p:cNvPr>
          <p:cNvSpPr>
            <a:spLocks noGrp="1"/>
          </p:cNvSpPr>
          <p:nvPr/>
        </p:nvSpPr>
        <p:spPr>
          <a:xfrm>
            <a:off x="609600" y="1931932"/>
            <a:ext cx="5212080" cy="1143000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Rounded Rectangle 6">
            <a:extLst>
              <a:ext uri="{FF2B5EF4-FFF2-40B4-BE49-F238E27FC236}">
                <a16:creationId xmlns:a16="http://schemas.microsoft.com/office/drawing/2014/main" id="{FF10C0F7-865E-C969-6890-BC0D0F8230A4}"/>
              </a:ext>
            </a:extLst>
          </p:cNvPr>
          <p:cNvSpPr>
            <a:spLocks noGrp="1"/>
          </p:cNvSpPr>
          <p:nvPr/>
        </p:nvSpPr>
        <p:spPr>
          <a:xfrm>
            <a:off x="6187440" y="1931932"/>
            <a:ext cx="5212080" cy="1143000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ounded Rectangle 8">
            <a:extLst>
              <a:ext uri="{FF2B5EF4-FFF2-40B4-BE49-F238E27FC236}">
                <a16:creationId xmlns:a16="http://schemas.microsoft.com/office/drawing/2014/main" id="{C19B9DCF-02A3-1E4F-9DA3-E9C6CE0DDF32}"/>
              </a:ext>
            </a:extLst>
          </p:cNvPr>
          <p:cNvSpPr>
            <a:spLocks noGrp="1"/>
          </p:cNvSpPr>
          <p:nvPr/>
        </p:nvSpPr>
        <p:spPr>
          <a:xfrm>
            <a:off x="609600" y="3258835"/>
            <a:ext cx="5212080" cy="1060915"/>
          </a:xfrm>
          <a:prstGeom prst="roundRect">
            <a:avLst/>
          </a:prstGeom>
          <a:solidFill>
            <a:srgbClr val="E8FCFA"/>
          </a:solidFill>
          <a:ln w="12700">
            <a:solidFill>
              <a:srgbClr val="3DD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121C6B08-6531-D819-FE4B-B2DDC4ABFCDE}"/>
              </a:ext>
            </a:extLst>
          </p:cNvPr>
          <p:cNvSpPr>
            <a:spLocks noGrp="1"/>
          </p:cNvSpPr>
          <p:nvPr/>
        </p:nvSpPr>
        <p:spPr>
          <a:xfrm>
            <a:off x="6187440" y="3258836"/>
            <a:ext cx="5212080" cy="1060914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9EF4D12-AE35-944F-F81C-8C74596FC198}"/>
              </a:ext>
            </a:extLst>
          </p:cNvPr>
          <p:cNvSpPr>
            <a:spLocks noGrp="1"/>
          </p:cNvSpPr>
          <p:nvPr/>
        </p:nvSpPr>
        <p:spPr>
          <a:xfrm>
            <a:off x="701040" y="1071372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Cuando X no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representa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una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intención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literal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8297FD32-BF62-40EB-DFE2-46D30616B789}"/>
              </a:ext>
            </a:extLst>
          </p:cNvPr>
          <p:cNvSpPr>
            <a:spLocks noGrp="1"/>
          </p:cNvSpPr>
          <p:nvPr/>
        </p:nvSpPr>
        <p:spPr>
          <a:xfrm>
            <a:off x="701040" y="1839468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5">
            <a:extLst>
              <a:ext uri="{FF2B5EF4-FFF2-40B4-BE49-F238E27FC236}">
                <a16:creationId xmlns:a16="http://schemas.microsoft.com/office/drawing/2014/main" id="{33F0E2AF-ED17-3D5B-C1C5-0E7E74ABC5D9}"/>
              </a:ext>
            </a:extLst>
          </p:cNvPr>
          <p:cNvSpPr>
            <a:spLocks noGrp="1"/>
          </p:cNvSpPr>
          <p:nvPr/>
        </p:nvSpPr>
        <p:spPr>
          <a:xfrm>
            <a:off x="728472" y="2023372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1. </a:t>
            </a:r>
            <a:r>
              <a:rPr lang="es-PE"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Ironía y sarcasmo</a:t>
            </a:r>
            <a:endParaRPr sz="1400" b="1" dirty="0">
              <a:solidFill>
                <a:srgbClr val="F26674"/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«</a:t>
            </a:r>
            <a:r>
              <a:rPr lang="es-PE"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Qué gran servicio…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» → </a:t>
            </a:r>
            <a:r>
              <a:rPr sz="14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reclamo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, no </a:t>
            </a:r>
            <a:r>
              <a:rPr sz="14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elogio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7" name="TextBox 7">
            <a:extLst>
              <a:ext uri="{FF2B5EF4-FFF2-40B4-BE49-F238E27FC236}">
                <a16:creationId xmlns:a16="http://schemas.microsoft.com/office/drawing/2014/main" id="{1F86D1FF-0EAF-363C-666B-23BFEC9B2D10}"/>
              </a:ext>
            </a:extLst>
          </p:cNvPr>
          <p:cNvSpPr>
            <a:spLocks noGrp="1"/>
          </p:cNvSpPr>
          <p:nvPr/>
        </p:nvSpPr>
        <p:spPr>
          <a:xfrm>
            <a:off x="6306312" y="2023372"/>
            <a:ext cx="4983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2. Actos de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habla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indirectos</a:t>
            </a:r>
            <a:endParaRPr sz="140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«¿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Tienes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saldo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?» → </a:t>
            </a:r>
            <a:r>
              <a:rPr lang="es-MX"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puede ser una consulta literal o una petición implícita para realizar una llamada, transferencia o recarga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10826DD3-98D1-A33D-1D6E-1B0AAB9743F2}"/>
              </a:ext>
            </a:extLst>
          </p:cNvPr>
          <p:cNvSpPr>
            <a:spLocks noGrp="1"/>
          </p:cNvSpPr>
          <p:nvPr/>
        </p:nvSpPr>
        <p:spPr>
          <a:xfrm>
            <a:off x="728472" y="3350276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3. Elipsis y correferencia</a:t>
            </a:r>
          </a:p>
          <a:p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«Haz lo mismo con la otra» → resolver el referente en el historial.</a:t>
            </a:r>
          </a:p>
        </p:txBody>
      </p:sp>
      <p:sp>
        <p:nvSpPr>
          <p:cNvPr id="21" name="TextBox 11">
            <a:extLst>
              <a:ext uri="{FF2B5EF4-FFF2-40B4-BE49-F238E27FC236}">
                <a16:creationId xmlns:a16="http://schemas.microsoft.com/office/drawing/2014/main" id="{5298A8AF-76EC-71BF-17F2-C9810E17A8EF}"/>
              </a:ext>
            </a:extLst>
          </p:cNvPr>
          <p:cNvSpPr>
            <a:spLocks noGrp="1"/>
          </p:cNvSpPr>
          <p:nvPr/>
        </p:nvSpPr>
        <p:spPr>
          <a:xfrm>
            <a:off x="6306312" y="3350276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4. Modismos</a:t>
            </a:r>
          </a:p>
          <a:p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«Se cayó el sistema» → incidente, no caída física.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7DEA7D24-E63C-8632-3ECD-E9D5C2C63321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9C0A543-EDC0-A9DB-3835-703F83F0A7A3}"/>
              </a:ext>
            </a:extLst>
          </p:cNvPr>
          <p:cNvSpPr/>
          <p:nvPr/>
        </p:nvSpPr>
        <p:spPr>
          <a:xfrm>
            <a:off x="1123632" y="5680379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8ACB61-8BD9-591D-2B07-CF1DC780A481}"/>
              </a:ext>
            </a:extLst>
          </p:cNvPr>
          <p:cNvSpPr txBox="1"/>
          <p:nvPr/>
        </p:nvSpPr>
        <p:spPr>
          <a:xfrm>
            <a:off x="1673672" y="5761871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intención se infiere: la consulta literal no siempre describe la acción esperada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ounded Rectangle 8">
            <a:extLst>
              <a:ext uri="{FF2B5EF4-FFF2-40B4-BE49-F238E27FC236}">
                <a16:creationId xmlns:a16="http://schemas.microsoft.com/office/drawing/2014/main" id="{3D46DE61-8E8D-1C88-D911-3E5A998FCB65}"/>
              </a:ext>
            </a:extLst>
          </p:cNvPr>
          <p:cNvSpPr>
            <a:spLocks noGrp="1"/>
          </p:cNvSpPr>
          <p:nvPr/>
        </p:nvSpPr>
        <p:spPr>
          <a:xfrm>
            <a:off x="3503572" y="4469607"/>
            <a:ext cx="5212080" cy="106091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9AF9AB52-1615-A123-77A9-70C83A09BCFB}"/>
              </a:ext>
            </a:extLst>
          </p:cNvPr>
          <p:cNvSpPr>
            <a:spLocks noGrp="1"/>
          </p:cNvSpPr>
          <p:nvPr/>
        </p:nvSpPr>
        <p:spPr>
          <a:xfrm>
            <a:off x="3622444" y="4561048"/>
            <a:ext cx="49834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5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. </a:t>
            </a:r>
            <a:r>
              <a:rPr lang="es-MX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Errores ortográficos y de puntuación</a:t>
            </a:r>
            <a:endParaRPr sz="1400" b="1" dirty="0">
              <a:solidFill>
                <a:schemeClr val="accent3">
                  <a:lumMod val="50000"/>
                </a:schemeClr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«</a:t>
            </a:r>
            <a:r>
              <a:rPr lang="es-PE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Si quiero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» → </a:t>
            </a:r>
            <a:r>
              <a:rPr lang="es-MX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puede ser “sí, quiero” o el comienzo condicional de “si quiero…”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345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156D-902E-BDF4-70BC-053483425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282C15FC-47C1-88ED-D166-B455EE5EA2FD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LA AMBIGÜEDAD CAMBIA EL PROBLEMA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68F033-22A8-9C48-F906-68EA9C6948F0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E213199-E7E3-3157-F02B-424C316E3AC4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57EB0D4-E6FC-78DD-B75B-8D261FF0B884}"/>
              </a:ext>
            </a:extLst>
          </p:cNvPr>
          <p:cNvSpPr/>
          <p:nvPr/>
        </p:nvSpPr>
        <p:spPr>
          <a:xfrm>
            <a:off x="609599" y="1278812"/>
            <a:ext cx="5692633" cy="2997038"/>
          </a:xfrm>
          <a:prstGeom prst="rect">
            <a:avLst/>
          </a:prstGeom>
          <a:solidFill>
            <a:srgbClr val="DDF7F8"/>
          </a:solidFill>
          <a:ln w="1524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6449584-9058-E7CB-BB4E-D46977222209}"/>
              </a:ext>
            </a:extLst>
          </p:cNvPr>
          <p:cNvSpPr/>
          <p:nvPr/>
        </p:nvSpPr>
        <p:spPr>
          <a:xfrm>
            <a:off x="609600" y="1278811"/>
            <a:ext cx="101600" cy="2997038"/>
          </a:xfrm>
          <a:prstGeom prst="rect">
            <a:avLst/>
          </a:prstGeom>
          <a:solidFill>
            <a:srgbClr val="00A7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2A44093-5F4C-E403-E498-294956DB57B8}"/>
              </a:ext>
            </a:extLst>
          </p:cNvPr>
          <p:cNvSpPr txBox="1"/>
          <p:nvPr/>
        </p:nvSpPr>
        <p:spPr>
          <a:xfrm>
            <a:off x="914400" y="1431212"/>
            <a:ext cx="4191000" cy="292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600" b="1" dirty="0">
                <a:solidFill>
                  <a:srgbClr val="00A7B5"/>
                </a:solidFill>
                <a:latin typeface="Helvetica Neue"/>
                <a:ea typeface="Helvetica Neue"/>
                <a:cs typeface="Helvetica Neue"/>
              </a:rPr>
              <a:t>X ya no determina una única intención Z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C3B26F4-C2E9-B9A2-8C87-CE68A01EBA3E}"/>
              </a:ext>
            </a:extLst>
          </p:cNvPr>
          <p:cNvSpPr txBox="1"/>
          <p:nvPr/>
        </p:nvSpPr>
        <p:spPr>
          <a:xfrm>
            <a:off x="901700" y="1816100"/>
            <a:ext cx="3987800" cy="6223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Recuperar mejor no basta: primero hay que desambiguar</a:t>
            </a:r>
            <a:endParaRPr lang="es-US" sz="1200" b="1" dirty="0">
              <a:solidFill>
                <a:srgbClr val="536078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3F4E86CF-65A1-D3A6-F04A-36951BC81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283" y="876300"/>
            <a:ext cx="5692633" cy="5303980"/>
          </a:xfrm>
          <a:prstGeom prst="rect">
            <a:avLst/>
          </a:prstGeom>
        </p:spPr>
      </p:pic>
      <p:sp>
        <p:nvSpPr>
          <p:cNvPr id="25" name="TextBox 23">
            <a:extLst>
              <a:ext uri="{FF2B5EF4-FFF2-40B4-BE49-F238E27FC236}">
                <a16:creationId xmlns:a16="http://schemas.microsoft.com/office/drawing/2014/main" id="{BBE61BA5-E143-568C-C0D6-E1E02403D7F7}"/>
              </a:ext>
            </a:extLst>
          </p:cNvPr>
          <p:cNvSpPr>
            <a:spLocks noGrp="1"/>
          </p:cNvSpPr>
          <p:nvPr/>
        </p:nvSpPr>
        <p:spPr>
          <a:xfrm>
            <a:off x="609599" y="4416739"/>
            <a:ext cx="5408683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2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lang="es-MX"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· X consulta · C contexto · Y respuesta completa </a:t>
            </a:r>
            <a:r>
              <a:rPr sz="12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· 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Z </a:t>
            </a:r>
            <a:r>
              <a:rPr sz="125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intención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25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latente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lang="es-PE"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· z hipótesis de intención</a:t>
            </a:r>
            <a:endParaRPr sz="1250" dirty="0">
              <a:solidFill>
                <a:srgbClr val="6068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DD61EFA7-A9AD-A5F0-7AC7-DC608E3BAD4E}"/>
              </a:ext>
            </a:extLst>
          </p:cNvPr>
          <p:cNvSpPr/>
          <p:nvPr/>
        </p:nvSpPr>
        <p:spPr>
          <a:xfrm>
            <a:off x="869702" y="2615057"/>
            <a:ext cx="5058658" cy="1149223"/>
          </a:xfrm>
          <a:prstGeom prst="rect">
            <a:avLst/>
          </a:prstGeom>
          <a:solidFill>
            <a:srgbClr val="172333"/>
          </a:solidFill>
          <a:ln w="9525" cap="flat" cmpd="sng" algn="ctr">
            <a:solidFill>
              <a:srgbClr val="16B6C8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pic>
        <p:nvPicPr>
          <p:cNvPr id="23" name="Ecuación s11_mixture">
            <a:extLst>
              <a:ext uri="{FF2B5EF4-FFF2-40B4-BE49-F238E27FC236}">
                <a16:creationId xmlns:a16="http://schemas.microsoft.com/office/drawing/2014/main" id="{AB465E3F-820D-D5ED-09E4-997C1314B748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901700" y="3073187"/>
            <a:ext cx="4958080" cy="47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499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659CE-6C38-A1D1-5819-F32E24D5B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3AA93EC7-F24E-2323-BDE0-9EEC1A74C08D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LA AMBIGÜEDAD CAMBIA EL PROBLEMA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B91C4E9B-B6B6-1448-B1B4-A55F9DA25D95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Su y Cardie: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Knowing but Not Showing: LLMs Recognize Ambiguity but Rarely Ask Clarifying Questions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69B08F9A-44CD-D6A4-5488-A25A6E216036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719283D-58D5-D96B-1B10-253471A12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08917" y="1588620"/>
            <a:ext cx="6240463" cy="4818774"/>
          </a:xfrm>
          <a:prstGeom prst="roundRect">
            <a:avLst>
              <a:gd name="adj" fmla="val 2674"/>
            </a:avLst>
          </a:prstGeom>
        </p:spPr>
      </p:pic>
      <p:sp>
        <p:nvSpPr>
          <p:cNvPr id="28" name="TextBox 2">
            <a:extLst>
              <a:ext uri="{FF2B5EF4-FFF2-40B4-BE49-F238E27FC236}">
                <a16:creationId xmlns:a16="http://schemas.microsoft.com/office/drawing/2014/main" id="{0DA95AF8-1443-D4A1-307A-EA2D2618D5AE}"/>
              </a:ext>
            </a:extLst>
          </p:cNvPr>
          <p:cNvSpPr>
            <a:spLocks noGrp="1"/>
          </p:cNvSpPr>
          <p:nvPr/>
        </p:nvSpPr>
        <p:spPr>
          <a:xfrm>
            <a:off x="701040" y="884629"/>
            <a:ext cx="10835640" cy="1107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es-PE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Los </a:t>
            </a:r>
            <a:r>
              <a:rPr lang="es-PE"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LLM’s</a:t>
            </a:r>
            <a:r>
              <a:rPr lang="es-PE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no han sido entrenados para tratar la ambigüedad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D0B1D8D6-4D41-6299-3319-37E1D4C71456}"/>
              </a:ext>
            </a:extLst>
          </p:cNvPr>
          <p:cNvSpPr/>
          <p:nvPr/>
        </p:nvSpPr>
        <p:spPr>
          <a:xfrm>
            <a:off x="609600" y="2280057"/>
            <a:ext cx="4457383" cy="2997038"/>
          </a:xfrm>
          <a:prstGeom prst="rect">
            <a:avLst/>
          </a:prstGeom>
          <a:solidFill>
            <a:srgbClr val="DDF7F8"/>
          </a:solidFill>
          <a:ln w="1524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0E78580-90AE-9DCA-88A6-4BE6E5A687F9}"/>
              </a:ext>
            </a:extLst>
          </p:cNvPr>
          <p:cNvSpPr/>
          <p:nvPr/>
        </p:nvSpPr>
        <p:spPr>
          <a:xfrm>
            <a:off x="609601" y="2280056"/>
            <a:ext cx="101600" cy="2997038"/>
          </a:xfrm>
          <a:prstGeom prst="rect">
            <a:avLst/>
          </a:prstGeom>
          <a:solidFill>
            <a:srgbClr val="00A7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887843D0-5621-E9D9-801E-FBFE5A17E428}"/>
              </a:ext>
            </a:extLst>
          </p:cNvPr>
          <p:cNvSpPr txBox="1"/>
          <p:nvPr/>
        </p:nvSpPr>
        <p:spPr>
          <a:xfrm>
            <a:off x="914401" y="2432456"/>
            <a:ext cx="4191000" cy="672275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00A7B5"/>
                </a:solidFill>
                <a:latin typeface="Helvetica Neue"/>
                <a:ea typeface="Helvetica Neue"/>
                <a:cs typeface="Helvetica Neue"/>
              </a:rPr>
              <a:t>Los modelos no han sido entrenados para tratar la ambigüedad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BC214535-DFFB-15FF-3733-7E6FEDA0BF7D}"/>
              </a:ext>
            </a:extLst>
          </p:cNvPr>
          <p:cNvSpPr txBox="1"/>
          <p:nvPr/>
        </p:nvSpPr>
        <p:spPr>
          <a:xfrm>
            <a:off x="901700" y="3104730"/>
            <a:ext cx="3987800" cy="193463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Según Su &amp; Cardie (2026), los </a:t>
            </a:r>
            <a:r>
              <a:rPr lang="es-MX" sz="1200" b="1" dirty="0" err="1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LLM’s</a:t>
            </a:r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 no resuelven bien la ambigüedad únicamente recibiendo más contexto. El contexto recuperado mediante RAG mejora la disponibilidad de conocimiento, pero no necesariamente identifica cuál era la intención del usuario.</a:t>
            </a:r>
            <a:endParaRPr lang="es-US" sz="1200" b="1" dirty="0">
              <a:solidFill>
                <a:srgbClr val="536078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2942105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95D0A-E7FC-F83F-D6BA-9095447D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F25BC806-D4BB-2C0E-246A-34AA452BF41F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INCERTIDUMBRE EN LA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225B71D-0579-E697-66A2-3176123A1C1C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DD6CE59D-A923-355E-5A6F-6589347D970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La </a:t>
            </a:r>
            <a:r>
              <a:rPr lang="es-PE" sz="2925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incertidumbre separa intención de respuesta</a:t>
            </a:r>
            <a:endParaRPr sz="2925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4" name="Rectángulo: esquinas redondeadas 63">
            <a:extLst>
              <a:ext uri="{FF2B5EF4-FFF2-40B4-BE49-F238E27FC236}">
                <a16:creationId xmlns:a16="http://schemas.microsoft.com/office/drawing/2014/main" id="{C5F276B3-F46D-8DB2-690F-4413AEED13FF}"/>
              </a:ext>
            </a:extLst>
          </p:cNvPr>
          <p:cNvSpPr>
            <a:spLocks noGrp="1"/>
          </p:cNvSpPr>
          <p:nvPr/>
        </p:nvSpPr>
        <p:spPr>
          <a:xfrm>
            <a:off x="1428750" y="1971675"/>
            <a:ext cx="9334500" cy="914400"/>
          </a:xfrm>
          <a:prstGeom prst="roundRect">
            <a:avLst>
              <a:gd name="adj" fmla="val 12500"/>
            </a:avLst>
          </a:prstGeom>
          <a:solidFill>
            <a:schemeClr val="accent1">
              <a:lumMod val="75000"/>
            </a:schemeClr>
          </a:solidFill>
          <a:ln w="9525">
            <a:solidFill>
              <a:srgbClr val="36405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66" name="Imagen 65">
            <a:extLst>
              <a:ext uri="{FF2B5EF4-FFF2-40B4-BE49-F238E27FC236}">
                <a16:creationId xmlns:a16="http://schemas.microsoft.com/office/drawing/2014/main" id="{DD1E8CB3-8106-6D54-26DD-225AB6DC5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81150" y="2144769"/>
            <a:ext cx="9029700" cy="568212"/>
          </a:xfrm>
          <a:prstGeom prst="rect">
            <a:avLst/>
          </a:prstGeom>
        </p:spPr>
      </p:pic>
      <p:sp>
        <p:nvSpPr>
          <p:cNvPr id="68" name="Rectángulo: esquinas redondeadas 67">
            <a:extLst>
              <a:ext uri="{FF2B5EF4-FFF2-40B4-BE49-F238E27FC236}">
                <a16:creationId xmlns:a16="http://schemas.microsoft.com/office/drawing/2014/main" id="{799B0FB8-F63A-5AF4-AD83-1D619FE1396B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4762500" cy="1809750"/>
          </a:xfrm>
          <a:prstGeom prst="roundRect">
            <a:avLst>
              <a:gd name="adj" fmla="val 842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EAF4E699-87FC-7707-5899-EC42F0E99D40}"/>
              </a:ext>
            </a:extLst>
          </p:cNvPr>
          <p:cNvSpPr>
            <a:spLocks noGrp="1"/>
          </p:cNvSpPr>
          <p:nvPr/>
        </p:nvSpPr>
        <p:spPr>
          <a:xfrm>
            <a:off x="1200150" y="3676650"/>
            <a:ext cx="426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INCERTIDUMBRE DE INTENCIÓN</a:t>
            </a:r>
          </a:p>
        </p:txBody>
      </p:sp>
      <p:pic>
        <p:nvPicPr>
          <p:cNvPr id="72" name="Imagen 71">
            <a:extLst>
              <a:ext uri="{FF2B5EF4-FFF2-40B4-BE49-F238E27FC236}">
                <a16:creationId xmlns:a16="http://schemas.microsoft.com/office/drawing/2014/main" id="{EBA59E53-0D0A-D7EF-853F-F0409E0DC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89605" y="4191000"/>
            <a:ext cx="2288290" cy="552450"/>
          </a:xfrm>
          <a:prstGeom prst="rect">
            <a:avLst/>
          </a:prstGeom>
        </p:spPr>
      </p:pic>
      <p:sp>
        <p:nvSpPr>
          <p:cNvPr id="74" name="Rectángulo: esquinas redondeadas 73">
            <a:extLst>
              <a:ext uri="{FF2B5EF4-FFF2-40B4-BE49-F238E27FC236}">
                <a16:creationId xmlns:a16="http://schemas.microsoft.com/office/drawing/2014/main" id="{CF19F038-5E17-99BF-DF92-314E430B459B}"/>
              </a:ext>
            </a:extLst>
          </p:cNvPr>
          <p:cNvSpPr>
            <a:spLocks noGrp="1"/>
          </p:cNvSpPr>
          <p:nvPr/>
        </p:nvSpPr>
        <p:spPr>
          <a:xfrm>
            <a:off x="6477000" y="3429000"/>
            <a:ext cx="4762500" cy="1809750"/>
          </a:xfrm>
          <a:prstGeom prst="roundRect">
            <a:avLst>
              <a:gd name="adj" fmla="val 842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E8E633F0-4065-0AEC-54E7-2D8FE43F83AE}"/>
              </a:ext>
            </a:extLst>
          </p:cNvPr>
          <p:cNvSpPr>
            <a:spLocks noGrp="1"/>
          </p:cNvSpPr>
          <p:nvPr/>
        </p:nvSpPr>
        <p:spPr>
          <a:xfrm>
            <a:off x="6724650" y="3676650"/>
            <a:ext cx="426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INCERTIDUMBRE DE RESPUESTA DADA Z</a:t>
            </a:r>
          </a:p>
        </p:txBody>
      </p:sp>
      <p:pic>
        <p:nvPicPr>
          <p:cNvPr id="78" name="Imagen 77">
            <a:extLst>
              <a:ext uri="{FF2B5EF4-FFF2-40B4-BE49-F238E27FC236}">
                <a16:creationId xmlns:a16="http://schemas.microsoft.com/office/drawing/2014/main" id="{2F8133F4-44FE-DDAA-0375-1CA552815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459012" y="4191000"/>
            <a:ext cx="2798476" cy="552450"/>
          </a:xfrm>
          <a:prstGeom prst="rect">
            <a:avLst/>
          </a:prstGeom>
        </p:spPr>
      </p:pic>
      <p:sp>
        <p:nvSpPr>
          <p:cNvPr id="82" name="Rectángulo 81">
            <a:extLst>
              <a:ext uri="{FF2B5EF4-FFF2-40B4-BE49-F238E27FC236}">
                <a16:creationId xmlns:a16="http://schemas.microsoft.com/office/drawing/2014/main" id="{6422B778-64AE-B7EC-6696-C21D9EC6F060}"/>
              </a:ext>
            </a:extLst>
          </p:cNvPr>
          <p:cNvSpPr/>
          <p:nvPr/>
        </p:nvSpPr>
        <p:spPr>
          <a:xfrm>
            <a:off x="1231900" y="5544253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0E439484-68CB-4E55-60F9-B048FC1E1792}"/>
              </a:ext>
            </a:extLst>
          </p:cNvPr>
          <p:cNvSpPr txBox="1"/>
          <p:nvPr/>
        </p:nvSpPr>
        <p:spPr>
          <a:xfrm>
            <a:off x="1743775" y="5667548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Mejorar el generador reduce el segundo término; aclarar apunta al primero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7BF027C6-8857-E642-34CE-B348F23C8235}"/>
              </a:ext>
            </a:extLst>
          </p:cNvPr>
          <p:cNvCxnSpPr>
            <a:cxnSpLocks/>
          </p:cNvCxnSpPr>
          <p:nvPr/>
        </p:nvCxnSpPr>
        <p:spPr>
          <a:xfrm flipH="1">
            <a:off x="3470988" y="2712981"/>
            <a:ext cx="2369975" cy="897966"/>
          </a:xfrm>
          <a:prstGeom prst="straightConnector1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29343ECA-1370-FB12-E1E5-756EB91BB512}"/>
              </a:ext>
            </a:extLst>
          </p:cNvPr>
          <p:cNvCxnSpPr>
            <a:cxnSpLocks/>
          </p:cNvCxnSpPr>
          <p:nvPr/>
        </p:nvCxnSpPr>
        <p:spPr>
          <a:xfrm flipH="1">
            <a:off x="8864600" y="2732367"/>
            <a:ext cx="230025" cy="885825"/>
          </a:xfrm>
          <a:prstGeom prst="straightConnector1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21D8574E-B4C4-DE79-83F0-68F6CDD5CD4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271979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FB71C-4C3E-F73C-37F1-30377B50F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7ED3B063-E7A9-22DA-B037-3F0DAA043530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RECUPERACIÓN BAJO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ABA9378-CE3B-3BAC-E0CF-A1D19B533F42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807871C-F436-E5D0-4133-432AF3C5DED5}"/>
              </a:ext>
            </a:extLst>
          </p:cNvPr>
          <p:cNvSpPr>
            <a:spLocks noGrp="1"/>
          </p:cNvSpPr>
          <p:nvPr/>
        </p:nvSpPr>
        <p:spPr>
          <a:xfrm>
            <a:off x="685800" y="88265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Un retriever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puede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devolver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evidencia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para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varias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intenciones</a:t>
            </a:r>
            <a:endParaRPr sz="2700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F752FD35-AB0C-38DB-6359-ED7D071D1552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C1201B03-80DF-57BA-E932-3F23F18AE6D1}"/>
              </a:ext>
            </a:extLst>
          </p:cNvPr>
          <p:cNvSpPr>
            <a:spLocks noGrp="1"/>
          </p:cNvSpPr>
          <p:nvPr/>
        </p:nvSpPr>
        <p:spPr>
          <a:xfrm>
            <a:off x="3486150" y="3476625"/>
            <a:ext cx="628650" cy="285750"/>
          </a:xfrm>
          <a:prstGeom prst="rightArrow">
            <a:avLst/>
          </a:prstGeom>
          <a:solidFill>
            <a:srgbClr val="8A96B2"/>
          </a:solidFill>
          <a:ln w="9525">
            <a:solidFill>
              <a:srgbClr val="8A96B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713BBA52-6730-C8A5-2D67-74E16B6A5AB6}"/>
              </a:ext>
            </a:extLst>
          </p:cNvPr>
          <p:cNvSpPr>
            <a:spLocks noGrp="1"/>
          </p:cNvSpPr>
          <p:nvPr/>
        </p:nvSpPr>
        <p:spPr>
          <a:xfrm>
            <a:off x="8077200" y="2857500"/>
            <a:ext cx="628650" cy="285750"/>
          </a:xfrm>
          <a:prstGeom prst="rightArrow">
            <a:avLst/>
          </a:prstGeom>
          <a:solidFill>
            <a:srgbClr val="33D6C8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0D75E6F3-9315-6B61-1C99-EE7DA5882363}"/>
              </a:ext>
            </a:extLst>
          </p:cNvPr>
          <p:cNvSpPr>
            <a:spLocks noGrp="1"/>
          </p:cNvSpPr>
          <p:nvPr/>
        </p:nvSpPr>
        <p:spPr>
          <a:xfrm>
            <a:off x="8077200" y="3964396"/>
            <a:ext cx="628650" cy="285750"/>
          </a:xfrm>
          <a:prstGeom prst="rightArrow">
            <a:avLst/>
          </a:prstGeom>
          <a:solidFill>
            <a:srgbClr val="6C63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50B944C-9E6C-DABC-7625-2AD3E1D37043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280035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333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84C5B52-1EA8-2BCC-6C46-FF751095AFF7}"/>
              </a:ext>
            </a:extLst>
          </p:cNvPr>
          <p:cNvSpPr>
            <a:spLocks noGrp="1"/>
          </p:cNvSpPr>
          <p:nvPr/>
        </p:nvSpPr>
        <p:spPr>
          <a:xfrm>
            <a:off x="914400" y="3000375"/>
            <a:ext cx="2343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QUERY AMBIGUA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3DB54A6-ADB0-9F4E-2D49-3889EEA471D8}"/>
              </a:ext>
            </a:extLst>
          </p:cNvPr>
          <p:cNvSpPr>
            <a:spLocks noGrp="1"/>
          </p:cNvSpPr>
          <p:nvPr/>
        </p:nvSpPr>
        <p:spPr>
          <a:xfrm>
            <a:off x="914400" y="3419475"/>
            <a:ext cx="23431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«¿Cómo funciona</a:t>
            </a:r>
          </a:p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memoria?»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1C9C2F33-A75E-91C4-8AF9-1A73C2DABD60}"/>
              </a:ext>
            </a:extLst>
          </p:cNvPr>
          <p:cNvSpPr>
            <a:spLocks noGrp="1"/>
          </p:cNvSpPr>
          <p:nvPr/>
        </p:nvSpPr>
        <p:spPr>
          <a:xfrm>
            <a:off x="4114800" y="2714625"/>
            <a:ext cx="3962400" cy="1809750"/>
          </a:xfrm>
          <a:prstGeom prst="roundRect">
            <a:avLst>
              <a:gd name="adj" fmla="val 8421"/>
            </a:avLst>
          </a:prstGeom>
          <a:solidFill>
            <a:srgbClr val="EEECFF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1E34060C-6FAE-6E4C-69D9-BAE2D374B537}"/>
              </a:ext>
            </a:extLst>
          </p:cNvPr>
          <p:cNvSpPr>
            <a:spLocks noGrp="1"/>
          </p:cNvSpPr>
          <p:nvPr/>
        </p:nvSpPr>
        <p:spPr>
          <a:xfrm>
            <a:off x="4362450" y="3000375"/>
            <a:ext cx="3467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F4B4EF56-7CC0-9E0E-FB6B-68B961B87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14850" y="3590714"/>
            <a:ext cx="3162300" cy="343322"/>
          </a:xfrm>
          <a:prstGeom prst="rect">
            <a:avLst/>
          </a:prstGeom>
        </p:spPr>
      </p:pic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A5E24180-1CEC-271E-BA7C-43C6C17277F0}"/>
              </a:ext>
            </a:extLst>
          </p:cNvPr>
          <p:cNvSpPr>
            <a:spLocks noGrp="1"/>
          </p:cNvSpPr>
          <p:nvPr/>
        </p:nvSpPr>
        <p:spPr>
          <a:xfrm>
            <a:off x="8705850" y="2510640"/>
            <a:ext cx="2800350" cy="891044"/>
          </a:xfrm>
          <a:prstGeom prst="roundRect">
            <a:avLst>
              <a:gd name="adj" fmla="val 11940"/>
            </a:avLst>
          </a:prstGeom>
          <a:solidFill>
            <a:srgbClr val="E3F9F6"/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0A9A7D75-82C5-DEDF-D400-F9ED49A63374}"/>
              </a:ext>
            </a:extLst>
          </p:cNvPr>
          <p:cNvSpPr>
            <a:spLocks noGrp="1"/>
          </p:cNvSpPr>
          <p:nvPr/>
        </p:nvSpPr>
        <p:spPr>
          <a:xfrm>
            <a:off x="8915400" y="276006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memoria del </a:t>
            </a:r>
            <a:r>
              <a:rPr sz="1500" b="1" dirty="0" err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agente</a:t>
            </a:r>
            <a:endParaRPr sz="1500" b="1" dirty="0">
              <a:solidFill>
                <a:srgbClr val="33D6C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68409943-4667-B4D7-BC2A-AE1F7F5F39CC}"/>
              </a:ext>
            </a:extLst>
          </p:cNvPr>
          <p:cNvSpPr>
            <a:spLocks noGrp="1"/>
          </p:cNvSpPr>
          <p:nvPr/>
        </p:nvSpPr>
        <p:spPr>
          <a:xfrm>
            <a:off x="8705850" y="3651645"/>
            <a:ext cx="2800350" cy="903696"/>
          </a:xfrm>
          <a:prstGeom prst="roundRect">
            <a:avLst>
              <a:gd name="adj" fmla="val 11940"/>
            </a:avLst>
          </a:prstGeom>
          <a:solidFill>
            <a:srgbClr val="EEECFF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745B6D3A-AB55-006A-4168-A28099E808FB}"/>
              </a:ext>
            </a:extLst>
          </p:cNvPr>
          <p:cNvSpPr>
            <a:spLocks noGrp="1"/>
          </p:cNvSpPr>
          <p:nvPr/>
        </p:nvSpPr>
        <p:spPr>
          <a:xfrm>
            <a:off x="8915400" y="3901032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memoria </a:t>
            </a:r>
            <a:r>
              <a:rPr sz="150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informática</a:t>
            </a:r>
            <a:endParaRPr sz="1500" b="1" dirty="0">
              <a:solidFill>
                <a:srgbClr val="6C63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DF4FCA57-EEA0-7ACB-25D8-0D44C0B922AC}"/>
              </a:ext>
            </a:extLst>
          </p:cNvPr>
          <p:cNvSpPr/>
          <p:nvPr/>
        </p:nvSpPr>
        <p:spPr>
          <a:xfrm>
            <a:off x="1322226" y="5455058"/>
            <a:ext cx="9804529" cy="754834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203C2764-D01E-5438-3CA5-9457C3628D8F}"/>
              </a:ext>
            </a:extLst>
          </p:cNvPr>
          <p:cNvSpPr txBox="1"/>
          <p:nvPr/>
        </p:nvSpPr>
        <p:spPr>
          <a:xfrm>
            <a:off x="1834101" y="5578353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similitud puede recuperar evidencia válida para varias interpretaciones; no identifica por sí sola Z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533153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F9CA5-F552-7C43-8F43-8CB561A2D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22FABCB5-B14C-A59E-9F00-A029206731F7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INCERTIDUMBRE EN LA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84C6A24-70DC-6D61-7BFA-8C90557D94A6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EABAA27-00C1-6F3E-71F7-F8433F29D44A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Aclarar reduce la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incertidumbre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de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intención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D3572089-DA1D-D2F8-D8FF-FD9B3E790602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88512AEA-0377-EE78-66D8-931FF8B0426E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5429250" cy="3143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8564AC0-2070-BDAC-ABDB-0D7F48865A6F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4381500" cy="1954374"/>
          </a:xfrm>
          <a:prstGeom prst="roundRect">
            <a:avLst>
              <a:gd name="adj" fmla="val 15714"/>
            </a:avLst>
          </a:prstGeom>
          <a:solidFill>
            <a:srgbClr val="45E0D0">
              <a:alpha val="12000"/>
            </a:srgbClr>
          </a:solidFill>
          <a:ln w="19050">
            <a:solidFill>
              <a:srgbClr val="45E0D0">
                <a:alpha val="5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FC42519-7784-D200-E5B1-8CC3881971E4}"/>
              </a:ext>
            </a:extLst>
          </p:cNvPr>
          <p:cNvSpPr>
            <a:spLocks noGrp="1"/>
          </p:cNvSpPr>
          <p:nvPr/>
        </p:nvSpPr>
        <p:spPr>
          <a:xfrm>
            <a:off x="6953250" y="4133850"/>
            <a:ext cx="3810000" cy="14668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10000"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Consulta:</a:t>
            </a: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18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«</a:t>
            </a: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¿Qué es la memoria?</a:t>
            </a:r>
            <a:r>
              <a:rPr lang="es-PE" sz="18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»</a:t>
            </a:r>
            <a:endParaRPr lang="es-MX" sz="18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endParaRPr lang="es-MX" sz="18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Pregunta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</a:t>
            </a: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clarificadora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:</a:t>
            </a: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«¿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Te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refieres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a la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ventana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del LLM o a la memoria del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agente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?»</a:t>
            </a:r>
          </a:p>
        </p:txBody>
      </p:sp>
      <p:pic>
        <p:nvPicPr>
          <p:cNvPr id="15" name="Ecuación s17_information">
            <a:extLst>
              <a:ext uri="{FF2B5EF4-FFF2-40B4-BE49-F238E27FC236}">
                <a16:creationId xmlns:a16="http://schemas.microsoft.com/office/drawing/2014/main" id="{70B60A08-C89D-FB9F-40BA-42BB503670E4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tretch>
            <a:fillRect/>
          </a:stretch>
        </p:blipFill>
        <p:spPr>
          <a:xfrm>
            <a:off x="6572250" y="2486426"/>
            <a:ext cx="4667250" cy="380197"/>
          </a:xfrm>
          <a:prstGeom prst="rect">
            <a:avLst/>
          </a:prstGeom>
        </p:spPr>
      </p:pic>
      <p:pic>
        <p:nvPicPr>
          <p:cNvPr id="17" name="Ecuación s17_question">
            <a:extLst>
              <a:ext uri="{FF2B5EF4-FFF2-40B4-BE49-F238E27FC236}">
                <a16:creationId xmlns:a16="http://schemas.microsoft.com/office/drawing/2014/main" id="{49E1A3D7-14CA-ED8F-2680-0228508D6D8D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7314684" y="3105150"/>
            <a:ext cx="3182382" cy="5143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0779CB-8185-3A0C-45B6-6E715EEB4A10}"/>
              </a:ext>
            </a:extLst>
          </p:cNvPr>
          <p:cNvSpPr>
            <a:spLocks noGrp="1"/>
          </p:cNvSpPr>
          <p:nvPr/>
        </p:nvSpPr>
        <p:spPr>
          <a:xfrm>
            <a:off x="685799" y="6167153"/>
            <a:ext cx="6489441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q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pregunta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Z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intención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I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ganancia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de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lang="es-PE"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</a:t>
            </a:r>
            <a:r>
              <a:rPr lang="es-PE"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Aq</a:t>
            </a:r>
            <a:r>
              <a:rPr lang="es-PE"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Respuesta con evidencia</a:t>
            </a:r>
            <a:endParaRPr sz="115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Flecha: a la derecha 20">
            <a:extLst>
              <a:ext uri="{FF2B5EF4-FFF2-40B4-BE49-F238E27FC236}">
                <a16:creationId xmlns:a16="http://schemas.microsoft.com/office/drawing/2014/main" id="{3FDE79C4-65D0-29B5-A169-17857B5A0A26}"/>
              </a:ext>
            </a:extLst>
          </p:cNvPr>
          <p:cNvSpPr>
            <a:spLocks noGrp="1"/>
          </p:cNvSpPr>
          <p:nvPr/>
        </p:nvSpPr>
        <p:spPr>
          <a:xfrm>
            <a:off x="1924050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3" name="Flecha: a la derecha 22">
            <a:extLst>
              <a:ext uri="{FF2B5EF4-FFF2-40B4-BE49-F238E27FC236}">
                <a16:creationId xmlns:a16="http://schemas.microsoft.com/office/drawing/2014/main" id="{DFCE5A8E-3966-174A-AE7A-BD9C1DAE3B50}"/>
              </a:ext>
            </a:extLst>
          </p:cNvPr>
          <p:cNvSpPr>
            <a:spLocks noGrp="1"/>
          </p:cNvSpPr>
          <p:nvPr/>
        </p:nvSpPr>
        <p:spPr>
          <a:xfrm>
            <a:off x="3248283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5" name="Flecha: a la derecha 24">
            <a:extLst>
              <a:ext uri="{FF2B5EF4-FFF2-40B4-BE49-F238E27FC236}">
                <a16:creationId xmlns:a16="http://schemas.microsoft.com/office/drawing/2014/main" id="{C414E733-C00A-38D3-5B70-3B3B92AFEBFA}"/>
              </a:ext>
            </a:extLst>
          </p:cNvPr>
          <p:cNvSpPr>
            <a:spLocks noGrp="1"/>
          </p:cNvSpPr>
          <p:nvPr/>
        </p:nvSpPr>
        <p:spPr>
          <a:xfrm>
            <a:off x="4581525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64D90A30-3919-EB54-8215-D076CA3E5C4B}"/>
              </a:ext>
            </a:extLst>
          </p:cNvPr>
          <p:cNvSpPr>
            <a:spLocks noGrp="1"/>
          </p:cNvSpPr>
          <p:nvPr/>
        </p:nvSpPr>
        <p:spPr>
          <a:xfrm>
            <a:off x="790575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accent1">
              <a:lumMod val="20000"/>
              <a:lumOff val="80000"/>
            </a:schemeClr>
          </a:solidFill>
          <a:ln w="14288">
            <a:solidFill>
              <a:srgbClr val="4E96A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 dirty="0">
                <a:solidFill>
                  <a:srgbClr val="0E2841"/>
                </a:solidFill>
              </a:rPr>
              <a:t>Consulta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 dirty="0">
                <a:solidFill>
                  <a:srgbClr val="0E2841"/>
                </a:solidFill>
              </a:rPr>
              <a:t>q</a:t>
            </a:r>
          </a:p>
        </p:txBody>
      </p:sp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BA27ADBA-6410-40CC-EA20-5E15664807AD}"/>
              </a:ext>
            </a:extLst>
          </p:cNvPr>
          <p:cNvSpPr>
            <a:spLocks noGrp="1"/>
          </p:cNvSpPr>
          <p:nvPr/>
        </p:nvSpPr>
        <p:spPr>
          <a:xfrm>
            <a:off x="2114808" y="3273425"/>
            <a:ext cx="1123950" cy="781050"/>
          </a:xfrm>
          <a:prstGeom prst="roundRect">
            <a:avLst>
              <a:gd name="adj" fmla="val 14634"/>
            </a:avLst>
          </a:prstGeom>
          <a:solidFill>
            <a:srgbClr val="FFF1E8"/>
          </a:solidFill>
          <a:ln w="14288">
            <a:solidFill>
              <a:schemeClr val="accent4">
                <a:lumMod val="40000"/>
                <a:lumOff val="60000"/>
              </a:scheme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Intención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Z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5C940F26-EBC6-3BE1-7DF2-5165215E494F}"/>
              </a:ext>
            </a:extLst>
          </p:cNvPr>
          <p:cNvSpPr>
            <a:spLocks noGrp="1"/>
          </p:cNvSpPr>
          <p:nvPr/>
        </p:nvSpPr>
        <p:spPr>
          <a:xfrm>
            <a:off x="3439041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accent2">
              <a:lumMod val="40000"/>
              <a:lumOff val="60000"/>
            </a:schemeClr>
          </a:solidFill>
          <a:ln w="14288">
            <a:solidFill>
              <a:srgbClr val="5D8C5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Pregunta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clarificadora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1F8BE7AE-C98F-42C3-7339-4ED90258CBCD}"/>
              </a:ext>
            </a:extLst>
          </p:cNvPr>
          <p:cNvSpPr>
            <a:spLocks noGrp="1"/>
          </p:cNvSpPr>
          <p:nvPr/>
        </p:nvSpPr>
        <p:spPr>
          <a:xfrm>
            <a:off x="4771509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tx2">
              <a:lumMod val="75000"/>
            </a:schemeClr>
          </a:solidFill>
          <a:ln w="14288">
            <a:solidFill>
              <a:srgbClr val="0E4A5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Respuesta</a:t>
            </a:r>
          </a:p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evidencia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B7BD9235-D365-5DE3-D1DA-0EEA4E60FF6F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387341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0ABF-3E60-F9C4-0A6F-743C3ABE0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8BAA33F3-D123-A620-E0EE-B5124D43D424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CUÁNDO DESAMBIGUAR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16C85312-0ED2-3C0D-5142-C095A9923F9B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630">
                <a:solidFill>
                  <a:srgbClr val="8A94A4"/>
                </a:solidFill>
                <a:latin typeface="Aptos"/>
              </a:rPr>
              <a:t>Fuente: docs.pydantic.dev · Strict mode y conversiones de datos.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B3E3F4B6-7397-8729-B367-EA4499497040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20F4768C-40CC-77C2-E37E-6B183263E434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0000" lnSpcReduction="20000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Desambiguar cuando la ambigüedad cambia lo que el sistema debe hacer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8" name="Conector recto 47">
            <a:extLst>
              <a:ext uri="{FF2B5EF4-FFF2-40B4-BE49-F238E27FC236}">
                <a16:creationId xmlns:a16="http://schemas.microsoft.com/office/drawing/2014/main" id="{487032A1-B991-562F-46C9-C86169937B81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Rectángulo: esquinas redondeadas 49">
            <a:extLst>
              <a:ext uri="{FF2B5EF4-FFF2-40B4-BE49-F238E27FC236}">
                <a16:creationId xmlns:a16="http://schemas.microsoft.com/office/drawing/2014/main" id="{3633EAC0-9B55-74FE-5099-4DBA63CDC932}"/>
              </a:ext>
            </a:extLst>
          </p:cNvPr>
          <p:cNvSpPr>
            <a:spLocks noGrp="1"/>
          </p:cNvSpPr>
          <p:nvPr/>
        </p:nvSpPr>
        <p:spPr>
          <a:xfrm>
            <a:off x="709774" y="2305049"/>
            <a:ext cx="4914900" cy="2514595"/>
          </a:xfrm>
          <a:prstGeom prst="roundRect">
            <a:avLst>
              <a:gd name="adj" fmla="val 7080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Rectángulo: esquinas redondeadas 51">
            <a:extLst>
              <a:ext uri="{FF2B5EF4-FFF2-40B4-BE49-F238E27FC236}">
                <a16:creationId xmlns:a16="http://schemas.microsoft.com/office/drawing/2014/main" id="{57FBE22B-61EB-4D1C-6E26-97283F78FD55}"/>
              </a:ext>
            </a:extLst>
          </p:cNvPr>
          <p:cNvSpPr>
            <a:spLocks noGrp="1"/>
          </p:cNvSpPr>
          <p:nvPr/>
        </p:nvSpPr>
        <p:spPr>
          <a:xfrm>
            <a:off x="995524" y="255270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3A3340"/>
          </a:solidFill>
          <a:ln w="952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DAAB215A-8646-15D6-51DE-45AB86498F7C}"/>
              </a:ext>
            </a:extLst>
          </p:cNvPr>
          <p:cNvSpPr>
            <a:spLocks noGrp="1"/>
          </p:cNvSpPr>
          <p:nvPr/>
        </p:nvSpPr>
        <p:spPr>
          <a:xfrm>
            <a:off x="1052674" y="25908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ECBEBF75-FB87-E9A4-2CD1-EDBD67F15577}"/>
              </a:ext>
            </a:extLst>
          </p:cNvPr>
          <p:cNvSpPr>
            <a:spLocks noGrp="1"/>
          </p:cNvSpPr>
          <p:nvPr/>
        </p:nvSpPr>
        <p:spPr>
          <a:xfrm>
            <a:off x="1128874" y="3162300"/>
            <a:ext cx="40767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cuando el riesgo residual</a:t>
            </a:r>
          </a:p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es menor que preguntar</a:t>
            </a:r>
          </a:p>
        </p:txBody>
      </p:sp>
      <p:sp>
        <p:nvSpPr>
          <p:cNvPr id="59" name="Rectángulo: esquinas redondeadas 58">
            <a:extLst>
              <a:ext uri="{FF2B5EF4-FFF2-40B4-BE49-F238E27FC236}">
                <a16:creationId xmlns:a16="http://schemas.microsoft.com/office/drawing/2014/main" id="{106975D2-D053-749F-332E-B5E1C4191E67}"/>
              </a:ext>
            </a:extLst>
          </p:cNvPr>
          <p:cNvSpPr>
            <a:spLocks noGrp="1"/>
          </p:cNvSpPr>
          <p:nvPr/>
        </p:nvSpPr>
        <p:spPr>
          <a:xfrm>
            <a:off x="6253324" y="2305050"/>
            <a:ext cx="5573874" cy="2514594"/>
          </a:xfrm>
          <a:prstGeom prst="roundRect">
            <a:avLst>
              <a:gd name="adj" fmla="val 7080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1" name="Rectángulo: esquinas redondeadas 60">
            <a:extLst>
              <a:ext uri="{FF2B5EF4-FFF2-40B4-BE49-F238E27FC236}">
                <a16:creationId xmlns:a16="http://schemas.microsoft.com/office/drawing/2014/main" id="{0442D4CD-E030-3821-74CF-6DA429743EDD}"/>
              </a:ext>
            </a:extLst>
          </p:cNvPr>
          <p:cNvSpPr>
            <a:spLocks noGrp="1"/>
          </p:cNvSpPr>
          <p:nvPr/>
        </p:nvSpPr>
        <p:spPr>
          <a:xfrm>
            <a:off x="6901024" y="255270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263E4A"/>
          </a:solidFill>
          <a:ln w="9525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3" name="Rectángulo 62">
            <a:extLst>
              <a:ext uri="{FF2B5EF4-FFF2-40B4-BE49-F238E27FC236}">
                <a16:creationId xmlns:a16="http://schemas.microsoft.com/office/drawing/2014/main" id="{B56CAE53-392D-F2F1-21EB-FC74FB585677}"/>
              </a:ext>
            </a:extLst>
          </p:cNvPr>
          <p:cNvSpPr>
            <a:spLocks noGrp="1"/>
          </p:cNvSpPr>
          <p:nvPr/>
        </p:nvSpPr>
        <p:spPr>
          <a:xfrm>
            <a:off x="6958174" y="25908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65" name="Rectángulo 64">
            <a:extLst>
              <a:ext uri="{FF2B5EF4-FFF2-40B4-BE49-F238E27FC236}">
                <a16:creationId xmlns:a16="http://schemas.microsoft.com/office/drawing/2014/main" id="{303A6971-8A24-EF0E-1B14-28F9D43B6B63}"/>
              </a:ext>
            </a:extLst>
          </p:cNvPr>
          <p:cNvSpPr>
            <a:spLocks noGrp="1"/>
          </p:cNvSpPr>
          <p:nvPr/>
        </p:nvSpPr>
        <p:spPr>
          <a:xfrm>
            <a:off x="7034374" y="3162300"/>
            <a:ext cx="40767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cuando la reducción esperada</a:t>
            </a:r>
          </a:p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 pérdida supera c(q)</a:t>
            </a:r>
          </a:p>
        </p:txBody>
      </p:sp>
      <p:pic>
        <p:nvPicPr>
          <p:cNvPr id="67" name="Imagen 66">
            <a:extLst>
              <a:ext uri="{FF2B5EF4-FFF2-40B4-BE49-F238E27FC236}">
                <a16:creationId xmlns:a16="http://schemas.microsoft.com/office/drawing/2014/main" id="{8813C4AE-1CA8-97E4-A355-AE3F33A8294F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tretch/>
        </p:blipFill>
        <p:spPr>
          <a:xfrm>
            <a:off x="4549306" y="5311774"/>
            <a:ext cx="3048938" cy="552450"/>
          </a:xfrm>
          <a:prstGeom prst="rect">
            <a:avLst/>
          </a:prstGeom>
        </p:spPr>
      </p:pic>
      <p:pic>
        <p:nvPicPr>
          <p:cNvPr id="69" name="Imagen 68">
            <a:extLst>
              <a:ext uri="{FF2B5EF4-FFF2-40B4-BE49-F238E27FC236}">
                <a16:creationId xmlns:a16="http://schemas.microsoft.com/office/drawing/2014/main" id="{8955C0C1-D66F-7618-F654-DE347A8D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489380" y="3990975"/>
            <a:ext cx="3355688" cy="590550"/>
          </a:xfrm>
          <a:prstGeom prst="rect">
            <a:avLst/>
          </a:prstGeom>
        </p:spPr>
      </p:pic>
      <p:pic>
        <p:nvPicPr>
          <p:cNvPr id="71" name="Imagen 70">
            <a:extLst>
              <a:ext uri="{FF2B5EF4-FFF2-40B4-BE49-F238E27FC236}">
                <a16:creationId xmlns:a16="http://schemas.microsoft.com/office/drawing/2014/main" id="{956A6D13-CED1-F7B6-17B1-D0BFC29541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34299" y="4019892"/>
            <a:ext cx="5276850" cy="43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57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14CB2-CBC5-351E-870C-9094258F6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7E58404E-1242-70E5-D3E3-7D25903A1D02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DISEÑO OPERATIVO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F50B5C56-FCA2-2F1D-DE3C-F8A4BCB0429F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D140A26F-E4C5-DEF0-2DA1-BB788AEA4780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Diseña el sistema alrededor de la incertidumbre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8" name="Conector recto 47">
            <a:extLst>
              <a:ext uri="{FF2B5EF4-FFF2-40B4-BE49-F238E27FC236}">
                <a16:creationId xmlns:a16="http://schemas.microsoft.com/office/drawing/2014/main" id="{52A1B57A-39B6-1AF8-1FCF-F57A5448A61C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Flecha: a la derecha 2">
            <a:extLst>
              <a:ext uri="{FF2B5EF4-FFF2-40B4-BE49-F238E27FC236}">
                <a16:creationId xmlns:a16="http://schemas.microsoft.com/office/drawing/2014/main" id="{B71C0058-4404-4B9F-FD9B-DEB093A07D1F}"/>
              </a:ext>
            </a:extLst>
          </p:cNvPr>
          <p:cNvSpPr>
            <a:spLocks noGrp="1"/>
          </p:cNvSpPr>
          <p:nvPr/>
        </p:nvSpPr>
        <p:spPr>
          <a:xfrm>
            <a:off x="24098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3C0C7908-F2AA-FE86-92E6-AAFC6C1147D5}"/>
              </a:ext>
            </a:extLst>
          </p:cNvPr>
          <p:cNvSpPr>
            <a:spLocks noGrp="1"/>
          </p:cNvSpPr>
          <p:nvPr/>
        </p:nvSpPr>
        <p:spPr>
          <a:xfrm>
            <a:off x="46196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4AD33AE4-ACB4-0CDC-8E84-065DE4293883}"/>
              </a:ext>
            </a:extLst>
          </p:cNvPr>
          <p:cNvSpPr>
            <a:spLocks noGrp="1"/>
          </p:cNvSpPr>
          <p:nvPr/>
        </p:nvSpPr>
        <p:spPr>
          <a:xfrm>
            <a:off x="68294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B99CEF60-B1D0-8D1F-5D3B-E676A0F8AD4D}"/>
              </a:ext>
            </a:extLst>
          </p:cNvPr>
          <p:cNvSpPr>
            <a:spLocks noGrp="1"/>
          </p:cNvSpPr>
          <p:nvPr/>
        </p:nvSpPr>
        <p:spPr>
          <a:xfrm>
            <a:off x="90392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34550A4-8222-2E21-03B4-D4E1982D6B83}"/>
              </a:ext>
            </a:extLst>
          </p:cNvPr>
          <p:cNvSpPr>
            <a:spLocks noGrp="1"/>
          </p:cNvSpPr>
          <p:nvPr/>
        </p:nvSpPr>
        <p:spPr>
          <a:xfrm>
            <a:off x="6858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82834F1-87F6-EB49-17CB-D7C97B44F1B6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rgbClr val="F5A14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6D6266D-642D-8D19-A311-3F7E8866D76F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DETECTAR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A3082EB-3CCB-8B49-A94B-A0B554290335}"/>
              </a:ext>
            </a:extLst>
          </p:cNvPr>
          <p:cNvSpPr>
            <a:spLocks noGrp="1"/>
          </p:cNvSpPr>
          <p:nvPr/>
        </p:nvSpPr>
        <p:spPr>
          <a:xfrm>
            <a:off x="8382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 dirty="0" err="1">
                <a:solidFill>
                  <a:srgbClr val="C9D1E6"/>
                </a:solidFill>
                <a:latin typeface="Aptos"/>
                <a:ea typeface="Aptos"/>
                <a:cs typeface="Aptos"/>
              </a:rPr>
              <a:t>estimar</a:t>
            </a:r>
            <a:r>
              <a:rPr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 </a:t>
            </a:r>
            <a:r>
              <a:rPr lang="es-PE"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P</a:t>
            </a:r>
            <a:r>
              <a:rPr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(Z|X,C)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32AA713C-7DC6-CAFD-8303-6B7D17BB090C}"/>
              </a:ext>
            </a:extLst>
          </p:cNvPr>
          <p:cNvSpPr>
            <a:spLocks noGrp="1"/>
          </p:cNvSpPr>
          <p:nvPr/>
        </p:nvSpPr>
        <p:spPr>
          <a:xfrm>
            <a:off x="28956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5D82685-4BD8-3F21-A7F7-60B74C92FCF9}"/>
              </a:ext>
            </a:extLst>
          </p:cNvPr>
          <p:cNvSpPr>
            <a:spLocks noGrp="1"/>
          </p:cNvSpPr>
          <p:nvPr/>
        </p:nvSpPr>
        <p:spPr>
          <a:xfrm>
            <a:off x="30480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2A927CE-8DA7-1B6B-1EAC-C26BE96E1A5F}"/>
              </a:ext>
            </a:extLst>
          </p:cNvPr>
          <p:cNvSpPr>
            <a:spLocks noGrp="1"/>
          </p:cNvSpPr>
          <p:nvPr/>
        </p:nvSpPr>
        <p:spPr>
          <a:xfrm>
            <a:off x="30480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DECIDIR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F9DD530-E6BE-B81C-34C8-FF88556D8ACB}"/>
              </a:ext>
            </a:extLst>
          </p:cNvPr>
          <p:cNvSpPr>
            <a:spLocks noGrp="1"/>
          </p:cNvSpPr>
          <p:nvPr/>
        </p:nvSpPr>
        <p:spPr>
          <a:xfrm>
            <a:off x="30480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responder o preguntar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73E53086-4498-9961-2E94-1842B44F0CB3}"/>
              </a:ext>
            </a:extLst>
          </p:cNvPr>
          <p:cNvSpPr>
            <a:spLocks noGrp="1"/>
          </p:cNvSpPr>
          <p:nvPr/>
        </p:nvSpPr>
        <p:spPr>
          <a:xfrm>
            <a:off x="51054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DDCA8778-6E93-BD94-A341-90C0CB5267C1}"/>
              </a:ext>
            </a:extLst>
          </p:cNvPr>
          <p:cNvSpPr>
            <a:spLocks noGrp="1"/>
          </p:cNvSpPr>
          <p:nvPr/>
        </p:nvSpPr>
        <p:spPr>
          <a:xfrm>
            <a:off x="52578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3D8ED98-2D9F-D47A-1133-795FAE696536}"/>
              </a:ext>
            </a:extLst>
          </p:cNvPr>
          <p:cNvSpPr>
            <a:spLocks noGrp="1"/>
          </p:cNvSpPr>
          <p:nvPr/>
        </p:nvSpPr>
        <p:spPr>
          <a:xfrm>
            <a:off x="52578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379C20AA-935E-79BB-05DB-E062D1E53E54}"/>
              </a:ext>
            </a:extLst>
          </p:cNvPr>
          <p:cNvSpPr>
            <a:spLocks noGrp="1"/>
          </p:cNvSpPr>
          <p:nvPr/>
        </p:nvSpPr>
        <p:spPr>
          <a:xfrm>
            <a:off x="52578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condicionar por intención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8F8D0178-EBCE-AC06-DD46-F62F7BB0914D}"/>
              </a:ext>
            </a:extLst>
          </p:cNvPr>
          <p:cNvSpPr>
            <a:spLocks noGrp="1"/>
          </p:cNvSpPr>
          <p:nvPr/>
        </p:nvSpPr>
        <p:spPr>
          <a:xfrm>
            <a:off x="73152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6DABCD64-9B32-E50B-C590-774BDD18C9CA}"/>
              </a:ext>
            </a:extLst>
          </p:cNvPr>
          <p:cNvSpPr>
            <a:spLocks noGrp="1"/>
          </p:cNvSpPr>
          <p:nvPr/>
        </p:nvSpPr>
        <p:spPr>
          <a:xfrm>
            <a:off x="74676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D8FD49F5-1BE4-A03B-682A-BE20B015B045}"/>
              </a:ext>
            </a:extLst>
          </p:cNvPr>
          <p:cNvSpPr>
            <a:spLocks noGrp="1"/>
          </p:cNvSpPr>
          <p:nvPr/>
        </p:nvSpPr>
        <p:spPr>
          <a:xfrm>
            <a:off x="74676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55BB451-7DBE-91F1-74F8-84BAE064C220}"/>
              </a:ext>
            </a:extLst>
          </p:cNvPr>
          <p:cNvSpPr>
            <a:spLocks noGrp="1"/>
          </p:cNvSpPr>
          <p:nvPr/>
        </p:nvSpPr>
        <p:spPr>
          <a:xfrm>
            <a:off x="74676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usar evidencia trazable</a:t>
            </a:r>
          </a:p>
        </p:txBody>
      </p:sp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8F354EB7-1EC8-534D-273D-07D09D7EC01C}"/>
              </a:ext>
            </a:extLst>
          </p:cNvPr>
          <p:cNvSpPr>
            <a:spLocks noGrp="1"/>
          </p:cNvSpPr>
          <p:nvPr/>
        </p:nvSpPr>
        <p:spPr>
          <a:xfrm>
            <a:off x="95250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7E0940E3-D3F2-D56D-AA54-6E1267C9F5A6}"/>
              </a:ext>
            </a:extLst>
          </p:cNvPr>
          <p:cNvSpPr>
            <a:spLocks noGrp="1"/>
          </p:cNvSpPr>
          <p:nvPr/>
        </p:nvSpPr>
        <p:spPr>
          <a:xfrm>
            <a:off x="96774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3" name="Rectángulo 52">
            <a:extLst>
              <a:ext uri="{FF2B5EF4-FFF2-40B4-BE49-F238E27FC236}">
                <a16:creationId xmlns:a16="http://schemas.microsoft.com/office/drawing/2014/main" id="{F4E94DCE-61EB-A94C-65FB-83D6A4A5F0E5}"/>
              </a:ext>
            </a:extLst>
          </p:cNvPr>
          <p:cNvSpPr>
            <a:spLocks noGrp="1"/>
          </p:cNvSpPr>
          <p:nvPr/>
        </p:nvSpPr>
        <p:spPr>
          <a:xfrm>
            <a:off x="96774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MEDIR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06341008-0D78-7854-C3CC-71AC01AC4E1E}"/>
              </a:ext>
            </a:extLst>
          </p:cNvPr>
          <p:cNvSpPr>
            <a:spLocks noGrp="1"/>
          </p:cNvSpPr>
          <p:nvPr/>
        </p:nvSpPr>
        <p:spPr>
          <a:xfrm>
            <a:off x="96774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calidad, costo y riesgo</a:t>
            </a: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954BBBF-B461-787D-BAED-11BF7E49AC85}"/>
              </a:ext>
            </a:extLst>
          </p:cNvPr>
          <p:cNvSpPr/>
          <p:nvPr/>
        </p:nvSpPr>
        <p:spPr>
          <a:xfrm>
            <a:off x="1231900" y="5544253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EAAB643A-AF3C-3841-9948-4509E4A7B37E}"/>
              </a:ext>
            </a:extLst>
          </p:cNvPr>
          <p:cNvSpPr txBox="1"/>
          <p:nvPr/>
        </p:nvSpPr>
        <p:spPr>
          <a:xfrm>
            <a:off x="1743775" y="5667548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política de interacción forma parte de la ingeniería del contexto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A12866EE-9818-B0AE-81FD-A23D5C607209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10015195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C9DB5-C395-6DB9-2288-9DE3271DE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B1CC37CC-54DF-1BA4-A5C6-C9F4E88E33A2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DISEÑO OPERATIVO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85868B5A-6070-A285-09A4-2A3DB3A26428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630">
                <a:solidFill>
                  <a:srgbClr val="8A94A4"/>
                </a:solidFill>
                <a:latin typeface="Aptos"/>
              </a:rPr>
              <a:t>Fuente: docs.pydantic.dev · Strict mode y conversiones de datos.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584EC21-30A6-D383-6D5B-692C7BA0E0A3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F72427B-CDD5-03A8-7505-941278312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967" y="1017095"/>
            <a:ext cx="9637615" cy="5420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0422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89AD1-53FC-F5AB-458B-4B00658B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47CD1AC-50C9-E144-B8DA-7D54A6ADAC1F}"/>
              </a:ext>
            </a:extLst>
          </p:cNvPr>
          <p:cNvSpPr txBox="1"/>
          <p:nvPr/>
        </p:nvSpPr>
        <p:spPr>
          <a:xfrm>
            <a:off x="609600" y="304800"/>
            <a:ext cx="1079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Demo: Efecto de </a:t>
            </a:r>
            <a:r>
              <a:rPr lang="es-US" sz="2000" b="1" dirty="0" err="1">
                <a:solidFill>
                  <a:srgbClr val="2D3B4F"/>
                </a:solidFill>
                <a:latin typeface="Aptos Display"/>
              </a:rPr>
              <a:t>Context</a:t>
            </a:r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 </a:t>
            </a:r>
            <a:r>
              <a:rPr lang="es-US" sz="2000" b="1" dirty="0" err="1">
                <a:solidFill>
                  <a:srgbClr val="2D3B4F"/>
                </a:solidFill>
                <a:latin typeface="Aptos Display"/>
              </a:rPr>
              <a:t>Engineering</a:t>
            </a:r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 y manejo de ambigüedad</a:t>
            </a:r>
          </a:p>
        </p:txBody>
      </p:sp>
      <p:sp>
        <p:nvSpPr>
          <p:cNvPr id="74" name="CuadroTexto 73">
            <a:extLst>
              <a:ext uri="{FF2B5EF4-FFF2-40B4-BE49-F238E27FC236}">
                <a16:creationId xmlns:a16="http://schemas.microsoft.com/office/drawing/2014/main" id="{A28AC3DB-4B29-1B40-8F81-C007E3D933B6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550" dirty="0">
                <a:solidFill>
                  <a:srgbClr val="9AA4B2"/>
                </a:solidFill>
                <a:latin typeface="Aptos"/>
              </a:rPr>
              <a:t>Demo: 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Efecto de </a:t>
            </a:r>
            <a:r>
              <a:rPr lang="es-MX" sz="550" dirty="0" err="1">
                <a:solidFill>
                  <a:srgbClr val="9AA4B2"/>
                </a:solidFill>
                <a:latin typeface="Aptos"/>
              </a:rPr>
              <a:t>Context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 </a:t>
            </a:r>
            <a:r>
              <a:rPr lang="es-MX" sz="550" dirty="0" err="1">
                <a:solidFill>
                  <a:srgbClr val="9AA4B2"/>
                </a:solidFill>
                <a:latin typeface="Aptos"/>
              </a:rPr>
              <a:t>Engineering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 y manejo de ambigüedad</a:t>
            </a:r>
            <a:endParaRPr lang="es-US" sz="550" dirty="0">
              <a:solidFill>
                <a:srgbClr val="9AA4B2"/>
              </a:solidFill>
              <a:latin typeface="Aptos"/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0FE00B91-67B3-25B0-E739-A121D46D1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874" y="3820562"/>
            <a:ext cx="4170330" cy="2377873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82C2B953-29EE-6E13-9F16-1048AE101C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8907" y="3725114"/>
            <a:ext cx="4326746" cy="2473321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DB560B4E-C32F-1C49-8005-012F4DCCA1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863" y="787399"/>
            <a:ext cx="8478088" cy="2758039"/>
          </a:xfrm>
          <a:prstGeom prst="rect">
            <a:avLst/>
          </a:prstGeom>
        </p:spPr>
      </p:pic>
      <p:sp>
        <p:nvSpPr>
          <p:cNvPr id="29" name="Rectángulo 28">
            <a:extLst>
              <a:ext uri="{FF2B5EF4-FFF2-40B4-BE49-F238E27FC236}">
                <a16:creationId xmlns:a16="http://schemas.microsoft.com/office/drawing/2014/main" id="{CB12448A-9CD3-E666-5412-C257E1659F6A}"/>
              </a:ext>
            </a:extLst>
          </p:cNvPr>
          <p:cNvSpPr/>
          <p:nvPr/>
        </p:nvSpPr>
        <p:spPr>
          <a:xfrm>
            <a:off x="400342" y="1167565"/>
            <a:ext cx="2445495" cy="1066800"/>
          </a:xfrm>
          <a:prstGeom prst="rect">
            <a:avLst/>
          </a:prstGeom>
          <a:solidFill>
            <a:srgbClr val="FFFFFF"/>
          </a:solidFill>
          <a:ln w="1524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321F8C6-2569-03F7-B973-A5640CCD4D0B}"/>
              </a:ext>
            </a:extLst>
          </p:cNvPr>
          <p:cNvSpPr/>
          <p:nvPr/>
        </p:nvSpPr>
        <p:spPr>
          <a:xfrm>
            <a:off x="400342" y="1167565"/>
            <a:ext cx="113071" cy="10668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08DAFEDB-3416-B117-B3EB-E05156A77FFA}"/>
              </a:ext>
            </a:extLst>
          </p:cNvPr>
          <p:cNvSpPr txBox="1"/>
          <p:nvPr/>
        </p:nvSpPr>
        <p:spPr>
          <a:xfrm>
            <a:off x="603543" y="1319965"/>
            <a:ext cx="2033038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320" b="1" dirty="0" err="1">
                <a:solidFill>
                  <a:srgbClr val="00A6B0"/>
                </a:solidFill>
                <a:latin typeface="Aptos"/>
              </a:rPr>
              <a:t>Context</a:t>
            </a:r>
            <a:r>
              <a:rPr lang="es-US" sz="1320" b="1" dirty="0">
                <a:solidFill>
                  <a:srgbClr val="00A6B0"/>
                </a:solidFill>
                <a:latin typeface="Aptos"/>
              </a:rPr>
              <a:t> </a:t>
            </a:r>
            <a:r>
              <a:rPr lang="es-US" sz="1320" b="1" dirty="0" err="1">
                <a:solidFill>
                  <a:srgbClr val="00A6B0"/>
                </a:solidFill>
                <a:latin typeface="Aptos"/>
              </a:rPr>
              <a:t>Engineering</a:t>
            </a:r>
            <a:endParaRPr lang="es-US" sz="1320" b="1" dirty="0">
              <a:solidFill>
                <a:srgbClr val="00A6B0"/>
              </a:solidFill>
              <a:latin typeface="Apto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B5E69EFC-9D94-9ADD-FC22-821BB13E6AC2}"/>
              </a:ext>
            </a:extLst>
          </p:cNvPr>
          <p:cNvSpPr txBox="1"/>
          <p:nvPr/>
        </p:nvSpPr>
        <p:spPr>
          <a:xfrm>
            <a:off x="603543" y="1675565"/>
            <a:ext cx="1697136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1200" dirty="0">
                <a:solidFill>
                  <a:srgbClr val="3D4B5F"/>
                </a:solidFill>
                <a:latin typeface="Aptos"/>
              </a:rPr>
              <a:t>Aplicar un compresor de contexto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2AB37B7C-4F16-1A53-7BAE-8A97E5197F4D}"/>
              </a:ext>
            </a:extLst>
          </p:cNvPr>
          <p:cNvSpPr/>
          <p:nvPr/>
        </p:nvSpPr>
        <p:spPr>
          <a:xfrm>
            <a:off x="513413" y="4666498"/>
            <a:ext cx="2332424" cy="1066800"/>
          </a:xfrm>
          <a:prstGeom prst="rect">
            <a:avLst/>
          </a:prstGeom>
          <a:solidFill>
            <a:srgbClr val="FFFFFF"/>
          </a:solidFill>
          <a:ln w="15240" cap="flat" cmpd="sng" algn="ctr">
            <a:solidFill>
              <a:srgbClr val="B35A9D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4718B419-0643-25BD-C309-78AD32E13D40}"/>
              </a:ext>
            </a:extLst>
          </p:cNvPr>
          <p:cNvSpPr/>
          <p:nvPr/>
        </p:nvSpPr>
        <p:spPr>
          <a:xfrm>
            <a:off x="513412" y="4666498"/>
            <a:ext cx="113071" cy="1066800"/>
          </a:xfrm>
          <a:prstGeom prst="rect">
            <a:avLst/>
          </a:prstGeom>
          <a:solidFill>
            <a:srgbClr val="B35A9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0B36139-B1D4-80E4-3918-2FAD391D981C}"/>
              </a:ext>
            </a:extLst>
          </p:cNvPr>
          <p:cNvSpPr txBox="1"/>
          <p:nvPr/>
        </p:nvSpPr>
        <p:spPr>
          <a:xfrm>
            <a:off x="716613" y="4818898"/>
            <a:ext cx="2045248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320" b="1" dirty="0">
                <a:solidFill>
                  <a:srgbClr val="B35A9D"/>
                </a:solidFill>
                <a:latin typeface="Aptos"/>
              </a:rPr>
              <a:t>Manejo de ambigüedad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30DCEA8-7EDC-8EDE-BBFE-649E11F78E9D}"/>
              </a:ext>
            </a:extLst>
          </p:cNvPr>
          <p:cNvSpPr txBox="1"/>
          <p:nvPr/>
        </p:nvSpPr>
        <p:spPr>
          <a:xfrm>
            <a:off x="716612" y="5174498"/>
            <a:ext cx="2045249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200" dirty="0">
                <a:solidFill>
                  <a:srgbClr val="3D4B5F"/>
                </a:solidFill>
                <a:latin typeface="Aptos"/>
              </a:rPr>
              <a:t>Comparación entre </a:t>
            </a:r>
            <a:r>
              <a:rPr lang="es-US" sz="1200" dirty="0" err="1">
                <a:solidFill>
                  <a:srgbClr val="3D4B5F"/>
                </a:solidFill>
                <a:latin typeface="Aptos"/>
              </a:rPr>
              <a:t>retrieval</a:t>
            </a:r>
            <a:r>
              <a:rPr lang="es-US" sz="1200" dirty="0">
                <a:solidFill>
                  <a:srgbClr val="3D4B5F"/>
                </a:solidFill>
                <a:latin typeface="Aptos"/>
              </a:rPr>
              <a:t> sin/con clarificación</a:t>
            </a:r>
          </a:p>
        </p:txBody>
      </p:sp>
    </p:spTree>
    <p:extLst>
      <p:ext uri="{BB962C8B-B14F-4D97-AF65-F5344CB8AC3E}">
        <p14:creationId xmlns:p14="http://schemas.microsoft.com/office/powerpoint/2010/main" val="23784874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AEE1CDEC-F0BE-884A-9FA6-4542A5EDF430}"/>
              </a:ext>
            </a:extLst>
          </p:cNvPr>
          <p:cNvSpPr txBox="1"/>
          <p:nvPr/>
        </p:nvSpPr>
        <p:spPr>
          <a:xfrm>
            <a:off x="355600" y="4165600"/>
            <a:ext cx="5842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3200" b="1" dirty="0">
                <a:solidFill>
                  <a:srgbClr val="FFFFFF"/>
                </a:solidFill>
                <a:latin typeface="Aptos Display"/>
              </a:rPr>
              <a:t>Muchas gracias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C43D12B-FD77-DD4F-A5DB-FAAC6C5475ED}"/>
              </a:ext>
            </a:extLst>
          </p:cNvPr>
          <p:cNvSpPr txBox="1"/>
          <p:nvPr/>
        </p:nvSpPr>
        <p:spPr>
          <a:xfrm>
            <a:off x="9906000" y="6375400"/>
            <a:ext cx="2032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400" b="1" dirty="0">
                <a:solidFill>
                  <a:srgbClr val="FFFFFF"/>
                </a:solidFill>
                <a:latin typeface="Aptos"/>
              </a:rPr>
              <a:t>28 de mayo de 2026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BB0EAF2A-45C7-0A23-76D6-14B5E14A50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59" y="6141866"/>
            <a:ext cx="3488321" cy="357776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lIns="90875" tIns="45438" rIns="90875" bIns="45438" rtlCol="0" anchor="b">
            <a:normAutofit fontScale="97500"/>
          </a:bodyPr>
          <a:lstStyle/>
          <a:p>
            <a:pPr>
              <a:spcBef>
                <a:spcPct val="0"/>
              </a:spcBef>
            </a:pPr>
            <a:r>
              <a:rPr lang="es-PE" sz="1420" b="1" dirty="0">
                <a:solidFill>
                  <a:schemeClr val="bg1"/>
                </a:solidFill>
                <a:latin typeface="Flexo" pitchFamily="50" charset="0"/>
              </a:rPr>
              <a:t>IA Academy · Programa IA Credicorp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D5B5166-5DEF-7385-357C-73D7CDCD74AB}"/>
              </a:ext>
            </a:extLst>
          </p:cNvPr>
          <p:cNvSpPr txBox="1"/>
          <p:nvPr/>
        </p:nvSpPr>
        <p:spPr>
          <a:xfrm>
            <a:off x="9569116" y="6075431"/>
            <a:ext cx="2525215" cy="664797"/>
          </a:xfrm>
          <a:prstGeom prst="rect">
            <a:avLst/>
          </a:prstGeom>
          <a:solidFill>
            <a:schemeClr val="tx1">
              <a:alpha val="52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860" b="1" dirty="0">
                <a:solidFill>
                  <a:schemeClr val="bg1"/>
                </a:solidFill>
                <a:latin typeface="Flexo" pitchFamily="50" charset="0"/>
              </a:rPr>
              <a:t>28 de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38894819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heme/theme1.xml><?xml version="1.0" encoding="utf-8"?>
<a:theme xmlns:a="http://schemas.openxmlformats.org/drawingml/2006/main" name="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2.xml><?xml version="1.0" encoding="utf-8"?>
<a:theme xmlns:a="http://schemas.openxmlformats.org/drawingml/2006/main" name="2_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3.xml><?xml version="1.0" encoding="utf-8"?>
<a:theme xmlns:a="http://schemas.openxmlformats.org/drawingml/2006/main" name="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4.xml><?xml version="1.0" encoding="utf-8"?>
<a:theme xmlns:a="http://schemas.openxmlformats.org/drawingml/2006/main" name="2_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E972A8B-E1AA-D146-84DB-86F49DF23F61}">
  <we:reference id="wa200010215" version="2.0.0.0" store="en-US" storeType="OMEX"/>
  <we:alternateReferences>
    <we:reference id="wa200010215" version="2.0.0.0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AB4CF383B5F44A82AAEB8F398B0092" ma:contentTypeVersion="19" ma:contentTypeDescription="Crear nuevo documento." ma:contentTypeScope="" ma:versionID="692a6bb77e5de4f79e3f4c419452eb86">
  <xsd:schema xmlns:xsd="http://www.w3.org/2001/XMLSchema" xmlns:xs="http://www.w3.org/2001/XMLSchema" xmlns:p="http://schemas.microsoft.com/office/2006/metadata/properties" xmlns:ns2="202c78df-9e91-47d5-8244-2cb6576a2346" xmlns:ns3="dabffc8c-5b7a-413d-ad46-e9de22e0e43d" targetNamespace="http://schemas.microsoft.com/office/2006/metadata/properties" ma:root="true" ma:fieldsID="b580411b87d98c9d5eb7fd73ae4b83c6" ns2:_="" ns3:_="">
    <xsd:import namespace="202c78df-9e91-47d5-8244-2cb6576a2346"/>
    <xsd:import namespace="dabffc8c-5b7a-413d-ad46-e9de22e0e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BillingMetadata" minOccurs="0"/>
                <xsd:element ref="ns2:pregunta_x0020_1" minOccurs="0"/>
                <xsd:element ref="ns2:link" minOccurs="0"/>
                <xsd:element ref="ns2:tipo_x0020_numero" minOccurs="0"/>
                <xsd:element ref="ns2:comentario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2c78df-9e91-47d5-8244-2cb6576a23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Etiquetas de imagen" ma:readOnly="false" ma:fieldId="{5cf76f15-5ced-4ddc-b409-7134ff3c332f}" ma:taxonomyMulti="true" ma:sspId="99a4d325-e744-4b40-a3b6-bd808253bd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  <xsd:element name="pregunta_x0020_1" ma:index="23" nillable="true" ma:displayName="pregunta 1" ma:internalName="pregunta_x0020_1">
      <xsd:simpleType>
        <xsd:restriction base="dms:Text"/>
      </xsd:simpleType>
    </xsd:element>
    <xsd:element name="link" ma:index="24" nillable="true" ma:displayName="link" ma:internalName="link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tipo_x0020_numero" ma:index="25" nillable="true" ma:displayName="tipo numero" ma:internalName="tipo_x0020_numero">
      <xsd:simpleType>
        <xsd:restriction base="dms:Number"/>
      </xsd:simpleType>
    </xsd:element>
    <xsd:element name="comentarios" ma:index="26" nillable="true" ma:displayName="comentarios" ma:internalName="comentarios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bffc8c-5b7a-413d-ad46-e9de22e0e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71e0fc9e-edee-4fc1-a44e-282a58e8adad}" ma:internalName="TaxCatchAll" ma:showField="CatchAllData" ma:web="dabffc8c-5b7a-413d-ad46-e9de22e0e43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abffc8c-5b7a-413d-ad46-e9de22e0e43d" xsi:nil="true"/>
    <lcf76f155ced4ddcb4097134ff3c332f xmlns="202c78df-9e91-47d5-8244-2cb6576a2346">
      <Terms xmlns="http://schemas.microsoft.com/office/infopath/2007/PartnerControls"/>
    </lcf76f155ced4ddcb4097134ff3c332f>
    <SharedWithUsers xmlns="dabffc8c-5b7a-413d-ad46-e9de22e0e43d">
      <UserInfo>
        <DisplayName>Emanuel Antonio Caceres Diaz</DisplayName>
        <AccountId>12</AccountId>
        <AccountType/>
      </UserInfo>
      <UserInfo>
        <DisplayName>Martin Grisolle Martinez - CREDICORP PERU</DisplayName>
        <AccountId>207</AccountId>
        <AccountType/>
      </UserInfo>
    </SharedWithUsers>
    <pregunta_x0020_1 xmlns="202c78df-9e91-47d5-8244-2cb6576a2346" xsi:nil="true"/>
    <link xmlns="202c78df-9e91-47d5-8244-2cb6576a2346">
      <Url xsi:nil="true"/>
      <Description xsi:nil="true"/>
    </link>
    <tipo_x0020_numero xmlns="202c78df-9e91-47d5-8244-2cb6576a2346" xsi:nil="true"/>
    <comentarios xmlns="202c78df-9e91-47d5-8244-2cb6576a2346" xsi:nil="true"/>
  </documentManagement>
</p:properties>
</file>

<file path=customXml/itemProps1.xml><?xml version="1.0" encoding="utf-8"?>
<ds:datastoreItem xmlns:ds="http://schemas.openxmlformats.org/officeDocument/2006/customXml" ds:itemID="{A4B8AA92-19DC-4D1D-9E96-6E265DCDE8C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B8308D9-07A1-48EE-9217-90A2F74985DA}">
  <ds:schemaRefs>
    <ds:schemaRef ds:uri="202c78df-9e91-47d5-8244-2cb6576a2346"/>
    <ds:schemaRef ds:uri="dabffc8c-5b7a-413d-ad46-e9de22e0e43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E029827-14AA-4E0D-AD80-8D4918AF9905}">
  <ds:schemaRefs>
    <ds:schemaRef ds:uri="202c78df-9e91-47d5-8244-2cb6576a2346"/>
    <ds:schemaRef ds:uri="dabffc8c-5b7a-413d-ad46-e9de22e0e43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c15ead3b-a842-409e-8059-3e3468c48585}" enabled="1" method="Standard" siteId="{5d93ebcc-f769-4380-8b7e-289fc972da1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7933</TotalTime>
  <Words>1581</Words>
  <Application>Microsoft Office PowerPoint</Application>
  <PresentationFormat>Personalizado</PresentationFormat>
  <Paragraphs>230</Paragraphs>
  <Slides>22</Slides>
  <Notes>21</Notes>
  <HiddenSlides>0</HiddenSlides>
  <MMClips>0</MMClips>
  <ScaleCrop>false</ScaleCrop>
  <HeadingPairs>
    <vt:vector size="8" baseType="variant">
      <vt:variant>
        <vt:lpstr>Fuentes usadas</vt:lpstr>
      </vt:variant>
      <vt:variant>
        <vt:i4>8</vt:i4>
      </vt:variant>
      <vt:variant>
        <vt:lpstr>Tema</vt:lpstr>
      </vt:variant>
      <vt:variant>
        <vt:i4>4</vt:i4>
      </vt:variant>
      <vt:variant>
        <vt:lpstr>Servidores OLE incrustados</vt:lpstr>
      </vt:variant>
      <vt:variant>
        <vt:i4>2</vt:i4>
      </vt:variant>
      <vt:variant>
        <vt:lpstr>Títulos de diapositiva</vt:lpstr>
      </vt:variant>
      <vt:variant>
        <vt:i4>22</vt:i4>
      </vt:variant>
    </vt:vector>
  </HeadingPairs>
  <TitlesOfParts>
    <vt:vector size="36" baseType="lpstr">
      <vt:lpstr>Flexo</vt:lpstr>
      <vt:lpstr>Helvetica Neue</vt:lpstr>
      <vt:lpstr>Aptos</vt:lpstr>
      <vt:lpstr>Aptos Display</vt:lpstr>
      <vt:lpstr>Arial</vt:lpstr>
      <vt:lpstr>Calibri</vt:lpstr>
      <vt:lpstr>Georgia</vt:lpstr>
      <vt:lpstr>Segoe UI</vt:lpstr>
      <vt:lpstr>Plantilla base</vt:lpstr>
      <vt:lpstr>2_Plantilla base</vt:lpstr>
      <vt:lpstr>Plantilla base</vt:lpstr>
      <vt:lpstr>2_Plantilla base</vt:lpstr>
      <vt:lpstr>Diapositiva de think-cell</vt:lpstr>
      <vt:lpstr>think-cell Slide</vt:lpstr>
      <vt:lpstr>Context Engineering y Ambigüedad en Agentes Conversacionales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Alexis</dc:creator>
  <cp:lastModifiedBy>Kevin Gomez Villanueva</cp:lastModifiedBy>
  <cp:revision>61</cp:revision>
  <cp:lastPrinted>2026-05-28T07:44:13Z</cp:lastPrinted>
  <dcterms:created xsi:type="dcterms:W3CDTF">2018-11-30T22:18:41Z</dcterms:created>
  <dcterms:modified xsi:type="dcterms:W3CDTF">2026-08-04T17:27:25Z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0x01010045AB4CF383B5F44A82AAEB8F398B0092</vt:lpwstr>
  </property>
  <property fmtid="{D5CDD505-2E9C-101B-9397-08002B2CF9AE}" pid="3" name="Order">
    <vt:r8>66400</vt:r8>
  </property>
  <property fmtid="{D5CDD505-2E9C-101B-9397-08002B2CF9AE}" pid="4" name="ComplianceAssetId">
    <vt:lpwstr/>
  </property>
  <property fmtid="{D5CDD505-2E9C-101B-9397-08002B2CF9AE}" pid="5" name="MediaServiceImageTags">
    <vt:lpwstr/>
  </property>
  <property fmtid="{D5CDD505-2E9C-101B-9397-08002B2CF9AE}" pid="6" name="MSIP_Label_c15ead3b-a842-409e-8059-3e3468c48585_Enabled">
    <vt:lpwstr>true</vt:lpwstr>
  </property>
  <property fmtid="{D5CDD505-2E9C-101B-9397-08002B2CF9AE}" pid="7" name="MSIP_Label_c15ead3b-a842-409e-8059-3e3468c48585_SetDate">
    <vt:lpwstr>2023-07-06T19:52:24Z</vt:lpwstr>
  </property>
  <property fmtid="{D5CDD505-2E9C-101B-9397-08002B2CF9AE}" pid="8" name="MSIP_Label_c15ead3b-a842-409e-8059-3e3468c48585_Method">
    <vt:lpwstr>Standard</vt:lpwstr>
  </property>
  <property fmtid="{D5CDD505-2E9C-101B-9397-08002B2CF9AE}" pid="9" name="MSIP_Label_c15ead3b-a842-409e-8059-3e3468c48585_Name">
    <vt:lpwstr>Interna BCP</vt:lpwstr>
  </property>
  <property fmtid="{D5CDD505-2E9C-101B-9397-08002B2CF9AE}" pid="10" name="MSIP_Label_c15ead3b-a842-409e-8059-3e3468c48585_SiteId">
    <vt:lpwstr>5d93ebcc-f769-4380-8b7e-289fc972da1b</vt:lpwstr>
  </property>
  <property fmtid="{D5CDD505-2E9C-101B-9397-08002B2CF9AE}" pid="11" name="MSIP_Label_c15ead3b-a842-409e-8059-3e3468c48585_ActionId">
    <vt:lpwstr>652cbedf-ae25-4a2d-9348-ec1b6dce3fa0</vt:lpwstr>
  </property>
  <property fmtid="{D5CDD505-2E9C-101B-9397-08002B2CF9AE}" pid="12" name="MSIP_Label_c15ead3b-a842-409e-8059-3e3468c48585_ContentBits">
    <vt:lpwstr>2</vt:lpwstr>
  </property>
  <property fmtid="{D5CDD505-2E9C-101B-9397-08002B2CF9AE}" pid="13" name="ClassificationContentMarkingFooterLocations">
    <vt:lpwstr>Portada 1:5\Portada 2:6\Cierre presentación:6\Tabla contenidos:7\Portadilla / diviciones:5\Portadilla 2 - diviciones:7\1-Contenido libre:5\Texto blanco sobre fondo oscuro:7\3-Contenido Libre :5\4-Contenido Libre:5</vt:lpwstr>
  </property>
  <property fmtid="{D5CDD505-2E9C-101B-9397-08002B2CF9AE}" pid="14" name="ClassificationContentMarkingFooterText">
    <vt:lpwstr>Datos elaborados por BCP para uso Interno</vt:lpwstr>
  </property>
</Properties>
</file>