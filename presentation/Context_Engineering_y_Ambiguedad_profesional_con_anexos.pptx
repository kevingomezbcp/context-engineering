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Sin contexto</c:v>
          </c:tx>
          <c:spPr>
            <a:solidFill>
              <a:srgbClr val="AFC8CE"/>
            </a:solidFill>
            <a:ln w="9525">
              <a:solidFill>
                <a:srgbClr val="8AABB4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F172A"/>
                    </a:solidFill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No ambigua</c:v>
              </c:pt>
              <c:pt idx="1">
                <c:v>Ambigua</c:v>
              </c:pt>
            </c:strLit>
          </c:cat>
          <c:val>
            <c:numLit>
              <c:formatCode>0"%"</c:formatCode>
              <c:ptCount val="2"/>
              <c:pt idx="0">
                <c:v>54</c:v>
              </c:pt>
              <c:pt idx="1">
                <c:v>46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ABB4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C26-4979-B574-941AD556D908}"/>
            </c:ext>
          </c:extLst>
        </c:ser>
        <c:ser>
          <c:idx val="1"/>
          <c:order val="1"/>
          <c:tx>
            <c:v>Con contexto</c:v>
          </c:tx>
          <c:spPr>
            <a:solidFill>
              <a:srgbClr val="156082"/>
            </a:solidFill>
            <a:ln w="9525">
              <a:solidFill>
                <a:srgbClr val="0E4A5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F172A"/>
                    </a:solidFill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No ambigua</c:v>
              </c:pt>
              <c:pt idx="1">
                <c:v>Ambigua</c:v>
              </c:pt>
            </c:strLit>
          </c:cat>
          <c:val>
            <c:numLit>
              <c:formatCode>0"%"</c:formatCode>
              <c:ptCount val="2"/>
              <c:pt idx="0">
                <c:v>67</c:v>
              </c:pt>
              <c:pt idx="1">
                <c:v>55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E4A5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C26-4979-B574-941AD556D9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CBD5E1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4748B"/>
                </a:solidFill>
              </a:defRPr>
            </a:pPr>
            <a:endParaRPr lang="es-P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&quot;%&quot;" sourceLinked="1"/>
        <c:majorTickMark val="none"/>
        <c:minorTickMark val="none"/>
        <c:tickLblPos val="nextTo"/>
        <c:spPr>
          <a:ln w="9525">
            <a:solidFill>
              <a:srgbClr val="CBD5E1"/>
            </a:solidFill>
            <a:prstDash val="solid"/>
          </a:ln>
        </c:spPr>
        <c:txPr>
          <a:bodyPr anchorCtr="1"/>
          <a:lstStyle/>
          <a:p>
            <a:pPr>
              <a:defRPr sz="975" b="1">
                <a:solidFill>
                  <a:srgbClr val="334155"/>
                </a:solidFill>
              </a:defRPr>
            </a:pPr>
            <a:endParaRPr lang="es-PE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475569"/>
              </a:solidFill>
            </a:defRPr>
          </a:pPr>
          <a:endParaRPr lang="es-PE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5.</a:t>
            </a:r>
          </a:p>
          <a:p>
            <a:r>
              <a:t>- Shannon, C. E. (1948), A Mathematical Theory of Communication. https://doi.org/10.1002/j.1538-7305.1948.tb01338.x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6.</a:t>
            </a:r>
          </a:p>
          <a:p>
            <a:r>
              <a:t>- Shannon, C. E. (1948), A Mathematical Theory of Communication. https://doi.org/10.1002/j.1538-7305.1948.tb01338.x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7.</a:t>
            </a:r>
          </a:p>
          <a:p>
            <a:r>
              <a:t>- Shannon, C. E. (1948), A Mathematical Theory of Communication. https://doi.org/10.1002/j.1538-7305.1948.tb01338.x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9.</a:t>
            </a:r>
          </a:p>
          <a:p>
            <a:r>
              <a:t>- Lewis, P.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10.</a:t>
            </a:r>
          </a:p>
          <a:p>
            <a:r>
              <a:t>- Lewis, P.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11.</a:t>
            </a:r>
          </a:p>
          <a:p>
            <a:r>
              <a:t>- Lewis, P.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13.</a:t>
            </a:r>
          </a:p>
          <a:p>
            <a:r>
              <a:t>- Wei, J. et al. (2022), Chain-of-Thought Prompting Elicits Reasoning in Large Language Models. https://arxiv.org/abs/2201.11903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25.</a:t>
            </a:r>
          </a:p>
          <a:p>
            <a:r>
              <a:t>- Shannon, C. E. (1948), A Mathematical Theory of Communication.</a:t>
            </a:r>
          </a:p>
          <a:p>
            <a:r>
              <a:t>- Lewis, P. et al. (2020), Retrieval-Augmented Generation for Knowledge-Intensive NLP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26.</a:t>
            </a:r>
          </a:p>
          <a:p>
            <a:r>
              <a:t>- Bayes, T. (1763), An Essay towards solving a Problem in the Doctrine of Chances.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28.</a:t>
            </a:r>
          </a:p>
          <a:p>
            <a:r>
              <a:t>- Shannon, C. E. (1948), A Mathematical Theory of Communication.</a:t>
            </a:r>
          </a:p>
          <a:p>
            <a:r>
              <a:t>- Cover, T. M. &amp; Thomas, J. A. (2006), Elements of Information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29.</a:t>
            </a:r>
          </a:p>
          <a:p>
            <a:r>
              <a:t>- Berger, J. O. (1985), Statistical Decision Theory and Bayesian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30.</a:t>
            </a:r>
          </a:p>
          <a:p>
            <a:r>
              <a:t>- Lewis, P. et al. (2020), Retrieval-Augmented Generation for Knowledge-Intensive NLP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31.</a:t>
            </a:r>
          </a:p>
          <a:p>
            <a:r>
              <a:t>- Cover, T. M. &amp; Thomas, J. A. (2006), Elements of Information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32.</a:t>
            </a:r>
          </a:p>
          <a:p>
            <a:r>
              <a:t>- Cover, T. M. &amp; Thomas, J. A. (2006), Elements of Information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33.</a:t>
            </a:r>
          </a:p>
          <a:p>
            <a:r>
              <a:t>- Cover, T. M. &amp; Thomas, J. A. (2006), Elements of Information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derivación añadida después de la diapositiva 34.</a:t>
            </a:r>
          </a:p>
          <a:p>
            <a:r>
              <a:t>- Su &amp; Cardie (2026), evidencia agregada citada en el deck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ipse 24">
            <a:extLst>
              <a:ext uri="{FF2B5EF4-FFF2-40B4-BE49-F238E27FC236}">
                <a16:creationId xmlns:a16="http://schemas.microsoft.com/office/drawing/2014/main" id="{668E6363-E16B-41EB-A49F-6C509F7F6495}"/>
              </a:ext>
            </a:extLst>
          </p:cNvPr>
          <p:cNvSpPr>
            <a:spLocks noGrp="1"/>
          </p:cNvSpPr>
          <p:nvPr/>
        </p:nvSpPr>
        <p:spPr>
          <a:xfrm>
            <a:off x="8001000" y="904875"/>
            <a:ext cx="4000500" cy="4000500"/>
          </a:xfrm>
          <a:prstGeom prst="ellipse">
            <a:avLst/>
          </a:prstGeom>
          <a:gradFill>
            <a:gsLst>
              <a:gs pos="0">
                <a:srgbClr val="7769F4">
                  <a:alpha val="42000"/>
                </a:srgbClr>
              </a:gs>
              <a:gs pos="72000">
                <a:srgbClr val="7769F4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2445CF0B-79BC-43ED-B98D-A46A30310FE1}"/>
              </a:ext>
            </a:extLst>
          </p:cNvPr>
          <p:cNvSpPr>
            <a:spLocks noGrp="1"/>
          </p:cNvSpPr>
          <p:nvPr/>
        </p:nvSpPr>
        <p:spPr>
          <a:xfrm>
            <a:off x="6762750" y="3429000"/>
            <a:ext cx="3429000" cy="3429000"/>
          </a:xfrm>
          <a:prstGeom prst="ellipse">
            <a:avLst/>
          </a:prstGeom>
          <a:gradFill>
            <a:gsLst>
              <a:gs pos="0">
                <a:srgbClr val="45E0D0">
                  <a:alpha val="30000"/>
                </a:srgbClr>
              </a:gs>
              <a:gs pos="72000">
                <a:srgbClr val="45E0D0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6F0EF1A-BA7C-4550-95CA-F4F2195E0DD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2762250" cy="285750"/>
          </a:xfrm>
          <a:prstGeom prst="roundRect">
            <a:avLst>
              <a:gd name="adj" fmla="val 50000"/>
            </a:avLst>
          </a:prstGeom>
          <a:solidFill>
            <a:srgbClr val="45E0D0">
              <a:alpha val="22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0852A1-DC7C-48F2-9E5E-812E373504EB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253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ESTRATEGIA · RAG · DECISIONES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DCA87D-7E4A-42F4-9B2F-484246F90B7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8000"/>
              </a:lnSpc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Context Engineering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95D148-99ED-4F9C-AEA8-96ABD6D04C1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657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400" b="1" i="0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y manejo de ambigüedad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0339DB-9AFF-410C-B228-9522E897B106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810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0" i="0">
                <a:solidFill>
                  <a:srgbClr val="CDD4E7"/>
                </a:solidFill>
                <a:latin typeface="Aptos"/>
                <a:ea typeface="Aptos"/>
                <a:cs typeface="Aptos"/>
              </a:defRPr>
            </a:pPr>
            <a:r>
              <a:rPr sz="20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Diseñar la información que el modelo necesita — y saber cuándo preguntar.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7E30BF-89C8-4850-B361-2AA577B990CF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C7CEDF"/>
                </a:solidFill>
                <a:latin typeface="Aptos"/>
                <a:ea typeface="Aptos"/>
                <a:cs typeface="Aptos"/>
              </a:rPr>
              <a:t>Kevin Gomez Villanueva  ·  AI Engineer en BCP  ·  Julio 2026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304543B5-D8F6-445E-8B61-D262757A7A7D}"/>
              </a:ext>
            </a:extLst>
          </p:cNvPr>
          <p:cNvSpPr>
            <a:spLocks noGrp="1"/>
          </p:cNvSpPr>
          <p:nvPr/>
        </p:nvSpPr>
        <p:spPr>
          <a:xfrm flipV="1">
            <a:off x="8810625" y="1714500"/>
            <a:ext cx="1266825" cy="1885950"/>
          </a:xfrm>
          <a:prstGeom prst="line">
            <a:avLst/>
          </a:prstGeom>
          <a:noFill/>
          <a:ln w="28575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42B44321-8953-4B9F-91AE-4282FDB75A52}"/>
              </a:ext>
            </a:extLst>
          </p:cNvPr>
          <p:cNvSpPr>
            <a:spLocks noGrp="1"/>
          </p:cNvSpPr>
          <p:nvPr/>
        </p:nvSpPr>
        <p:spPr>
          <a:xfrm flipV="1">
            <a:off x="8810625" y="2667000"/>
            <a:ext cx="1685925" cy="933450"/>
          </a:xfrm>
          <a:prstGeom prst="line">
            <a:avLst/>
          </a:prstGeom>
          <a:noFill/>
          <a:ln w="28575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14B9E05F-0ABB-4D0C-A366-59B01D2A8261}"/>
              </a:ext>
            </a:extLst>
          </p:cNvPr>
          <p:cNvSpPr>
            <a:spLocks noGrp="1"/>
          </p:cNvSpPr>
          <p:nvPr/>
        </p:nvSpPr>
        <p:spPr>
          <a:xfrm>
            <a:off x="8810625" y="3600450"/>
            <a:ext cx="1762125" cy="133350"/>
          </a:xfrm>
          <a:prstGeom prst="line">
            <a:avLst/>
          </a:prstGeom>
          <a:noFill/>
          <a:ln w="28575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4E062AC5-F0E5-4C83-A43D-266B5A6224F1}"/>
              </a:ext>
            </a:extLst>
          </p:cNvPr>
          <p:cNvSpPr>
            <a:spLocks noGrp="1"/>
          </p:cNvSpPr>
          <p:nvPr/>
        </p:nvSpPr>
        <p:spPr>
          <a:xfrm>
            <a:off x="8810625" y="3600450"/>
            <a:ext cx="1190625" cy="1209675"/>
          </a:xfrm>
          <a:prstGeom prst="line">
            <a:avLst/>
          </a:prstGeom>
          <a:noFill/>
          <a:ln w="28575">
            <a:solidFill>
              <a:srgbClr val="FF6F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9B81A806-ADE3-4C74-97F6-4FC845DF14E9}"/>
              </a:ext>
            </a:extLst>
          </p:cNvPr>
          <p:cNvSpPr>
            <a:spLocks noGrp="1"/>
          </p:cNvSpPr>
          <p:nvPr/>
        </p:nvSpPr>
        <p:spPr>
          <a:xfrm>
            <a:off x="7048500" y="3600450"/>
            <a:ext cx="1190625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9198B71-39A0-46E6-90F9-7253CDE798A0}"/>
              </a:ext>
            </a:extLst>
          </p:cNvPr>
          <p:cNvSpPr>
            <a:spLocks noGrp="1"/>
          </p:cNvSpPr>
          <p:nvPr/>
        </p:nvSpPr>
        <p:spPr>
          <a:xfrm>
            <a:off x="8239125" y="3314700"/>
            <a:ext cx="1143000" cy="571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5E0D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040CC15-8324-4F81-B4B0-AD8833DAECB8}"/>
              </a:ext>
            </a:extLst>
          </p:cNvPr>
          <p:cNvSpPr>
            <a:spLocks noGrp="1"/>
          </p:cNvSpPr>
          <p:nvPr/>
        </p:nvSpPr>
        <p:spPr>
          <a:xfrm>
            <a:off x="8239125" y="34480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740D85D-7978-40FF-AE57-131F4538FB1A}"/>
              </a:ext>
            </a:extLst>
          </p:cNvPr>
          <p:cNvSpPr>
            <a:spLocks noGrp="1"/>
          </p:cNvSpPr>
          <p:nvPr/>
        </p:nvSpPr>
        <p:spPr>
          <a:xfrm>
            <a:off x="9791700" y="1428750"/>
            <a:ext cx="952500" cy="571500"/>
          </a:xfrm>
          <a:prstGeom prst="ellipse">
            <a:avLst/>
          </a:prstGeom>
          <a:solidFill>
            <a:srgbClr val="45E0D0">
              <a:alpha val="20000"/>
            </a:srgbClr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D141880-6621-4370-A6C3-A6ECE357C80D}"/>
              </a:ext>
            </a:extLst>
          </p:cNvPr>
          <p:cNvSpPr>
            <a:spLocks noGrp="1"/>
          </p:cNvSpPr>
          <p:nvPr/>
        </p:nvSpPr>
        <p:spPr>
          <a:xfrm>
            <a:off x="9791700" y="15621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8E21044-4E30-43AC-A5E8-3D2538EEC329}"/>
              </a:ext>
            </a:extLst>
          </p:cNvPr>
          <p:cNvSpPr>
            <a:spLocks noGrp="1"/>
          </p:cNvSpPr>
          <p:nvPr/>
        </p:nvSpPr>
        <p:spPr>
          <a:xfrm>
            <a:off x="10210800" y="2381250"/>
            <a:ext cx="952500" cy="571500"/>
          </a:xfrm>
          <a:prstGeom prst="ellipse">
            <a:avLst/>
          </a:prstGeom>
          <a:solidFill>
            <a:srgbClr val="7769F4">
              <a:alpha val="20000"/>
            </a:srgbClr>
          </a:solidFill>
          <a:ln w="1905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15A430F-F76B-4A83-B18B-C091F0DE142B}"/>
              </a:ext>
            </a:extLst>
          </p:cNvPr>
          <p:cNvSpPr>
            <a:spLocks noGrp="1"/>
          </p:cNvSpPr>
          <p:nvPr/>
        </p:nvSpPr>
        <p:spPr>
          <a:xfrm>
            <a:off x="10210800" y="25146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C2E1A1F-E6F4-4AE9-95AB-3F126D59DBCF}"/>
              </a:ext>
            </a:extLst>
          </p:cNvPr>
          <p:cNvSpPr>
            <a:spLocks noGrp="1"/>
          </p:cNvSpPr>
          <p:nvPr/>
        </p:nvSpPr>
        <p:spPr>
          <a:xfrm>
            <a:off x="10287000" y="3448050"/>
            <a:ext cx="952500" cy="571500"/>
          </a:xfrm>
          <a:prstGeom prst="ellipse">
            <a:avLst/>
          </a:prstGeom>
          <a:solidFill>
            <a:srgbClr val="FFB66E">
              <a:alpha val="20000"/>
            </a:srgbClr>
          </a:solidFill>
          <a:ln w="1905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08017C7-B626-444D-B671-2B1A54FA0C00}"/>
              </a:ext>
            </a:extLst>
          </p:cNvPr>
          <p:cNvSpPr>
            <a:spLocks noGrp="1"/>
          </p:cNvSpPr>
          <p:nvPr/>
        </p:nvSpPr>
        <p:spPr>
          <a:xfrm>
            <a:off x="10287000" y="35814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680843B-C48B-4226-9204-88BE085D9337}"/>
              </a:ext>
            </a:extLst>
          </p:cNvPr>
          <p:cNvSpPr>
            <a:spLocks noGrp="1"/>
          </p:cNvSpPr>
          <p:nvPr/>
        </p:nvSpPr>
        <p:spPr>
          <a:xfrm>
            <a:off x="9715500" y="4524375"/>
            <a:ext cx="952500" cy="571500"/>
          </a:xfrm>
          <a:prstGeom prst="ellipse">
            <a:avLst/>
          </a:prstGeom>
          <a:solidFill>
            <a:srgbClr val="FF6F7D">
              <a:alpha val="20000"/>
            </a:srgbClr>
          </a:solidFill>
          <a:ln w="19050">
            <a:solidFill>
              <a:srgbClr val="FF6F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70C7BF6-9AE4-4833-8681-7534587E1669}"/>
              </a:ext>
            </a:extLst>
          </p:cNvPr>
          <p:cNvSpPr>
            <a:spLocks noGrp="1"/>
          </p:cNvSpPr>
          <p:nvPr/>
        </p:nvSpPr>
        <p:spPr>
          <a:xfrm>
            <a:off x="9715500" y="465772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Z₄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B2BB35A-5BEB-4322-B691-4DB259310E4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38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937DAF15-F4E4-46D8-8B59-477BD0E5867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02 / EL PROBLEMA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4E3513-4D26-471F-9310-13C093F8373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Una </a:t>
            </a:r>
            <a:r>
              <a:rPr sz="36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pregunta</a:t>
            </a:r>
            <a:r>
              <a:rPr sz="36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puede</a:t>
            </a:r>
            <a:r>
              <a:rPr sz="36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tener</a:t>
            </a:r>
            <a:r>
              <a:rPr sz="36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varias</a:t>
            </a:r>
            <a:r>
              <a:rPr sz="36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respuestas</a:t>
            </a:r>
            <a:r>
              <a:rPr sz="36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correctas</a:t>
            </a:r>
            <a:endParaRPr sz="3600" b="1" dirty="0">
              <a:solidFill>
                <a:srgbClr val="1015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14AE608-6C66-439C-8708-BBC502ADE49F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EEE694F-1545-4ED6-8830-8982114D4B12}"/>
              </a:ext>
            </a:extLst>
          </p:cNvPr>
          <p:cNvSpPr>
            <a:spLocks noGrp="1"/>
          </p:cNvSpPr>
          <p:nvPr/>
        </p:nvSpPr>
        <p:spPr>
          <a:xfrm>
            <a:off x="1314450" y="2047875"/>
            <a:ext cx="9563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“¿Cuál es el banco más grande?”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E32C6DB-420E-4824-A0F6-EFA2128E65AB}"/>
              </a:ext>
            </a:extLst>
          </p:cNvPr>
          <p:cNvSpPr>
            <a:spLocks noGrp="1"/>
          </p:cNvSpPr>
          <p:nvPr/>
        </p:nvSpPr>
        <p:spPr>
          <a:xfrm>
            <a:off x="9048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45E0D0">
              <a:alpha val="12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5F26093-1646-43B0-B60B-897B50DE0079}"/>
              </a:ext>
            </a:extLst>
          </p:cNvPr>
          <p:cNvSpPr>
            <a:spLocks noGrp="1"/>
          </p:cNvSpPr>
          <p:nvPr/>
        </p:nvSpPr>
        <p:spPr>
          <a:xfrm>
            <a:off x="10191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activos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2258157-7264-4E52-8ADE-1400CF583EBB}"/>
              </a:ext>
            </a:extLst>
          </p:cNvPr>
          <p:cNvSpPr>
            <a:spLocks noGrp="1"/>
          </p:cNvSpPr>
          <p:nvPr/>
        </p:nvSpPr>
        <p:spPr>
          <a:xfrm>
            <a:off x="30003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7769F4">
              <a:alpha val="12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5E3EB26-D14E-4DC3-BA95-8F647412472B}"/>
              </a:ext>
            </a:extLst>
          </p:cNvPr>
          <p:cNvSpPr>
            <a:spLocks noGrp="1"/>
          </p:cNvSpPr>
          <p:nvPr/>
        </p:nvSpPr>
        <p:spPr>
          <a:xfrm>
            <a:off x="31146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capitalización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F3E0789-F1EE-40B4-90FA-F8BF1B5BEA16}"/>
              </a:ext>
            </a:extLst>
          </p:cNvPr>
          <p:cNvSpPr>
            <a:spLocks noGrp="1"/>
          </p:cNvSpPr>
          <p:nvPr/>
        </p:nvSpPr>
        <p:spPr>
          <a:xfrm>
            <a:off x="50958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B66E">
              <a:alpha val="12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7C37F4-EAC5-4696-A4C1-70B57C250468}"/>
              </a:ext>
            </a:extLst>
          </p:cNvPr>
          <p:cNvSpPr>
            <a:spLocks noGrp="1"/>
          </p:cNvSpPr>
          <p:nvPr/>
        </p:nvSpPr>
        <p:spPr>
          <a:xfrm>
            <a:off x="52101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2441E6B-74DA-43BC-AC26-B1DAFC5C55F0}"/>
              </a:ext>
            </a:extLst>
          </p:cNvPr>
          <p:cNvSpPr>
            <a:spLocks noGrp="1"/>
          </p:cNvSpPr>
          <p:nvPr/>
        </p:nvSpPr>
        <p:spPr>
          <a:xfrm>
            <a:off x="71913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6F7D">
              <a:alpha val="12000"/>
            </a:srgbClr>
          </a:solidFill>
          <a:ln w="9525">
            <a:solidFill>
              <a:srgbClr val="FF6F7D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DB9B5F-C591-42E0-A0CC-B9471C0A8E83}"/>
              </a:ext>
            </a:extLst>
          </p:cNvPr>
          <p:cNvSpPr>
            <a:spLocks noGrp="1"/>
          </p:cNvSpPr>
          <p:nvPr/>
        </p:nvSpPr>
        <p:spPr>
          <a:xfrm>
            <a:off x="73056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ingresos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D81AE61-557C-43ED-9D75-F881A2A06618}"/>
              </a:ext>
            </a:extLst>
          </p:cNvPr>
          <p:cNvSpPr>
            <a:spLocks noGrp="1"/>
          </p:cNvSpPr>
          <p:nvPr/>
        </p:nvSpPr>
        <p:spPr>
          <a:xfrm>
            <a:off x="92868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62D590">
              <a:alpha val="12000"/>
            </a:srgbClr>
          </a:solidFill>
          <a:ln w="9525">
            <a:solidFill>
              <a:srgbClr val="62D59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C9812D-1D48-49A2-BD64-F95F26A91AF1}"/>
              </a:ext>
            </a:extLst>
          </p:cNvPr>
          <p:cNvSpPr>
            <a:spLocks noGrp="1"/>
          </p:cNvSpPr>
          <p:nvPr/>
        </p:nvSpPr>
        <p:spPr>
          <a:xfrm>
            <a:off x="94011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presencia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315466C-C19A-48A2-955B-BCC5909E9B17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895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667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  <a:ea typeface="Aptos"/>
                <a:cs typeface="Aptos"/>
              </a:rPr>
              <a:t>Una respuesta puede ser correcta y, aun así, interpretar mal la intención.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BFC0C2F-3C85-4B8C-ADE4-FC44149058F9}"/>
              </a:ext>
            </a:extLst>
          </p:cNvPr>
          <p:cNvSpPr>
            <a:spLocks noGrp="1"/>
          </p:cNvSpPr>
          <p:nvPr/>
        </p:nvSpPr>
        <p:spPr>
          <a:xfrm>
            <a:off x="2095500" y="5381625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  <a:ea typeface="Aptos"/>
                <a:cs typeface="Aptos"/>
              </a:rPr>
              <a:t>Antes de responder, el sistema debe decidir qué significa realmente X.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D53314D-EFA6-403E-AEFC-8CB21E28929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Ejemplo conceptual basado en context.md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1E44D1D-780A-4BE1-962F-A8A6E5192B6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27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6BB61D0-7E1B-4090-BC1A-62A1AE78612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03 / QUÉ ES CONTEXT ENGINEERING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40ADB4-FB88-4845-81D4-1F2226BC940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756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Context Engineering decide qué información entra al modelo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F1A57129-62B8-479A-824B-2A9E4146EFB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F87F132-58CB-469B-91DF-05845C865F5D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7769F4">
              <a:alpha val="14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A3398E1-DAB9-4F04-BA15-711A5527432D}"/>
              </a:ext>
            </a:extLst>
          </p:cNvPr>
          <p:cNvSpPr>
            <a:spLocks noGrp="1"/>
          </p:cNvSpPr>
          <p:nvPr/>
        </p:nvSpPr>
        <p:spPr>
          <a:xfrm>
            <a:off x="800100" y="17716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611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DEFINICIÓN OPERACIONAL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8CCD8E-405F-4101-BFFF-CBE973227172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26"/>
          </a:bodyPr>
          <a:lstStyle/>
          <a:p>
            <a:pPr algn="l">
              <a:lnSpc>
                <a:spcPct val="105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Seleccionar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,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,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estructurar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y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administrar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información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que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condiciona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09AC76-B99C-4177-8476-8190B7EA76CF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000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es solo prompt engineering. </a:t>
            </a:r>
            <a:r>
              <a:rPr sz="1600" b="0" i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Incluye</a:t>
            </a: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i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recuperación</a:t>
            </a: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, memoria, </a:t>
            </a:r>
            <a:r>
              <a:rPr sz="1600" b="0" i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herramientas</a:t>
            </a: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, </a:t>
            </a:r>
            <a:r>
              <a:rPr sz="1600" b="0" i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estructura</a:t>
            </a: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, </a:t>
            </a:r>
            <a:r>
              <a:rPr sz="1600" b="0" i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compresión</a:t>
            </a: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0" i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ensamblaje</a:t>
            </a: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i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dinámico</a:t>
            </a:r>
            <a:r>
              <a:rPr sz="1600" b="0" i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CA70179-C404-452F-95FD-B1A56182065C}"/>
              </a:ext>
            </a:extLst>
          </p:cNvPr>
          <p:cNvSpPr>
            <a:spLocks noGrp="1"/>
          </p:cNvSpPr>
          <p:nvPr/>
        </p:nvSpPr>
        <p:spPr>
          <a:xfrm>
            <a:off x="5048250" y="1752600"/>
            <a:ext cx="6457950" cy="36957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57800" y="2590468"/>
            <a:ext cx="6038850" cy="2019964"/>
          </a:xfrm>
          <a:prstGeom prst="roundRect">
            <a:avLst>
              <a:gd name="adj" fmla="val 4167"/>
            </a:avLst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1F53669-ADC3-4EC9-A1A4-30228F72560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survey_context.pdf, Fig. 3; imagen suministrada en el proyecto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03B65A-095B-4096-B0FA-9B0A65208B1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22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F4F8F-C3FD-4225-B39E-088ECB01A879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04 / ARQUITECTURA DE CONTEXT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24F49-3AE1-4E71-856D-991AB47CBC41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Context Engineering integra RAG, memoria y herramientas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4D261-EA89-45AC-A5AF-8C71FABA0DBC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1554480"/>
            <a:ext cx="7315200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893B8E-1CA5-4211-AD44-7CFE4B3E9D7E}"/>
              </a:ext>
            </a:extLst>
          </p:cNvPr>
          <p:cNvSpPr>
            <a:spLocks noGrp="1"/>
          </p:cNvSpPr>
          <p:nvPr/>
        </p:nvSpPr>
        <p:spPr>
          <a:xfrm>
            <a:off x="685800" y="5760720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Context Engineering orquesta RAG, memoria, herramientas, historial y formatos estructurados.</a:t>
            </a:r>
          </a:p>
        </p:txBody>
      </p:sp>
    </p:spTree>
    <p:extLst>
      <p:ext uri="{BB962C8B-B14F-4D97-AF65-F5344CB8AC3E}">
        <p14:creationId xmlns:p14="http://schemas.microsoft.com/office/powerpoint/2010/main" val="97018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3D6EBFB4-F358-485A-B659-0A7E83D0E03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05 / TESIS CENTRAL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BDB1AD-80A4-406B-B986-BA074C9A21F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La unidad de valor es la señal útil por token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B7410622-8EFD-4471-B95D-8350A824003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096E47-9EF9-452B-85E9-FC3C768DFC6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BFC7DA"/>
                </a:solidFill>
                <a:latin typeface="Aptos"/>
                <a:ea typeface="Aptos"/>
                <a:cs typeface="Aptos"/>
              </a:defRPr>
            </a:pPr>
            <a:r>
              <a:rPr sz="18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</a:t>
            </a:r>
            <a:r>
              <a:rPr sz="18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8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real es </a:t>
            </a:r>
            <a:r>
              <a:rPr sz="18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maximizar</a:t>
            </a:r>
            <a:endParaRPr sz="1800" b="0" i="0" dirty="0">
              <a:solidFill>
                <a:srgbClr val="C7CED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80435B-914D-44BC-B93F-4A67968C0739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628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información</a:t>
            </a:r>
            <a:r>
              <a:rPr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útil</a:t>
            </a:r>
            <a:r>
              <a:rPr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 /  token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2C77184-07A2-4C73-8A99-6FAE908D2637}"/>
              </a:ext>
            </a:extLst>
          </p:cNvPr>
          <p:cNvSpPr>
            <a:spLocks noGrp="1"/>
          </p:cNvSpPr>
          <p:nvPr/>
        </p:nvSpPr>
        <p:spPr>
          <a:xfrm>
            <a:off x="7239000" y="2200275"/>
            <a:ext cx="4000500" cy="5905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557D7D0-1779-4C0B-B9A0-DE15F2F632D9}"/>
              </a:ext>
            </a:extLst>
          </p:cNvPr>
          <p:cNvSpPr>
            <a:spLocks noGrp="1"/>
          </p:cNvSpPr>
          <p:nvPr/>
        </p:nvSpPr>
        <p:spPr>
          <a:xfrm>
            <a:off x="7239000" y="2200275"/>
            <a:ext cx="1000125" cy="590550"/>
          </a:xfrm>
          <a:prstGeom prst="roundRect">
            <a:avLst>
              <a:gd name="adj" fmla="val 50000"/>
            </a:avLst>
          </a:prstGeom>
          <a:solidFill>
            <a:srgbClr val="45E0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EA9760-90F7-4F98-B615-CAA5491A1BC5}"/>
              </a:ext>
            </a:extLst>
          </p:cNvPr>
          <p:cNvSpPr>
            <a:spLocks noGrp="1"/>
          </p:cNvSpPr>
          <p:nvPr/>
        </p:nvSpPr>
        <p:spPr>
          <a:xfrm>
            <a:off x="7429500" y="2371725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señal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C8CD4C-9B74-4257-9D9C-83CE9C0605B6}"/>
              </a:ext>
            </a:extLst>
          </p:cNvPr>
          <p:cNvSpPr>
            <a:spLocks noGrp="1"/>
          </p:cNvSpPr>
          <p:nvPr/>
        </p:nvSpPr>
        <p:spPr>
          <a:xfrm>
            <a:off x="8334375" y="2371725"/>
            <a:ext cx="2705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3CBE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ruido · redundancia · conflicto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ECB0C77-28B5-4F8F-8298-505FFB22D1E1}"/>
              </a:ext>
            </a:extLst>
          </p:cNvPr>
          <p:cNvSpPr>
            <a:spLocks noGrp="1"/>
          </p:cNvSpPr>
          <p:nvPr/>
        </p:nvSpPr>
        <p:spPr>
          <a:xfrm>
            <a:off x="7239000" y="3152775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48"/>
          </a:bodyPr>
          <a:lstStyle/>
          <a:p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 contexto corto y preciso puede superar a uno largo y ruidoso.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F111756-D17C-4C0F-A33F-533EB2614739}"/>
              </a:ext>
            </a:extLst>
          </p:cNvPr>
          <p:cNvSpPr>
            <a:spLocks noGrp="1"/>
          </p:cNvSpPr>
          <p:nvPr/>
        </p:nvSpPr>
        <p:spPr>
          <a:xfrm>
            <a:off x="7239000" y="4324350"/>
            <a:ext cx="1238250" cy="419100"/>
          </a:xfrm>
          <a:prstGeom prst="roundRect">
            <a:avLst>
              <a:gd name="adj" fmla="val 50000"/>
            </a:avLst>
          </a:prstGeom>
          <a:solidFill>
            <a:srgbClr val="45E0D0">
              <a:alpha val="18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54C6ED-E895-445A-9C32-2A59DE483F2D}"/>
              </a:ext>
            </a:extLst>
          </p:cNvPr>
          <p:cNvSpPr>
            <a:spLocks noGrp="1"/>
          </p:cNvSpPr>
          <p:nvPr/>
        </p:nvSpPr>
        <p:spPr>
          <a:xfrm>
            <a:off x="7353300" y="44005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seleccionar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28D06E3-6D74-487F-9422-144F3B2B98B2}"/>
              </a:ext>
            </a:extLst>
          </p:cNvPr>
          <p:cNvSpPr>
            <a:spLocks noGrp="1"/>
          </p:cNvSpPr>
          <p:nvPr/>
        </p:nvSpPr>
        <p:spPr>
          <a:xfrm>
            <a:off x="8610600" y="4324350"/>
            <a:ext cx="1095375" cy="419100"/>
          </a:xfrm>
          <a:prstGeom prst="roundRect">
            <a:avLst>
              <a:gd name="adj" fmla="val 50000"/>
            </a:avLst>
          </a:prstGeom>
          <a:solidFill>
            <a:srgbClr val="7769F4">
              <a:alpha val="18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8BB409-F1CA-450B-8F43-104D70EA8354}"/>
              </a:ext>
            </a:extLst>
          </p:cNvPr>
          <p:cNvSpPr>
            <a:spLocks noGrp="1"/>
          </p:cNvSpPr>
          <p:nvPr/>
        </p:nvSpPr>
        <p:spPr>
          <a:xfrm>
            <a:off x="8724900" y="4400550"/>
            <a:ext cx="866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ordenar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C593A1A-FB0C-4C37-B8C3-B9EEAA80F0DC}"/>
              </a:ext>
            </a:extLst>
          </p:cNvPr>
          <p:cNvSpPr>
            <a:spLocks noGrp="1"/>
          </p:cNvSpPr>
          <p:nvPr/>
        </p:nvSpPr>
        <p:spPr>
          <a:xfrm>
            <a:off x="9839325" y="4324350"/>
            <a:ext cx="1400175" cy="419100"/>
          </a:xfrm>
          <a:prstGeom prst="roundRect">
            <a:avLst>
              <a:gd name="adj" fmla="val 50000"/>
            </a:avLst>
          </a:prstGeom>
          <a:solidFill>
            <a:srgbClr val="FFB66E">
              <a:alpha val="18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C37FF68-DBCC-4117-A8CD-7093F9DB72DA}"/>
              </a:ext>
            </a:extLst>
          </p:cNvPr>
          <p:cNvSpPr>
            <a:spLocks noGrp="1"/>
          </p:cNvSpPr>
          <p:nvPr/>
        </p:nvSpPr>
        <p:spPr>
          <a:xfrm>
            <a:off x="9953625" y="4400550"/>
            <a:ext cx="1171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comprimir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7E85F3-53C0-46B7-96B0-87E4C8D4112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información útil por token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0C79EE-3BEF-4FD4-A4AC-B1E48930DA3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41" name="Ecuación s04_signal_dens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09950"/>
            <a:ext cx="1319902" cy="723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42DDEE-20B0-4562-9FA0-C718CC2F5716}"/>
              </a:ext>
            </a:extLst>
          </p:cNvPr>
          <p:cNvSpPr>
            <a:spLocks noGrp="1"/>
          </p:cNvSpPr>
          <p:nvPr/>
        </p:nvSpPr>
        <p:spPr>
          <a:xfrm>
            <a:off x="685800" y="40690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  <a:ea typeface="Aptos"/>
                <a:cs typeface="Aptos"/>
              </a:rPr>
              <a:t>X consulta · Y respuesta · C contexto · |C| número de tokens</a:t>
            </a:r>
          </a:p>
        </p:txBody>
      </p:sp>
    </p:spTree>
    <p:extLst>
      <p:ext uri="{BB962C8B-B14F-4D97-AF65-F5344CB8AC3E}">
        <p14:creationId xmlns:p14="http://schemas.microsoft.com/office/powerpoint/2010/main" val="122488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8E20CD3A-5CF0-4613-8352-A1AED48A265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06 / MODELO PROBABILÍSTICO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D0B8AA6-9A27-4079-B48F-1A4F4A79F02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0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probabilidad de una respuesta se construye token a token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BF86773F-7EBE-437C-8DB8-2BC90D6BEE66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0FFA801-F445-41AB-8958-A15FF7736739}"/>
              </a:ext>
            </a:extLst>
          </p:cNvPr>
          <p:cNvSpPr>
            <a:spLocks noGrp="1"/>
          </p:cNvSpPr>
          <p:nvPr/>
        </p:nvSpPr>
        <p:spPr>
          <a:xfrm>
            <a:off x="1714500" y="36195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4A5A"/>
                </a:solidFill>
                <a:latin typeface="Aptos"/>
                <a:ea typeface="Aptos"/>
                <a:cs typeface="Aptos"/>
              </a:rPr>
              <a:t>Conexión: la primera fórmula genera cada factor; la segunda combina esos factores para puntuar la respuesta Y.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09CE881-95DC-403F-B27E-72E1BE63243B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10820400" cy="158115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B138318-E307-4F06-8FC3-E70029D7689B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45E0D0">
              <a:alpha val="14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BF6F70-52A2-4E04-852B-F8D7082AA3F3}"/>
              </a:ext>
            </a:extLst>
          </p:cNvPr>
          <p:cNvSpPr>
            <a:spLocks noGrp="1"/>
          </p:cNvSpPr>
          <p:nvPr/>
        </p:nvSpPr>
        <p:spPr>
          <a:xfrm>
            <a:off x="1028700" y="48006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D6C8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AD685CC-F2E2-4A29-90FE-27CD0B5715BA}"/>
              </a:ext>
            </a:extLst>
          </p:cNvPr>
          <p:cNvSpPr>
            <a:spLocks noGrp="1"/>
          </p:cNvSpPr>
          <p:nvPr/>
        </p:nvSpPr>
        <p:spPr>
          <a:xfrm>
            <a:off x="476250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Sin contrato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0E9245C-0FAC-4767-B949-BD34A710BF6F}"/>
              </a:ext>
            </a:extLst>
          </p:cNvPr>
          <p:cNvSpPr>
            <a:spLocks noGrp="1"/>
          </p:cNvSpPr>
          <p:nvPr/>
        </p:nvSpPr>
        <p:spPr>
          <a:xfrm>
            <a:off x="4762500" y="45720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647C"/>
                </a:solidFill>
                <a:latin typeface="Aptos"/>
                <a:ea typeface="Aptos"/>
                <a:cs typeface="Aptos"/>
              </a:rPr>
              <a:t>“12 meses”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20461332-9B29-40C6-B934-2C32914253ED}"/>
              </a:ext>
            </a:extLst>
          </p:cNvPr>
          <p:cNvSpPr>
            <a:spLocks noGrp="1"/>
          </p:cNvSpPr>
          <p:nvPr/>
        </p:nvSpPr>
        <p:spPr>
          <a:xfrm>
            <a:off x="6591300" y="4810125"/>
            <a:ext cx="647700" cy="0"/>
          </a:xfrm>
          <a:prstGeom prst="line">
            <a:avLst/>
          </a:prstGeom>
          <a:noFill/>
          <a:ln w="28575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8AF78C-AD19-488F-B98D-5D33CD7E8F48}"/>
              </a:ext>
            </a:extLst>
          </p:cNvPr>
          <p:cNvSpPr>
            <a:spLocks noGrp="1"/>
          </p:cNvSpPr>
          <p:nvPr/>
        </p:nvSpPr>
        <p:spPr>
          <a:xfrm>
            <a:off x="752475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 contrato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2000D48-457B-463C-B62E-990E1564A376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49C986"/>
                </a:solidFill>
                <a:latin typeface="Aptos"/>
                <a:ea typeface="Aptos"/>
                <a:cs typeface="Aptos"/>
              </a:rPr>
              <a:t>“24 meses”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1858BDA-5CE8-4CAB-904C-6D53DA4488C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generación condicional y ejemplo de garantía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BE03278-1F75-4172-9C82-70EFA705422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48" name="Ecuación s05_tok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00300"/>
            <a:ext cx="4572000" cy="723900"/>
          </a:xfrm>
          <a:prstGeom prst="rect">
            <a:avLst/>
          </a:prstGeom>
        </p:spPr>
      </p:pic>
      <p:pic>
        <p:nvPicPr>
          <p:cNvPr id="49" name="Ecuación s05_sequ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438400"/>
            <a:ext cx="4000500" cy="666750"/>
          </a:xfrm>
          <a:prstGeom prst="rect">
            <a:avLst/>
          </a:prstGeom>
        </p:spPr>
      </p:pic>
      <p:pic>
        <p:nvPicPr>
          <p:cNvPr id="50" name="Ecuación s05_examp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5219700"/>
            <a:ext cx="4476750" cy="3619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A47B936-39B5-4581-9D50-939345D757AB}"/>
              </a:ext>
            </a:extLst>
          </p:cNvPr>
          <p:cNvSpPr>
            <a:spLocks noGrp="1"/>
          </p:cNvSpPr>
          <p:nvPr/>
        </p:nvSpPr>
        <p:spPr>
          <a:xfrm>
            <a:off x="914400" y="4333875"/>
            <a:ext cx="3714750" cy="2857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4A5A"/>
                </a:solidFill>
                <a:latin typeface="Aptos"/>
                <a:ea typeface="Aptos"/>
                <a:cs typeface="Aptos"/>
              </a:rPr>
              <a:t>Consulta: «¿Cuánto dura la garantía?»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3A729F-91BB-46D2-AA10-F172F2BE481E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0001250" cy="2667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Notación · θ parámetros · yₜ token actual · y&lt;ₜ prefijo · X consulta · C contrato · Y respuesta completa</a:t>
            </a:r>
          </a:p>
        </p:txBody>
      </p:sp>
      <p:sp>
        <p:nvSpPr>
          <p:cNvPr id="26" name="slide6-step1-surface">
            <a:extLst>
              <a:ext uri="{FF2B5EF4-FFF2-40B4-BE49-F238E27FC236}">
                <a16:creationId xmlns:a16="http://schemas.microsoft.com/office/drawing/2014/main" id="{326715AF-A22B-470B-8661-3854F5CF4D53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60020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lide6-step1">
            <a:extLst>
              <a:ext uri="{FF2B5EF4-FFF2-40B4-BE49-F238E27FC236}">
                <a16:creationId xmlns:a16="http://schemas.microsoft.com/office/drawing/2014/main" id="{CC8E171D-C129-4EDA-A0E1-76E10FEE0DCD}"/>
              </a:ext>
            </a:extLst>
          </p:cNvPr>
          <p:cNvSpPr>
            <a:spLocks noGrp="1"/>
          </p:cNvSpPr>
          <p:nvPr/>
        </p:nvSpPr>
        <p:spPr>
          <a:xfrm>
            <a:off x="742950" y="2066925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 · SIGUIENTE TOKEN</a:t>
            </a:r>
          </a:p>
        </p:txBody>
      </p:sp>
      <p:sp>
        <p:nvSpPr>
          <p:cNvPr id="28" name="slide6-step2-surface">
            <a:extLst>
              <a:ext uri="{FF2B5EF4-FFF2-40B4-BE49-F238E27FC236}">
                <a16:creationId xmlns:a16="http://schemas.microsoft.com/office/drawing/2014/main" id="{92F1B860-0FE7-4F50-AA60-344B8CF3CE2F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1943100" cy="266700"/>
          </a:xfrm>
          <a:prstGeom prst="roundRect">
            <a:avLst>
              <a:gd name="adj" fmla="val 50000"/>
            </a:avLst>
          </a:prstGeom>
          <a:solidFill>
            <a:srgbClr val="E3F9F6"/>
          </a:solidFill>
          <a:ln w="9525">
            <a:solidFill>
              <a:srgbClr val="168E8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lide6-step2">
            <a:extLst>
              <a:ext uri="{FF2B5EF4-FFF2-40B4-BE49-F238E27FC236}">
                <a16:creationId xmlns:a16="http://schemas.microsoft.com/office/drawing/2014/main" id="{A0E3CE88-A635-4E57-8D35-5108AB90AB40}"/>
              </a:ext>
            </a:extLst>
          </p:cNvPr>
          <p:cNvSpPr>
            <a:spLocks noGrp="1"/>
          </p:cNvSpPr>
          <p:nvPr/>
        </p:nvSpPr>
        <p:spPr>
          <a:xfrm>
            <a:off x="6534150" y="2066925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2 · RESPUESTA COMPLETA</a:t>
            </a:r>
          </a:p>
        </p:txBody>
      </p:sp>
      <p:sp>
        <p:nvSpPr>
          <p:cNvPr id="30" name="slide6-token-to-sequence">
            <a:extLst>
              <a:ext uri="{FF2B5EF4-FFF2-40B4-BE49-F238E27FC236}">
                <a16:creationId xmlns:a16="http://schemas.microsoft.com/office/drawing/2014/main" id="{6E0FFC64-F351-4628-A879-61D2B66520D3}"/>
              </a:ext>
            </a:extLst>
          </p:cNvPr>
          <p:cNvSpPr>
            <a:spLocks noGrp="1"/>
          </p:cNvSpPr>
          <p:nvPr/>
        </p:nvSpPr>
        <p:spPr>
          <a:xfrm>
            <a:off x="5514975" y="2590800"/>
            <a:ext cx="590550" cy="323850"/>
          </a:xfrm>
          <a:prstGeom prst="rightArrow">
            <a:avLst/>
          </a:prstGeom>
          <a:solidFill>
            <a:srgbClr val="B9C0D4"/>
          </a:solidFill>
          <a:ln w="9525">
            <a:solidFill>
              <a:srgbClr val="A5AE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lide6-connector-label">
            <a:extLst>
              <a:ext uri="{FF2B5EF4-FFF2-40B4-BE49-F238E27FC236}">
                <a16:creationId xmlns:a16="http://schemas.microsoft.com/office/drawing/2014/main" id="{95F8FAE9-0BD0-4F54-BE0B-B649E4A9309E}"/>
              </a:ext>
            </a:extLst>
          </p:cNvPr>
          <p:cNvSpPr>
            <a:spLocks noGrp="1"/>
          </p:cNvSpPr>
          <p:nvPr/>
        </p:nvSpPr>
        <p:spPr>
          <a:xfrm>
            <a:off x="5219700" y="2924175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repetir para t=1…T</a:t>
            </a:r>
          </a:p>
        </p:txBody>
      </p:sp>
      <p:sp>
        <p:nvSpPr>
          <p:cNvPr id="32" name="slide6-step1-explanation">
            <a:extLst>
              <a:ext uri="{FF2B5EF4-FFF2-40B4-BE49-F238E27FC236}">
                <a16:creationId xmlns:a16="http://schemas.microsoft.com/office/drawing/2014/main" id="{B18EF875-FF27-45D0-B3FC-A88433B9B7BB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4444"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Calcula la probabilidad de yₜ usando la consulta X, el contexto C y los tokens anteriores y&lt;ₜ.</a:t>
            </a:r>
          </a:p>
        </p:txBody>
      </p:sp>
      <p:sp>
        <p:nvSpPr>
          <p:cNvPr id="33" name="slide6-step2-explanation">
            <a:extLst>
              <a:ext uri="{FF2B5EF4-FFF2-40B4-BE49-F238E27FC236}">
                <a16:creationId xmlns:a16="http://schemas.microsoft.com/office/drawing/2014/main" id="{383E6F8C-0B09-45C2-A623-0765C650F54A}"/>
              </a:ext>
            </a:extLst>
          </p:cNvPr>
          <p:cNvSpPr>
            <a:spLocks noGrp="1"/>
          </p:cNvSpPr>
          <p:nvPr/>
        </p:nvSpPr>
        <p:spPr>
          <a:xfrm>
            <a:off x="6477000" y="319087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Repite el mismo cálculo en cada posición y multiplica todos los factores.</a:t>
            </a:r>
          </a:p>
        </p:txBody>
      </p:sp>
    </p:spTree>
    <p:extLst>
      <p:ext uri="{BB962C8B-B14F-4D97-AF65-F5344CB8AC3E}">
        <p14:creationId xmlns:p14="http://schemas.microsoft.com/office/powerpoint/2010/main" val="8836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2B992F4B-5646-4550-82BF-9B9E337AE3D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07 / VALOR DE LA INFORMACIÓN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FC85BE-F140-4FBA-8115-31D96FB6E25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información aportada por C es la entropía que logra reducir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35D23640-FBEC-4CB9-8FC3-8D7EDB2D149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2674795-2397-4702-AA20-8EA1E5A9C8CB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4A5A"/>
                </a:solidFill>
                <a:latin typeface="Aptos"/>
                <a:ea typeface="Aptos"/>
                <a:cs typeface="Aptos"/>
              </a:rPr>
              <a:t>Se resta la entropía final a la inicial: esa diferencia es I(Y;C|X).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ABAC80-7536-4BD7-AB51-6F10B9EB042D}"/>
              </a:ext>
            </a:extLst>
          </p:cNvPr>
          <p:cNvSpPr>
            <a:spLocks noGrp="1"/>
          </p:cNvSpPr>
          <p:nvPr/>
        </p:nvSpPr>
        <p:spPr>
          <a:xfrm>
            <a:off x="7429500" y="1885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contexto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A7BA797-477A-468A-BB25-1B9EB806F310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3238500" cy="552450"/>
          </a:xfrm>
          <a:prstGeom prst="roundRect">
            <a:avLst>
              <a:gd name="adj" fmla="val 50000"/>
            </a:avLst>
          </a:prstGeom>
          <a:solidFill>
            <a:srgbClr val="E4E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BB635BD-EFA4-47E7-9A3F-41DBE1E25FD4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2905125" cy="552450"/>
          </a:xfrm>
          <a:prstGeom prst="roundRect">
            <a:avLst>
              <a:gd name="adj" fmla="val 50000"/>
            </a:avLst>
          </a:prstGeom>
          <a:solidFill>
            <a:srgbClr val="FF6F7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219886-0DA0-4294-AD75-22C3BF6A885C}"/>
              </a:ext>
            </a:extLst>
          </p:cNvPr>
          <p:cNvSpPr>
            <a:spLocks noGrp="1"/>
          </p:cNvSpPr>
          <p:nvPr/>
        </p:nvSpPr>
        <p:spPr>
          <a:xfrm>
            <a:off x="8858250" y="24098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 alta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3EFA8E-0F7C-450B-B9C6-699905D22BA0}"/>
              </a:ext>
            </a:extLst>
          </p:cNvPr>
          <p:cNvSpPr>
            <a:spLocks noGrp="1"/>
          </p:cNvSpPr>
          <p:nvPr/>
        </p:nvSpPr>
        <p:spPr>
          <a:xfrm>
            <a:off x="7429500" y="31051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 relevante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4955D35-56BD-4832-8C11-846DCC20E80D}"/>
              </a:ext>
            </a:extLst>
          </p:cNvPr>
          <p:cNvSpPr>
            <a:spLocks noGrp="1"/>
          </p:cNvSpPr>
          <p:nvPr/>
        </p:nvSpPr>
        <p:spPr>
          <a:xfrm>
            <a:off x="7429500" y="3486150"/>
            <a:ext cx="3238500" cy="552450"/>
          </a:xfrm>
          <a:prstGeom prst="roundRect">
            <a:avLst>
              <a:gd name="adj" fmla="val 50000"/>
            </a:avLst>
          </a:prstGeom>
          <a:solidFill>
            <a:srgbClr val="E4E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7E548C2-7B8D-45BF-B28E-2A56F5669F98}"/>
              </a:ext>
            </a:extLst>
          </p:cNvPr>
          <p:cNvSpPr>
            <a:spLocks noGrp="1"/>
          </p:cNvSpPr>
          <p:nvPr/>
        </p:nvSpPr>
        <p:spPr>
          <a:xfrm>
            <a:off x="7429500" y="3486150"/>
            <a:ext cx="1066800" cy="552450"/>
          </a:xfrm>
          <a:prstGeom prst="roundRect">
            <a:avLst>
              <a:gd name="adj" fmla="val 50000"/>
            </a:avLst>
          </a:prstGeom>
          <a:solidFill>
            <a:srgbClr val="45E0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69FDF3A-2DF0-4643-B8A2-26FF9E992761}"/>
              </a:ext>
            </a:extLst>
          </p:cNvPr>
          <p:cNvSpPr>
            <a:spLocks noGrp="1"/>
          </p:cNvSpPr>
          <p:nvPr/>
        </p:nvSpPr>
        <p:spPr>
          <a:xfrm>
            <a:off x="7486650" y="36290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H baja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1EB258-76C1-4643-9C5D-8EC2555F8BC3}"/>
              </a:ext>
            </a:extLst>
          </p:cNvPr>
          <p:cNvSpPr>
            <a:spLocks noGrp="1"/>
          </p:cNvSpPr>
          <p:nvPr/>
        </p:nvSpPr>
        <p:spPr>
          <a:xfrm>
            <a:off x="7429500" y="43434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barra que desaparece representa la información que C aporta sobre Y.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2F6287E-9DF8-4D96-B508-748BB63F06C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Fuente: context.md — entropía e información mutua condicional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AC9D1C2-F0FA-4485-9FD3-44A8AF2CC22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44" name="Ecuación s06_entrop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0750"/>
            <a:ext cx="5871020" cy="704850"/>
          </a:xfrm>
          <a:prstGeom prst="rect">
            <a:avLst/>
          </a:prstGeom>
        </p:spPr>
      </p:pic>
      <p:pic>
        <p:nvPicPr>
          <p:cNvPr id="45" name="Ecuación s06_mutu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52850"/>
            <a:ext cx="5623560" cy="4402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4FBBA8-29BF-4AE1-8F75-ED4E05B4A821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6096000" cy="666750"/>
          </a:xfrm>
          <a:prstGeom prst="rect">
            <a:avLst/>
          </a:prstGeom>
          <a:noFill/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· H incertidumbre · I información aportada · X consulta · C contexto · Y respuesta</a:t>
            </a:r>
          </a:p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Lectura: más reducción de H implica más información útil de C sobre Y.</a:t>
            </a:r>
          </a:p>
        </p:txBody>
      </p:sp>
      <p:sp>
        <p:nvSpPr>
          <p:cNvPr id="23" name="slide7-step1-surface">
            <a:extLst>
              <a:ext uri="{FF2B5EF4-FFF2-40B4-BE49-F238E27FC236}">
                <a16:creationId xmlns:a16="http://schemas.microsoft.com/office/drawing/2014/main" id="{125A443A-AEA3-4155-ABF4-EEB3BBA8E6FB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88595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lide7-step1">
            <a:extLst>
              <a:ext uri="{FF2B5EF4-FFF2-40B4-BE49-F238E27FC236}">
                <a16:creationId xmlns:a16="http://schemas.microsoft.com/office/drawing/2014/main" id="{D311F35D-B8B7-48EC-AB83-FFDA96B13E66}"/>
              </a:ext>
            </a:extLst>
          </p:cNvPr>
          <p:cNvSpPr>
            <a:spLocks noGrp="1"/>
          </p:cNvSpPr>
          <p:nvPr/>
        </p:nvSpPr>
        <p:spPr>
          <a:xfrm>
            <a:off x="742950" y="1819275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 · EFECTO DE AÑADIR C</a:t>
            </a:r>
          </a:p>
        </p:txBody>
      </p:sp>
      <p:sp>
        <p:nvSpPr>
          <p:cNvPr id="25" name="slide7-step1-explanation">
            <a:extLst>
              <a:ext uri="{FF2B5EF4-FFF2-40B4-BE49-F238E27FC236}">
                <a16:creationId xmlns:a16="http://schemas.microsoft.com/office/drawing/2014/main" id="{E04DAE32-5896-4C08-A914-B5A155642FEC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incertidumbre restante con contexto es menor o igual que sin contexto.</a:t>
            </a:r>
          </a:p>
        </p:txBody>
      </p:sp>
      <p:sp>
        <p:nvSpPr>
          <p:cNvPr id="26" name="slide7-effect-to-measure">
            <a:extLst>
              <a:ext uri="{FF2B5EF4-FFF2-40B4-BE49-F238E27FC236}">
                <a16:creationId xmlns:a16="http://schemas.microsoft.com/office/drawing/2014/main" id="{4FFA5989-FFD1-4F23-A52E-B16238237144}"/>
              </a:ext>
            </a:extLst>
          </p:cNvPr>
          <p:cNvSpPr>
            <a:spLocks noGrp="1"/>
          </p:cNvSpPr>
          <p:nvPr/>
        </p:nvSpPr>
        <p:spPr>
          <a:xfrm>
            <a:off x="3324225" y="3209925"/>
            <a:ext cx="323850" cy="285750"/>
          </a:xfrm>
          <a:prstGeom prst="downArrow">
            <a:avLst/>
          </a:prstGeom>
          <a:solidFill>
            <a:srgbClr val="B9C0D4"/>
          </a:solidFill>
          <a:ln w="9525">
            <a:solidFill>
              <a:srgbClr val="A5AE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lide7-step2-surface">
            <a:extLst>
              <a:ext uri="{FF2B5EF4-FFF2-40B4-BE49-F238E27FC236}">
                <a16:creationId xmlns:a16="http://schemas.microsoft.com/office/drawing/2014/main" id="{DBFE7CB8-0001-49C8-A4CB-90C095A92F74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E3F9F6"/>
          </a:solidFill>
          <a:ln w="9525">
            <a:solidFill>
              <a:srgbClr val="168E8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lide7-step2">
            <a:extLst>
              <a:ext uri="{FF2B5EF4-FFF2-40B4-BE49-F238E27FC236}">
                <a16:creationId xmlns:a16="http://schemas.microsoft.com/office/drawing/2014/main" id="{978011BF-A607-428E-943E-4C758378EFF8}"/>
              </a:ext>
            </a:extLst>
          </p:cNvPr>
          <p:cNvSpPr>
            <a:spLocks noGrp="1"/>
          </p:cNvSpPr>
          <p:nvPr/>
        </p:nvSpPr>
        <p:spPr>
          <a:xfrm>
            <a:off x="742950" y="3419475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2 · MEDIR LA REDUCCIÓN</a:t>
            </a:r>
          </a:p>
        </p:txBody>
      </p:sp>
    </p:spTree>
    <p:extLst>
      <p:ext uri="{BB962C8B-B14F-4D97-AF65-F5344CB8AC3E}">
        <p14:creationId xmlns:p14="http://schemas.microsoft.com/office/powerpoint/2010/main" val="76573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A3EE3F50-A412-4278-B2DC-A10858CB6B1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08 / LÍMITES DEL MODELO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4766844-951C-40CC-8CD6-8E381AF0B6A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En un LLM real, más contexto también añade fricción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ED835520-20D2-413D-8E13-FDAD2D826C2A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A8BDC70-B217-41F8-8A25-4097DC8DD3AF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495300" cy="495300"/>
          </a:xfrm>
          <a:prstGeom prst="ellipse">
            <a:avLst/>
          </a:prstGeom>
          <a:solidFill>
            <a:srgbClr val="45E0D0">
              <a:alpha val="18000"/>
            </a:srgbClr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62168F-E6E6-47BD-820F-A1DC95D4A2CB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01835A-E849-49E3-A30A-551E7D932E02}"/>
              </a:ext>
            </a:extLst>
          </p:cNvPr>
          <p:cNvSpPr>
            <a:spLocks noGrp="1"/>
          </p:cNvSpPr>
          <p:nvPr/>
        </p:nvSpPr>
        <p:spPr>
          <a:xfrm>
            <a:off x="129540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relevancia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7ACDEDA-FE17-4A82-8F20-50F9D418C917}"/>
              </a:ext>
            </a:extLst>
          </p:cNvPr>
          <p:cNvSpPr>
            <a:spLocks noGrp="1"/>
          </p:cNvSpPr>
          <p:nvPr/>
        </p:nvSpPr>
        <p:spPr>
          <a:xfrm>
            <a:off x="2305050" y="3228975"/>
            <a:ext cx="495300" cy="495300"/>
          </a:xfrm>
          <a:prstGeom prst="ellipse">
            <a:avLst/>
          </a:prstGeom>
          <a:solidFill>
            <a:srgbClr val="FF6F7D">
              <a:alpha val="18000"/>
            </a:srgbClr>
          </a:solidFill>
          <a:ln w="19050">
            <a:solidFill>
              <a:srgbClr val="FF6F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6B717F-BF4D-4BC5-BC10-F5A8BE33F7A9}"/>
              </a:ext>
            </a:extLst>
          </p:cNvPr>
          <p:cNvSpPr>
            <a:spLocks noGrp="1"/>
          </p:cNvSpPr>
          <p:nvPr/>
        </p:nvSpPr>
        <p:spPr>
          <a:xfrm>
            <a:off x="230505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0EED24-0255-4AEA-A166-BD360676759E}"/>
              </a:ext>
            </a:extLst>
          </p:cNvPr>
          <p:cNvSpPr>
            <a:spLocks noGrp="1"/>
          </p:cNvSpPr>
          <p:nvPr/>
        </p:nvSpPr>
        <p:spPr>
          <a:xfrm>
            <a:off x="291465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ruido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7A4571F-62AF-4742-B6CA-7CF1908662EA}"/>
              </a:ext>
            </a:extLst>
          </p:cNvPr>
          <p:cNvSpPr>
            <a:spLocks noGrp="1"/>
          </p:cNvSpPr>
          <p:nvPr/>
        </p:nvSpPr>
        <p:spPr>
          <a:xfrm>
            <a:off x="3924300" y="3228975"/>
            <a:ext cx="495300" cy="495300"/>
          </a:xfrm>
          <a:prstGeom prst="ellipse">
            <a:avLst/>
          </a:prstGeom>
          <a:solidFill>
            <a:srgbClr val="FFB66E">
              <a:alpha val="18000"/>
            </a:srgbClr>
          </a:solidFill>
          <a:ln w="1905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12FB9D-6CEF-457A-AA08-AFEEE2CA2E23}"/>
              </a:ext>
            </a:extLst>
          </p:cNvPr>
          <p:cNvSpPr>
            <a:spLocks noGrp="1"/>
          </p:cNvSpPr>
          <p:nvPr/>
        </p:nvSpPr>
        <p:spPr>
          <a:xfrm>
            <a:off x="392430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D696BA5-1ADC-4302-8799-F068ABA89193}"/>
              </a:ext>
            </a:extLst>
          </p:cNvPr>
          <p:cNvSpPr>
            <a:spLocks noGrp="1"/>
          </p:cNvSpPr>
          <p:nvPr/>
        </p:nvSpPr>
        <p:spPr>
          <a:xfrm>
            <a:off x="453390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dificultad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10E0ACC-4441-4DA6-A715-933AA7F48BC2}"/>
              </a:ext>
            </a:extLst>
          </p:cNvPr>
          <p:cNvSpPr>
            <a:spLocks noGrp="1"/>
          </p:cNvSpPr>
          <p:nvPr/>
        </p:nvSpPr>
        <p:spPr>
          <a:xfrm>
            <a:off x="5543550" y="3228975"/>
            <a:ext cx="495300" cy="495300"/>
          </a:xfrm>
          <a:prstGeom prst="ellipse">
            <a:avLst/>
          </a:prstGeom>
          <a:solidFill>
            <a:srgbClr val="7769F4">
              <a:alpha val="18000"/>
            </a:srgbClr>
          </a:solidFill>
          <a:ln w="1905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CC93944-8A3C-4743-ABB5-E9F7D6035BF6}"/>
              </a:ext>
            </a:extLst>
          </p:cNvPr>
          <p:cNvSpPr>
            <a:spLocks noGrp="1"/>
          </p:cNvSpPr>
          <p:nvPr/>
        </p:nvSpPr>
        <p:spPr>
          <a:xfrm>
            <a:off x="554355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4509666-1122-4620-ADE7-9178DFD0F13D}"/>
              </a:ext>
            </a:extLst>
          </p:cNvPr>
          <p:cNvSpPr>
            <a:spLocks noGrp="1"/>
          </p:cNvSpPr>
          <p:nvPr/>
        </p:nvSpPr>
        <p:spPr>
          <a:xfrm>
            <a:off x="615315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conflictos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B5783150-7C8E-4DCF-B4AD-F12C78142CAD}"/>
              </a:ext>
            </a:extLst>
          </p:cNvPr>
          <p:cNvSpPr>
            <a:spLocks noGrp="1"/>
          </p:cNvSpPr>
          <p:nvPr/>
        </p:nvSpPr>
        <p:spPr>
          <a:xfrm>
            <a:off x="7239000" y="4991100"/>
            <a:ext cx="3810000" cy="0"/>
          </a:xfrm>
          <a:prstGeom prst="line">
            <a:avLst/>
          </a:prstGeom>
          <a:noFill/>
          <a:ln w="19050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901E44D0-06DF-4830-97BC-C7643A96F161}"/>
              </a:ext>
            </a:extLst>
          </p:cNvPr>
          <p:cNvSpPr>
            <a:spLocks noGrp="1"/>
          </p:cNvSpPr>
          <p:nvPr/>
        </p:nvSpPr>
        <p:spPr>
          <a:xfrm>
            <a:off x="7239000" y="2705100"/>
            <a:ext cx="0" cy="2286000"/>
          </a:xfrm>
          <a:prstGeom prst="line">
            <a:avLst/>
          </a:prstGeom>
          <a:noFill/>
          <a:ln w="19050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F0C26057-04A5-42F9-9D79-BEAEF0D82B3C}"/>
              </a:ext>
            </a:extLst>
          </p:cNvPr>
          <p:cNvSpPr>
            <a:spLocks noGrp="1"/>
          </p:cNvSpPr>
          <p:nvPr/>
        </p:nvSpPr>
        <p:spPr>
          <a:xfrm flipV="1">
            <a:off x="7239000" y="4095750"/>
            <a:ext cx="571500" cy="5143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B0C02E62-5FAF-4B37-8231-F17AD110598F}"/>
              </a:ext>
            </a:extLst>
          </p:cNvPr>
          <p:cNvSpPr>
            <a:spLocks noGrp="1"/>
          </p:cNvSpPr>
          <p:nvPr/>
        </p:nvSpPr>
        <p:spPr>
          <a:xfrm flipV="1">
            <a:off x="7810500" y="3562350"/>
            <a:ext cx="571500" cy="53340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DD57C480-1944-45E1-BCFE-5C78BBCD35BE}"/>
              </a:ext>
            </a:extLst>
          </p:cNvPr>
          <p:cNvSpPr>
            <a:spLocks noGrp="1"/>
          </p:cNvSpPr>
          <p:nvPr/>
        </p:nvSpPr>
        <p:spPr>
          <a:xfrm flipV="1">
            <a:off x="8382000" y="3200400"/>
            <a:ext cx="571500" cy="3619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64F7ACC1-8986-4689-ADC5-8364F854996A}"/>
              </a:ext>
            </a:extLst>
          </p:cNvPr>
          <p:cNvSpPr>
            <a:spLocks noGrp="1"/>
          </p:cNvSpPr>
          <p:nvPr/>
        </p:nvSpPr>
        <p:spPr>
          <a:xfrm>
            <a:off x="8953500" y="3200400"/>
            <a:ext cx="571500" cy="1333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B0D54275-4D49-4559-B7C5-F3FB3C44587D}"/>
              </a:ext>
            </a:extLst>
          </p:cNvPr>
          <p:cNvSpPr>
            <a:spLocks noGrp="1"/>
          </p:cNvSpPr>
          <p:nvPr/>
        </p:nvSpPr>
        <p:spPr>
          <a:xfrm>
            <a:off x="9525000" y="3333750"/>
            <a:ext cx="571500" cy="41910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2270E50A-7350-477B-A71B-624A6D14A222}"/>
              </a:ext>
            </a:extLst>
          </p:cNvPr>
          <p:cNvSpPr>
            <a:spLocks noGrp="1"/>
          </p:cNvSpPr>
          <p:nvPr/>
        </p:nvSpPr>
        <p:spPr>
          <a:xfrm>
            <a:off x="10096500" y="3752850"/>
            <a:ext cx="571500" cy="5143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396294BE-6FA4-4A11-BCE3-EB6FBF8720E9}"/>
              </a:ext>
            </a:extLst>
          </p:cNvPr>
          <p:cNvSpPr>
            <a:spLocks noGrp="1"/>
          </p:cNvSpPr>
          <p:nvPr/>
        </p:nvSpPr>
        <p:spPr>
          <a:xfrm>
            <a:off x="10668000" y="4267200"/>
            <a:ext cx="381000" cy="2476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098388F-F54C-40E9-9B28-52558DA96B6B}"/>
              </a:ext>
            </a:extLst>
          </p:cNvPr>
          <p:cNvSpPr>
            <a:spLocks noGrp="1"/>
          </p:cNvSpPr>
          <p:nvPr/>
        </p:nvSpPr>
        <p:spPr>
          <a:xfrm>
            <a:off x="8782050" y="3067050"/>
            <a:ext cx="342900" cy="342900"/>
          </a:xfrm>
          <a:prstGeom prst="ellipse">
            <a:avLst/>
          </a:prstGeom>
          <a:solidFill>
            <a:srgbClr val="45E0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6A5FFCD-C3B4-4363-92EB-F27371778483}"/>
              </a:ext>
            </a:extLst>
          </p:cNvPr>
          <p:cNvSpPr>
            <a:spLocks noGrp="1"/>
          </p:cNvSpPr>
          <p:nvPr/>
        </p:nvSpPr>
        <p:spPr>
          <a:xfrm>
            <a:off x="8286750" y="27051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zona útil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A7B9694-C4DE-456A-A68C-5AAAF3ECD7AA}"/>
              </a:ext>
            </a:extLst>
          </p:cNvPr>
          <p:cNvSpPr>
            <a:spLocks noGrp="1"/>
          </p:cNvSpPr>
          <p:nvPr/>
        </p:nvSpPr>
        <p:spPr>
          <a:xfrm>
            <a:off x="8620125" y="5162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tokens de contexto →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FDF25FD-D6D1-481B-9B1E-6E44D1DACB7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modelo conceptual de calidad, ruido y longitud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D79C7B7-558E-4F86-B1DE-B0F63AC6EE3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67" name="Ecuación s07_qua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82714"/>
            <a:ext cx="6572250" cy="473322"/>
          </a:xfrm>
          <a:prstGeom prst="rect">
            <a:avLst/>
          </a:prstGeom>
        </p:spPr>
      </p:pic>
      <p:pic>
        <p:nvPicPr>
          <p:cNvPr id="68" name="Ecuación s07_nonmonoton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29100"/>
            <a:ext cx="2823815" cy="514350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2D18A73-4933-4564-8790-4B3DF59847E9}"/>
              </a:ext>
            </a:extLst>
          </p:cNvPr>
          <p:cNvSpPr>
            <a:spLocks noGrp="1"/>
          </p:cNvSpPr>
          <p:nvPr/>
        </p:nvSpPr>
        <p:spPr>
          <a:xfrm>
            <a:off x="685800" y="1901952"/>
            <a:ext cx="1783080" cy="256032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MODELO CONCEPTUAL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365601-E01C-42C9-A992-6334139E47B2}"/>
              </a:ext>
            </a:extLst>
          </p:cNvPr>
          <p:cNvSpPr>
            <a:spLocks noGrp="1"/>
          </p:cNvSpPr>
          <p:nvPr/>
        </p:nvSpPr>
        <p:spPr>
          <a:xfrm>
            <a:off x="685800" y="4709160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Q calidad observada · R relevancia · N ruido · D dificultad · K conflictos · n tokens</a:t>
            </a:r>
          </a:p>
        </p:txBody>
      </p:sp>
    </p:spTree>
    <p:extLst>
      <p:ext uri="{BB962C8B-B14F-4D97-AF65-F5344CB8AC3E}">
        <p14:creationId xmlns:p14="http://schemas.microsoft.com/office/powerpoint/2010/main" val="103472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91524DA1-53AA-4EC8-893B-A7B8A92E7AB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09 / RAG END-TO-END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D78EA64-44E6-488A-854E-0904AD3F4B3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RAG multiplica recuperación y generación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76CE5B3E-A25E-44E9-B0F9-44175D8AAFF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F997CFA5-0F98-4AE8-8E61-16D9B9C96E1E}"/>
              </a:ext>
            </a:extLst>
          </p:cNvPr>
          <p:cNvSpPr>
            <a:spLocks noGrp="1"/>
          </p:cNvSpPr>
          <p:nvPr/>
        </p:nvSpPr>
        <p:spPr>
          <a:xfrm>
            <a:off x="3333750" y="4038600"/>
            <a:ext cx="1619250" cy="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E2CDDFBB-E8C2-4678-B91A-6EB0F0EDABA9}"/>
              </a:ext>
            </a:extLst>
          </p:cNvPr>
          <p:cNvSpPr>
            <a:spLocks noGrp="1"/>
          </p:cNvSpPr>
          <p:nvPr/>
        </p:nvSpPr>
        <p:spPr>
          <a:xfrm>
            <a:off x="7239000" y="4038600"/>
            <a:ext cx="1619250" cy="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27D2054-E768-4428-8EE3-B5E8CDE3F4BC}"/>
              </a:ext>
            </a:extLst>
          </p:cNvPr>
          <p:cNvSpPr>
            <a:spLocks noGrp="1"/>
          </p:cNvSpPr>
          <p:nvPr/>
        </p:nvSpPr>
        <p:spPr>
          <a:xfrm>
            <a:off x="1238250" y="3371850"/>
            <a:ext cx="2095500" cy="133350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7BDB3D4-1210-4FF8-808E-6CFC60E8D972}"/>
              </a:ext>
            </a:extLst>
          </p:cNvPr>
          <p:cNvSpPr>
            <a:spLocks noGrp="1"/>
          </p:cNvSpPr>
          <p:nvPr/>
        </p:nvSpPr>
        <p:spPr>
          <a:xfrm>
            <a:off x="4953000" y="3371850"/>
            <a:ext cx="2286000" cy="133350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B85AFC9-125D-4011-8EE2-BEBD563C96EE}"/>
              </a:ext>
            </a:extLst>
          </p:cNvPr>
          <p:cNvSpPr>
            <a:spLocks noGrp="1"/>
          </p:cNvSpPr>
          <p:nvPr/>
        </p:nvSpPr>
        <p:spPr>
          <a:xfrm>
            <a:off x="8858250" y="3371850"/>
            <a:ext cx="2095500" cy="1333500"/>
          </a:xfrm>
          <a:prstGeom prst="roundRect">
            <a:avLst>
              <a:gd name="adj" fmla="val 18571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5ACB513-20AB-4E7D-8CF7-2B832C214243}"/>
              </a:ext>
            </a:extLst>
          </p:cNvPr>
          <p:cNvSpPr>
            <a:spLocks noGrp="1"/>
          </p:cNvSpPr>
          <p:nvPr/>
        </p:nvSpPr>
        <p:spPr>
          <a:xfrm>
            <a:off x="1238250" y="36004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E6A798-992F-400E-8621-73B35CECBAC2}"/>
              </a:ext>
            </a:extLst>
          </p:cNvPr>
          <p:cNvSpPr>
            <a:spLocks noGrp="1"/>
          </p:cNvSpPr>
          <p:nvPr/>
        </p:nvSpPr>
        <p:spPr>
          <a:xfrm>
            <a:off x="1238250" y="39243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0.80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AF580A7-EE54-41F8-A30C-3A837D2357F2}"/>
              </a:ext>
            </a:extLst>
          </p:cNvPr>
          <p:cNvSpPr>
            <a:spLocks noGrp="1"/>
          </p:cNvSpPr>
          <p:nvPr/>
        </p:nvSpPr>
        <p:spPr>
          <a:xfrm>
            <a:off x="4953000" y="36004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576B574-EBA5-4274-80E6-7B25F40A49A9}"/>
              </a:ext>
            </a:extLst>
          </p:cNvPr>
          <p:cNvSpPr>
            <a:spLocks noGrp="1"/>
          </p:cNvSpPr>
          <p:nvPr/>
        </p:nvSpPr>
        <p:spPr>
          <a:xfrm>
            <a:off x="4953000" y="39243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0.90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4EB890-063E-476B-9E55-85EACAEC0ECF}"/>
              </a:ext>
            </a:extLst>
          </p:cNvPr>
          <p:cNvSpPr>
            <a:spLocks noGrp="1"/>
          </p:cNvSpPr>
          <p:nvPr/>
        </p:nvSpPr>
        <p:spPr>
          <a:xfrm>
            <a:off x="8858250" y="36004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1076F61-A58C-4D26-9D1E-A35731E905A9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0.72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385655-CFB3-44B8-9242-E3CA741661E0}"/>
              </a:ext>
            </a:extLst>
          </p:cNvPr>
          <p:cNvSpPr>
            <a:spLocks noGrp="1"/>
          </p:cNvSpPr>
          <p:nvPr/>
        </p:nvSpPr>
        <p:spPr>
          <a:xfrm>
            <a:off x="3952875" y="38195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×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3029F09-9D51-4290-90A9-12580E69FA5E}"/>
              </a:ext>
            </a:extLst>
          </p:cNvPr>
          <p:cNvSpPr>
            <a:spLocks noGrp="1"/>
          </p:cNvSpPr>
          <p:nvPr/>
        </p:nvSpPr>
        <p:spPr>
          <a:xfrm>
            <a:off x="7905750" y="38195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=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281812F-EE5C-45CE-A097-2B4EFB0F34AC}"/>
              </a:ext>
            </a:extLst>
          </p:cNvPr>
          <p:cNvSpPr>
            <a:spLocks noGrp="1"/>
          </p:cNvSpPr>
          <p:nvPr/>
        </p:nvSpPr>
        <p:spPr>
          <a:xfrm>
            <a:off x="2095500" y="518160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20"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Muchos “errores de generación” comienzan antes: en la selección del contexto.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613DADF-A81F-473E-9F96-82A8A802BD7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descomposición probabilística de un pipeline RAG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B233DD0-226A-49DB-97D7-680723ED98D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43" name="Ecuación s08_rag_produ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885" y="2266950"/>
            <a:ext cx="9404230" cy="5905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DF3748-609D-4BA1-AE0D-43D35CB39552}"/>
              </a:ext>
            </a:extLst>
          </p:cNvPr>
          <p:cNvSpPr>
            <a:spLocks noGrp="1"/>
          </p:cNvSpPr>
          <p:nvPr/>
        </p:nvSpPr>
        <p:spPr>
          <a:xfrm>
            <a:off x="1005840" y="2834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D corpus · C★ evidencia correcta · Y★ respuesta correcta · η retriever · θ generador</a:t>
            </a:r>
          </a:p>
        </p:txBody>
      </p:sp>
    </p:spTree>
    <p:extLst>
      <p:ext uri="{BB962C8B-B14F-4D97-AF65-F5344CB8AC3E}">
        <p14:creationId xmlns:p14="http://schemas.microsoft.com/office/powerpoint/2010/main" val="164720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AFEECF-7B4E-4032-BE30-EB65553B0D87}"/>
              </a:ext>
            </a:extLst>
          </p:cNvPr>
          <p:cNvSpPr>
            <a:spLocks noGrp="1"/>
          </p:cNvSpPr>
          <p:nvPr/>
        </p:nvSpPr>
        <p:spPr>
          <a:xfrm>
            <a:off x="594360" y="1600200"/>
            <a:ext cx="5212080" cy="2880360"/>
          </a:xfrm>
          <a:prstGeom prst="roundRect">
            <a:avLst/>
          </a:prstGeom>
          <a:solidFill>
            <a:srgbClr val="F1F3F9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9EA4F0-47B7-471A-97CE-297E66408985}"/>
              </a:ext>
            </a:extLst>
          </p:cNvPr>
          <p:cNvSpPr>
            <a:spLocks noGrp="1"/>
          </p:cNvSpPr>
          <p:nvPr/>
        </p:nvSpPr>
        <p:spPr>
          <a:xfrm>
            <a:off x="6172200" y="1600200"/>
            <a:ext cx="5212080" cy="2880360"/>
          </a:xfrm>
          <a:prstGeom prst="roundRect">
            <a:avLst/>
          </a:prstGeom>
          <a:solidFill>
            <a:srgbClr val="F0EEFF"/>
          </a:solidFill>
          <a:ln w="1905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E0B65-E668-4E20-8B38-83A36B659D8E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10 / MODELOS COMPARADOS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9E793-8A01-43BC-957C-C697C575CD3A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RAG recupera; Context Engineering orquesta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E304F-8E77-423D-BE1D-0FF8490D0A64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3C13E-E4BB-41BA-B231-76118CB69E35}"/>
              </a:ext>
            </a:extLst>
          </p:cNvPr>
          <p:cNvSpPr>
            <a:spLocks noGrp="1"/>
          </p:cNvSpPr>
          <p:nvPr/>
        </p:nvSpPr>
        <p:spPr>
          <a:xfrm>
            <a:off x="713232" y="171907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F1BD3-4BBC-4642-B76B-AB2769E025D5}"/>
              </a:ext>
            </a:extLst>
          </p:cNvPr>
          <p:cNvSpPr>
            <a:spLocks noGrp="1"/>
          </p:cNvSpPr>
          <p:nvPr/>
        </p:nvSpPr>
        <p:spPr>
          <a:xfrm>
            <a:off x="713232" y="2011680"/>
            <a:ext cx="4983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Recupera C desde documentos D</a:t>
            </a:r>
          </a:p>
        </p:txBody>
      </p:sp>
      <p:pic>
        <p:nvPicPr>
          <p:cNvPr id="32" name="Ecuación s09_rag_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49413"/>
            <a:ext cx="5001768" cy="554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6F8122-F3F5-4DE3-AAAE-9EC2D92628E9}"/>
              </a:ext>
            </a:extLst>
          </p:cNvPr>
          <p:cNvSpPr>
            <a:spLocks noGrp="1"/>
          </p:cNvSpPr>
          <p:nvPr/>
        </p:nvSpPr>
        <p:spPr>
          <a:xfrm>
            <a:off x="713232" y="3584448"/>
            <a:ext cx="4983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η recupera documentos; θ genera con el contexto seleccionado.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8C7FC-7D2B-4159-B0E1-C1510EF0E972}"/>
              </a:ext>
            </a:extLst>
          </p:cNvPr>
          <p:cNvSpPr>
            <a:spLocks noGrp="1"/>
          </p:cNvSpPr>
          <p:nvPr/>
        </p:nvSpPr>
        <p:spPr>
          <a:xfrm>
            <a:off x="6382512" y="171907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CONTEXT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8CF38-B795-4C9D-B28F-195A65A3E6C8}"/>
              </a:ext>
            </a:extLst>
          </p:cNvPr>
          <p:cNvSpPr>
            <a:spLocks noGrp="1"/>
          </p:cNvSpPr>
          <p:nvPr/>
        </p:nvSpPr>
        <p:spPr>
          <a:xfrm>
            <a:off x="6382512" y="2011680"/>
            <a:ext cx="4892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Orquesta C desde el estado S</a:t>
            </a:r>
          </a:p>
        </p:txBody>
      </p:sp>
      <p:pic>
        <p:nvPicPr>
          <p:cNvPr id="36" name="Ecuación s09_ce_mod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738467"/>
            <a:ext cx="4892040" cy="576394"/>
          </a:xfrm>
          <a:prstGeom prst="rect">
            <a:avLst/>
          </a:prstGeom>
        </p:spPr>
      </p:pic>
      <p:pic>
        <p:nvPicPr>
          <p:cNvPr id="37" name="Ecuación s09_st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222" y="3511296"/>
            <a:ext cx="2854915" cy="3931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200290-8A5F-4C4B-BC3D-8361E5FCDA26}"/>
              </a:ext>
            </a:extLst>
          </p:cNvPr>
          <p:cNvSpPr>
            <a:spLocks noGrp="1"/>
          </p:cNvSpPr>
          <p:nvPr/>
        </p:nvSpPr>
        <p:spPr>
          <a:xfrm>
            <a:off x="6382512" y="393192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φ combina documentos, memoria, herramientas, historial y entorno.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726A2E-3E12-4439-86EF-1FE3AF6057AB}"/>
              </a:ext>
            </a:extLst>
          </p:cNvPr>
          <p:cNvSpPr>
            <a:spLocks noGrp="1"/>
          </p:cNvSpPr>
          <p:nvPr/>
        </p:nvSpPr>
        <p:spPr>
          <a:xfrm>
            <a:off x="1051560" y="4645152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RAG es un caso particular</a:t>
            </a:r>
          </a:p>
        </p:txBody>
      </p:sp>
      <p:pic>
        <p:nvPicPr>
          <p:cNvPr id="40" name="Ecuación s09_special_c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868" y="4645152"/>
            <a:ext cx="2299062" cy="4389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96A333F-160A-447B-9B17-29508BE02A80}"/>
              </a:ext>
            </a:extLst>
          </p:cNvPr>
          <p:cNvSpPr>
            <a:spLocks noGrp="1"/>
          </p:cNvSpPr>
          <p:nvPr/>
        </p:nvSpPr>
        <p:spPr>
          <a:xfrm>
            <a:off x="713232" y="5285232"/>
            <a:ext cx="10561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150">
                <a:solidFill>
                  <a:srgbClr val="60687C"/>
                </a:solidFill>
                <a:latin typeface="Aptos"/>
                <a:ea typeface="Aptos"/>
                <a:cs typeface="Aptos"/>
              </a:rPr>
              <a:t>X consulta · Y respuesta · C contexto · D documentos · M memoria · T herramientas
H historial · E entorno · η retriever · φ orquestador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ACFA69-9B20-44AF-9D99-6E334A8DBF0A}"/>
              </a:ext>
            </a:extLst>
          </p:cNvPr>
          <p:cNvSpPr>
            <a:spLocks noGrp="1"/>
          </p:cNvSpPr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formulación matemática del proyecto — RAG como caso particular de Context Engineering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9D0F81-5EBC-49A1-8F43-F482A3B68EAF}"/>
              </a:ext>
            </a:extLst>
          </p:cNvPr>
          <p:cNvSpPr>
            <a:spLocks noGrp="1"/>
          </p:cNvSpPr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502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15DBF-6641-44C5-98B7-08BA92B7BE02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11 / FORMALIZACIÓN PROBABILÍSTICA DE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BD10D-5177-4F7D-B264-D8D6D1D09D27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RAG recupera evidencia antes de generar la respuesta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EF426-A7F8-4559-80D6-1D382081DA00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18843"/>
            <a:ext cx="10817352" cy="3786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65713B-1A16-4A34-B37B-317262802A29}"/>
              </a:ext>
            </a:extLst>
          </p:cNvPr>
          <p:cNvSpPr>
            <a:spLocks noGrp="1"/>
          </p:cNvSpPr>
          <p:nvPr/>
        </p:nvSpPr>
        <p:spPr>
          <a:xfrm>
            <a:off x="685800" y="5760720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sistema marginaliza documentos recuperados y genera la respuesta condicionada a la evidencia.</a:t>
            </a:r>
          </a:p>
        </p:txBody>
      </p:sp>
    </p:spTree>
    <p:extLst>
      <p:ext uri="{BB962C8B-B14F-4D97-AF65-F5344CB8AC3E}">
        <p14:creationId xmlns:p14="http://schemas.microsoft.com/office/powerpoint/2010/main" val="168000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FCEFC5F0-3B9E-4D5D-927D-CCEFC57E01E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12 / RECUPERACIÓN INTERNA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FA2DB4-35E9-4F79-B8B9-713DFF34B23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366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Antes de generar, el modelo debe encontrar la evidencia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ADE4D0A8-97B5-4F83-9E7F-AA19EEB08FD5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FD2453-7FE9-49DD-8902-32DB88BE1FDF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66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Cada token compite por atención. El desafío no es solo leer: es localizar, integrar y responder.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2F5053C-5813-4E08-AD61-A04932FF4A80}"/>
              </a:ext>
            </a:extLst>
          </p:cNvPr>
          <p:cNvSpPr>
            <a:spLocks noGrp="1"/>
          </p:cNvSpPr>
          <p:nvPr/>
        </p:nvSpPr>
        <p:spPr>
          <a:xfrm>
            <a:off x="73533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300BC72-ACCF-44DF-86F1-E4C5EEBEC47E}"/>
              </a:ext>
            </a:extLst>
          </p:cNvPr>
          <p:cNvSpPr>
            <a:spLocks noGrp="1"/>
          </p:cNvSpPr>
          <p:nvPr/>
        </p:nvSpPr>
        <p:spPr>
          <a:xfrm>
            <a:off x="78867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BA5DFBE-F1D1-4E20-9F2C-15C1AC15F184}"/>
              </a:ext>
            </a:extLst>
          </p:cNvPr>
          <p:cNvSpPr>
            <a:spLocks noGrp="1"/>
          </p:cNvSpPr>
          <p:nvPr/>
        </p:nvSpPr>
        <p:spPr>
          <a:xfrm>
            <a:off x="84201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68E4E99-EBF1-49F2-984E-F1830E3B035D}"/>
              </a:ext>
            </a:extLst>
          </p:cNvPr>
          <p:cNvSpPr>
            <a:spLocks noGrp="1"/>
          </p:cNvSpPr>
          <p:nvPr/>
        </p:nvSpPr>
        <p:spPr>
          <a:xfrm>
            <a:off x="89535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6B2D2F4-7CD9-4F57-BFBB-AF23D2285656}"/>
              </a:ext>
            </a:extLst>
          </p:cNvPr>
          <p:cNvSpPr>
            <a:spLocks noGrp="1"/>
          </p:cNvSpPr>
          <p:nvPr/>
        </p:nvSpPr>
        <p:spPr>
          <a:xfrm>
            <a:off x="94869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42E9A7A-A511-4BC5-A9AE-6F1F4E089D3C}"/>
              </a:ext>
            </a:extLst>
          </p:cNvPr>
          <p:cNvSpPr>
            <a:spLocks noGrp="1"/>
          </p:cNvSpPr>
          <p:nvPr/>
        </p:nvSpPr>
        <p:spPr>
          <a:xfrm>
            <a:off x="100203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28349FC-2AFF-429C-A375-D8898B442D6F}"/>
              </a:ext>
            </a:extLst>
          </p:cNvPr>
          <p:cNvSpPr>
            <a:spLocks noGrp="1"/>
          </p:cNvSpPr>
          <p:nvPr/>
        </p:nvSpPr>
        <p:spPr>
          <a:xfrm>
            <a:off x="105537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4FA2016-3C87-4649-8633-9E3D0B04D6B3}"/>
              </a:ext>
            </a:extLst>
          </p:cNvPr>
          <p:cNvSpPr>
            <a:spLocks noGrp="1"/>
          </p:cNvSpPr>
          <p:nvPr/>
        </p:nvSpPr>
        <p:spPr>
          <a:xfrm>
            <a:off x="73533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6FEBEAA-550A-4F20-92F0-9DCA2ECCF209}"/>
              </a:ext>
            </a:extLst>
          </p:cNvPr>
          <p:cNvSpPr>
            <a:spLocks noGrp="1"/>
          </p:cNvSpPr>
          <p:nvPr/>
        </p:nvSpPr>
        <p:spPr>
          <a:xfrm>
            <a:off x="78867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14686EA-4002-4848-A7F5-2C4CE15CCC62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7F0985C-EDC4-4979-BC12-C5A0165247AC}"/>
              </a:ext>
            </a:extLst>
          </p:cNvPr>
          <p:cNvSpPr>
            <a:spLocks noGrp="1"/>
          </p:cNvSpPr>
          <p:nvPr/>
        </p:nvSpPr>
        <p:spPr>
          <a:xfrm>
            <a:off x="8953500" y="2667000"/>
            <a:ext cx="323850" cy="323850"/>
          </a:xfrm>
          <a:prstGeom prst="ellipse">
            <a:avLst/>
          </a:prstGeom>
          <a:solidFill>
            <a:srgbClr val="45E0D0"/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FD39877-BA49-4B22-B571-6360F641EC71}"/>
              </a:ext>
            </a:extLst>
          </p:cNvPr>
          <p:cNvSpPr>
            <a:spLocks noGrp="1"/>
          </p:cNvSpPr>
          <p:nvPr/>
        </p:nvSpPr>
        <p:spPr>
          <a:xfrm>
            <a:off x="94869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2E422BD-76AC-44EA-8E4B-7B00CEE9736F}"/>
              </a:ext>
            </a:extLst>
          </p:cNvPr>
          <p:cNvSpPr>
            <a:spLocks noGrp="1"/>
          </p:cNvSpPr>
          <p:nvPr/>
        </p:nvSpPr>
        <p:spPr>
          <a:xfrm>
            <a:off x="100203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E1292E5-9D00-4C01-A553-5F1939709EA1}"/>
              </a:ext>
            </a:extLst>
          </p:cNvPr>
          <p:cNvSpPr>
            <a:spLocks noGrp="1"/>
          </p:cNvSpPr>
          <p:nvPr/>
        </p:nvSpPr>
        <p:spPr>
          <a:xfrm>
            <a:off x="105537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652511A-EE36-4C34-9B93-9EFC9F8941D3}"/>
              </a:ext>
            </a:extLst>
          </p:cNvPr>
          <p:cNvSpPr>
            <a:spLocks noGrp="1"/>
          </p:cNvSpPr>
          <p:nvPr/>
        </p:nvSpPr>
        <p:spPr>
          <a:xfrm>
            <a:off x="73533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E4F26A-A8D4-4448-A4EE-D1EA43BD4767}"/>
              </a:ext>
            </a:extLst>
          </p:cNvPr>
          <p:cNvSpPr>
            <a:spLocks noGrp="1"/>
          </p:cNvSpPr>
          <p:nvPr/>
        </p:nvSpPr>
        <p:spPr>
          <a:xfrm>
            <a:off x="78867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8F9372B-3FF1-499F-A9EA-9C265CBA5B61}"/>
              </a:ext>
            </a:extLst>
          </p:cNvPr>
          <p:cNvSpPr>
            <a:spLocks noGrp="1"/>
          </p:cNvSpPr>
          <p:nvPr/>
        </p:nvSpPr>
        <p:spPr>
          <a:xfrm>
            <a:off x="84201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E2F537D-7DDC-43C3-AC08-85314E6FE2F3}"/>
              </a:ext>
            </a:extLst>
          </p:cNvPr>
          <p:cNvSpPr>
            <a:spLocks noGrp="1"/>
          </p:cNvSpPr>
          <p:nvPr/>
        </p:nvSpPr>
        <p:spPr>
          <a:xfrm>
            <a:off x="89535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8E6254E-9362-43FF-B870-8E663FF9844E}"/>
              </a:ext>
            </a:extLst>
          </p:cNvPr>
          <p:cNvSpPr>
            <a:spLocks noGrp="1"/>
          </p:cNvSpPr>
          <p:nvPr/>
        </p:nvSpPr>
        <p:spPr>
          <a:xfrm>
            <a:off x="94869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6147749-C2BB-49F3-B022-6C1AA0FEFF9E}"/>
              </a:ext>
            </a:extLst>
          </p:cNvPr>
          <p:cNvSpPr>
            <a:spLocks noGrp="1"/>
          </p:cNvSpPr>
          <p:nvPr/>
        </p:nvSpPr>
        <p:spPr>
          <a:xfrm>
            <a:off x="100203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20DE90C-7C54-466B-8770-A660F0C18835}"/>
              </a:ext>
            </a:extLst>
          </p:cNvPr>
          <p:cNvSpPr>
            <a:spLocks noGrp="1"/>
          </p:cNvSpPr>
          <p:nvPr/>
        </p:nvSpPr>
        <p:spPr>
          <a:xfrm>
            <a:off x="105537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43EBDCA-D8EF-4D6C-84D1-516761895355}"/>
              </a:ext>
            </a:extLst>
          </p:cNvPr>
          <p:cNvSpPr>
            <a:spLocks noGrp="1"/>
          </p:cNvSpPr>
          <p:nvPr/>
        </p:nvSpPr>
        <p:spPr>
          <a:xfrm>
            <a:off x="9715500" y="4324350"/>
            <a:ext cx="1619250" cy="6286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13BE557-BE4D-4FC5-851B-5036F8C517C5}"/>
              </a:ext>
            </a:extLst>
          </p:cNvPr>
          <p:cNvSpPr>
            <a:spLocks noGrp="1"/>
          </p:cNvSpPr>
          <p:nvPr/>
        </p:nvSpPr>
        <p:spPr>
          <a:xfrm>
            <a:off x="9715500" y="4495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F951E804-12AA-4645-99D4-AE34C9ED47DA}"/>
              </a:ext>
            </a:extLst>
          </p:cNvPr>
          <p:cNvSpPr>
            <a:spLocks noGrp="1"/>
          </p:cNvSpPr>
          <p:nvPr/>
        </p:nvSpPr>
        <p:spPr>
          <a:xfrm>
            <a:off x="9115425" y="2990850"/>
            <a:ext cx="600075" cy="1638300"/>
          </a:xfrm>
          <a:prstGeom prst="line">
            <a:avLst/>
          </a:prstGeom>
          <a:noFill/>
          <a:ln w="3810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435F1BD1-D343-4CCC-9E8D-373F0E0BC56D}"/>
              </a:ext>
            </a:extLst>
          </p:cNvPr>
          <p:cNvSpPr>
            <a:spLocks noGrp="1"/>
          </p:cNvSpPr>
          <p:nvPr/>
        </p:nvSpPr>
        <p:spPr>
          <a:xfrm>
            <a:off x="7515225" y="2238375"/>
            <a:ext cx="2200275" cy="2390775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16634CE9-BE4D-4747-A5AF-5B7262E5B30F}"/>
              </a:ext>
            </a:extLst>
          </p:cNvPr>
          <p:cNvSpPr>
            <a:spLocks noGrp="1"/>
          </p:cNvSpPr>
          <p:nvPr/>
        </p:nvSpPr>
        <p:spPr>
          <a:xfrm flipH="1">
            <a:off x="9715500" y="3419475"/>
            <a:ext cx="1000125" cy="1209675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FFD3C28-0664-4882-8CE1-2221A36E48AE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5C9882C-9DE7-45D8-A781-F1AC474E3378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identificar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2795012-9B4E-4220-970C-7FC32C31394B}"/>
              </a:ext>
            </a:extLst>
          </p:cNvPr>
          <p:cNvSpPr>
            <a:spLocks noGrp="1"/>
          </p:cNvSpPr>
          <p:nvPr/>
        </p:nvSpPr>
        <p:spPr>
          <a:xfrm>
            <a:off x="2638425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B114284-1CB8-4588-BA89-951BD7BF6AD8}"/>
              </a:ext>
            </a:extLst>
          </p:cNvPr>
          <p:cNvSpPr>
            <a:spLocks noGrp="1"/>
          </p:cNvSpPr>
          <p:nvPr/>
        </p:nvSpPr>
        <p:spPr>
          <a:xfrm>
            <a:off x="2638425" y="4343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E4E07AA-3047-49D4-AEEB-6DDE135C9CCA}"/>
              </a:ext>
            </a:extLst>
          </p:cNvPr>
          <p:cNvSpPr>
            <a:spLocks noGrp="1"/>
          </p:cNvSpPr>
          <p:nvPr/>
        </p:nvSpPr>
        <p:spPr>
          <a:xfrm>
            <a:off x="4591050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81050DD-CBE1-4690-BE93-D0E92C845E06}"/>
              </a:ext>
            </a:extLst>
          </p:cNvPr>
          <p:cNvSpPr>
            <a:spLocks noGrp="1"/>
          </p:cNvSpPr>
          <p:nvPr/>
        </p:nvSpPr>
        <p:spPr>
          <a:xfrm>
            <a:off x="4591050" y="4343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AE7049E-32AB-4563-98E6-0FD3EC9D1C1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atención y recuperación interna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E511DDA-F61C-4407-9CA9-245CFCF1C31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81" name="Ecuación s09_atten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4050"/>
            <a:ext cx="4245352" cy="59055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C980D0C-4BE7-4089-86B3-FE6553E63641}"/>
              </a:ext>
            </a:extLst>
          </p:cNvPr>
          <p:cNvSpPr>
            <a:spLocks noGrp="1"/>
          </p:cNvSpPr>
          <p:nvPr/>
        </p:nvSpPr>
        <p:spPr>
          <a:xfrm>
            <a:off x="685800" y="3310128"/>
            <a:ext cx="5806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  <a:ea typeface="Aptos"/>
                <a:cs typeface="Aptos"/>
              </a:rPr>
              <a:t>Q consultas · K claves · V valores · dₖ dimensión de las claves</a:t>
            </a:r>
          </a:p>
        </p:txBody>
      </p:sp>
    </p:spTree>
    <p:extLst>
      <p:ext uri="{BB962C8B-B14F-4D97-AF65-F5344CB8AC3E}">
        <p14:creationId xmlns:p14="http://schemas.microsoft.com/office/powerpoint/2010/main" val="80350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25DAC-E229-4445-B394-B7A6CFE16B5C}"/>
              </a:ext>
            </a:extLst>
          </p:cNvPr>
          <p:cNvSpPr>
            <a:spLocks noGrp="1"/>
          </p:cNvSpPr>
          <p:nvPr/>
        </p:nvSpPr>
        <p:spPr>
          <a:xfrm>
            <a:off x="594360" y="1536192"/>
            <a:ext cx="5212080" cy="2971800"/>
          </a:xfrm>
          <a:prstGeom prst="roundRect">
            <a:avLst/>
          </a:prstGeom>
          <a:solidFill>
            <a:srgbClr val="F0EEFF"/>
          </a:solidFill>
          <a:ln w="1905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1376B6-3877-4809-814F-A405C08BC505}"/>
              </a:ext>
            </a:extLst>
          </p:cNvPr>
          <p:cNvSpPr>
            <a:spLocks noGrp="1"/>
          </p:cNvSpPr>
          <p:nvPr/>
        </p:nvSpPr>
        <p:spPr>
          <a:xfrm>
            <a:off x="6172200" y="1536192"/>
            <a:ext cx="5212080" cy="2971800"/>
          </a:xfrm>
          <a:prstGeom prst="roundRect">
            <a:avLst/>
          </a:prstGeom>
          <a:solidFill>
            <a:srgbClr val="FFF7F7"/>
          </a:solidFill>
          <a:ln w="1905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5B2CEB-677A-44F5-8ED4-8A1727F12F78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13 / CHAIN-OF-THOUGHT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B6419-8102-4AC0-9D13-D6AEF301DF19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CoT reduce entropía, pero puede amplificar errores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9A37D-BC2F-446D-9D04-5F2C1B87766F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5DACE-9D13-418B-82BB-CB16100926BB}"/>
              </a:ext>
            </a:extLst>
          </p:cNvPr>
          <p:cNvSpPr>
            <a:spLocks noGrp="1"/>
          </p:cNvSpPr>
          <p:nvPr/>
        </p:nvSpPr>
        <p:spPr>
          <a:xfrm>
            <a:off x="713232" y="162763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1. Fundamento Probabilístico</a:t>
            </a:r>
          </a:p>
        </p:txBody>
      </p:sp>
      <p:pic>
        <p:nvPicPr>
          <p:cNvPr id="28" name="Ecuación s_cot_formu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31" y="1993392"/>
            <a:ext cx="4215882" cy="566928"/>
          </a:xfrm>
          <a:prstGeom prst="rect">
            <a:avLst/>
          </a:prstGeom>
        </p:spPr>
      </p:pic>
      <p:pic>
        <p:nvPicPr>
          <p:cNvPr id="29" name="Ecuación s_cot_entrop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110" y="2606040"/>
            <a:ext cx="3741724" cy="384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55FB4B-D998-44B6-BED3-9B97399B41F1}"/>
              </a:ext>
            </a:extLst>
          </p:cNvPr>
          <p:cNvSpPr>
            <a:spLocks noGrp="1"/>
          </p:cNvSpPr>
          <p:nvPr/>
        </p:nvSpPr>
        <p:spPr>
          <a:xfrm>
            <a:off x="713232" y="3063240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1526"/>
                </a:solidFill>
                <a:latin typeface="Aptos"/>
                <a:ea typeface="Aptos"/>
                <a:cs typeface="Aptos"/>
              </a:rPr>
              <a:t>• El razonamiento R amplía el prefijo antes de generar Y.</a:t>
            </a:r>
          </a:p>
          <a:p>
            <a:endParaRPr sz="1200" b="1">
              <a:solidFill>
                <a:srgbClr val="101526"/>
              </a:solidFill>
              <a:latin typeface="Aptos"/>
              <a:ea typeface="Aptos"/>
              <a:cs typeface="Aptos"/>
            </a:endParaRPr>
          </a:p>
          <a:p>
            <a:r>
              <a:rPr sz="1200" b="1">
                <a:solidFill>
                  <a:srgbClr val="101526"/>
                </a:solidFill>
                <a:latin typeface="Aptos"/>
                <a:ea typeface="Aptos"/>
                <a:cs typeface="Aptos"/>
              </a:rPr>
              <a:t>• Cada paso integra mejor la evidencia de X y 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6B3E2A-F952-41F0-A5C5-976B50279435}"/>
              </a:ext>
            </a:extLst>
          </p:cNvPr>
          <p:cNvSpPr>
            <a:spLocks noGrp="1"/>
          </p:cNvSpPr>
          <p:nvPr/>
        </p:nvSpPr>
        <p:spPr>
          <a:xfrm>
            <a:off x="6291072" y="162763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2. Límites y Riesgos de CoT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C49D4A1-EFB9-44A2-9165-1BF1F01D1C5A}"/>
              </a:ext>
            </a:extLst>
          </p:cNvPr>
          <p:cNvSpPr>
            <a:spLocks noGrp="1"/>
          </p:cNvSpPr>
          <p:nvPr/>
        </p:nvSpPr>
        <p:spPr>
          <a:xfrm>
            <a:off x="6291072" y="2011680"/>
            <a:ext cx="4974336" cy="1170432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066BA8-9E59-4638-90F2-F71726A61564}"/>
              </a:ext>
            </a:extLst>
          </p:cNvPr>
          <p:cNvSpPr>
            <a:spLocks noGrp="1"/>
          </p:cNvSpPr>
          <p:nvPr/>
        </p:nvSpPr>
        <p:spPr>
          <a:xfrm>
            <a:off x="6382512" y="2057400"/>
            <a:ext cx="47914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Cascada de errores</a:t>
            </a:r>
          </a:p>
          <a:p>
            <a:r>
              <a:rPr sz="13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Un error temprano puede fijarse en el prefijo y condicionar la respuesta final.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F62687-84DD-444C-9F9C-D3B77C188D2D}"/>
              </a:ext>
            </a:extLst>
          </p:cNvPr>
          <p:cNvSpPr>
            <a:spLocks noGrp="1"/>
          </p:cNvSpPr>
          <p:nvPr/>
        </p:nvSpPr>
        <p:spPr>
          <a:xfrm>
            <a:off x="6291072" y="3246120"/>
            <a:ext cx="4974336" cy="1170432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E76E4-70A8-4E60-8C2B-2111A89C350D}"/>
              </a:ext>
            </a:extLst>
          </p:cNvPr>
          <p:cNvSpPr>
            <a:spLocks noGrp="1"/>
          </p:cNvSpPr>
          <p:nvPr/>
        </p:nvSpPr>
        <p:spPr>
          <a:xfrm>
            <a:off x="6382512" y="3291840"/>
            <a:ext cx="47914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Overthinking y ruido</a:t>
            </a:r>
          </a:p>
          <a:p>
            <a:r>
              <a:rPr sz="13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Más tokens pueden diluir la señal útil e introducir contexto irrelevante.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7EF841-C4EA-415D-9C36-F1EEFF42088D}"/>
              </a:ext>
            </a:extLst>
          </p:cNvPr>
          <p:cNvSpPr>
            <a:spLocks noGrp="1"/>
          </p:cNvSpPr>
          <p:nvPr/>
        </p:nvSpPr>
        <p:spPr>
          <a:xfrm>
            <a:off x="1051560" y="459028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CoT ayuda a inferir; no resuelve una intención ambigua.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B88310-C8BA-4130-A776-F341277BDC46}"/>
              </a:ext>
            </a:extLst>
          </p:cNvPr>
          <p:cNvSpPr>
            <a:spLocks noGrp="1"/>
          </p:cNvSpPr>
          <p:nvPr/>
        </p:nvSpPr>
        <p:spPr>
          <a:xfrm>
            <a:off x="713232" y="5257800"/>
            <a:ext cx="10561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X consulta · C contexto · R razonamiento · Y respuesta · H entropía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AE46B-C7E1-4154-AA23-8DE95E969796}"/>
              </a:ext>
            </a:extLst>
          </p:cNvPr>
          <p:cNvSpPr>
            <a:spLocks noGrp="1"/>
          </p:cNvSpPr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razonamiento autoregresivo, descomposición Bayesiana y análisis de riesgos de CoT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4920B5-687F-4916-8E08-1ADEAD73FB41}"/>
              </a:ext>
            </a:extLst>
          </p:cNvPr>
          <p:cNvSpPr>
            <a:spLocks noGrp="1"/>
          </p:cNvSpPr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2451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30F3A8-3D77-443E-986F-E93191256C28}"/>
              </a:ext>
            </a:extLst>
          </p:cNvPr>
          <p:cNvSpPr>
            <a:spLocks noGrp="1"/>
          </p:cNvSpPr>
          <p:nvPr/>
        </p:nvSpPr>
        <p:spPr>
          <a:xfrm>
            <a:off x="594360" y="1600200"/>
            <a:ext cx="5212080" cy="132588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DB155C-E90A-4116-A929-BCFB360BCFA1}"/>
              </a:ext>
            </a:extLst>
          </p:cNvPr>
          <p:cNvSpPr>
            <a:spLocks noGrp="1"/>
          </p:cNvSpPr>
          <p:nvPr/>
        </p:nvSpPr>
        <p:spPr>
          <a:xfrm>
            <a:off x="6172200" y="1600200"/>
            <a:ext cx="5212080" cy="1325880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A9D126-14A1-4D73-AD80-3F748F84EA8E}"/>
              </a:ext>
            </a:extLst>
          </p:cNvPr>
          <p:cNvSpPr>
            <a:spLocks noGrp="1"/>
          </p:cNvSpPr>
          <p:nvPr/>
        </p:nvSpPr>
        <p:spPr>
          <a:xfrm>
            <a:off x="594360" y="3063240"/>
            <a:ext cx="5212080" cy="1325880"/>
          </a:xfrm>
          <a:prstGeom prst="roundRect">
            <a:avLst/>
          </a:prstGeom>
          <a:solidFill>
            <a:srgbClr val="E8FCFA"/>
          </a:solidFill>
          <a:ln w="12700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370FD0-D94F-439A-8B4C-E837F17C4357}"/>
              </a:ext>
            </a:extLst>
          </p:cNvPr>
          <p:cNvSpPr>
            <a:spLocks noGrp="1"/>
          </p:cNvSpPr>
          <p:nvPr/>
        </p:nvSpPr>
        <p:spPr>
          <a:xfrm>
            <a:off x="6172200" y="3063240"/>
            <a:ext cx="5212080" cy="132588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8F8B7F-BB6F-4FE7-BB76-3718405C97C0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14 / DESAFÍOS CONVERSIONALES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F003F-B28E-4415-9896-FDF769993DAA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Cuando X no representa una intención literal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CBCA4B-3123-42C9-8B9F-0AE079A99E8C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7F5FC-534A-4B08-AF4C-C027B6BFF45E}"/>
              </a:ext>
            </a:extLst>
          </p:cNvPr>
          <p:cNvSpPr>
            <a:spLocks noGrp="1"/>
          </p:cNvSpPr>
          <p:nvPr/>
        </p:nvSpPr>
        <p:spPr>
          <a:xfrm>
            <a:off x="713232" y="169164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1. Ironía y sarcasmo</a:t>
            </a:r>
          </a:p>
          <a:p>
            <a:r>
              <a:rPr sz="14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«Qué gran servicio…» → reclamo, no elogio.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26339-370A-42A1-9B7D-6F111D3AA54D}"/>
              </a:ext>
            </a:extLst>
          </p:cNvPr>
          <p:cNvSpPr>
            <a:spLocks noGrp="1"/>
          </p:cNvSpPr>
          <p:nvPr/>
        </p:nvSpPr>
        <p:spPr>
          <a:xfrm>
            <a:off x="6291072" y="169164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2. Actos de habla indirectos</a:t>
            </a:r>
          </a:p>
          <a:p>
            <a:r>
              <a:rPr sz="14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«¿Tienes saldo?» → consulta, no habilidad.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66DC04-3DE0-417E-AA00-E812AF7E9DCD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3. Elipsis y correferencia</a:t>
            </a:r>
          </a:p>
          <a:p>
            <a:r>
              <a:rPr sz="14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«Haz lo mismo con la otra» → resolver el referente en el historial.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A2F4C-BC68-43D5-B7BE-59B796CFA26A}"/>
              </a:ext>
            </a:extLst>
          </p:cNvPr>
          <p:cNvSpPr>
            <a:spLocks noGrp="1"/>
          </p:cNvSpPr>
          <p:nvPr/>
        </p:nvSpPr>
        <p:spPr>
          <a:xfrm>
            <a:off x="6291072" y="315468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4. Modismos</a:t>
            </a:r>
          </a:p>
          <a:p>
            <a:r>
              <a:rPr sz="14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«Se cayó el sistema» → incidente, no caída física.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E705B-DC20-4B89-85BA-5C353444AF34}"/>
              </a:ext>
            </a:extLst>
          </p:cNvPr>
          <p:cNvSpPr>
            <a:spLocks noGrp="1"/>
          </p:cNvSpPr>
          <p:nvPr/>
        </p:nvSpPr>
        <p:spPr>
          <a:xfrm>
            <a:off x="1051560" y="4572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La intención se infiere: la consulta literal no siempre describe la acción esperada.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810609-E5EE-433F-8972-CEBFB2E3538A}"/>
              </a:ext>
            </a:extLst>
          </p:cNvPr>
          <p:cNvSpPr>
            <a:spLocks noGrp="1"/>
          </p:cNvSpPr>
          <p:nvPr/>
        </p:nvSpPr>
        <p:spPr>
          <a:xfrm>
            <a:off x="713232" y="5285232"/>
            <a:ext cx="10561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X consulta observable · Z intención latente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5145C5-D36C-4F85-8D29-4F569FD08560}"/>
              </a:ext>
            </a:extLst>
          </p:cNvPr>
          <p:cNvSpPr>
            <a:spLocks noGrp="1"/>
          </p:cNvSpPr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pragmática del lenguaje natural y teoría de actos de habla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6219A7-08B7-4BBB-9C52-1511105F2D4F}"/>
              </a:ext>
            </a:extLst>
          </p:cNvPr>
          <p:cNvSpPr>
            <a:spLocks noGrp="1"/>
          </p:cNvSpPr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63466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C85EC37-6336-44E8-9CA6-FC4DBF98FB6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714500" cy="285750"/>
          </a:xfrm>
          <a:prstGeom prst="roundRect">
            <a:avLst>
              <a:gd name="adj" fmla="val 50000"/>
            </a:avLst>
          </a:prstGeom>
          <a:solidFill>
            <a:srgbClr val="FFB66E">
              <a:alpha val="22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8A59D1-4359-4BA7-BD91-455AB8753499}"/>
              </a:ext>
            </a:extLst>
          </p:cNvPr>
          <p:cNvSpPr>
            <a:spLocks noGrp="1"/>
          </p:cNvSpPr>
          <p:nvPr/>
        </p:nvSpPr>
        <p:spPr>
          <a:xfrm>
            <a:off x="800100" y="7048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PARTE II · AMBIGÜEDAD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2C8F93B-CA81-4818-958A-B348F534460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990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684"/>
          </a:bodyPr>
          <a:lstStyle/>
          <a:p>
            <a:pPr algn="l">
              <a:lnSpc>
                <a:spcPct val="95000"/>
              </a:lnSpc>
              <a:buNone/>
              <a:defRPr sz="3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La ambigüedad cambia el problema.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F0E80335-8C08-46AA-B85E-EB18F9E2871D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648200" cy="0"/>
          </a:xfrm>
          <a:prstGeom prst="line">
            <a:avLst/>
          </a:prstGeom>
          <a:noFill/>
          <a:ln w="47625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D006E6-DFF8-4A7E-BB11-CE4790B6A061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9906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X ya no determina una única intención Z.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DEAA44-F439-475F-A8DA-2F576C0D6535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C7CEDF"/>
                </a:solidFill>
                <a:latin typeface="Aptos"/>
                <a:ea typeface="Aptos"/>
                <a:cs typeface="Aptos"/>
              </a:rPr>
              <a:t>Recuperar mejor no basta: primero hay que desambiguar.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BDFCA0-725A-418C-A80A-20F8E5A0D0B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transición al modelamiento con intención latente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8F8234E-056D-4752-B174-BBDB58BF6C3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19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55110B24-C458-4AE1-BE87-72712409BB4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16 / INTENCIÓN LATENTE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C4C526-2DE3-423C-87E9-8C6FB4CB1DD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La respuesta se vuelve una mezcla de intenciones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D4D221D5-8BA7-4595-805A-47ABE784A69D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B87939B-44B2-4367-85B4-F51B904F814A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3619500" cy="1676400"/>
          </a:xfrm>
          <a:prstGeom prst="roundRect">
            <a:avLst>
              <a:gd name="adj" fmla="val 13636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A2F9A9-65DB-408C-98C4-1CF7379249E9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3124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“¿Cómo funciona la memoria?”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F9C10D-049F-41F4-B1F4-3932FD8BA296}"/>
              </a:ext>
            </a:extLst>
          </p:cNvPr>
          <p:cNvSpPr>
            <a:spLocks noGrp="1"/>
          </p:cNvSpPr>
          <p:nvPr/>
        </p:nvSpPr>
        <p:spPr>
          <a:xfrm>
            <a:off x="2133600" y="448627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E3AA0EF-6676-45CB-935F-539E516198E2}"/>
              </a:ext>
            </a:extLst>
          </p:cNvPr>
          <p:cNvSpPr>
            <a:spLocks noGrp="1"/>
          </p:cNvSpPr>
          <p:nvPr/>
        </p:nvSpPr>
        <p:spPr>
          <a:xfrm>
            <a:off x="5334000" y="32385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45E0D0">
              <a:alpha val="14000"/>
            </a:srgbClr>
          </a:solidFill>
          <a:ln w="19050">
            <a:solidFill>
              <a:srgbClr val="45E0D0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DE98E98-56AD-49BA-9A57-E336A13B5384}"/>
              </a:ext>
            </a:extLst>
          </p:cNvPr>
          <p:cNvSpPr>
            <a:spLocks noGrp="1"/>
          </p:cNvSpPr>
          <p:nvPr/>
        </p:nvSpPr>
        <p:spPr>
          <a:xfrm>
            <a:off x="5486400" y="33718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conversacional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2983B12-D3D8-4CB7-B75C-F0773A22D3EA}"/>
              </a:ext>
            </a:extLst>
          </p:cNvPr>
          <p:cNvSpPr>
            <a:spLocks noGrp="1"/>
          </p:cNvSpPr>
          <p:nvPr/>
        </p:nvSpPr>
        <p:spPr>
          <a:xfrm>
            <a:off x="6991350" y="34766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3BC4CB8-7AF1-430C-8B06-EB2965E663C0}"/>
              </a:ext>
            </a:extLst>
          </p:cNvPr>
          <p:cNvSpPr>
            <a:spLocks noGrp="1"/>
          </p:cNvSpPr>
          <p:nvPr/>
        </p:nvSpPr>
        <p:spPr>
          <a:xfrm>
            <a:off x="7810500" y="32385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7769F4">
              <a:alpha val="14000"/>
            </a:srgbClr>
          </a:solidFill>
          <a:ln w="19050">
            <a:solidFill>
              <a:srgbClr val="7769F4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B584FBF-44ED-48E3-955B-7C425C06E08E}"/>
              </a:ext>
            </a:extLst>
          </p:cNvPr>
          <p:cNvSpPr>
            <a:spLocks noGrp="1"/>
          </p:cNvSpPr>
          <p:nvPr/>
        </p:nvSpPr>
        <p:spPr>
          <a:xfrm>
            <a:off x="7962900" y="33718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persistente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912BA0-3933-4DD3-BB24-9BFD11756C46}"/>
              </a:ext>
            </a:extLst>
          </p:cNvPr>
          <p:cNvSpPr>
            <a:spLocks noGrp="1"/>
          </p:cNvSpPr>
          <p:nvPr/>
        </p:nvSpPr>
        <p:spPr>
          <a:xfrm>
            <a:off x="9467850" y="34766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14F9BB8-C5A8-4FDF-BDFD-E25E50A0DE0B}"/>
              </a:ext>
            </a:extLst>
          </p:cNvPr>
          <p:cNvSpPr>
            <a:spLocks noGrp="1"/>
          </p:cNvSpPr>
          <p:nvPr/>
        </p:nvSpPr>
        <p:spPr>
          <a:xfrm>
            <a:off x="5334000" y="43434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FFB66E">
              <a:alpha val="14000"/>
            </a:srgbClr>
          </a:solidFill>
          <a:ln w="19050">
            <a:solidFill>
              <a:srgbClr val="FFB66E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292CE92-466D-40DB-A6BD-59B1D6C29EC7}"/>
              </a:ext>
            </a:extLst>
          </p:cNvPr>
          <p:cNvSpPr>
            <a:spLocks noGrp="1"/>
          </p:cNvSpPr>
          <p:nvPr/>
        </p:nvSpPr>
        <p:spPr>
          <a:xfrm>
            <a:off x="5486400" y="44767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ventana de contexto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0C19DC9-70FD-4F0B-A619-926EEAE2AA60}"/>
              </a:ext>
            </a:extLst>
          </p:cNvPr>
          <p:cNvSpPr>
            <a:spLocks noGrp="1"/>
          </p:cNvSpPr>
          <p:nvPr/>
        </p:nvSpPr>
        <p:spPr>
          <a:xfrm>
            <a:off x="6991350" y="45815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573CB16-42B5-4676-A9B4-4C534798E0D7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FF6F7D">
              <a:alpha val="14000"/>
            </a:srgbClr>
          </a:solidFill>
          <a:ln w="19050">
            <a:solidFill>
              <a:srgbClr val="FF6F7D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4B6193-017C-4035-A702-4A5532914666}"/>
              </a:ext>
            </a:extLst>
          </p:cNvPr>
          <p:cNvSpPr>
            <a:spLocks noGrp="1"/>
          </p:cNvSpPr>
          <p:nvPr/>
        </p:nvSpPr>
        <p:spPr>
          <a:xfrm>
            <a:off x="7962900" y="44767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framework específico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A156419-C044-4B3F-AA81-B98A3D556EB0}"/>
              </a:ext>
            </a:extLst>
          </p:cNvPr>
          <p:cNvSpPr>
            <a:spLocks noGrp="1"/>
          </p:cNvSpPr>
          <p:nvPr/>
        </p:nvSpPr>
        <p:spPr>
          <a:xfrm>
            <a:off x="9467850" y="45815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184B530-9C14-4235-9F90-322710D8B980}"/>
              </a:ext>
            </a:extLst>
          </p:cNvPr>
          <p:cNvSpPr>
            <a:spLocks noGrp="1"/>
          </p:cNvSpPr>
          <p:nvPr/>
        </p:nvSpPr>
        <p:spPr>
          <a:xfrm>
            <a:off x="1381125" y="5391150"/>
            <a:ext cx="942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Varias secuencias son plausibles; una respuesta fluida puede elegir el modo equivocado.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5084B5C-034C-47C3-88A2-282C608E9F9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distribución mezclada sobre intenciones Z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5A24B61-E02A-4AB6-8C56-B6819F5F630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47" name="Ecuación s11_mix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431" y="2266950"/>
            <a:ext cx="6903138" cy="6667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231841-7D5F-42C0-85B2-B16C99ABE840}"/>
              </a:ext>
            </a:extLst>
          </p:cNvPr>
          <p:cNvSpPr>
            <a:spLocks noGrp="1"/>
          </p:cNvSpPr>
          <p:nvPr/>
        </p:nvSpPr>
        <p:spPr>
          <a:xfrm>
            <a:off x="1005840" y="28620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Z intención latente · z hipótesis de intención · la salida marginaliza interpretaciones posibles</a:t>
            </a:r>
          </a:p>
        </p:txBody>
      </p:sp>
    </p:spTree>
    <p:extLst>
      <p:ext uri="{BB962C8B-B14F-4D97-AF65-F5344CB8AC3E}">
        <p14:creationId xmlns:p14="http://schemas.microsoft.com/office/powerpoint/2010/main" val="2084356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F2E878A9-3EB1-4521-8032-104C2C7E243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17 / PROPAGACIÓN DEL ERROR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9051C5-616D-4B0B-AFCC-CCA41ECC8F3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68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La incertidumbre combina intención y respuesta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CE4CE31-5AC3-4EB8-80CF-FC07ED4CA47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B5476E-3C6A-4E59-8EE6-75D8365EDF15}"/>
              </a:ext>
            </a:extLst>
          </p:cNvPr>
          <p:cNvSpPr>
            <a:spLocks noGrp="1"/>
          </p:cNvSpPr>
          <p:nvPr/>
        </p:nvSpPr>
        <p:spPr>
          <a:xfrm>
            <a:off x="2238375" y="3629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32B9AF3-71CD-4303-84AB-AF9B4DE79B86}"/>
              </a:ext>
            </a:extLst>
          </p:cNvPr>
          <p:cNvSpPr>
            <a:spLocks noGrp="1"/>
          </p:cNvSpPr>
          <p:nvPr/>
        </p:nvSpPr>
        <p:spPr>
          <a:xfrm>
            <a:off x="2238375" y="3981450"/>
            <a:ext cx="762000" cy="1181100"/>
          </a:xfrm>
          <a:prstGeom prst="roundRect">
            <a:avLst>
              <a:gd name="adj" fmla="val 25000"/>
            </a:avLst>
          </a:prstGeom>
          <a:solidFill>
            <a:srgbClr val="45E0D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225466-F276-446C-94D3-4DAA4BEB6884}"/>
              </a:ext>
            </a:extLst>
          </p:cNvPr>
          <p:cNvSpPr>
            <a:spLocks noGrp="1"/>
          </p:cNvSpPr>
          <p:nvPr/>
        </p:nvSpPr>
        <p:spPr>
          <a:xfrm>
            <a:off x="2238375" y="52578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B7AE257-2A50-47B9-9B23-5B245D5EE83B}"/>
              </a:ext>
            </a:extLst>
          </p:cNvPr>
          <p:cNvSpPr>
            <a:spLocks noGrp="1"/>
          </p:cNvSpPr>
          <p:nvPr/>
        </p:nvSpPr>
        <p:spPr>
          <a:xfrm>
            <a:off x="3857625" y="3629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9459736-535A-46EA-B177-39743AF8E88B}"/>
              </a:ext>
            </a:extLst>
          </p:cNvPr>
          <p:cNvSpPr>
            <a:spLocks noGrp="1"/>
          </p:cNvSpPr>
          <p:nvPr/>
        </p:nvSpPr>
        <p:spPr>
          <a:xfrm>
            <a:off x="3857625" y="3981450"/>
            <a:ext cx="762000" cy="1033463"/>
          </a:xfrm>
          <a:prstGeom prst="roundRect">
            <a:avLst>
              <a:gd name="adj" fmla="val 25000"/>
            </a:avLst>
          </a:prstGeom>
          <a:solidFill>
            <a:srgbClr val="7769F4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06745FF-3716-4215-B361-F2C6BCAB053B}"/>
              </a:ext>
            </a:extLst>
          </p:cNvPr>
          <p:cNvSpPr>
            <a:spLocks noGrp="1"/>
          </p:cNvSpPr>
          <p:nvPr/>
        </p:nvSpPr>
        <p:spPr>
          <a:xfrm>
            <a:off x="3857625" y="5110163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F8C9D3D-D617-42A7-8815-CADE6CA6160D}"/>
              </a:ext>
            </a:extLst>
          </p:cNvPr>
          <p:cNvSpPr>
            <a:spLocks noGrp="1"/>
          </p:cNvSpPr>
          <p:nvPr/>
        </p:nvSpPr>
        <p:spPr>
          <a:xfrm>
            <a:off x="5476875" y="3629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9E4DACE-748F-4A09-B933-73EACF5E4A70}"/>
              </a:ext>
            </a:extLst>
          </p:cNvPr>
          <p:cNvSpPr>
            <a:spLocks noGrp="1"/>
          </p:cNvSpPr>
          <p:nvPr/>
        </p:nvSpPr>
        <p:spPr>
          <a:xfrm>
            <a:off x="5476875" y="3981450"/>
            <a:ext cx="762000" cy="738188"/>
          </a:xfrm>
          <a:prstGeom prst="roundRect">
            <a:avLst>
              <a:gd name="adj" fmla="val 25806"/>
            </a:avLst>
          </a:prstGeom>
          <a:solidFill>
            <a:srgbClr val="FFB66E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A3DA6D-8705-4578-AAB7-90437D0913E6}"/>
              </a:ext>
            </a:extLst>
          </p:cNvPr>
          <p:cNvSpPr>
            <a:spLocks noGrp="1"/>
          </p:cNvSpPr>
          <p:nvPr/>
        </p:nvSpPr>
        <p:spPr>
          <a:xfrm>
            <a:off x="5476875" y="4814888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0A532D8-713A-45BF-B40E-C2A533A931A1}"/>
              </a:ext>
            </a:extLst>
          </p:cNvPr>
          <p:cNvSpPr>
            <a:spLocks noGrp="1"/>
          </p:cNvSpPr>
          <p:nvPr/>
        </p:nvSpPr>
        <p:spPr>
          <a:xfrm>
            <a:off x="6905625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multimodal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57C1DFD-5F4C-481E-9A99-57834DA9F246}"/>
              </a:ext>
            </a:extLst>
          </p:cNvPr>
          <p:cNvSpPr>
            <a:spLocks noGrp="1"/>
          </p:cNvSpPr>
          <p:nvPr/>
        </p:nvSpPr>
        <p:spPr>
          <a:xfrm>
            <a:off x="6905625" y="4438650"/>
            <a:ext cx="3905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modelo no está “confundido”: está promediando respuestas válidas bajo intenciones diferentes.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C481A4F-C904-488D-92FF-8B8C8A574AB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regla de la cadena de entropía y multimodalidad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6FB55B-BB09-4B04-946A-A497233B7E9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pic>
        <p:nvPicPr>
          <p:cNvPr id="42" name="Ecuación s12_chain_ru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88" y="2084831"/>
            <a:ext cx="9233343" cy="56692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0A50DA-ECA2-4BA5-88E4-B63875C99E63}"/>
              </a:ext>
            </a:extLst>
          </p:cNvPr>
          <p:cNvSpPr>
            <a:spLocks noGrp="1"/>
          </p:cNvSpPr>
          <p:nvPr/>
        </p:nvSpPr>
        <p:spPr>
          <a:xfrm>
            <a:off x="1600200" y="2706624"/>
            <a:ext cx="9006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incertidumbre total  =  intención no resuelta  +  respuesta condicionada a Z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2599DE-6462-4945-8275-6E0C57BBC729}"/>
              </a:ext>
            </a:extLst>
          </p:cNvPr>
          <p:cNvSpPr>
            <a:spLocks noGrp="1"/>
          </p:cNvSpPr>
          <p:nvPr/>
        </p:nvSpPr>
        <p:spPr>
          <a:xfrm>
            <a:off x="1600200" y="3026664"/>
            <a:ext cx="9006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  <a:ea typeface="Aptos"/>
                <a:cs typeface="Aptos"/>
              </a:rPr>
              <a:t>H entropía · X consulta · C contexto · Z intención · Y respuesta</a:t>
            </a:r>
          </a:p>
        </p:txBody>
      </p:sp>
    </p:spTree>
    <p:extLst>
      <p:ext uri="{BB962C8B-B14F-4D97-AF65-F5344CB8AC3E}">
        <p14:creationId xmlns:p14="http://schemas.microsoft.com/office/powerpoint/2010/main" val="1702506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DC515855-C79D-401F-B722-E87D3CF3BC6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18 / RETRIEVAL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CDA542-150B-4B55-93A8-AADBF649878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768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La query ambigua cae entre clústeres semánticos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E74CD45-0533-43C2-AAC7-F6A603AE0BA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7F8CE88-66E3-4794-8DA9-BCE9A8FC90F1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retriever devuelve evidencia de varios sentidos; el ranking se vuelve inestable.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E677E7C-C07C-457E-B712-0743F82DF8B2}"/>
              </a:ext>
            </a:extLst>
          </p:cNvPr>
          <p:cNvSpPr>
            <a:spLocks noGrp="1"/>
          </p:cNvSpPr>
          <p:nvPr/>
        </p:nvSpPr>
        <p:spPr>
          <a:xfrm>
            <a:off x="6477000" y="1752600"/>
            <a:ext cx="4552950" cy="3238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1E66D7B-7318-4D21-BC1A-4756E8F53AE8}"/>
              </a:ext>
            </a:extLst>
          </p:cNvPr>
          <p:cNvSpPr>
            <a:spLocks noGrp="1"/>
          </p:cNvSpPr>
          <p:nvPr/>
        </p:nvSpPr>
        <p:spPr>
          <a:xfrm>
            <a:off x="7096125" y="259080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CE06AF3-A880-4E39-B002-C252E7CDEB67}"/>
              </a:ext>
            </a:extLst>
          </p:cNvPr>
          <p:cNvSpPr>
            <a:spLocks noGrp="1"/>
          </p:cNvSpPr>
          <p:nvPr/>
        </p:nvSpPr>
        <p:spPr>
          <a:xfrm>
            <a:off x="7410450" y="23050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D1F4984-3C17-4A77-A40D-50BE6CFDEC62}"/>
              </a:ext>
            </a:extLst>
          </p:cNvPr>
          <p:cNvSpPr>
            <a:spLocks noGrp="1"/>
          </p:cNvSpPr>
          <p:nvPr/>
        </p:nvSpPr>
        <p:spPr>
          <a:xfrm>
            <a:off x="7667625" y="278130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9D29338-F7EF-46CC-89EB-62D57018E256}"/>
              </a:ext>
            </a:extLst>
          </p:cNvPr>
          <p:cNvSpPr>
            <a:spLocks noGrp="1"/>
          </p:cNvSpPr>
          <p:nvPr/>
        </p:nvSpPr>
        <p:spPr>
          <a:xfrm>
            <a:off x="7905750" y="24193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D1702B7-91B4-4DC7-AFCD-6A8FF0287138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F05205A-B55D-4C8F-9F09-5259BCD3D353}"/>
              </a:ext>
            </a:extLst>
          </p:cNvPr>
          <p:cNvSpPr>
            <a:spLocks noGrp="1"/>
          </p:cNvSpPr>
          <p:nvPr/>
        </p:nvSpPr>
        <p:spPr>
          <a:xfrm>
            <a:off x="8096250" y="29146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ECEF12F-6603-474F-8ACF-EF3C4460EB8F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E512444-1329-4CEF-A028-B46F1749D17B}"/>
              </a:ext>
            </a:extLst>
          </p:cNvPr>
          <p:cNvSpPr>
            <a:spLocks noGrp="1"/>
          </p:cNvSpPr>
          <p:nvPr/>
        </p:nvSpPr>
        <p:spPr>
          <a:xfrm>
            <a:off x="9925050" y="335280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5CBF6D8-A683-40A6-8B47-23EC4B83B8EB}"/>
              </a:ext>
            </a:extLst>
          </p:cNvPr>
          <p:cNvSpPr>
            <a:spLocks noGrp="1"/>
          </p:cNvSpPr>
          <p:nvPr/>
        </p:nvSpPr>
        <p:spPr>
          <a:xfrm>
            <a:off x="10287000" y="37528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5689BDB-9DDF-46AC-8299-5F08FEBC0BAB}"/>
              </a:ext>
            </a:extLst>
          </p:cNvPr>
          <p:cNvSpPr>
            <a:spLocks noGrp="1"/>
          </p:cNvSpPr>
          <p:nvPr/>
        </p:nvSpPr>
        <p:spPr>
          <a:xfrm>
            <a:off x="10572750" y="342900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89C0C78-1A95-403E-BD37-B0FC78F16DB1}"/>
              </a:ext>
            </a:extLst>
          </p:cNvPr>
          <p:cNvSpPr>
            <a:spLocks noGrp="1"/>
          </p:cNvSpPr>
          <p:nvPr/>
        </p:nvSpPr>
        <p:spPr>
          <a:xfrm>
            <a:off x="10115550" y="40576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9A98DD1-21C9-4986-A4D5-E1C2C8B60B2B}"/>
              </a:ext>
            </a:extLst>
          </p:cNvPr>
          <p:cNvSpPr>
            <a:spLocks noGrp="1"/>
          </p:cNvSpPr>
          <p:nvPr/>
        </p:nvSpPr>
        <p:spPr>
          <a:xfrm>
            <a:off x="10763250" y="39433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2105516-9130-4683-B2E2-43131B81C883}"/>
              </a:ext>
            </a:extLst>
          </p:cNvPr>
          <p:cNvSpPr>
            <a:spLocks noGrp="1"/>
          </p:cNvSpPr>
          <p:nvPr/>
        </p:nvSpPr>
        <p:spPr>
          <a:xfrm>
            <a:off x="8858250" y="3162300"/>
            <a:ext cx="381000" cy="381000"/>
          </a:xfrm>
          <a:prstGeom prst="ellipse">
            <a:avLst/>
          </a:prstGeom>
          <a:solidFill>
            <a:srgbClr val="FFB66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85C44C0-B05B-4461-B26A-45D419E924A1}"/>
              </a:ext>
            </a:extLst>
          </p:cNvPr>
          <p:cNvSpPr>
            <a:spLocks noGrp="1"/>
          </p:cNvSpPr>
          <p:nvPr/>
        </p:nvSpPr>
        <p:spPr>
          <a:xfrm>
            <a:off x="8858250" y="3257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eX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833CB1AC-76C0-419E-9987-0DAD1E135041}"/>
              </a:ext>
            </a:extLst>
          </p:cNvPr>
          <p:cNvSpPr>
            <a:spLocks noGrp="1"/>
          </p:cNvSpPr>
          <p:nvPr/>
        </p:nvSpPr>
        <p:spPr>
          <a:xfrm flipH="1" flipV="1">
            <a:off x="7810500" y="2790825"/>
            <a:ext cx="1238250" cy="561975"/>
          </a:xfrm>
          <a:prstGeom prst="line">
            <a:avLst/>
          </a:prstGeom>
          <a:noFill/>
          <a:ln w="19050">
            <a:solidFill>
              <a:srgbClr val="45E0D0">
                <a:alpha val="6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5C9110E6-E3E1-4AA3-A9A0-23166D0E0199}"/>
              </a:ext>
            </a:extLst>
          </p:cNvPr>
          <p:cNvSpPr>
            <a:spLocks noGrp="1"/>
          </p:cNvSpPr>
          <p:nvPr/>
        </p:nvSpPr>
        <p:spPr>
          <a:xfrm>
            <a:off x="9048750" y="3352800"/>
            <a:ext cx="1009650" cy="476250"/>
          </a:xfrm>
          <a:prstGeom prst="line">
            <a:avLst/>
          </a:prstGeom>
          <a:noFill/>
          <a:ln w="19050">
            <a:solidFill>
              <a:srgbClr val="7769F4">
                <a:alpha val="6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0484F5-4F4E-4192-BB96-54DBF2AA24A8}"/>
              </a:ext>
            </a:extLst>
          </p:cNvPr>
          <p:cNvSpPr>
            <a:spLocks noGrp="1"/>
          </p:cNvSpPr>
          <p:nvPr/>
        </p:nvSpPr>
        <p:spPr>
          <a:xfrm>
            <a:off x="6800850" y="43910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memoria del agente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419AE5D-1FF3-45EE-8747-F030C5AC0A71}"/>
              </a:ext>
            </a:extLst>
          </p:cNvPr>
          <p:cNvSpPr>
            <a:spLocks noGrp="1"/>
          </p:cNvSpPr>
          <p:nvPr/>
        </p:nvSpPr>
        <p:spPr>
          <a:xfrm>
            <a:off x="9429750" y="43910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memoria informática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5A80470-A3E2-4127-A214-FCED00CDBAA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aproximación conceptual del embedding y margen de similitud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A803C1C-EE91-4AAE-A424-7B7D63546DF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pic>
        <p:nvPicPr>
          <p:cNvPr id="59" name="Ecuación s13_embed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00"/>
            <a:ext cx="2762250" cy="552450"/>
          </a:xfrm>
          <a:prstGeom prst="rect">
            <a:avLst/>
          </a:prstGeom>
        </p:spPr>
      </p:pic>
      <p:pic>
        <p:nvPicPr>
          <p:cNvPr id="60" name="Ecuación s13_marg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15061"/>
            <a:ext cx="5619750" cy="532478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CA505B9-D14E-448B-88EC-72C2A355DBD2}"/>
              </a:ext>
            </a:extLst>
          </p:cNvPr>
          <p:cNvSpPr>
            <a:spLocks noGrp="1"/>
          </p:cNvSpPr>
          <p:nvPr/>
        </p:nvSpPr>
        <p:spPr>
          <a:xfrm>
            <a:off x="685800" y="1536192"/>
            <a:ext cx="1444752" cy="246888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APROX. CONCEPTUAL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5554BE-74AE-4463-830B-F46642CDB620}"/>
              </a:ext>
            </a:extLst>
          </p:cNvPr>
          <p:cNvSpPr>
            <a:spLocks noGrp="1"/>
          </p:cNvSpPr>
          <p:nvPr/>
        </p:nvSpPr>
        <p:spPr>
          <a:xfrm>
            <a:off x="685800" y="4325112"/>
            <a:ext cx="5166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eₓ embedding · s similitud · C⁺ candidato relevante · C⁻ distractor · Δ margen</a:t>
            </a:r>
          </a:p>
        </p:txBody>
      </p:sp>
    </p:spTree>
    <p:extLst>
      <p:ext uri="{BB962C8B-B14F-4D97-AF65-F5344CB8AC3E}">
        <p14:creationId xmlns:p14="http://schemas.microsoft.com/office/powerpoint/2010/main" val="187712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7F32BA90-800C-4185-A609-4269A45B39B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19 / RERANKING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500DB8-91DA-42CC-9AB7-704CF7E9B89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7562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El reranker casi no puede separar intenciones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828E8323-0842-4E55-B428-78F4A1C8E55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B814955-36D0-42E2-81AD-F387F23CB411}"/>
              </a:ext>
            </a:extLst>
          </p:cNvPr>
          <p:cNvSpPr>
            <a:spLocks noGrp="1"/>
          </p:cNvSpPr>
          <p:nvPr/>
        </p:nvSpPr>
        <p:spPr>
          <a:xfrm>
            <a:off x="1143000" y="2724150"/>
            <a:ext cx="4095750" cy="1962150"/>
          </a:xfrm>
          <a:prstGeom prst="roundRect">
            <a:avLst>
              <a:gd name="adj" fmla="val 13592"/>
            </a:avLst>
          </a:prstGeom>
          <a:solidFill>
            <a:srgbClr val="45E0D0">
              <a:alpha val="10000"/>
            </a:srgbClr>
          </a:solidFill>
          <a:ln w="19050">
            <a:solidFill>
              <a:srgbClr val="45E0D0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057A4B3-0409-4DC8-8641-1621B7F75D49}"/>
              </a:ext>
            </a:extLst>
          </p:cNvPr>
          <p:cNvSpPr>
            <a:spLocks noGrp="1"/>
          </p:cNvSpPr>
          <p:nvPr/>
        </p:nvSpPr>
        <p:spPr>
          <a:xfrm>
            <a:off x="6953250" y="2724150"/>
            <a:ext cx="4095750" cy="1962150"/>
          </a:xfrm>
          <a:prstGeom prst="roundRect">
            <a:avLst>
              <a:gd name="adj" fmla="val 13592"/>
            </a:avLst>
          </a:prstGeom>
          <a:solidFill>
            <a:srgbClr val="7769F4">
              <a:alpha val="10000"/>
            </a:srgbClr>
          </a:solidFill>
          <a:ln w="19050">
            <a:solidFill>
              <a:srgbClr val="7769F4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8D5942-84CE-4D8A-8654-7BAEB3DCA324}"/>
              </a:ext>
            </a:extLst>
          </p:cNvPr>
          <p:cNvSpPr>
            <a:spLocks noGrp="1"/>
          </p:cNvSpPr>
          <p:nvPr/>
        </p:nvSpPr>
        <p:spPr>
          <a:xfrm>
            <a:off x="1428750" y="29908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C₁ · intención Z₁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7EE60B-BEE6-45AE-9B74-95346294DB3B}"/>
              </a:ext>
            </a:extLst>
          </p:cNvPr>
          <p:cNvSpPr>
            <a:spLocks noGrp="1"/>
          </p:cNvSpPr>
          <p:nvPr/>
        </p:nvSpPr>
        <p:spPr>
          <a:xfrm>
            <a:off x="1428750" y="34290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4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0.5400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DA24AD0-F387-45FD-86C5-1A89F478BCD1}"/>
              </a:ext>
            </a:extLst>
          </p:cNvPr>
          <p:cNvSpPr>
            <a:spLocks noGrp="1"/>
          </p:cNvSpPr>
          <p:nvPr/>
        </p:nvSpPr>
        <p:spPr>
          <a:xfrm>
            <a:off x="7239000" y="29908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C₂ · intención Z₂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CBFA8B-AEFE-4378-8CF4-6DA3CB28409A}"/>
              </a:ext>
            </a:extLst>
          </p:cNvPr>
          <p:cNvSpPr>
            <a:spLocks noGrp="1"/>
          </p:cNvSpPr>
          <p:nvPr/>
        </p:nvSpPr>
        <p:spPr>
          <a:xfrm>
            <a:off x="7239000" y="34290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4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0.5375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464B2CC-9CCB-4097-A8E1-8354728E65E1}"/>
              </a:ext>
            </a:extLst>
          </p:cNvPr>
          <p:cNvSpPr>
            <a:spLocks noGrp="1"/>
          </p:cNvSpPr>
          <p:nvPr/>
        </p:nvSpPr>
        <p:spPr>
          <a:xfrm>
            <a:off x="1619250" y="502920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 reranker parece preciso, pero la intención sigue sin estar identificada.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E6E318-467C-46AA-AE63-D3A53A27D64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ejemplo numérico de scores marginalizados por intención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024C26C-CE7B-465C-A060-BE2A4D1FA94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pic>
        <p:nvPicPr>
          <p:cNvPr id="34" name="Ecuación s14_rera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238" y="1764792"/>
            <a:ext cx="3085044" cy="393192"/>
          </a:xfrm>
          <a:prstGeom prst="rect">
            <a:avLst/>
          </a:prstGeom>
        </p:spPr>
      </p:pic>
      <p:pic>
        <p:nvPicPr>
          <p:cNvPr id="35" name="Ecuación s14_prio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698" y="2194560"/>
            <a:ext cx="4022124" cy="320040"/>
          </a:xfrm>
          <a:prstGeom prst="rect">
            <a:avLst/>
          </a:prstGeom>
        </p:spPr>
      </p:pic>
      <p:pic>
        <p:nvPicPr>
          <p:cNvPr id="36" name="Ecuación s14_del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3425605"/>
            <a:ext cx="1619250" cy="3687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3DAC688-DE29-495E-A3B7-CD9AFF7A4867}"/>
              </a:ext>
            </a:extLst>
          </p:cNvPr>
          <p:cNvSpPr>
            <a:spLocks noGrp="1"/>
          </p:cNvSpPr>
          <p:nvPr/>
        </p:nvSpPr>
        <p:spPr>
          <a:xfrm>
            <a:off x="1051560" y="5559552"/>
            <a:ext cx="9966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sᵢ score marginal · Cᵢ chunk · Z intención latente · p(Z=z|X) peso de cada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135815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38CA4958-93D5-44DF-89CA-1A523F272B3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20 / GENERACIÓN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AF0424-DF37-42A4-95D4-64B2E48E365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9858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Contexto correcto no equivale a intención correcta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D56E71DE-3FE3-48F8-9224-668AD4B414F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B29E576D-1725-4D9B-B578-B41276E93B27}"/>
              </a:ext>
            </a:extLst>
          </p:cNvPr>
          <p:cNvSpPr>
            <a:spLocks noGrp="1"/>
          </p:cNvSpPr>
          <p:nvPr/>
        </p:nvSpPr>
        <p:spPr>
          <a:xfrm>
            <a:off x="3333750" y="3295650"/>
            <a:ext cx="2476500" cy="381000"/>
          </a:xfrm>
          <a:prstGeom prst="line">
            <a:avLst/>
          </a:prstGeom>
          <a:noFill/>
          <a:ln w="28575">
            <a:solidFill>
              <a:srgbClr val="45E0D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42537EA2-C399-461E-80D6-171198CCE1D1}"/>
              </a:ext>
            </a:extLst>
          </p:cNvPr>
          <p:cNvSpPr>
            <a:spLocks noGrp="1"/>
          </p:cNvSpPr>
          <p:nvPr/>
        </p:nvSpPr>
        <p:spPr>
          <a:xfrm flipV="1">
            <a:off x="3333750" y="3962400"/>
            <a:ext cx="2476500" cy="571500"/>
          </a:xfrm>
          <a:prstGeom prst="line">
            <a:avLst/>
          </a:prstGeom>
          <a:noFill/>
          <a:ln w="28575">
            <a:solidFill>
              <a:srgbClr val="7769F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AC0C73C9-CA2B-4094-A63A-2DB91922EC7D}"/>
              </a:ext>
            </a:extLst>
          </p:cNvPr>
          <p:cNvSpPr>
            <a:spLocks noGrp="1"/>
          </p:cNvSpPr>
          <p:nvPr/>
        </p:nvSpPr>
        <p:spPr>
          <a:xfrm>
            <a:off x="8096250" y="3819525"/>
            <a:ext cx="1905000" cy="0"/>
          </a:xfrm>
          <a:prstGeom prst="line">
            <a:avLst/>
          </a:prstGeom>
          <a:noFill/>
          <a:ln w="3810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2DB2C4B-217C-4341-B7FA-BDEC1CD05B3C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647950" cy="1047750"/>
          </a:xfrm>
          <a:prstGeom prst="roundRect">
            <a:avLst>
              <a:gd name="adj" fmla="val 18182"/>
            </a:avLst>
          </a:prstGeom>
          <a:solidFill>
            <a:srgbClr val="45E0D0">
              <a:alpha val="14000"/>
            </a:srgbClr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CB10CC1-37E6-4ECA-9A05-79E1877F8533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2647950" cy="1047750"/>
          </a:xfrm>
          <a:prstGeom prst="roundRect">
            <a:avLst>
              <a:gd name="adj" fmla="val 18182"/>
            </a:avLst>
          </a:prstGeom>
          <a:solidFill>
            <a:srgbClr val="7769F4">
              <a:alpha val="14000"/>
            </a:srgbClr>
          </a:solidFill>
          <a:ln w="1905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6037AF-C1B3-4A00-9025-D2E12A08320C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CZ₁ · válido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813C40-0064-4201-9FA8-8DE32DABA314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AD58D5-9CB8-4376-8183-42A20C012CE0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CZ₂ · válido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9C99325-AB75-496C-9F83-514A0D11040D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2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C28E193-6715-47F4-B951-75F3CDB5F418}"/>
              </a:ext>
            </a:extLst>
          </p:cNvPr>
          <p:cNvSpPr>
            <a:spLocks noGrp="1"/>
          </p:cNvSpPr>
          <p:nvPr/>
        </p:nvSpPr>
        <p:spPr>
          <a:xfrm>
            <a:off x="5810250" y="3105150"/>
            <a:ext cx="2286000" cy="1524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4F2F0EA-8AED-4586-8D40-78DAA7750A37}"/>
              </a:ext>
            </a:extLst>
          </p:cNvPr>
          <p:cNvSpPr>
            <a:spLocks noGrp="1"/>
          </p:cNvSpPr>
          <p:nvPr/>
        </p:nvSpPr>
        <p:spPr>
          <a:xfrm>
            <a:off x="5810250" y="32956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95137F8-084C-414E-8E66-314B71AACFAF}"/>
              </a:ext>
            </a:extLst>
          </p:cNvPr>
          <p:cNvSpPr>
            <a:spLocks noGrp="1"/>
          </p:cNvSpPr>
          <p:nvPr/>
        </p:nvSpPr>
        <p:spPr>
          <a:xfrm>
            <a:off x="6096000" y="37528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46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elige · mezcla</a:t>
            </a:r>
          </a:p>
          <a:p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generaliza · alarga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27312BA-48A6-4B5A-8A18-F482B1EA8EEF}"/>
              </a:ext>
            </a:extLst>
          </p:cNvPr>
          <p:cNvSpPr>
            <a:spLocks noGrp="1"/>
          </p:cNvSpPr>
          <p:nvPr/>
        </p:nvSpPr>
        <p:spPr>
          <a:xfrm>
            <a:off x="10001250" y="3248025"/>
            <a:ext cx="1524000" cy="1143000"/>
          </a:xfrm>
          <a:prstGeom prst="roundRect">
            <a:avLst>
              <a:gd name="adj" fmla="val 20000"/>
            </a:avLst>
          </a:prstGeom>
          <a:solidFill>
            <a:srgbClr val="FFB66E">
              <a:alpha val="18000"/>
            </a:srgbClr>
          </a:solidFill>
          <a:ln w="1905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23591E6-BDC8-4650-884F-58FFBE1F8BC2}"/>
              </a:ext>
            </a:extLst>
          </p:cNvPr>
          <p:cNvSpPr>
            <a:spLocks noGrp="1"/>
          </p:cNvSpPr>
          <p:nvPr/>
        </p:nvSpPr>
        <p:spPr>
          <a:xfrm>
            <a:off x="10001250" y="36004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A65A"/>
                </a:solidFill>
                <a:latin typeface="Aptos Display"/>
                <a:ea typeface="Aptos Display"/>
                <a:cs typeface="Aptos Display"/>
              </a:rPr>
              <a:t>Y?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67424A3-69E9-4CC8-87D2-7F6250334C24}"/>
              </a:ext>
            </a:extLst>
          </p:cNvPr>
          <p:cNvSpPr>
            <a:spLocks noGrp="1"/>
          </p:cNvSpPr>
          <p:nvPr/>
        </p:nvSpPr>
        <p:spPr>
          <a:xfrm>
            <a:off x="1381125" y="5467350"/>
            <a:ext cx="942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Los primeros tokens pueden fijar una interpretación sin nueva evidencia del usuario.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F6D8ACA-E12C-4D17-A5DF-52F77CC44FB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contexto heterogéneo y auto-condicionamiento autoregresivo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09E975-2599-4B70-9AFD-DD95FB9D023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07853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A950FC12-ACFF-4A32-92ED-C304023CFAC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21 / LÍMITE TEÓRICO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B904C6-6ACD-4057-BD4E-0894AF81D29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Sin nueva información, existe un error irreducible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F3E03E5B-BC48-427D-AD3B-079FF906B76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1F7BC68-F358-4279-B63C-6E7F386E2320}"/>
              </a:ext>
            </a:extLst>
          </p:cNvPr>
          <p:cNvSpPr>
            <a:spLocks noGrp="1"/>
          </p:cNvSpPr>
          <p:nvPr/>
        </p:nvSpPr>
        <p:spPr>
          <a:xfrm>
            <a:off x="4762500" y="1981200"/>
            <a:ext cx="5905500" cy="2190750"/>
          </a:xfrm>
          <a:prstGeom prst="roundRect">
            <a:avLst>
              <a:gd name="adj" fmla="val 13043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F6364D-48BA-4737-8479-AF9D70B1AA6D}"/>
              </a:ext>
            </a:extLst>
          </p:cNvPr>
          <p:cNvSpPr>
            <a:spLocks noGrp="1"/>
          </p:cNvSpPr>
          <p:nvPr/>
        </p:nvSpPr>
        <p:spPr>
          <a:xfrm>
            <a:off x="1476375" y="4629150"/>
            <a:ext cx="923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98"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No toda respuesta errónea ante una query ambigua es falta de capacidad del LLM.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236A6E-EF9E-4658-BB63-DBD92FB7B411}"/>
              </a:ext>
            </a:extLst>
          </p:cNvPr>
          <p:cNvSpPr>
            <a:spLocks noGrp="1"/>
          </p:cNvSpPr>
          <p:nvPr/>
        </p:nvSpPr>
        <p:spPr>
          <a:xfrm>
            <a:off x="2238375" y="5410200"/>
            <a:ext cx="771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01526"/>
                </a:solidFill>
                <a:latin typeface="Aptos"/>
                <a:ea typeface="Aptos"/>
                <a:cs typeface="Aptos"/>
              </a:rPr>
              <a:t>A veces el dato que falta no está en el contexto: </a:t>
            </a:r>
            <a:r>
              <a:rPr sz="1800" b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está en la intención del usuario.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B39685-9B92-4FC7-AC98-74EDFC77A90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riesgo Bayesiano mínimo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BCB7A0-9201-4084-8653-BE8D186B2CC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pic>
        <p:nvPicPr>
          <p:cNvPr id="30" name="Ecuación s16_prio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13060"/>
            <a:ext cx="2857500" cy="479230"/>
          </a:xfrm>
          <a:prstGeom prst="rect">
            <a:avLst/>
          </a:prstGeom>
        </p:spPr>
      </p:pic>
      <p:pic>
        <p:nvPicPr>
          <p:cNvPr id="31" name="Ecuación s16_prior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75060"/>
            <a:ext cx="2857500" cy="479230"/>
          </a:xfrm>
          <a:prstGeom prst="rect">
            <a:avLst/>
          </a:prstGeom>
        </p:spPr>
      </p:pic>
      <p:pic>
        <p:nvPicPr>
          <p:cNvPr id="32" name="Ecuación s16_bay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415" y="2343150"/>
            <a:ext cx="4363669" cy="571500"/>
          </a:xfrm>
          <a:prstGeom prst="rect">
            <a:avLst/>
          </a:prstGeom>
        </p:spPr>
      </p:pic>
      <p:pic>
        <p:nvPicPr>
          <p:cNvPr id="33" name="Ecuación s16_res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719" y="3009900"/>
            <a:ext cx="2235061" cy="8001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FFD2A7-4C90-477E-8376-66FE345DE80D}"/>
              </a:ext>
            </a:extLst>
          </p:cNvPr>
          <p:cNvSpPr>
            <a:spLocks noGrp="1"/>
          </p:cNvSpPr>
          <p:nvPr/>
        </p:nvSpPr>
        <p:spPr>
          <a:xfrm>
            <a:off x="5257800" y="3776472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100">
                <a:solidFill>
                  <a:srgbClr val="C7CEDF"/>
                </a:solidFill>
                <a:latin typeface="Aptos"/>
                <a:ea typeface="Aptos"/>
                <a:cs typeface="Aptos"/>
              </a:rPr>
              <a:t>R★ riesgo Bayesiano mínimo · Z intención · pérdida 0–1</a:t>
            </a:r>
          </a:p>
        </p:txBody>
      </p:sp>
    </p:spTree>
    <p:extLst>
      <p:ext uri="{BB962C8B-B14F-4D97-AF65-F5344CB8AC3E}">
        <p14:creationId xmlns:p14="http://schemas.microsoft.com/office/powerpoint/2010/main" val="1558993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8CCBCCB8-47F0-492D-8B88-7A8656D9867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22 / CLARIFICACIÓN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744311-BCA1-4EC9-AC3A-51D177A0F30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Aclarar reduce la incertidumbre de intención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3483BEFC-9C70-4757-84D1-4CD0B0A2E167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56AF7BD-9C0A-4151-A4F3-B5FBE38C5127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42925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80F3465-953B-4C17-9CD8-20B19C518DBE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4381500" cy="1333500"/>
          </a:xfrm>
          <a:prstGeom prst="roundRect">
            <a:avLst>
              <a:gd name="adj" fmla="val 15714"/>
            </a:avLst>
          </a:prstGeom>
          <a:solidFill>
            <a:srgbClr val="45E0D0">
              <a:alpha val="12000"/>
            </a:srgbClr>
          </a:solidFill>
          <a:ln w="19050">
            <a:solidFill>
              <a:srgbClr val="45E0D0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2CB03D8-71AB-448E-B3B1-CDF1F2E719C2}"/>
              </a:ext>
            </a:extLst>
          </p:cNvPr>
          <p:cNvSpPr>
            <a:spLocks noGrp="1"/>
          </p:cNvSpPr>
          <p:nvPr/>
        </p:nvSpPr>
        <p:spPr>
          <a:xfrm>
            <a:off x="6953250" y="4133850"/>
            <a:ext cx="3810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Pregunta clave:</a:t>
            </a:r>
          </a:p>
          <a:p>
            <a:pPr algn="ctr">
              <a:lnSpc>
                <a:spcPct val="100000"/>
              </a:lnSpc>
              <a:buNone/>
              <a:defRPr sz="18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«¿Te refieres a la ventana del LLM o a la memoria del agente?»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B6CC3A2-C214-49D0-AAEA-95A7B7E9F5D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Clarify When Necessary (Zhang &amp; Choi, 2023), Fig. 1; context.md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8A3DE5-E259-4750-9FB6-4032720C5C3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pic>
        <p:nvPicPr>
          <p:cNvPr id="38" name="Ecuación s17_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486426"/>
            <a:ext cx="4667250" cy="380197"/>
          </a:xfrm>
          <a:prstGeom prst="rect">
            <a:avLst/>
          </a:prstGeom>
        </p:spPr>
      </p:pic>
      <p:pic>
        <p:nvPicPr>
          <p:cNvPr id="39" name="Ecuación s17_ques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684" y="3105150"/>
            <a:ext cx="3182382" cy="5143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967EEE-692C-4F61-B2DD-5DE8F7E0593B}"/>
              </a:ext>
            </a:extLst>
          </p:cNvPr>
          <p:cNvSpPr>
            <a:spLocks noGrp="1"/>
          </p:cNvSpPr>
          <p:nvPr/>
        </p:nvSpPr>
        <p:spPr>
          <a:xfrm>
            <a:off x="6629400" y="3584448"/>
            <a:ext cx="44348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q pregunta · Z intención · I ganancia de información</a:t>
            </a:r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855E9187-A324-46FA-A52F-43D354A9AE55}"/>
              </a:ext>
            </a:extLst>
          </p:cNvPr>
          <p:cNvSpPr>
            <a:spLocks noGrp="1"/>
          </p:cNvSpPr>
          <p:nvPr/>
        </p:nvSpPr>
        <p:spPr>
          <a:xfrm>
            <a:off x="2057400" y="3562350"/>
            <a:ext cx="171450" cy="228600"/>
          </a:xfrm>
          <a:prstGeom prst="rightArrow">
            <a:avLst/>
          </a:prstGeom>
          <a:solidFill>
            <a:srgbClr val="4E96A3"/>
          </a:solidFill>
          <a:ln w="9525">
            <a:solidFill>
              <a:srgbClr val="4E96A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225194C7-15DE-48BC-A524-B43D91682FD0}"/>
              </a:ext>
            </a:extLst>
          </p:cNvPr>
          <p:cNvSpPr>
            <a:spLocks noGrp="1"/>
          </p:cNvSpPr>
          <p:nvPr/>
        </p:nvSpPr>
        <p:spPr>
          <a:xfrm>
            <a:off x="3276600" y="3562350"/>
            <a:ext cx="171450" cy="228600"/>
          </a:xfrm>
          <a:prstGeom prst="rightArrow">
            <a:avLst/>
          </a:prstGeom>
          <a:solidFill>
            <a:srgbClr val="4E96A3"/>
          </a:solidFill>
          <a:ln w="9525">
            <a:solidFill>
              <a:srgbClr val="4E96A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A6C5DB5D-D804-4EAB-8CDF-E1967CB7701C}"/>
              </a:ext>
            </a:extLst>
          </p:cNvPr>
          <p:cNvSpPr>
            <a:spLocks noGrp="1"/>
          </p:cNvSpPr>
          <p:nvPr/>
        </p:nvSpPr>
        <p:spPr>
          <a:xfrm>
            <a:off x="4495800" y="3562350"/>
            <a:ext cx="171450" cy="228600"/>
          </a:xfrm>
          <a:prstGeom prst="rightArrow">
            <a:avLst/>
          </a:prstGeom>
          <a:solidFill>
            <a:srgbClr val="4E96A3"/>
          </a:solidFill>
          <a:ln w="9525">
            <a:solidFill>
              <a:srgbClr val="4E96A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9F357FDF-8679-43A3-920B-3C6A1ACEAEF2}"/>
              </a:ext>
            </a:extLst>
          </p:cNvPr>
          <p:cNvSpPr>
            <a:spLocks noGrp="1"/>
          </p:cNvSpPr>
          <p:nvPr/>
        </p:nvSpPr>
        <p:spPr>
          <a:xfrm>
            <a:off x="9715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E8F4F6"/>
          </a:solidFill>
          <a:ln w="14288">
            <a:solidFill>
              <a:srgbClr val="4E96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Consulta</a:t>
            </a:r>
          </a:p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q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E075554-D85C-4C14-89E7-02439B82E4EA}"/>
              </a:ext>
            </a:extLst>
          </p:cNvPr>
          <p:cNvSpPr>
            <a:spLocks noGrp="1"/>
          </p:cNvSpPr>
          <p:nvPr/>
        </p:nvSpPr>
        <p:spPr>
          <a:xfrm>
            <a:off x="21907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FFF1E8"/>
          </a:solidFill>
          <a:ln w="14288">
            <a:solidFill>
              <a:srgbClr val="E9713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Intención</a:t>
            </a:r>
          </a:p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Z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030791DD-6E79-4C10-8DDA-BA0B6B16237D}"/>
              </a:ext>
            </a:extLst>
          </p:cNvPr>
          <p:cNvSpPr>
            <a:spLocks noGrp="1"/>
          </p:cNvSpPr>
          <p:nvPr/>
        </p:nvSpPr>
        <p:spPr>
          <a:xfrm>
            <a:off x="34099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EEF7EE"/>
          </a:solidFill>
          <a:ln w="14288">
            <a:solidFill>
              <a:srgbClr val="5D8C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Pregunta</a:t>
            </a:r>
          </a:p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clarificadora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B090587D-7E6E-4815-8685-B0B8180FBFE3}"/>
              </a:ext>
            </a:extLst>
          </p:cNvPr>
          <p:cNvSpPr>
            <a:spLocks noGrp="1"/>
          </p:cNvSpPr>
          <p:nvPr/>
        </p:nvSpPr>
        <p:spPr>
          <a:xfrm>
            <a:off x="46291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0E4A5A"/>
          </a:solidFill>
          <a:ln w="14288">
            <a:solidFill>
              <a:srgbClr val="0E4A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Respuesta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 evidencia</a:t>
            </a:r>
          </a:p>
        </p:txBody>
      </p:sp>
    </p:spTree>
    <p:extLst>
      <p:ext uri="{BB962C8B-B14F-4D97-AF65-F5344CB8AC3E}">
        <p14:creationId xmlns:p14="http://schemas.microsoft.com/office/powerpoint/2010/main" val="1990080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AC4ECBD8-472B-4085-A083-5A7B9D99322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23 / POLÍTICA DE INTERACCIÓN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B6B045-8346-41BA-A2CF-BAC9FC51961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576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Conviene preguntar cuando el error cuesta más que interactuar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F0E66491-C917-458B-8F87-F66B19211E59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0877E12-279A-4304-8AB5-D2EE1BB0D7A8}"/>
              </a:ext>
            </a:extLst>
          </p:cNvPr>
          <p:cNvSpPr>
            <a:spLocks noGrp="1"/>
          </p:cNvSpPr>
          <p:nvPr/>
        </p:nvSpPr>
        <p:spPr>
          <a:xfrm>
            <a:off x="904875" y="2876550"/>
            <a:ext cx="4524375" cy="1962150"/>
          </a:xfrm>
          <a:prstGeom prst="roundRect">
            <a:avLst>
              <a:gd name="adj" fmla="val 135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E93BC19-FF6C-4C1F-BB35-BCCBA7516C65}"/>
              </a:ext>
            </a:extLst>
          </p:cNvPr>
          <p:cNvSpPr>
            <a:spLocks noGrp="1"/>
          </p:cNvSpPr>
          <p:nvPr/>
        </p:nvSpPr>
        <p:spPr>
          <a:xfrm>
            <a:off x="6762750" y="2876550"/>
            <a:ext cx="4524375" cy="1962150"/>
          </a:xfrm>
          <a:prstGeom prst="roundRect">
            <a:avLst>
              <a:gd name="adj" fmla="val 135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0F92FBB-9BCE-45D8-BE22-23FA2D3E61C3}"/>
              </a:ext>
            </a:extLst>
          </p:cNvPr>
          <p:cNvSpPr>
            <a:spLocks noGrp="1"/>
          </p:cNvSpPr>
          <p:nvPr/>
        </p:nvSpPr>
        <p:spPr>
          <a:xfrm>
            <a:off x="1190625" y="310515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FFB66E">
              <a:alpha val="22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825387-1DA2-44B0-B579-310F9FA82E6D}"/>
              </a:ext>
            </a:extLst>
          </p:cNvPr>
          <p:cNvSpPr>
            <a:spLocks noGrp="1"/>
          </p:cNvSpPr>
          <p:nvPr/>
        </p:nvSpPr>
        <p:spPr>
          <a:xfrm>
            <a:off x="1304925" y="3143250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F66F96-067B-4BD5-B38E-731C2D29871F}"/>
              </a:ext>
            </a:extLst>
          </p:cNvPr>
          <p:cNvSpPr>
            <a:spLocks noGrp="1"/>
          </p:cNvSpPr>
          <p:nvPr/>
        </p:nvSpPr>
        <p:spPr>
          <a:xfrm>
            <a:off x="1190625" y="3629025"/>
            <a:ext cx="3667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Bajo riesgo</a:t>
            </a:r>
          </a:p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intención dominante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DDCF6A-689A-42FF-AB1B-09ECE3F938B4}"/>
              </a:ext>
            </a:extLst>
          </p:cNvPr>
          <p:cNvSpPr>
            <a:spLocks noGrp="1"/>
          </p:cNvSpPr>
          <p:nvPr/>
        </p:nvSpPr>
        <p:spPr>
          <a:xfrm>
            <a:off x="1190625" y="44577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asumir y explicitar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CEEB7A4-E7EE-4878-AC1E-38115952E6AE}"/>
              </a:ext>
            </a:extLst>
          </p:cNvPr>
          <p:cNvSpPr>
            <a:spLocks noGrp="1"/>
          </p:cNvSpPr>
          <p:nvPr/>
        </p:nvSpPr>
        <p:spPr>
          <a:xfrm>
            <a:off x="7048500" y="31051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45E0D0">
              <a:alpha val="22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AFD1891-7AB7-4346-8575-DFDCA73B2732}"/>
              </a:ext>
            </a:extLst>
          </p:cNvPr>
          <p:cNvSpPr>
            <a:spLocks noGrp="1"/>
          </p:cNvSpPr>
          <p:nvPr/>
        </p:nvSpPr>
        <p:spPr>
          <a:xfrm>
            <a:off x="7162800" y="314325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389F9E-4BFB-4EA8-98E5-0FC1A4CB9D21}"/>
              </a:ext>
            </a:extLst>
          </p:cNvPr>
          <p:cNvSpPr>
            <a:spLocks noGrp="1"/>
          </p:cNvSpPr>
          <p:nvPr/>
        </p:nvSpPr>
        <p:spPr>
          <a:xfrm>
            <a:off x="7048500" y="3629025"/>
            <a:ext cx="3667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Alto costo de error</a:t>
            </a:r>
          </a:p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margen bajo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E925EF-C9E6-4EFA-958D-0ED10622FEFD}"/>
              </a:ext>
            </a:extLst>
          </p:cNvPr>
          <p:cNvSpPr>
            <a:spLocks noGrp="1"/>
          </p:cNvSpPr>
          <p:nvPr/>
        </p:nvSpPr>
        <p:spPr>
          <a:xfrm>
            <a:off x="7048500" y="44577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preguntar antes de recuperar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1752FD1-AA80-4825-9A9B-FA705E6C58EA}"/>
              </a:ext>
            </a:extLst>
          </p:cNvPr>
          <p:cNvSpPr>
            <a:spLocks noGrp="1"/>
          </p:cNvSpPr>
          <p:nvPr/>
        </p:nvSpPr>
        <p:spPr>
          <a:xfrm>
            <a:off x="1619250" y="529590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BEC6DB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C7CEDF"/>
                </a:solidFill>
                <a:latin typeface="Aptos"/>
                <a:ea typeface="Aptos"/>
                <a:cs typeface="Aptos"/>
              </a:rPr>
              <a:t>L: pérdida · c_q: costo de preguntar · q: pregunta · A_q: respuesta · Ŷ: decisión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D746F23-325F-418A-A8A7-E1BBA4ABCC6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decisión Bayesiana con costo de interacción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8D336B7-6E40-4728-80C8-8634E0542F5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pic>
        <p:nvPicPr>
          <p:cNvPr id="37" name="Ecuación s18_di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523" y="1755648"/>
            <a:ext cx="2366913" cy="402336"/>
          </a:xfrm>
          <a:prstGeom prst="rect">
            <a:avLst/>
          </a:prstGeom>
        </p:spPr>
      </p:pic>
      <p:pic>
        <p:nvPicPr>
          <p:cNvPr id="38" name="Ecuación s18_clarif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994" y="1755648"/>
            <a:ext cx="3549892" cy="402336"/>
          </a:xfrm>
          <a:prstGeom prst="rect">
            <a:avLst/>
          </a:prstGeom>
        </p:spPr>
      </p:pic>
      <p:pic>
        <p:nvPicPr>
          <p:cNvPr id="39" name="Ecuación s18_condi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742" y="2267712"/>
            <a:ext cx="2725756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281BC5DE-0C3D-4543-AB23-A87672E76DD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24 / EVIDENCIA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C5EF37-681E-4E86-AE33-2BC5ADD3AF8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El contexto mejora QA, pero casi no induce aclaración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1E0BBCE3-E076-49D4-8000-353388CC986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41454BF-E14D-468D-942C-D9DDEF8E935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6667500" cy="3943350"/>
          </a:xfrm>
          <a:prstGeom prst="roundRect">
            <a:avLst>
              <a:gd name="adj" fmla="val 4831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BB1F785-09E4-42A0-80E0-AE51D2F799AE}"/>
              </a:ext>
            </a:extLst>
          </p:cNvPr>
          <p:cNvSpPr>
            <a:spLocks noGrp="1"/>
          </p:cNvSpPr>
          <p:nvPr/>
        </p:nvSpPr>
        <p:spPr>
          <a:xfrm>
            <a:off x="7858125" y="222885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7769F4">
              <a:alpha val="14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CC77E3-A2BF-496B-89AE-1F9AAEFF70BC}"/>
              </a:ext>
            </a:extLst>
          </p:cNvPr>
          <p:cNvSpPr>
            <a:spLocks noGrp="1"/>
          </p:cNvSpPr>
          <p:nvPr/>
        </p:nvSpPr>
        <p:spPr>
          <a:xfrm>
            <a:off x="7972425" y="2266950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2903931-643E-41F2-AC3E-AEFD0566AAD5}"/>
              </a:ext>
            </a:extLst>
          </p:cNvPr>
          <p:cNvSpPr>
            <a:spLocks noGrp="1"/>
          </p:cNvSpPr>
          <p:nvPr/>
        </p:nvSpPr>
        <p:spPr>
          <a:xfrm>
            <a:off x="7858125" y="2762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QA promedio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6411D6E-C97A-44B8-9176-D6A12D66940E}"/>
              </a:ext>
            </a:extLst>
          </p:cNvPr>
          <p:cNvSpPr>
            <a:spLocks noGrp="1"/>
          </p:cNvSpPr>
          <p:nvPr/>
        </p:nvSpPr>
        <p:spPr>
          <a:xfrm>
            <a:off x="7858125" y="30861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52C97F"/>
                </a:solidFill>
                <a:latin typeface="Aptos Display"/>
                <a:ea typeface="Aptos Display"/>
                <a:cs typeface="Aptos Display"/>
              </a:rPr>
              <a:t>54% → 67%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2EFD01E-6098-4472-AA1B-5E2E139A3E45}"/>
              </a:ext>
            </a:extLst>
          </p:cNvPr>
          <p:cNvSpPr>
            <a:spLocks noGrp="1"/>
          </p:cNvSpPr>
          <p:nvPr/>
        </p:nvSpPr>
        <p:spPr>
          <a:xfrm>
            <a:off x="7858125" y="3543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ambiguas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6B4183B-23C1-4E04-AD8A-17AA9F2C903A}"/>
              </a:ext>
            </a:extLst>
          </p:cNvPr>
          <p:cNvSpPr>
            <a:spLocks noGrp="1"/>
          </p:cNvSpPr>
          <p:nvPr/>
        </p:nvSpPr>
        <p:spPr>
          <a:xfrm>
            <a:off x="7858125" y="40195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A65A"/>
                </a:solidFill>
                <a:latin typeface="Aptos Display"/>
                <a:ea typeface="Aptos Display"/>
                <a:cs typeface="Aptos Display"/>
              </a:rPr>
              <a:t>46% → 55%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BE62687-E1EB-46CF-856E-BE9ED32D22B7}"/>
              </a:ext>
            </a:extLst>
          </p:cNvPr>
          <p:cNvSpPr>
            <a:spLocks noGrp="1"/>
          </p:cNvSpPr>
          <p:nvPr/>
        </p:nvSpPr>
        <p:spPr>
          <a:xfrm>
            <a:off x="7858125" y="4476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ambiguas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1F9A15B9-5D37-499B-AB51-79E5FFEEACB1}"/>
              </a:ext>
            </a:extLst>
          </p:cNvPr>
          <p:cNvSpPr>
            <a:spLocks noGrp="1"/>
          </p:cNvSpPr>
          <p:nvPr/>
        </p:nvSpPr>
        <p:spPr>
          <a:xfrm>
            <a:off x="7858125" y="4933950"/>
            <a:ext cx="3190875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31FA07-13E6-4E88-85C7-B9B33FE4223E}"/>
              </a:ext>
            </a:extLst>
          </p:cNvPr>
          <p:cNvSpPr>
            <a:spLocks noGrp="1"/>
          </p:cNvSpPr>
          <p:nvPr/>
        </p:nvSpPr>
        <p:spPr>
          <a:xfrm>
            <a:off x="7858125" y="514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Preguntas aclaratorias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D64D2A-9E32-4BF3-B764-0C9571390FDE}"/>
              </a:ext>
            </a:extLst>
          </p:cNvPr>
          <p:cNvSpPr>
            <a:spLocks noGrp="1"/>
          </p:cNvSpPr>
          <p:nvPr/>
        </p:nvSpPr>
        <p:spPr>
          <a:xfrm>
            <a:off x="7858125" y="546735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6674"/>
                </a:solidFill>
                <a:latin typeface="Aptos Display"/>
                <a:ea typeface="Aptos Display"/>
                <a:cs typeface="Aptos Display"/>
              </a:rPr>
              <a:t>0–2.5%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A28D900-62A8-48AB-8711-9047123864F2}"/>
              </a:ext>
            </a:extLst>
          </p:cNvPr>
          <p:cNvSpPr>
            <a:spLocks noGrp="1"/>
          </p:cNvSpPr>
          <p:nvPr/>
        </p:nvSpPr>
        <p:spPr>
          <a:xfrm>
            <a:off x="9525000" y="548640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contexto, en la mayoría de modelos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969B46-FB75-4770-A9AC-8FD6CFA280C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 &amp; Cardie (2026), Fig. 1 y Tablas 6–8; imagen suministrada en el proyecto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88466D4-5B21-4246-8A22-8296D502BA6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="1504950" y="2495550"/>
          <a:ext cx="5000625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1281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71AE5709-42AC-4DFC-A84F-827CCDB41D3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25 / DISEÑO OPERATIVO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F79EB8-9C9F-483A-B1F1-643B8FBDA6D0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125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Diseña el sistema alrededor de la incertidumbre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91620042-D36E-4E8A-9C61-2E0452870D67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67B5E11-D615-4D23-85BC-50E33D90C045}"/>
              </a:ext>
            </a:extLst>
          </p:cNvPr>
          <p:cNvSpPr>
            <a:spLocks noGrp="1"/>
          </p:cNvSpPr>
          <p:nvPr/>
        </p:nvSpPr>
        <p:spPr>
          <a:xfrm>
            <a:off x="24765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3752FF27-6F9E-4308-AD67-B866C8762CD9}"/>
              </a:ext>
            </a:extLst>
          </p:cNvPr>
          <p:cNvSpPr>
            <a:spLocks noGrp="1"/>
          </p:cNvSpPr>
          <p:nvPr/>
        </p:nvSpPr>
        <p:spPr>
          <a:xfrm>
            <a:off x="46482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C339A7B8-0A46-48AC-9106-2B19F83DA27A}"/>
              </a:ext>
            </a:extLst>
          </p:cNvPr>
          <p:cNvSpPr>
            <a:spLocks noGrp="1"/>
          </p:cNvSpPr>
          <p:nvPr/>
        </p:nvSpPr>
        <p:spPr>
          <a:xfrm>
            <a:off x="68199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4E725EE3-C86E-4519-AC50-CBA145B7B364}"/>
              </a:ext>
            </a:extLst>
          </p:cNvPr>
          <p:cNvSpPr>
            <a:spLocks noGrp="1"/>
          </p:cNvSpPr>
          <p:nvPr/>
        </p:nvSpPr>
        <p:spPr>
          <a:xfrm>
            <a:off x="89916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4FF4A0F-1029-4B13-B353-5C852A92674D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8C56F7-9577-4EA8-8081-70C8D4C7CAA7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51B4CC-71C4-4C57-95CD-34D0BD8F46A7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FA630D1-4942-4FFA-B81D-CF574E7E309B}"/>
              </a:ext>
            </a:extLst>
          </p:cNvPr>
          <p:cNvSpPr>
            <a:spLocks noGrp="1"/>
          </p:cNvSpPr>
          <p:nvPr/>
        </p:nvSpPr>
        <p:spPr>
          <a:xfrm>
            <a:off x="28575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27D2EEF-2273-496D-8B55-ECF946180E0C}"/>
              </a:ext>
            </a:extLst>
          </p:cNvPr>
          <p:cNvSpPr>
            <a:spLocks noGrp="1"/>
          </p:cNvSpPr>
          <p:nvPr/>
        </p:nvSpPr>
        <p:spPr>
          <a:xfrm>
            <a:off x="29908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8D44A3-13C4-472F-B8C3-B92F857AA768}"/>
              </a:ext>
            </a:extLst>
          </p:cNvPr>
          <p:cNvSpPr>
            <a:spLocks noGrp="1"/>
          </p:cNvSpPr>
          <p:nvPr/>
        </p:nvSpPr>
        <p:spPr>
          <a:xfrm>
            <a:off x="30480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C3F354-756B-4DE5-B7CD-F98225411A1F}"/>
              </a:ext>
            </a:extLst>
          </p:cNvPr>
          <p:cNvSpPr>
            <a:spLocks noGrp="1"/>
          </p:cNvSpPr>
          <p:nvPr/>
        </p:nvSpPr>
        <p:spPr>
          <a:xfrm>
            <a:off x="30099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responder / aclarar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2D5DBE1-B364-4B32-9CA6-025E669B5FA5}"/>
              </a:ext>
            </a:extLst>
          </p:cNvPr>
          <p:cNvSpPr>
            <a:spLocks noGrp="1"/>
          </p:cNvSpPr>
          <p:nvPr/>
        </p:nvSpPr>
        <p:spPr>
          <a:xfrm>
            <a:off x="50292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068B4D4-5876-4711-BD3C-BE947E6484AA}"/>
              </a:ext>
            </a:extLst>
          </p:cNvPr>
          <p:cNvSpPr>
            <a:spLocks noGrp="1"/>
          </p:cNvSpPr>
          <p:nvPr/>
        </p:nvSpPr>
        <p:spPr>
          <a:xfrm>
            <a:off x="51625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907AC02-8A0A-4C63-989B-3D7F7C2D1B31}"/>
              </a:ext>
            </a:extLst>
          </p:cNvPr>
          <p:cNvSpPr>
            <a:spLocks noGrp="1"/>
          </p:cNvSpPr>
          <p:nvPr/>
        </p:nvSpPr>
        <p:spPr>
          <a:xfrm>
            <a:off x="52197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0119B48-8FB6-43E9-B123-0C6FF68F9AAB}"/>
              </a:ext>
            </a:extLst>
          </p:cNvPr>
          <p:cNvSpPr>
            <a:spLocks noGrp="1"/>
          </p:cNvSpPr>
          <p:nvPr/>
        </p:nvSpPr>
        <p:spPr>
          <a:xfrm>
            <a:off x="51816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por intención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09B5D19-2E0F-45F0-B4F4-E2050F33F65A}"/>
              </a:ext>
            </a:extLst>
          </p:cNvPr>
          <p:cNvSpPr>
            <a:spLocks noGrp="1"/>
          </p:cNvSpPr>
          <p:nvPr/>
        </p:nvSpPr>
        <p:spPr>
          <a:xfrm>
            <a:off x="72009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62D59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DBF4924-70BA-4D97-B017-2D3ED4E17F9E}"/>
              </a:ext>
            </a:extLst>
          </p:cNvPr>
          <p:cNvSpPr>
            <a:spLocks noGrp="1"/>
          </p:cNvSpPr>
          <p:nvPr/>
        </p:nvSpPr>
        <p:spPr>
          <a:xfrm>
            <a:off x="73342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2C97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FA636B5-7FE0-4131-A64E-C65B9D0F3F29}"/>
              </a:ext>
            </a:extLst>
          </p:cNvPr>
          <p:cNvSpPr>
            <a:spLocks noGrp="1"/>
          </p:cNvSpPr>
          <p:nvPr/>
        </p:nvSpPr>
        <p:spPr>
          <a:xfrm>
            <a:off x="73914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8860D98-BDE8-43A9-A5A5-0D6B753794DB}"/>
              </a:ext>
            </a:extLst>
          </p:cNvPr>
          <p:cNvSpPr>
            <a:spLocks noGrp="1"/>
          </p:cNvSpPr>
          <p:nvPr/>
        </p:nvSpPr>
        <p:spPr>
          <a:xfrm>
            <a:off x="73533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con evidencia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9F07A2C-4616-43AB-A272-CD42D31D994F}"/>
              </a:ext>
            </a:extLst>
          </p:cNvPr>
          <p:cNvSpPr>
            <a:spLocks noGrp="1"/>
          </p:cNvSpPr>
          <p:nvPr/>
        </p:nvSpPr>
        <p:spPr>
          <a:xfrm>
            <a:off x="93726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6F7D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614812D-9866-45BF-BB71-88BD2A04D4E7}"/>
              </a:ext>
            </a:extLst>
          </p:cNvPr>
          <p:cNvSpPr>
            <a:spLocks noGrp="1"/>
          </p:cNvSpPr>
          <p:nvPr/>
        </p:nvSpPr>
        <p:spPr>
          <a:xfrm>
            <a:off x="95059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CD19DD-E2B1-44AE-ACCF-37E41441A02C}"/>
              </a:ext>
            </a:extLst>
          </p:cNvPr>
          <p:cNvSpPr>
            <a:spLocks noGrp="1"/>
          </p:cNvSpPr>
          <p:nvPr/>
        </p:nvSpPr>
        <p:spPr>
          <a:xfrm>
            <a:off x="95631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EB233B5-8D4C-475C-B377-C554295FE45B}"/>
              </a:ext>
            </a:extLst>
          </p:cNvPr>
          <p:cNvSpPr>
            <a:spLocks noGrp="1"/>
          </p:cNvSpPr>
          <p:nvPr/>
        </p:nvSpPr>
        <p:spPr>
          <a:xfrm>
            <a:off x="95250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calidad + costo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361E4AB-7E0C-4A6A-923C-4E0043092B4B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98"/>
          </a:bodyPr>
          <a:lstStyle/>
          <a:p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Context Engineering = seleccionar evidencia y decidir cuándo preguntar.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0B3FAD3-CC74-473A-AC62-7058AB715C9C}"/>
              </a:ext>
            </a:extLst>
          </p:cNvPr>
          <p:cNvSpPr>
            <a:spLocks noGrp="1"/>
          </p:cNvSpPr>
          <p:nvPr/>
        </p:nvSpPr>
        <p:spPr>
          <a:xfrm>
            <a:off x="1952625" y="544830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B8C0D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Caso de negocio · Tolerancia al error · Umbral de ambigüedad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88A5BC7-5175-4565-9FD5-EA3BD9A3149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Fuentes clave: context.md · survey_context.pdf · Zhang &amp; Choi (2023) · Su &amp; Cardie (2026)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6356272-0711-4EA4-9FFC-D3FFE9D30FB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pic>
        <p:nvPicPr>
          <p:cNvPr id="65" name="Ecuación s20_entrop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68" y="3467100"/>
            <a:ext cx="789214" cy="2667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40CFA9-4FB7-45E5-B005-C3E53A506689}"/>
              </a:ext>
            </a:extLst>
          </p:cNvPr>
          <p:cNvSpPr>
            <a:spLocks noGrp="1"/>
          </p:cNvSpPr>
          <p:nvPr/>
        </p:nvSpPr>
        <p:spPr>
          <a:xfrm>
            <a:off x="685800" y="577900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  <a:ea typeface="Aptos"/>
                <a:cs typeface="Aptos"/>
              </a:rPr>
              <a:t>H entropía · Z intención · X consulta</a:t>
            </a:r>
          </a:p>
        </p:txBody>
      </p:sp>
    </p:spTree>
    <p:extLst>
      <p:ext uri="{BB962C8B-B14F-4D97-AF65-F5344CB8AC3E}">
        <p14:creationId xmlns:p14="http://schemas.microsoft.com/office/powerpoint/2010/main" val="17355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B08ECE71-DDF6-4B6E-A42B-BE72B818FBB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26 / CONCLUSIONES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E19AF-A3D2-43F5-9CD2-C9B445B8A59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 permite concluir el modelo probabilístico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F753BB-1C23-42E5-BD2C-FBD5F80AFC46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303958"/>
          </a:solidFill>
          <a:ln w="0">
            <a:solidFill>
              <a:srgbClr val="30395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E830FC3-EB1E-42C1-AC79-BBC83A3697C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000250" cy="2724150"/>
          </a:xfrm>
          <a:prstGeom prst="roundRect">
            <a:avLst>
              <a:gd name="adj" fmla="val 7619"/>
            </a:avLst>
          </a:prstGeom>
          <a:solidFill>
            <a:srgbClr val="242C49"/>
          </a:solidFill>
          <a:ln w="13335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8300FF-3632-4578-9B3E-9ADCA75E67EC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A22839D-C9E0-41CC-937C-96340E75E718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4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Contexto discriminativo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15F8EF-598D-4258-A3B3-287264321F43}"/>
              </a:ext>
            </a:extLst>
          </p:cNvPr>
          <p:cNvSpPr>
            <a:spLocks noGrp="1"/>
          </p:cNvSpPr>
          <p:nvPr/>
        </p:nvSpPr>
        <p:spPr>
          <a:xfrm>
            <a:off x="857250" y="3171825"/>
            <a:ext cx="16573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Ayuda cuando separa intenciones plausibles; similitud semántica por sí sola no basta.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A666347-C655-42D7-9550-A583E85A1385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657350" cy="28575"/>
          </a:xfrm>
          <a:prstGeom prst="rect">
            <a:avLst/>
          </a:prstGeom>
          <a:solidFill>
            <a:srgbClr val="F5A14A"/>
          </a:solidFill>
          <a:ln w="0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3AE19F5-00EE-4194-8B84-A1AAFE10309B}"/>
              </a:ext>
            </a:extLst>
          </p:cNvPr>
          <p:cNvSpPr>
            <a:spLocks noGrp="1"/>
          </p:cNvSpPr>
          <p:nvPr/>
        </p:nvSpPr>
        <p:spPr>
          <a:xfrm>
            <a:off x="2857500" y="1952625"/>
            <a:ext cx="2000250" cy="2724150"/>
          </a:xfrm>
          <a:prstGeom prst="roundRect">
            <a:avLst>
              <a:gd name="adj" fmla="val 7619"/>
            </a:avLst>
          </a:prstGeom>
          <a:solidFill>
            <a:srgbClr val="242C49"/>
          </a:solidFill>
          <a:ln w="13335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1C42E95-55E6-4ABB-A685-710CAAA56432}"/>
              </a:ext>
            </a:extLst>
          </p:cNvPr>
          <p:cNvSpPr>
            <a:spLocks noGrp="1"/>
          </p:cNvSpPr>
          <p:nvPr/>
        </p:nvSpPr>
        <p:spPr>
          <a:xfrm>
            <a:off x="3028950" y="20955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88A43E-737D-448E-922A-CCFED5478579}"/>
              </a:ext>
            </a:extLst>
          </p:cNvPr>
          <p:cNvSpPr>
            <a:spLocks noGrp="1"/>
          </p:cNvSpPr>
          <p:nvPr/>
        </p:nvSpPr>
        <p:spPr>
          <a:xfrm>
            <a:off x="3028950" y="24765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4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Entropía como brújula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4E50794-AA00-4205-BB8D-230D3DDE0992}"/>
              </a:ext>
            </a:extLst>
          </p:cNvPr>
          <p:cNvSpPr>
            <a:spLocks noGrp="1"/>
          </p:cNvSpPr>
          <p:nvPr/>
        </p:nvSpPr>
        <p:spPr>
          <a:xfrm>
            <a:off x="3028950" y="3171825"/>
            <a:ext cx="16573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La incertidumbre residual indica si conviene recuperar, aclarar o responder.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0A1A845-74CB-4ACE-BD83-748D28868ED5}"/>
              </a:ext>
            </a:extLst>
          </p:cNvPr>
          <p:cNvSpPr>
            <a:spLocks noGrp="1"/>
          </p:cNvSpPr>
          <p:nvPr/>
        </p:nvSpPr>
        <p:spPr>
          <a:xfrm>
            <a:off x="3028950" y="4429125"/>
            <a:ext cx="1657350" cy="28575"/>
          </a:xfrm>
          <a:prstGeom prst="rect">
            <a:avLst/>
          </a:prstGeom>
          <a:solidFill>
            <a:srgbClr val="33D6C8"/>
          </a:solidFill>
          <a:ln w="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76D9348-C74A-4E39-A24E-BA83F6DBF8E8}"/>
              </a:ext>
            </a:extLst>
          </p:cNvPr>
          <p:cNvSpPr>
            <a:spLocks noGrp="1"/>
          </p:cNvSpPr>
          <p:nvPr/>
        </p:nvSpPr>
        <p:spPr>
          <a:xfrm>
            <a:off x="5029200" y="1952625"/>
            <a:ext cx="2000250" cy="2724150"/>
          </a:xfrm>
          <a:prstGeom prst="roundRect">
            <a:avLst>
              <a:gd name="adj" fmla="val 7619"/>
            </a:avLst>
          </a:prstGeom>
          <a:solidFill>
            <a:srgbClr val="242C49"/>
          </a:solidFill>
          <a:ln w="13335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C4546A5-01F5-493D-BD4E-28812E9DBEFF}"/>
              </a:ext>
            </a:extLst>
          </p:cNvPr>
          <p:cNvSpPr>
            <a:spLocks noGrp="1"/>
          </p:cNvSpPr>
          <p:nvPr/>
        </p:nvSpPr>
        <p:spPr>
          <a:xfrm>
            <a:off x="5200650" y="20955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42E90BC-3F80-45DA-9D25-6E601775DD51}"/>
              </a:ext>
            </a:extLst>
          </p:cNvPr>
          <p:cNvSpPr>
            <a:spLocks noGrp="1"/>
          </p:cNvSpPr>
          <p:nvPr/>
        </p:nvSpPr>
        <p:spPr>
          <a:xfrm>
            <a:off x="5200650" y="24765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4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Retrieval como cuello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1D5C675-347F-4577-A536-25658FF1D790}"/>
              </a:ext>
            </a:extLst>
          </p:cNvPr>
          <p:cNvSpPr>
            <a:spLocks noGrp="1"/>
          </p:cNvSpPr>
          <p:nvPr/>
        </p:nvSpPr>
        <p:spPr>
          <a:xfrm>
            <a:off x="5200650" y="3171825"/>
            <a:ext cx="16573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Si el documento correcto recibe poco peso, mejorar solo el generador tiene efecto limitado.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B33F64A-2437-4951-B3DB-4628B81FB411}"/>
              </a:ext>
            </a:extLst>
          </p:cNvPr>
          <p:cNvSpPr>
            <a:spLocks noGrp="1"/>
          </p:cNvSpPr>
          <p:nvPr/>
        </p:nvSpPr>
        <p:spPr>
          <a:xfrm>
            <a:off x="5200650" y="4429125"/>
            <a:ext cx="1657350" cy="28575"/>
          </a:xfrm>
          <a:prstGeom prst="rect">
            <a:avLst/>
          </a:prstGeom>
          <a:solidFill>
            <a:srgbClr val="6C63FF"/>
          </a:solidFill>
          <a:ln w="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93C5B44-3E03-4425-B037-CE522A3FE40A}"/>
              </a:ext>
            </a:extLst>
          </p:cNvPr>
          <p:cNvSpPr>
            <a:spLocks noGrp="1"/>
          </p:cNvSpPr>
          <p:nvPr/>
        </p:nvSpPr>
        <p:spPr>
          <a:xfrm>
            <a:off x="7200900" y="1952625"/>
            <a:ext cx="2000250" cy="2724150"/>
          </a:xfrm>
          <a:prstGeom prst="roundRect">
            <a:avLst>
              <a:gd name="adj" fmla="val 7619"/>
            </a:avLst>
          </a:prstGeom>
          <a:solidFill>
            <a:srgbClr val="242C49"/>
          </a:solidFill>
          <a:ln w="13335">
            <a:solidFill>
              <a:srgbClr val="49C98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93985B8-1204-4200-B27B-F2E3FFAC54B2}"/>
              </a:ext>
            </a:extLst>
          </p:cNvPr>
          <p:cNvSpPr>
            <a:spLocks noGrp="1"/>
          </p:cNvSpPr>
          <p:nvPr/>
        </p:nvSpPr>
        <p:spPr>
          <a:xfrm>
            <a:off x="7372350" y="20955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B697FB0-6125-4A54-94AD-075A8490EBEF}"/>
              </a:ext>
            </a:extLst>
          </p:cNvPr>
          <p:cNvSpPr>
            <a:spLocks noGrp="1"/>
          </p:cNvSpPr>
          <p:nvPr/>
        </p:nvSpPr>
        <p:spPr>
          <a:xfrm>
            <a:off x="7372350" y="24765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4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Más contexto ≠ mejor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D3FB8C6-7431-4820-A9FB-EC3F7B974467}"/>
              </a:ext>
            </a:extLst>
          </p:cNvPr>
          <p:cNvSpPr>
            <a:spLocks noGrp="1"/>
          </p:cNvSpPr>
          <p:nvPr/>
        </p:nvSpPr>
        <p:spPr>
          <a:xfrm>
            <a:off x="7372350" y="3171825"/>
            <a:ext cx="16573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Cada bloque debe aportar información marginal; la redundancia consume ventana sin reducir riesgo.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9587CBE-4961-4A38-9697-946718C20D42}"/>
              </a:ext>
            </a:extLst>
          </p:cNvPr>
          <p:cNvSpPr>
            <a:spLocks noGrp="1"/>
          </p:cNvSpPr>
          <p:nvPr/>
        </p:nvSpPr>
        <p:spPr>
          <a:xfrm>
            <a:off x="7372350" y="4429125"/>
            <a:ext cx="1657350" cy="28575"/>
          </a:xfrm>
          <a:prstGeom prst="rect">
            <a:avLst/>
          </a:prstGeom>
          <a:solidFill>
            <a:srgbClr val="49C986"/>
          </a:solidFill>
          <a:ln w="0">
            <a:solidFill>
              <a:srgbClr val="49C98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33A3535-495B-4C29-B1C9-17F87F3454E5}"/>
              </a:ext>
            </a:extLst>
          </p:cNvPr>
          <p:cNvSpPr>
            <a:spLocks noGrp="1"/>
          </p:cNvSpPr>
          <p:nvPr/>
        </p:nvSpPr>
        <p:spPr>
          <a:xfrm>
            <a:off x="9372600" y="1952625"/>
            <a:ext cx="2000250" cy="2724150"/>
          </a:xfrm>
          <a:prstGeom prst="roundRect">
            <a:avLst>
              <a:gd name="adj" fmla="val 7619"/>
            </a:avLst>
          </a:prstGeom>
          <a:solidFill>
            <a:srgbClr val="242C49"/>
          </a:solidFill>
          <a:ln w="13335">
            <a:solidFill>
              <a:srgbClr val="FF647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DFC68A5-2B4C-4F41-87CD-EAADA763B2D2}"/>
              </a:ext>
            </a:extLst>
          </p:cNvPr>
          <p:cNvSpPr>
            <a:spLocks noGrp="1"/>
          </p:cNvSpPr>
          <p:nvPr/>
        </p:nvSpPr>
        <p:spPr>
          <a:xfrm>
            <a:off x="9544050" y="20955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0E31B95-E987-4822-9653-064273AA6329}"/>
              </a:ext>
            </a:extLst>
          </p:cNvPr>
          <p:cNvSpPr>
            <a:spLocks noGrp="1"/>
          </p:cNvSpPr>
          <p:nvPr/>
        </p:nvSpPr>
        <p:spPr>
          <a:xfrm>
            <a:off x="9544050" y="24765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4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 crea evidencia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3B73F8A-69CE-4442-A503-4F316EB1BE73}"/>
              </a:ext>
            </a:extLst>
          </p:cNvPr>
          <p:cNvSpPr>
            <a:spLocks noGrp="1"/>
          </p:cNvSpPr>
          <p:nvPr/>
        </p:nvSpPr>
        <p:spPr>
          <a:xfrm>
            <a:off x="9544050" y="3171825"/>
            <a:ext cx="16573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Una pregunta útil incorpora información de intención que no estaba disponible en X ni en C.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48CE686-52C6-4F50-BA23-9F56B103DB4F}"/>
              </a:ext>
            </a:extLst>
          </p:cNvPr>
          <p:cNvSpPr>
            <a:spLocks noGrp="1"/>
          </p:cNvSpPr>
          <p:nvPr/>
        </p:nvSpPr>
        <p:spPr>
          <a:xfrm>
            <a:off x="9544050" y="4429125"/>
            <a:ext cx="1657350" cy="28575"/>
          </a:xfrm>
          <a:prstGeom prst="rect">
            <a:avLst/>
          </a:prstGeom>
          <a:solidFill>
            <a:srgbClr val="FF647C"/>
          </a:solidFill>
          <a:ln w="0">
            <a:solidFill>
              <a:srgbClr val="FF647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1D7E50F-75E9-4918-82FE-47C7A9DD3A7F}"/>
              </a:ext>
            </a:extLst>
          </p:cNvPr>
          <p:cNvSpPr>
            <a:spLocks noGrp="1"/>
          </p:cNvSpPr>
          <p:nvPr/>
        </p:nvSpPr>
        <p:spPr>
          <a:xfrm>
            <a:off x="1466850" y="5076825"/>
            <a:ext cx="9258300" cy="876300"/>
          </a:xfrm>
          <a:prstGeom prst="roundRect">
            <a:avLst>
              <a:gd name="adj" fmla="val 17391"/>
            </a:avLst>
          </a:prstGeom>
          <a:solidFill>
            <a:srgbClr val="1A2340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F22C5EB-A1B7-400A-99FE-CBF94293C15A}"/>
              </a:ext>
            </a:extLst>
          </p:cNvPr>
          <p:cNvSpPr>
            <a:spLocks noGrp="1"/>
          </p:cNvSpPr>
          <p:nvPr/>
        </p:nvSpPr>
        <p:spPr>
          <a:xfrm>
            <a:off x="1752600" y="5238750"/>
            <a:ext cx="8686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6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Context Engineering = maximizar información útil por token y preguntar cuando el riesgo Bayesiano supera el costo de interactuar.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2B3DE8B-093D-4605-8D77-607B3C5839CD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Síntesis propia · Bayes · teoría de la información · decisión Bayesiana · RAG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1010FDC-964C-4BE3-9D91-1A04F1FAC5BA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97287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8C879C7-D9DF-4367-86C4-DCD59222ED0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924050" cy="266700"/>
          </a:xfrm>
          <a:prstGeom prst="roundRect">
            <a:avLst>
              <a:gd name="adj" fmla="val 50000"/>
            </a:avLst>
          </a:prstGeom>
          <a:solidFill>
            <a:srgbClr val="3B3340"/>
          </a:solidFill>
          <a:ln w="9525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F052AFE-452C-4396-9D91-10852E37DE9F}"/>
              </a:ext>
            </a:extLst>
          </p:cNvPr>
          <p:cNvSpPr>
            <a:spLocks noGrp="1"/>
          </p:cNvSpPr>
          <p:nvPr/>
        </p:nvSpPr>
        <p:spPr>
          <a:xfrm>
            <a:off x="733425" y="71437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ANEXOS · DERIVACIONES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05BC6C-ABCC-4208-B141-C1856E9F632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381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las probabilidades</a:t>
            </a:r>
          </a:p>
          <a:p>
            <a:pPr algn="l">
              <a:lnSpc>
                <a:spcPct val="90000"/>
              </a:lnSpc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las 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299501C-A86F-4916-8805-3834FB10D343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4953000" cy="47625"/>
          </a:xfrm>
          <a:prstGeom prst="rect">
            <a:avLst/>
          </a:prstGeom>
          <a:solidFill>
            <a:srgbClr val="33D6C8"/>
          </a:solidFill>
          <a:ln w="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0057D37-1DC5-4AFA-BE29-E1A627B00B0F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Desarrollo simbólico · supuestos explícitos · sin depender de ejemplos numéricos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94ACEA88-80E4-4649-9A5A-10D9E4559583}"/>
              </a:ext>
            </a:extLst>
          </p:cNvPr>
          <p:cNvSpPr>
            <a:spLocks noGrp="1"/>
          </p:cNvSpPr>
          <p:nvPr/>
        </p:nvSpPr>
        <p:spPr>
          <a:xfrm>
            <a:off x="8096250" y="2962275"/>
            <a:ext cx="152400" cy="247650"/>
          </a:xfrm>
          <a:prstGeom prst="rightArrow">
            <a:avLst/>
          </a:prstGeom>
          <a:solidFill>
            <a:srgbClr val="38415F"/>
          </a:solidFill>
          <a:ln w="9525">
            <a:solidFill>
              <a:srgbClr val="5962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1992D21A-9FF8-4F73-84FB-5A7B2D3F687D}"/>
              </a:ext>
            </a:extLst>
          </p:cNvPr>
          <p:cNvSpPr>
            <a:spLocks noGrp="1"/>
          </p:cNvSpPr>
          <p:nvPr/>
        </p:nvSpPr>
        <p:spPr>
          <a:xfrm>
            <a:off x="9239250" y="2962275"/>
            <a:ext cx="152400" cy="247650"/>
          </a:xfrm>
          <a:prstGeom prst="rightArrow">
            <a:avLst/>
          </a:prstGeom>
          <a:solidFill>
            <a:srgbClr val="38415F"/>
          </a:solidFill>
          <a:ln w="9525">
            <a:solidFill>
              <a:srgbClr val="5962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1476178A-0391-4D36-B7D8-7F6DF4303F94}"/>
              </a:ext>
            </a:extLst>
          </p:cNvPr>
          <p:cNvSpPr>
            <a:spLocks noGrp="1"/>
          </p:cNvSpPr>
          <p:nvPr/>
        </p:nvSpPr>
        <p:spPr>
          <a:xfrm>
            <a:off x="10382250" y="2962275"/>
            <a:ext cx="152400" cy="247650"/>
          </a:xfrm>
          <a:prstGeom prst="rightArrow">
            <a:avLst/>
          </a:prstGeom>
          <a:solidFill>
            <a:srgbClr val="38415F"/>
          </a:solidFill>
          <a:ln w="9525">
            <a:solidFill>
              <a:srgbClr val="5962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D1D96EE-EF4E-4238-B66A-97EF18D96BD5}"/>
              </a:ext>
            </a:extLst>
          </p:cNvPr>
          <p:cNvSpPr>
            <a:spLocks noGrp="1"/>
          </p:cNvSpPr>
          <p:nvPr/>
        </p:nvSpPr>
        <p:spPr>
          <a:xfrm>
            <a:off x="7124700" y="2724150"/>
            <a:ext cx="952500" cy="723900"/>
          </a:xfrm>
          <a:prstGeom prst="roundRect">
            <a:avLst>
              <a:gd name="adj" fmla="val 21053"/>
            </a:avLst>
          </a:prstGeom>
          <a:solidFill>
            <a:srgbClr val="242C49"/>
          </a:solidFill>
          <a:ln w="13335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9C24167-D305-4DC7-A590-29294B4F4B68}"/>
              </a:ext>
            </a:extLst>
          </p:cNvPr>
          <p:cNvSpPr>
            <a:spLocks noGrp="1"/>
          </p:cNvSpPr>
          <p:nvPr/>
        </p:nvSpPr>
        <p:spPr>
          <a:xfrm>
            <a:off x="7172325" y="28956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Bayes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13D75F3-54A2-4A57-85D4-17161779BECB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952500" cy="723900"/>
          </a:xfrm>
          <a:prstGeom prst="roundRect">
            <a:avLst>
              <a:gd name="adj" fmla="val 21053"/>
            </a:avLst>
          </a:prstGeom>
          <a:solidFill>
            <a:srgbClr val="242C49"/>
          </a:solidFill>
          <a:ln w="13335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B488221-F050-4CE8-8E00-251A05924493}"/>
              </a:ext>
            </a:extLst>
          </p:cNvPr>
          <p:cNvSpPr>
            <a:spLocks noGrp="1"/>
          </p:cNvSpPr>
          <p:nvPr/>
        </p:nvSpPr>
        <p:spPr>
          <a:xfrm>
            <a:off x="8315325" y="28956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Entropía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D494A59-4322-475D-93F9-3CE1AE95E599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952500" cy="723900"/>
          </a:xfrm>
          <a:prstGeom prst="roundRect">
            <a:avLst>
              <a:gd name="adj" fmla="val 21053"/>
            </a:avLst>
          </a:prstGeom>
          <a:solidFill>
            <a:srgbClr val="242C49"/>
          </a:solidFill>
          <a:ln w="13335">
            <a:solidFill>
              <a:srgbClr val="FF647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17AFE4A-1EB5-4283-9055-BC4ED6B27DBE}"/>
              </a:ext>
            </a:extLst>
          </p:cNvPr>
          <p:cNvSpPr>
            <a:spLocks noGrp="1"/>
          </p:cNvSpPr>
          <p:nvPr/>
        </p:nvSpPr>
        <p:spPr>
          <a:xfrm>
            <a:off x="9458325" y="28956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Riesgo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4EBA750-4EC2-4C98-9E2D-27D7A9346D74}"/>
              </a:ext>
            </a:extLst>
          </p:cNvPr>
          <p:cNvSpPr>
            <a:spLocks noGrp="1"/>
          </p:cNvSpPr>
          <p:nvPr/>
        </p:nvSpPr>
        <p:spPr>
          <a:xfrm>
            <a:off x="10553700" y="2724150"/>
            <a:ext cx="952500" cy="723900"/>
          </a:xfrm>
          <a:prstGeom prst="roundRect">
            <a:avLst>
              <a:gd name="adj" fmla="val 21053"/>
            </a:avLst>
          </a:prstGeom>
          <a:solidFill>
            <a:srgbClr val="242C49"/>
          </a:solidFill>
          <a:ln w="13335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B9A55F3-750D-476C-B45E-21A6AF35CC98}"/>
              </a:ext>
            </a:extLst>
          </p:cNvPr>
          <p:cNvSpPr>
            <a:spLocks noGrp="1"/>
          </p:cNvSpPr>
          <p:nvPr/>
        </p:nvSpPr>
        <p:spPr>
          <a:xfrm>
            <a:off x="10601325" y="28956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A80D985-A7E0-4AF2-B79F-A251A81D0DF6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Anexos matemáticos · notación: X consulta · C contexto · Z intención · Y respuesta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AB9B4A8-C929-4052-A639-0C7B04E405C5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35911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C5558F03-A51F-41A9-A5B6-165624F5AC3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A1 / ACTUALIZACIÓN BAYESIANA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5F22FB0-2783-4EAD-AB6F-8723C662234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contexto es útil cuando cambia las odds entre intenciones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F577BD-E722-450F-955F-D2FF2D2506F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D9DEEA"/>
          </a:solidFill>
          <a:ln w="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20D237D-9FE9-416B-B094-98566C6CD016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6762750" cy="39243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7B002E7-47C3-4ECC-94C0-1190A6441D17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156210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EEEC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B89A12-C9D1-4D29-A02F-B4920C778CDA}"/>
              </a:ext>
            </a:extLst>
          </p:cNvPr>
          <p:cNvSpPr>
            <a:spLocks noGrp="1"/>
          </p:cNvSpPr>
          <p:nvPr/>
        </p:nvSpPr>
        <p:spPr>
          <a:xfrm>
            <a:off x="962025" y="2105025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DESARROLLO LITERAL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183F534-89E8-4FF2-BDF8-6042B8C40F21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6305550" cy="742950"/>
          </a:xfrm>
          <a:prstGeom prst="roundRect">
            <a:avLst>
              <a:gd name="adj" fmla="val 15385"/>
            </a:avLst>
          </a:prstGeom>
          <a:solidFill>
            <a:srgbClr val="F8F7FF"/>
          </a:solidFill>
          <a:ln w="9525">
            <a:solidFill>
              <a:srgbClr val="D7D2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rPr>
              <a:t>P(Zᵢ | X,C) = P(C | Zᵢ,X) P(Zᵢ | X) / ∑ⱼ P(C | Zⱼ,X) P(Zⱼ | X)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07AF3D-BE3B-445B-B3ED-B8F2960F6E75}"/>
              </a:ext>
            </a:extLst>
          </p:cNvPr>
          <p:cNvSpPr>
            <a:spLocks noGrp="1"/>
          </p:cNvSpPr>
          <p:nvPr/>
        </p:nvSpPr>
        <p:spPr>
          <a:xfrm>
            <a:off x="933450" y="338137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 dividir dos posteriores, el denominador común se cancela: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21A45BB-1216-4E44-BA44-17EF91196374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6305550" cy="1066800"/>
          </a:xfrm>
          <a:prstGeom prst="roundRect">
            <a:avLst>
              <a:gd name="adj" fmla="val 10714"/>
            </a:avLst>
          </a:prstGeom>
          <a:solidFill>
            <a:srgbClr val="E3F9F6"/>
          </a:solidFill>
          <a:ln w="9525">
            <a:solidFill>
              <a:srgbClr val="33D6C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P(Z₁ | X,C) / P(Z₂ | X,C)</a:t>
            </a:r>
          </a:p>
          <a:p>
            <a:pPr algn="ctr">
              <a:lnSpc>
                <a:spcPct val="95000"/>
              </a:lnSpc>
              <a:buNone/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= [P(Z₁ | X) / P(Z₂ | X)] · [P(C | Z₁,X) / P(C | Z₂,X)]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A5519E-317B-496D-BA39-D9E9E4D1B4E3}"/>
              </a:ext>
            </a:extLst>
          </p:cNvPr>
          <p:cNvSpPr>
            <a:spLocks noGrp="1"/>
          </p:cNvSpPr>
          <p:nvPr/>
        </p:nvSpPr>
        <p:spPr>
          <a:xfrm>
            <a:off x="1238250" y="4981575"/>
            <a:ext cx="565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odds posteriores = odds previas × factor de Bayes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49FFD74-7D8D-4740-9C38-55D5223CB54C}"/>
              </a:ext>
            </a:extLst>
          </p:cNvPr>
          <p:cNvSpPr>
            <a:spLocks noGrp="1"/>
          </p:cNvSpPr>
          <p:nvPr/>
        </p:nvSpPr>
        <p:spPr>
          <a:xfrm>
            <a:off x="7791450" y="1905000"/>
            <a:ext cx="3714750" cy="3924300"/>
          </a:xfrm>
          <a:prstGeom prst="roundRect">
            <a:avLst>
              <a:gd name="adj" fmla="val 4103"/>
            </a:avLst>
          </a:prstGeom>
          <a:solidFill>
            <a:srgbClr val="EEECFF"/>
          </a:solidFill>
          <a:ln w="1143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BB8EC3F-68F7-4DE6-A1DE-A20B47D970D8}"/>
              </a:ext>
            </a:extLst>
          </p:cNvPr>
          <p:cNvSpPr>
            <a:spLocks noGrp="1"/>
          </p:cNvSpPr>
          <p:nvPr/>
        </p:nvSpPr>
        <p:spPr>
          <a:xfrm>
            <a:off x="8039100" y="2143125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Lectura de la conclusión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77B7503-E5A6-474F-B0DB-AEAF4486F7D4}"/>
              </a:ext>
            </a:extLst>
          </p:cNvPr>
          <p:cNvSpPr>
            <a:spLocks noGrp="1"/>
          </p:cNvSpPr>
          <p:nvPr/>
        </p:nvSpPr>
        <p:spPr>
          <a:xfrm>
            <a:off x="8039100" y="2676525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4B195F4-BDE5-430E-9B75-4A5311A29560}"/>
              </a:ext>
            </a:extLst>
          </p:cNvPr>
          <p:cNvSpPr>
            <a:spLocks noGrp="1"/>
          </p:cNvSpPr>
          <p:nvPr/>
        </p:nvSpPr>
        <p:spPr>
          <a:xfrm>
            <a:off x="8086725" y="27051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3958BB-BABA-42B6-AC2E-58BABB164500}"/>
              </a:ext>
            </a:extLst>
          </p:cNvPr>
          <p:cNvSpPr>
            <a:spLocks noGrp="1"/>
          </p:cNvSpPr>
          <p:nvPr/>
        </p:nvSpPr>
        <p:spPr>
          <a:xfrm>
            <a:off x="8562975" y="2667000"/>
            <a:ext cx="2524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Prior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F9FD250-0C95-488B-B766-CEB75D10F760}"/>
              </a:ext>
            </a:extLst>
          </p:cNvPr>
          <p:cNvSpPr>
            <a:spLocks noGrp="1"/>
          </p:cNvSpPr>
          <p:nvPr/>
        </p:nvSpPr>
        <p:spPr>
          <a:xfrm>
            <a:off x="8562975" y="2952750"/>
            <a:ext cx="252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P(Zᵢ|X) resume qué intención era plausible antes de añadir C.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086FCD5-FD99-4CD0-88CB-8763E34B4884}"/>
              </a:ext>
            </a:extLst>
          </p:cNvPr>
          <p:cNvSpPr>
            <a:spLocks noGrp="1"/>
          </p:cNvSpPr>
          <p:nvPr/>
        </p:nvSpPr>
        <p:spPr>
          <a:xfrm>
            <a:off x="8039100" y="358140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53280D1-4E54-457D-8C64-B8FF3B811003}"/>
              </a:ext>
            </a:extLst>
          </p:cNvPr>
          <p:cNvSpPr>
            <a:spLocks noGrp="1"/>
          </p:cNvSpPr>
          <p:nvPr/>
        </p:nvSpPr>
        <p:spPr>
          <a:xfrm>
            <a:off x="8086725" y="3609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4544D14-6B00-45D8-BA9F-35BAE51FCE8F}"/>
              </a:ext>
            </a:extLst>
          </p:cNvPr>
          <p:cNvSpPr>
            <a:spLocks noGrp="1"/>
          </p:cNvSpPr>
          <p:nvPr/>
        </p:nvSpPr>
        <p:spPr>
          <a:xfrm>
            <a:off x="8562975" y="3571875"/>
            <a:ext cx="2524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A9EB53D-5335-44C3-8010-20E7E7EC671E}"/>
              </a:ext>
            </a:extLst>
          </p:cNvPr>
          <p:cNvSpPr>
            <a:spLocks noGrp="1"/>
          </p:cNvSpPr>
          <p:nvPr/>
        </p:nvSpPr>
        <p:spPr>
          <a:xfrm>
            <a:off x="8562975" y="3857625"/>
            <a:ext cx="252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P(C|Zᵢ,X) mide cuánto esperaba observar ese contexto bajo cada intención.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B00C69D-4242-4856-AEE9-9FD5B3816ADE}"/>
              </a:ext>
            </a:extLst>
          </p:cNvPr>
          <p:cNvSpPr>
            <a:spLocks noGrp="1"/>
          </p:cNvSpPr>
          <p:nvPr/>
        </p:nvSpPr>
        <p:spPr>
          <a:xfrm>
            <a:off x="8039100" y="457200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D4BC7F-87A7-471B-9606-6AD1ADED1C17}"/>
              </a:ext>
            </a:extLst>
          </p:cNvPr>
          <p:cNvSpPr>
            <a:spLocks noGrp="1"/>
          </p:cNvSpPr>
          <p:nvPr/>
        </p:nvSpPr>
        <p:spPr>
          <a:xfrm>
            <a:off x="8086725" y="46005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46179B3-9C13-41D0-9BCE-5EEE1AE78C02}"/>
              </a:ext>
            </a:extLst>
          </p:cNvPr>
          <p:cNvSpPr>
            <a:spLocks noGrp="1"/>
          </p:cNvSpPr>
          <p:nvPr/>
        </p:nvSpPr>
        <p:spPr>
          <a:xfrm>
            <a:off x="8562975" y="4562475"/>
            <a:ext cx="2524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29182B1-79FA-4634-9E80-389D3AD2C590}"/>
              </a:ext>
            </a:extLst>
          </p:cNvPr>
          <p:cNvSpPr>
            <a:spLocks noGrp="1"/>
          </p:cNvSpPr>
          <p:nvPr/>
        </p:nvSpPr>
        <p:spPr>
          <a:xfrm>
            <a:off x="8562975" y="4848225"/>
            <a:ext cx="252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 el factor de Bayes ≈ 1, C no separa Z₁ de Z₂: agrega texto, no decisión.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027CA1F-EF9F-465D-AE0F-22F647FA757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Derivación propia · regla de Bayes · comparación de odds posteriores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82152D0-9E79-493B-8AA8-3AA742BD92C0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73487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0A365513-9F5B-4768-8DF5-A442EB78567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A2 / INFORMACIÓN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3C38D6-8BA4-47D5-AF96-691733E3A39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97663"/>
          </a:bodyPr>
          <a:lstStyle/>
          <a:p>
            <a:pPr algn="l">
              <a:lnSpc>
                <a:spcPct val="92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ganancia media de información está acotada por la incertidumbre inicial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6AE185F-5654-444C-9DCC-AF9C9DAE5D7E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303958"/>
          </a:solidFill>
          <a:ln w="0">
            <a:solidFill>
              <a:srgbClr val="30395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1689924-EFCF-49EF-BEB3-92BC9007D2B5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953000" cy="3667125"/>
          </a:xfrm>
          <a:prstGeom prst="roundRect">
            <a:avLst>
              <a:gd name="adj" fmla="val 4156"/>
            </a:avLst>
          </a:prstGeom>
          <a:solidFill>
            <a:srgbClr val="202846"/>
          </a:solidFill>
          <a:ln w="1143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FE43955-082A-493F-AB58-AD04994C79A8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Entropía condicional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2792786-D1CF-42B7-BB82-9A1C15B42463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4457700" cy="666750"/>
          </a:xfrm>
          <a:prstGeom prst="roundRect">
            <a:avLst>
              <a:gd name="adj" fmla="val 17143"/>
            </a:avLst>
          </a:prstGeom>
          <a:solidFill>
            <a:srgbClr val="171E37"/>
          </a:solidFill>
          <a:ln w="9525">
            <a:solidFill>
              <a:srgbClr val="36405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9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H(Z|X) = −Σ z∈𝒵  P(z|X) log P(z|X)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681FE5F-345E-402E-855B-0116F51CAD22}"/>
              </a:ext>
            </a:extLst>
          </p:cNvPr>
          <p:cNvSpPr>
            <a:spLocks noGrp="1"/>
          </p:cNvSpPr>
          <p:nvPr/>
        </p:nvSpPr>
        <p:spPr>
          <a:xfrm>
            <a:off x="952500" y="345757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Para un contexto observado c: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F8F9707-EA88-4A8E-AA48-9EA2E7D6F3A2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4457700" cy="685800"/>
          </a:xfrm>
          <a:prstGeom prst="roundRect">
            <a:avLst>
              <a:gd name="adj" fmla="val 16667"/>
            </a:avLst>
          </a:prstGeom>
          <a:solidFill>
            <a:srgbClr val="171E37"/>
          </a:solidFill>
          <a:ln w="9525">
            <a:solidFill>
              <a:srgbClr val="36405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rPr>
              <a:t>IG(c) = H(Z|X=x) − H(Z|X=x,C=c)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4FCB6F-E8A3-40D9-91E1-2B329E6A3E3A}"/>
              </a:ext>
            </a:extLst>
          </p:cNvPr>
          <p:cNvSpPr>
            <a:spLocks noGrp="1"/>
          </p:cNvSpPr>
          <p:nvPr/>
        </p:nvSpPr>
        <p:spPr>
          <a:xfrm>
            <a:off x="952500" y="4705350"/>
            <a:ext cx="4238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IG(c) puede variar para cada contexto concreto.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E14CA30-5624-4C23-A472-7C86C6FAB075}"/>
              </a:ext>
            </a:extLst>
          </p:cNvPr>
          <p:cNvSpPr>
            <a:spLocks noGrp="1"/>
          </p:cNvSpPr>
          <p:nvPr/>
        </p:nvSpPr>
        <p:spPr>
          <a:xfrm>
            <a:off x="5962650" y="1962150"/>
            <a:ext cx="5543550" cy="3667125"/>
          </a:xfrm>
          <a:prstGeom prst="roundRect">
            <a:avLst>
              <a:gd name="adj" fmla="val 4156"/>
            </a:avLst>
          </a:prstGeom>
          <a:solidFill>
            <a:srgbClr val="202846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2323078-FFD1-4B0D-843A-A2DF725BFFE3}"/>
              </a:ext>
            </a:extLst>
          </p:cNvPr>
          <p:cNvSpPr>
            <a:spLocks noGrp="1"/>
          </p:cNvSpPr>
          <p:nvPr/>
        </p:nvSpPr>
        <p:spPr>
          <a:xfrm>
            <a:off x="6210300" y="2152650"/>
            <a:ext cx="504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Promedio sobre todos los contextos posibles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0B2BD02-799D-4028-9387-BEA6B4C50768}"/>
              </a:ext>
            </a:extLst>
          </p:cNvPr>
          <p:cNvSpPr>
            <a:spLocks noGrp="1"/>
          </p:cNvSpPr>
          <p:nvPr/>
        </p:nvSpPr>
        <p:spPr>
          <a:xfrm>
            <a:off x="6210300" y="2609850"/>
            <a:ext cx="5048250" cy="933450"/>
          </a:xfrm>
          <a:prstGeom prst="roundRect">
            <a:avLst>
              <a:gd name="adj" fmla="val 12245"/>
            </a:avLst>
          </a:prstGeom>
          <a:solidFill>
            <a:srgbClr val="171E37"/>
          </a:solidFill>
          <a:ln w="9525">
            <a:solidFill>
              <a:srgbClr val="36405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I(Z;C|X) = 𝔼[IG(C)]</a:t>
            </a:r>
          </a:p>
          <a:p>
            <a:pPr algn="ctr">
              <a:lnSpc>
                <a:spcPct val="95000"/>
              </a:lnSpc>
              <a:buNone/>
              <a:def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= H(Z|X) − H(Z|X,C)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276728B-BF73-42CB-8C2E-FF266C700B7F}"/>
              </a:ext>
            </a:extLst>
          </p:cNvPr>
          <p:cNvSpPr>
            <a:spLocks noGrp="1"/>
          </p:cNvSpPr>
          <p:nvPr/>
        </p:nvSpPr>
        <p:spPr>
          <a:xfrm>
            <a:off x="6496050" y="3829050"/>
            <a:ext cx="4476750" cy="714375"/>
          </a:xfrm>
          <a:prstGeom prst="roundRect">
            <a:avLst>
              <a:gd name="adj" fmla="val 16000"/>
            </a:avLst>
          </a:prstGeom>
          <a:solidFill>
            <a:srgbClr val="18263C"/>
          </a:solidFill>
          <a:ln w="9525">
            <a:solidFill>
              <a:srgbClr val="33D6C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325" b="1">
                <a:solidFill>
                  <a:srgbClr val="33D6C8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33D6C8"/>
                </a:solidFill>
                <a:latin typeface="Cambria Math"/>
                <a:ea typeface="Cambria Math"/>
                <a:cs typeface="Cambria Math"/>
              </a:rPr>
              <a:t>0 ≤ I(Z;C|X) ≤ H(Z|X)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1FB650-6AC0-4D11-A4CC-AA61477602C1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Conclusión: el contexto no puede eliminar más incertidumbre que la que existía. Si I≈0, su aporte medio es redundante.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E57C266-9A75-4655-8EA7-37120E2B869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Shannon (1948) · identidad de información mutua condicional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7D21076-BFBF-4085-8881-FA64A6472DF8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62617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95153E26-E086-4542-B85F-6835338AC50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A3 / DECISIÓN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BC316B-D9EE-4C9B-833F-C03726E9514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umbral de aclaración aparece al comparar dos riesgos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F0F15F-5D76-4700-B521-7DFD4AE9CBE4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D9DEEA"/>
          </a:solidFill>
          <a:ln w="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17D2ACE-C610-4BB0-8572-8C7602AA6D4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238750" cy="180975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1430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3DCE768-2E25-40EB-8A94-FEDE73630E0A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1123950" cy="266700"/>
          </a:xfrm>
          <a:prstGeom prst="roundRect">
            <a:avLst>
              <a:gd name="adj" fmla="val 50000"/>
            </a:avLst>
          </a:prstGeom>
          <a:solidFill>
            <a:srgbClr val="FFF8EF"/>
          </a:solidFill>
          <a:ln w="9525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4FB807-6C50-4398-B84D-4E8D49413B28}"/>
              </a:ext>
            </a:extLst>
          </p:cNvPr>
          <p:cNvSpPr>
            <a:spLocks noGrp="1"/>
          </p:cNvSpPr>
          <p:nvPr/>
        </p:nvSpPr>
        <p:spPr>
          <a:xfrm>
            <a:off x="962025" y="217170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C96C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6C0D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22622B-A568-4A4D-8D2A-5EF16CF4CB47}"/>
              </a:ext>
            </a:extLst>
          </p:cNvPr>
          <p:cNvSpPr>
            <a:spLocks noGrp="1"/>
          </p:cNvSpPr>
          <p:nvPr/>
        </p:nvSpPr>
        <p:spPr>
          <a:xfrm>
            <a:off x="971550" y="26098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Rᵣₑₛₚ = Lw (1 − pₘₐₓ)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4FC12B-EC10-4B8B-9D1C-092E30AA2BBB}"/>
              </a:ext>
            </a:extLst>
          </p:cNvPr>
          <p:cNvSpPr>
            <a:spLocks noGrp="1"/>
          </p:cNvSpPr>
          <p:nvPr/>
        </p:nvSpPr>
        <p:spPr>
          <a:xfrm>
            <a:off x="990600" y="3228975"/>
            <a:ext cx="462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pₘₐₓ = max sobre z de P(z|X,C) · Lw = pérdida de equivocarse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BF808E1-C885-451C-A028-2E8948A1AA75}"/>
              </a:ext>
            </a:extLst>
          </p:cNvPr>
          <p:cNvSpPr>
            <a:spLocks noGrp="1"/>
          </p:cNvSpPr>
          <p:nvPr/>
        </p:nvSpPr>
        <p:spPr>
          <a:xfrm>
            <a:off x="6267450" y="1952625"/>
            <a:ext cx="5238750" cy="1809750"/>
          </a:xfrm>
          <a:prstGeom prst="roundRect">
            <a:avLst>
              <a:gd name="adj" fmla="val 8421"/>
            </a:avLst>
          </a:prstGeom>
          <a:solidFill>
            <a:srgbClr val="E3F9F6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9D4937A-90A7-41E6-BE3D-0ABFEA02265B}"/>
              </a:ext>
            </a:extLst>
          </p:cNvPr>
          <p:cNvSpPr>
            <a:spLocks noGrp="1"/>
          </p:cNvSpPr>
          <p:nvPr/>
        </p:nvSpPr>
        <p:spPr>
          <a:xfrm>
            <a:off x="6496050" y="2143125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F0FFFC"/>
          </a:solidFill>
          <a:ln w="9525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305E52C-5526-4839-8FCF-62862E6F0C6D}"/>
              </a:ext>
            </a:extLst>
          </p:cNvPr>
          <p:cNvSpPr>
            <a:spLocks noGrp="1"/>
          </p:cNvSpPr>
          <p:nvPr/>
        </p:nvSpPr>
        <p:spPr>
          <a:xfrm>
            <a:off x="6543675" y="217170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6ADA1ED-3ABF-4279-AF81-DB0A51FB9A26}"/>
              </a:ext>
            </a:extLst>
          </p:cNvPr>
          <p:cNvSpPr>
            <a:spLocks noGrp="1"/>
          </p:cNvSpPr>
          <p:nvPr/>
        </p:nvSpPr>
        <p:spPr>
          <a:xfrm>
            <a:off x="6553200" y="26098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Rₐcₗₐᵣ = c(q) + Lw ε(q)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34DB965-EC1E-4F3B-BF9A-79ED8EAF4395}"/>
              </a:ext>
            </a:extLst>
          </p:cNvPr>
          <p:cNvSpPr>
            <a:spLocks noGrp="1"/>
          </p:cNvSpPr>
          <p:nvPr/>
        </p:nvSpPr>
        <p:spPr>
          <a:xfrm>
            <a:off x="6572250" y="3228975"/>
            <a:ext cx="462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c(q) = costo de preguntar · ε(q) = error residual después de la respuesta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FB89545-15E6-4FEA-8782-CAC67E7B3BFB}"/>
              </a:ext>
            </a:extLst>
          </p:cNvPr>
          <p:cNvSpPr>
            <a:spLocks noGrp="1"/>
          </p:cNvSpPr>
          <p:nvPr/>
        </p:nvSpPr>
        <p:spPr>
          <a:xfrm>
            <a:off x="3714750" y="40005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Aclarar si Rₐcₗₐᵣ &lt; Rᵣₑₛₚ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941AE77-BAB8-4ABF-B55C-C9A61560BA7F}"/>
              </a:ext>
            </a:extLst>
          </p:cNvPr>
          <p:cNvSpPr>
            <a:spLocks noGrp="1"/>
          </p:cNvSpPr>
          <p:nvPr/>
        </p:nvSpPr>
        <p:spPr>
          <a:xfrm>
            <a:off x="2571750" y="4400550"/>
            <a:ext cx="7048500" cy="952500"/>
          </a:xfrm>
          <a:prstGeom prst="roundRect">
            <a:avLst>
              <a:gd name="adj" fmla="val 12000"/>
            </a:avLst>
          </a:prstGeom>
          <a:solidFill>
            <a:srgbClr val="EEECFF"/>
          </a:solidFill>
          <a:ln w="9525">
            <a:solidFill>
              <a:srgbClr val="6C63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rPr>
              <a:t>c(q) + Lw ε(q) &lt; Lw(1 − pₘₐₓ)</a:t>
            </a:r>
          </a:p>
          <a:p>
            <a:pPr algn="ctr">
              <a:lnSpc>
                <a:spcPct val="95000"/>
              </a:lnSpc>
              <a:buNone/>
              <a:def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rPr>
              <a:t>⇒  pₘₐₓ &lt; 1 − c(q)/Lw − ε(q)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AEFEE22-BB2E-4335-95BE-2EB0A778109B}"/>
              </a:ext>
            </a:extLst>
          </p:cNvPr>
          <p:cNvSpPr>
            <a:spLocks noGrp="1"/>
          </p:cNvSpPr>
          <p:nvPr/>
        </p:nvSpPr>
        <p:spPr>
          <a:xfrm>
            <a:off x="1619250" y="5553075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pregunta óptima minimiza costo + riesgo posterior esperado:   q* = arg min sobre q de [c(q) + 𝔼 R*(X,C,A(q))]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677DCF5-0F21-4161-8283-EA1B10589F3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Derivación propia · pérdida 0–1 generalizada por costo de error e interacción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A61E361-9E47-462D-A334-7AF9A03A52E9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57942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FE4E379A-417D-4900-8F9D-B5C5EC7206C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A4 / RAG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627031-0410-481E-81E4-4C263EA7EB3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recuperación y la generación intervienen en operaciones distintas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152BEE-71F4-455C-906D-8563CF449387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D9DEEA"/>
          </a:solidFill>
          <a:ln w="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E753A6E-84AA-406B-8762-E085690EB164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135255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4407B7-11F1-4248-A306-308A9595677E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Marginalizar documentos y factorizar tokens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473914-E162-4800-9DB5-6368DFE912BF}"/>
              </a:ext>
            </a:extLst>
          </p:cNvPr>
          <p:cNvSpPr>
            <a:spLocks noGrp="1"/>
          </p:cNvSpPr>
          <p:nvPr/>
        </p:nvSpPr>
        <p:spPr>
          <a:xfrm>
            <a:off x="1333500" y="2419350"/>
            <a:ext cx="9525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P(Y=y₁:T | X,D) = Σ d∈D  P(d|X,D) · Π t=1…T  P(yₜ | y&lt;ₜ,X,d)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F0208A8-5A42-4345-ACFB-925BA9EA868F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5191125" cy="2333625"/>
          </a:xfrm>
          <a:prstGeom prst="roundRect">
            <a:avLst>
              <a:gd name="adj" fmla="val 6531"/>
            </a:avLst>
          </a:prstGeom>
          <a:solidFill>
            <a:srgbClr val="E3F9F6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4A8493B-0461-4E0F-BEE1-61928C5A68AA}"/>
              </a:ext>
            </a:extLst>
          </p:cNvPr>
          <p:cNvSpPr>
            <a:spLocks noGrp="1"/>
          </p:cNvSpPr>
          <p:nvPr/>
        </p:nvSpPr>
        <p:spPr>
          <a:xfrm>
            <a:off x="933450" y="3752850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Caso simbólico con dos documentos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DC7AB7-D274-4EA5-B04E-A75ED6903F18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4695825" cy="790575"/>
          </a:xfrm>
          <a:prstGeom prst="roundRect">
            <a:avLst>
              <a:gd name="adj" fmla="val 14458"/>
            </a:avLst>
          </a:prstGeom>
          <a:solidFill>
            <a:srgbClr val="F4FFFD"/>
          </a:solidFill>
          <a:ln w="9525">
            <a:solidFill>
              <a:srgbClr val="A8ECE5"/>
            </a:solidFill>
            <a:prstDash val="solid"/>
          </a:ln>
        </p:spPr>
        <p:txBody>
          <a:bodyPr wrap="square" lIns="95250" tIns="76200" rIns="95250" bIns="76200" anchor="ctr">
            <a:normAutofit fontScale="97418"/>
          </a:bodyPr>
          <a:lstStyle/>
          <a:p>
            <a:pPr algn="ctr">
              <a:lnSpc>
                <a:spcPct val="95000"/>
              </a:lnSpc>
              <a:buNone/>
              <a:def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P(Y*) = p·g₁ + (1−p)·g₂</a:t>
            </a:r>
          </a:p>
          <a:p>
            <a:pPr algn="ctr">
              <a:lnSpc>
                <a:spcPct val="95000"/>
              </a:lnSpc>
              <a:buNone/>
              <a:def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= g₂ + p(g₁−g₂)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65C3991-CBAD-482E-86E9-5CB1A0674BCB}"/>
              </a:ext>
            </a:extLst>
          </p:cNvPr>
          <p:cNvSpPr>
            <a:spLocks noGrp="1"/>
          </p:cNvSpPr>
          <p:nvPr/>
        </p:nvSpPr>
        <p:spPr>
          <a:xfrm>
            <a:off x="1047750" y="5153025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 = peso del documento d₁ · gᵢ = P(Y*|X,dᵢ)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0CCF839-B6B0-4D3E-B654-6199CFF199A3}"/>
              </a:ext>
            </a:extLst>
          </p:cNvPr>
          <p:cNvSpPr>
            <a:spLocks noGrp="1"/>
          </p:cNvSpPr>
          <p:nvPr/>
        </p:nvSpPr>
        <p:spPr>
          <a:xfrm>
            <a:off x="6219825" y="3571875"/>
            <a:ext cx="5286375" cy="2333625"/>
          </a:xfrm>
          <a:prstGeom prst="roundRect">
            <a:avLst>
              <a:gd name="adj" fmla="val 6531"/>
            </a:avLst>
          </a:prstGeom>
          <a:solidFill>
            <a:srgbClr val="EEECFF"/>
          </a:solidFill>
          <a:ln w="1143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6099384-593D-4F3D-8668-AF6B6E6C6F2B}"/>
              </a:ext>
            </a:extLst>
          </p:cNvPr>
          <p:cNvSpPr>
            <a:spLocks noGrp="1"/>
          </p:cNvSpPr>
          <p:nvPr/>
        </p:nvSpPr>
        <p:spPr>
          <a:xfrm>
            <a:off x="6467475" y="37528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Sensibilidad marginal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7E71677-3EFE-4C19-8675-02818DC5BB4E}"/>
              </a:ext>
            </a:extLst>
          </p:cNvPr>
          <p:cNvSpPr>
            <a:spLocks noGrp="1"/>
          </p:cNvSpPr>
          <p:nvPr/>
        </p:nvSpPr>
        <p:spPr>
          <a:xfrm>
            <a:off x="6467475" y="4162425"/>
            <a:ext cx="4791075" cy="790575"/>
          </a:xfrm>
          <a:prstGeom prst="roundRect">
            <a:avLst>
              <a:gd name="adj" fmla="val 14458"/>
            </a:avLst>
          </a:prstGeom>
          <a:solidFill>
            <a:srgbClr val="FAF9FF"/>
          </a:solidFill>
          <a:ln w="9525">
            <a:solidFill>
              <a:srgbClr val="D7D2FF"/>
            </a:solidFill>
            <a:prstDash val="solid"/>
          </a:ln>
        </p:spPr>
        <p:txBody>
          <a:bodyPr wrap="square" lIns="95250" tIns="76200" rIns="95250" bIns="76200" anchor="ctr">
            <a:normAutofit fontScale="93939"/>
          </a:bodyPr>
          <a:lstStyle/>
          <a:p>
            <a:pPr algn="ctr">
              <a:lnSpc>
                <a:spcPct val="95000"/>
              </a:lnSpc>
              <a:buNone/>
              <a:def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∂P(Y*)/∂p = g₁−g₂</a:t>
            </a:r>
          </a:p>
          <a:p>
            <a:pPr algn="ctr">
              <a:lnSpc>
                <a:spcPct val="95000"/>
              </a:lnSpc>
              <a:buNone/>
              <a:def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∂P(Y*)/∂g₁ = 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91D767F-CE43-4B8A-A826-2C8305F0ADA6}"/>
              </a:ext>
            </a:extLst>
          </p:cNvPr>
          <p:cNvSpPr>
            <a:spLocks noGrp="1"/>
          </p:cNvSpPr>
          <p:nvPr/>
        </p:nvSpPr>
        <p:spPr>
          <a:xfrm>
            <a:off x="6629400" y="51054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 g₁−g₂ es grande y p es pequeño, reasignar masa al documento correcto puede rendir más que refinar el generador.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AAE3A17-A121-4BB1-A911-524ACD1BC6C5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Lewis et al. (2020) · descomposición propia de sensibilidad de una mezcla RAG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08B333D-1528-4642-A792-C84E5296727D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71867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B587CCAA-E844-4576-8259-E1CA9282EA6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A5 / EFECTO LOCAL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D25C75-2A50-4583-A1CB-A2258B9F183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84222"/>
          </a:bodyPr>
          <a:lstStyle/>
          <a:p>
            <a:pPr algn="l">
              <a:lnSpc>
                <a:spcPct val="92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contexto concreto puede aumentar la incertidumbre aunque el promedio disminuya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04CAB4-DC9E-495A-BF7E-9D4541DB347D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303958"/>
          </a:solidFill>
          <a:ln w="0">
            <a:solidFill>
              <a:srgbClr val="30395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DE3DC06-0E1D-470F-9422-DCABE37E454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143500" cy="3762375"/>
          </a:xfrm>
          <a:prstGeom prst="roundRect">
            <a:avLst>
              <a:gd name="adj" fmla="val 4051"/>
            </a:avLst>
          </a:prstGeom>
          <a:solidFill>
            <a:srgbClr val="202846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558253-EE17-464C-89D5-AF2290C377AC}"/>
              </a:ext>
            </a:extLst>
          </p:cNvPr>
          <p:cNvSpPr>
            <a:spLocks noGrp="1"/>
          </p:cNvSpPr>
          <p:nvPr/>
        </p:nvSpPr>
        <p:spPr>
          <a:xfrm>
            <a:off x="933450" y="2143125"/>
            <a:ext cx="4572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La desigualdad es un promedio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A2D78F3-91DD-4EFE-B12C-A473DFEC2755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4419600" cy="666750"/>
          </a:xfrm>
          <a:prstGeom prst="roundRect">
            <a:avLst>
              <a:gd name="adj" fmla="val 17143"/>
            </a:avLst>
          </a:prstGeom>
          <a:solidFill>
            <a:srgbClr val="171E37"/>
          </a:solidFill>
          <a:ln w="9525">
            <a:solidFill>
              <a:srgbClr val="36405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4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H(Z|X,C) ≤ H(Z|X)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70A796-7245-4898-B615-D2340ACE10FC}"/>
              </a:ext>
            </a:extLst>
          </p:cNvPr>
          <p:cNvSpPr>
            <a:spLocks noGrp="1"/>
          </p:cNvSpPr>
          <p:nvPr/>
        </p:nvSpPr>
        <p:spPr>
          <a:xfrm>
            <a:off x="1009650" y="359092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Pero para un valor específico c: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EC8FCD3-EC4F-4837-AF83-008A27C315D5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4419600" cy="638175"/>
          </a:xfrm>
          <a:prstGeom prst="roundRect">
            <a:avLst>
              <a:gd name="adj" fmla="val 17910"/>
            </a:avLst>
          </a:prstGeom>
          <a:solidFill>
            <a:srgbClr val="171E37"/>
          </a:solidFill>
          <a:ln w="9525">
            <a:solidFill>
              <a:srgbClr val="36405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025" b="0">
                <a:solidFill>
                  <a:srgbClr val="F5A14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5A14A"/>
                </a:solidFill>
                <a:latin typeface="Cambria Math"/>
                <a:ea typeface="Cambria Math"/>
                <a:cs typeface="Cambria Math"/>
              </a:rPr>
              <a:t>ΔH(c)=H(Z|x,c)−H(Z|x)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05E7192-F157-4AB6-BF09-17EAB442F3E6}"/>
              </a:ext>
            </a:extLst>
          </p:cNvPr>
          <p:cNvSpPr>
            <a:spLocks noGrp="1"/>
          </p:cNvSpPr>
          <p:nvPr/>
        </p:nvSpPr>
        <p:spPr>
          <a:xfrm>
            <a:off x="1028700" y="4857750"/>
            <a:ext cx="445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Nada impide que ΔH(c)&gt;0 para una observación particular.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B791FB5-654D-4065-9BD3-FF85299A7CC9}"/>
              </a:ext>
            </a:extLst>
          </p:cNvPr>
          <p:cNvSpPr>
            <a:spLocks noGrp="1"/>
          </p:cNvSpPr>
          <p:nvPr/>
        </p:nvSpPr>
        <p:spPr>
          <a:xfrm>
            <a:off x="6172200" y="1952625"/>
            <a:ext cx="5334000" cy="3762375"/>
          </a:xfrm>
          <a:prstGeom prst="roundRect">
            <a:avLst>
              <a:gd name="adj" fmla="val 4051"/>
            </a:avLst>
          </a:prstGeom>
          <a:solidFill>
            <a:srgbClr val="202846"/>
          </a:solidFill>
          <a:ln w="11430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53848E-42FD-4529-BA21-60A8C8B33CCF}"/>
              </a:ext>
            </a:extLst>
          </p:cNvPr>
          <p:cNvSpPr>
            <a:spLocks noGrp="1"/>
          </p:cNvSpPr>
          <p:nvPr/>
        </p:nvSpPr>
        <p:spPr>
          <a:xfrm>
            <a:off x="6419850" y="2143125"/>
            <a:ext cx="4838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Cuándo el contexto vuelve binaria la duda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16A0C9B-8156-4B24-A6B6-B0857BC7C453}"/>
              </a:ext>
            </a:extLst>
          </p:cNvPr>
          <p:cNvSpPr>
            <a:spLocks noGrp="1"/>
          </p:cNvSpPr>
          <p:nvPr/>
        </p:nvSpPr>
        <p:spPr>
          <a:xfrm>
            <a:off x="6419850" y="2647950"/>
            <a:ext cx="4838700" cy="666750"/>
          </a:xfrm>
          <a:prstGeom prst="roundRect">
            <a:avLst>
              <a:gd name="adj" fmla="val 17143"/>
            </a:avLst>
          </a:prstGeom>
          <a:solidFill>
            <a:srgbClr val="171E37"/>
          </a:solidFill>
          <a:ln w="9525">
            <a:solidFill>
              <a:srgbClr val="36405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P(Z₁|x,c) = πℓ₁ / [πℓ₁ + (1−π)ℓ₂]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622F891-9542-4706-9F8E-D0E56BD1EEFF}"/>
              </a:ext>
            </a:extLst>
          </p:cNvPr>
          <p:cNvSpPr>
            <a:spLocks noGrp="1"/>
          </p:cNvSpPr>
          <p:nvPr/>
        </p:nvSpPr>
        <p:spPr>
          <a:xfrm>
            <a:off x="6667500" y="3457575"/>
            <a:ext cx="434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donde π=P(Z₁|x) y ℓᵢ=P(c|Zᵢ,x)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17ACBA7-ED1D-4E1E-81B1-14679C849AE9}"/>
              </a:ext>
            </a:extLst>
          </p:cNvPr>
          <p:cNvSpPr>
            <a:spLocks noGrp="1"/>
          </p:cNvSpPr>
          <p:nvPr/>
        </p:nvSpPr>
        <p:spPr>
          <a:xfrm>
            <a:off x="6419850" y="3943350"/>
            <a:ext cx="4838700" cy="723900"/>
          </a:xfrm>
          <a:prstGeom prst="roundRect">
            <a:avLst>
              <a:gd name="adj" fmla="val 15789"/>
            </a:avLst>
          </a:prstGeom>
          <a:solidFill>
            <a:srgbClr val="241F30"/>
          </a:solidFill>
          <a:ln w="9525">
            <a:solidFill>
              <a:srgbClr val="F5A14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00" b="0">
                <a:solidFill>
                  <a:srgbClr val="F5A14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F5A14A"/>
                </a:solidFill>
                <a:latin typeface="Cambria Math"/>
                <a:ea typeface="Cambria Math"/>
                <a:cs typeface="Cambria Math"/>
              </a:rPr>
              <a:t>πℓ₁ = (1−π)ℓ₂  ⇒  P(Z₁|x,c)=P(Z₂|x,c)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B7E9406-5090-4744-ACA8-B547B3D1612E}"/>
              </a:ext>
            </a:extLst>
          </p:cNvPr>
          <p:cNvSpPr>
            <a:spLocks noGrp="1"/>
          </p:cNvSpPr>
          <p:nvPr/>
        </p:nvSpPr>
        <p:spPr>
          <a:xfrm>
            <a:off x="6572250" y="4876800"/>
            <a:ext cx="4533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El nuevo contexto puede equilibrar las hipótesis y llevar el posterior hacia máxima ambigüedad.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19F2619-8D85-458A-A187-CA505F89E27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Identidad de entropía condicional · derivación Bayesiana para dos hipótesis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62187DB-9D7F-47AE-BBD2-785814D12296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27711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32D14589-56C4-4945-8C80-6137C06F45C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A6 / SELECCIÓN DE CONTEXTO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BD2061B-05E2-4514-A0F5-589653421F5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información marginal permite medir utilidad y redundancia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524310-0E1B-4F26-8616-45FF9C104634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D9DEEA"/>
          </a:solidFill>
          <a:ln w="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AC9BF41-3754-4731-83EC-F19D37D2EB46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3352800" cy="3429000"/>
          </a:xfrm>
          <a:prstGeom prst="roundRect">
            <a:avLst>
              <a:gd name="adj" fmla="val 4545"/>
            </a:avLst>
          </a:prstGeom>
          <a:solidFill>
            <a:srgbClr val="E3F9F6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00DD552-D0F7-4F89-A0C0-48BB0C684CD3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11239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31F8F5-34C7-4C1B-BBC9-3CC6B3508F5C}"/>
              </a:ext>
            </a:extLst>
          </p:cNvPr>
          <p:cNvSpPr>
            <a:spLocks noGrp="1"/>
          </p:cNvSpPr>
          <p:nvPr/>
        </p:nvSpPr>
        <p:spPr>
          <a:xfrm>
            <a:off x="942975" y="2238375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DENSIDAD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ADC4264-F0C6-47A7-901D-46916E468A21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29337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ρ(C) = I(Y;C|X) / |C|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87B9485-E815-4F2F-84BB-2BD9E04DB687}"/>
              </a:ext>
            </a:extLst>
          </p:cNvPr>
          <p:cNvSpPr>
            <a:spLocks noGrp="1"/>
          </p:cNvSpPr>
          <p:nvPr/>
        </p:nvSpPr>
        <p:spPr>
          <a:xfrm>
            <a:off x="952500" y="3971925"/>
            <a:ext cx="2819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Compara información útil con el costo de ventana. Un bloque largo puede tener alta información total y baja densidad.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88B41A-AC24-4BE8-AB88-D23802F6D924}"/>
              </a:ext>
            </a:extLst>
          </p:cNvPr>
          <p:cNvSpPr>
            <a:spLocks noGrp="1"/>
          </p:cNvSpPr>
          <p:nvPr/>
        </p:nvSpPr>
        <p:spPr>
          <a:xfrm>
            <a:off x="1085850" y="5191125"/>
            <a:ext cx="2552700" cy="28575"/>
          </a:xfrm>
          <a:prstGeom prst="rect">
            <a:avLst/>
          </a:prstGeom>
          <a:solidFill>
            <a:srgbClr val="33D6C8"/>
          </a:solidFill>
          <a:ln w="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60C8FD6-7E7B-487E-BF74-2B56D83B9F3E}"/>
              </a:ext>
            </a:extLst>
          </p:cNvPr>
          <p:cNvSpPr>
            <a:spLocks noGrp="1"/>
          </p:cNvSpPr>
          <p:nvPr/>
        </p:nvSpPr>
        <p:spPr>
          <a:xfrm>
            <a:off x="4343400" y="2019300"/>
            <a:ext cx="3352800" cy="3429000"/>
          </a:xfrm>
          <a:prstGeom prst="roundRect">
            <a:avLst>
              <a:gd name="adj" fmla="val 4545"/>
            </a:avLst>
          </a:prstGeom>
          <a:solidFill>
            <a:srgbClr val="EEECFF"/>
          </a:solidFill>
          <a:ln w="1143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960A504-487A-4E7B-8384-61699F88E594}"/>
              </a:ext>
            </a:extLst>
          </p:cNvPr>
          <p:cNvSpPr>
            <a:spLocks noGrp="1"/>
          </p:cNvSpPr>
          <p:nvPr/>
        </p:nvSpPr>
        <p:spPr>
          <a:xfrm>
            <a:off x="4552950" y="2209800"/>
            <a:ext cx="11239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67B8621-40C6-4193-B3E1-4A0FB048DB56}"/>
              </a:ext>
            </a:extLst>
          </p:cNvPr>
          <p:cNvSpPr>
            <a:spLocks noGrp="1"/>
          </p:cNvSpPr>
          <p:nvPr/>
        </p:nvSpPr>
        <p:spPr>
          <a:xfrm>
            <a:off x="4600575" y="2238375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SELECCIÓN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44C375D-C45B-4957-9738-149001FA8925}"/>
              </a:ext>
            </a:extLst>
          </p:cNvPr>
          <p:cNvSpPr>
            <a:spLocks noGrp="1"/>
          </p:cNvSpPr>
          <p:nvPr/>
        </p:nvSpPr>
        <p:spPr>
          <a:xfrm>
            <a:off x="4552950" y="2762250"/>
            <a:ext cx="29337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C* = arg max { I(Y;C|X) − λ|C| : C∈𝒞 }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F30A35-A75A-4FAF-9B83-CE4B64862C60}"/>
              </a:ext>
            </a:extLst>
          </p:cNvPr>
          <p:cNvSpPr>
            <a:spLocks noGrp="1"/>
          </p:cNvSpPr>
          <p:nvPr/>
        </p:nvSpPr>
        <p:spPr>
          <a:xfrm>
            <a:off x="4610100" y="3971925"/>
            <a:ext cx="2819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λ traduce el costo de tokens, latencia o atención. El óptimo equilibra valor informativo y presupuesto.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383CC1-5336-4CE6-8352-0371A73E4E8B}"/>
              </a:ext>
            </a:extLst>
          </p:cNvPr>
          <p:cNvSpPr>
            <a:spLocks noGrp="1"/>
          </p:cNvSpPr>
          <p:nvPr/>
        </p:nvSpPr>
        <p:spPr>
          <a:xfrm>
            <a:off x="4743450" y="5191125"/>
            <a:ext cx="2552700" cy="28575"/>
          </a:xfrm>
          <a:prstGeom prst="rect">
            <a:avLst/>
          </a:prstGeom>
          <a:solidFill>
            <a:srgbClr val="6C63FF"/>
          </a:solidFill>
          <a:ln w="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9ED6BD2-D059-4673-A039-B1688C00CCD5}"/>
              </a:ext>
            </a:extLst>
          </p:cNvPr>
          <p:cNvSpPr>
            <a:spLocks noGrp="1"/>
          </p:cNvSpPr>
          <p:nvPr/>
        </p:nvSpPr>
        <p:spPr>
          <a:xfrm>
            <a:off x="8001000" y="2019300"/>
            <a:ext cx="3352800" cy="3429000"/>
          </a:xfrm>
          <a:prstGeom prst="roundRect">
            <a:avLst>
              <a:gd name="adj" fmla="val 4545"/>
            </a:avLst>
          </a:prstGeom>
          <a:solidFill>
            <a:srgbClr val="FFF3E6"/>
          </a:solidFill>
          <a:ln w="11430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B9E8D74-2CFD-4AB2-8B8D-007BE11DCAF9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11239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3CC6BB5-6BEC-4A4D-BA86-705F1B5BEB57}"/>
              </a:ext>
            </a:extLst>
          </p:cNvPr>
          <p:cNvSpPr>
            <a:spLocks noGrp="1"/>
          </p:cNvSpPr>
          <p:nvPr/>
        </p:nvSpPr>
        <p:spPr>
          <a:xfrm>
            <a:off x="8258175" y="2238375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REDUNDANCIA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35F6766-E76D-4250-96B3-3E208041C884}"/>
              </a:ext>
            </a:extLst>
          </p:cNvPr>
          <p:cNvSpPr>
            <a:spLocks noGrp="1"/>
          </p:cNvSpPr>
          <p:nvPr/>
        </p:nvSpPr>
        <p:spPr>
          <a:xfrm>
            <a:off x="8210550" y="2762250"/>
            <a:ext cx="29337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65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I(Y;C₁,C₂|X)</a:t>
            </a:r>
          </a:p>
          <a:p>
            <a:pPr algn="ctr">
              <a:lnSpc>
                <a:spcPct val="95000"/>
              </a:lnSpc>
              <a:buNone/>
              <a:defRPr sz="165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= I(Y;C₁|X)+I(Y;C₂|X,C₁)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FCF4FB5-EA30-446E-81DD-DB2D124E1F52}"/>
              </a:ext>
            </a:extLst>
          </p:cNvPr>
          <p:cNvSpPr>
            <a:spLocks noGrp="1"/>
          </p:cNvSpPr>
          <p:nvPr/>
        </p:nvSpPr>
        <p:spPr>
          <a:xfrm>
            <a:off x="8267700" y="3971925"/>
            <a:ext cx="2819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 el segundo término es cercano a cero, C₂ repite lo ya explicado por C₁ y aporta poco valor marginal.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97EFDFC-3215-41D9-929A-85864BB93FA9}"/>
              </a:ext>
            </a:extLst>
          </p:cNvPr>
          <p:cNvSpPr>
            <a:spLocks noGrp="1"/>
          </p:cNvSpPr>
          <p:nvPr/>
        </p:nvSpPr>
        <p:spPr>
          <a:xfrm>
            <a:off x="8401050" y="5191125"/>
            <a:ext cx="2552700" cy="28575"/>
          </a:xfrm>
          <a:prstGeom prst="rect">
            <a:avLst/>
          </a:prstGeom>
          <a:solidFill>
            <a:srgbClr val="F5A14A"/>
          </a:solidFill>
          <a:ln w="0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288A928-7C8C-4A27-9408-F1422AFD69F1}"/>
              </a:ext>
            </a:extLst>
          </p:cNvPr>
          <p:cNvSpPr>
            <a:spLocks noGrp="1"/>
          </p:cNvSpPr>
          <p:nvPr/>
        </p:nvSpPr>
        <p:spPr>
          <a:xfrm>
            <a:off x="1714500" y="56959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8728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Conclusión operativa: priorizar el siguiente bloque con mayor información condicional, no el más parecido ni el más largo.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D8EA085-3BFE-404A-AC32-053AFE17D418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Regla de la cadena de información mutua · objetivo regularizado por longitud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CFE2ED7-B3A9-4E31-B1E2-DBB5F4745C58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852577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8FCBE298-898E-4D10-A35B-5DDC78953F8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A7 / LÍMITE TEÓRICO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5AA8239-A58B-4E1F-83D2-F272621EEBD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procesamiento no crea información de intención que nunca ingresó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B203051-8712-42FD-A73B-F9A94FB4C242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303958"/>
          </a:solidFill>
          <a:ln w="0">
            <a:solidFill>
              <a:srgbClr val="30395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68F41BE-9DF1-4127-BF68-29A54C116362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1657350" cy="990600"/>
          </a:xfrm>
          <a:prstGeom prst="roundRect">
            <a:avLst>
              <a:gd name="adj" fmla="val 15385"/>
            </a:avLst>
          </a:prstGeom>
          <a:solidFill>
            <a:srgbClr val="232B49"/>
          </a:solidFill>
          <a:ln w="14288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43AAE3-12D1-436B-AF4F-DB38D7F49D18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Z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intención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56BA389E-1AB6-4E78-B6CC-DA3A27C9F7E1}"/>
              </a:ext>
            </a:extLst>
          </p:cNvPr>
          <p:cNvSpPr>
            <a:spLocks noGrp="1"/>
          </p:cNvSpPr>
          <p:nvPr/>
        </p:nvSpPr>
        <p:spPr>
          <a:xfrm>
            <a:off x="2571750" y="2447925"/>
            <a:ext cx="552450" cy="304800"/>
          </a:xfrm>
          <a:prstGeom prst="rightArrow">
            <a:avLst/>
          </a:prstGeom>
          <a:solidFill>
            <a:srgbClr val="46506F"/>
          </a:solidFill>
          <a:ln w="9525">
            <a:solidFill>
              <a:srgbClr val="6570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E961769-225C-4D0D-A5DE-6097C3F1FECC}"/>
              </a:ext>
            </a:extLst>
          </p:cNvPr>
          <p:cNvSpPr>
            <a:spLocks noGrp="1"/>
          </p:cNvSpPr>
          <p:nvPr/>
        </p:nvSpPr>
        <p:spPr>
          <a:xfrm>
            <a:off x="3257550" y="2114550"/>
            <a:ext cx="1657350" cy="990600"/>
          </a:xfrm>
          <a:prstGeom prst="roundRect">
            <a:avLst>
              <a:gd name="adj" fmla="val 15385"/>
            </a:avLst>
          </a:prstGeom>
          <a:solidFill>
            <a:srgbClr val="232B49"/>
          </a:solidFill>
          <a:ln w="14288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D202F6-D9D1-4CAC-9333-708642C8DB62}"/>
              </a:ext>
            </a:extLst>
          </p:cNvPr>
          <p:cNvSpPr>
            <a:spLocks noGrp="1"/>
          </p:cNvSpPr>
          <p:nvPr/>
        </p:nvSpPr>
        <p:spPr>
          <a:xfrm>
            <a:off x="3371850" y="228600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5BC1D561-B712-4D44-994B-437F59E8ABB1}"/>
              </a:ext>
            </a:extLst>
          </p:cNvPr>
          <p:cNvSpPr>
            <a:spLocks noGrp="1"/>
          </p:cNvSpPr>
          <p:nvPr/>
        </p:nvSpPr>
        <p:spPr>
          <a:xfrm>
            <a:off x="5048250" y="2447925"/>
            <a:ext cx="552450" cy="304800"/>
          </a:xfrm>
          <a:prstGeom prst="rightArrow">
            <a:avLst/>
          </a:prstGeom>
          <a:solidFill>
            <a:srgbClr val="46506F"/>
          </a:solidFill>
          <a:ln w="9525">
            <a:solidFill>
              <a:srgbClr val="6570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3D6FA7A-C28B-4F63-B6D0-0B1B18AB8F17}"/>
              </a:ext>
            </a:extLst>
          </p:cNvPr>
          <p:cNvSpPr>
            <a:spLocks noGrp="1"/>
          </p:cNvSpPr>
          <p:nvPr/>
        </p:nvSpPr>
        <p:spPr>
          <a:xfrm>
            <a:off x="5734050" y="2114550"/>
            <a:ext cx="1657350" cy="990600"/>
          </a:xfrm>
          <a:prstGeom prst="roundRect">
            <a:avLst>
              <a:gd name="adj" fmla="val 15385"/>
            </a:avLst>
          </a:prstGeom>
          <a:solidFill>
            <a:srgbClr val="232B49"/>
          </a:solidFill>
          <a:ln w="14288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0027D6F-0905-4067-A922-AC7E04D45058}"/>
              </a:ext>
            </a:extLst>
          </p:cNvPr>
          <p:cNvSpPr>
            <a:spLocks noGrp="1"/>
          </p:cNvSpPr>
          <p:nvPr/>
        </p:nvSpPr>
        <p:spPr>
          <a:xfrm>
            <a:off x="5848350" y="228600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razonamiento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2FEC2C2A-BBAD-49D2-8C53-63CBE6DE87E7}"/>
              </a:ext>
            </a:extLst>
          </p:cNvPr>
          <p:cNvSpPr>
            <a:spLocks noGrp="1"/>
          </p:cNvSpPr>
          <p:nvPr/>
        </p:nvSpPr>
        <p:spPr>
          <a:xfrm>
            <a:off x="7524750" y="2447925"/>
            <a:ext cx="552450" cy="304800"/>
          </a:xfrm>
          <a:prstGeom prst="rightArrow">
            <a:avLst/>
          </a:prstGeom>
          <a:solidFill>
            <a:srgbClr val="46506F"/>
          </a:solidFill>
          <a:ln w="9525">
            <a:solidFill>
              <a:srgbClr val="6570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F1E5A7B-6AA0-4A05-AC30-228A4AD74572}"/>
              </a:ext>
            </a:extLst>
          </p:cNvPr>
          <p:cNvSpPr>
            <a:spLocks noGrp="1"/>
          </p:cNvSpPr>
          <p:nvPr/>
        </p:nvSpPr>
        <p:spPr>
          <a:xfrm>
            <a:off x="8210550" y="2114550"/>
            <a:ext cx="1657350" cy="990600"/>
          </a:xfrm>
          <a:prstGeom prst="roundRect">
            <a:avLst>
              <a:gd name="adj" fmla="val 15385"/>
            </a:avLst>
          </a:prstGeom>
          <a:solidFill>
            <a:srgbClr val="232B49"/>
          </a:solidFill>
          <a:ln w="14288">
            <a:solidFill>
              <a:srgbClr val="49C98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A9374DD-917A-40D7-BA60-57A8B31FC522}"/>
              </a:ext>
            </a:extLst>
          </p:cNvPr>
          <p:cNvSpPr>
            <a:spLocks noGrp="1"/>
          </p:cNvSpPr>
          <p:nvPr/>
        </p:nvSpPr>
        <p:spPr>
          <a:xfrm>
            <a:off x="8324850" y="228600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Y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71A5955-83B5-46A3-A600-CE15272751E6}"/>
              </a:ext>
            </a:extLst>
          </p:cNvPr>
          <p:cNvSpPr>
            <a:spLocks noGrp="1"/>
          </p:cNvSpPr>
          <p:nvPr/>
        </p:nvSpPr>
        <p:spPr>
          <a:xfrm>
            <a:off x="8896350" y="3248025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Cadena de Markov condicionada en X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ACCD9B4-CEBB-4420-AA66-E9B68A54B638}"/>
              </a:ext>
            </a:extLst>
          </p:cNvPr>
          <p:cNvSpPr>
            <a:spLocks noGrp="1"/>
          </p:cNvSpPr>
          <p:nvPr/>
        </p:nvSpPr>
        <p:spPr>
          <a:xfrm>
            <a:off x="2400300" y="3638550"/>
            <a:ext cx="7391400" cy="704850"/>
          </a:xfrm>
          <a:prstGeom prst="roundRect">
            <a:avLst>
              <a:gd name="adj" fmla="val 16216"/>
            </a:avLst>
          </a:prstGeom>
          <a:solidFill>
            <a:srgbClr val="18213B"/>
          </a:solidFill>
          <a:ln w="9525">
            <a:solidFill>
              <a:srgbClr val="33D6C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325" b="1">
                <a:solidFill>
                  <a:srgbClr val="33D6C8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33D6C8"/>
                </a:solidFill>
                <a:latin typeface="Cambria Math"/>
                <a:ea typeface="Cambria Math"/>
                <a:cs typeface="Cambria Math"/>
              </a:rPr>
              <a:t>I(Z;Y|X) ≤ I(Z;R|X) ≤ I(Z;C|X)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E9E2C45-A270-4165-A623-A36C42279281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5219700" cy="1285875"/>
          </a:xfrm>
          <a:prstGeom prst="roundRect">
            <a:avLst>
              <a:gd name="adj" fmla="val 11852"/>
            </a:avLst>
          </a:prstGeom>
          <a:solidFill>
            <a:srgbClr val="202846"/>
          </a:solidFill>
          <a:ln w="11430">
            <a:solidFill>
              <a:srgbClr val="FF647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74F45A1-7643-45FA-9737-1DE31461B745}"/>
              </a:ext>
            </a:extLst>
          </p:cNvPr>
          <p:cNvSpPr>
            <a:spLocks noGrp="1"/>
          </p:cNvSpPr>
          <p:nvPr/>
        </p:nvSpPr>
        <p:spPr>
          <a:xfrm>
            <a:off x="914400" y="4857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Límite de error (Fano)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705F603-27B4-4C02-979A-A76B5F3028EE}"/>
              </a:ext>
            </a:extLst>
          </p:cNvPr>
          <p:cNvSpPr>
            <a:spLocks noGrp="1"/>
          </p:cNvSpPr>
          <p:nvPr/>
        </p:nvSpPr>
        <p:spPr>
          <a:xfrm>
            <a:off x="914400" y="5191125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Pₑ ≥ [H(Z|O) − 1] / log₂K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6FF6C48-E8BB-4CB8-B8CC-B1CEFCA3ED41}"/>
              </a:ext>
            </a:extLst>
          </p:cNvPr>
          <p:cNvSpPr>
            <a:spLocks noGrp="1"/>
          </p:cNvSpPr>
          <p:nvPr/>
        </p:nvSpPr>
        <p:spPr>
          <a:xfrm>
            <a:off x="6286500" y="4705350"/>
            <a:ext cx="5219700" cy="1285875"/>
          </a:xfrm>
          <a:prstGeom prst="roundRect">
            <a:avLst>
              <a:gd name="adj" fmla="val 11852"/>
            </a:avLst>
          </a:prstGeom>
          <a:solidFill>
            <a:srgbClr val="202846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B7955E7-7444-4549-807E-A8DB7AF76912}"/>
              </a:ext>
            </a:extLst>
          </p:cNvPr>
          <p:cNvSpPr>
            <a:spLocks noGrp="1"/>
          </p:cNvSpPr>
          <p:nvPr/>
        </p:nvSpPr>
        <p:spPr>
          <a:xfrm>
            <a:off x="6515100" y="4857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Por qué preguntar sí ayuda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A7C5F2B-3629-4225-8FCB-23970E0FBDE3}"/>
              </a:ext>
            </a:extLst>
          </p:cNvPr>
          <p:cNvSpPr>
            <a:spLocks noGrp="1"/>
          </p:cNvSpPr>
          <p:nvPr/>
        </p:nvSpPr>
        <p:spPr>
          <a:xfrm>
            <a:off x="6515100" y="5191125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6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I(Z;C,A(q)|X)=I(Z;C|X)+I(Z;A(q)|X,C)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F8244D6-7DC9-4725-88DD-81A32BEBCDA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Desigualdad de procesamiento de datos · desigualdad de Fano · regla de la cadena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1FF8276-DA34-4649-A22C-AF06F0C3B370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21141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C08781BA-B55E-4355-B77D-E6B66B00FD5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A8 / LECTURA DE EVIDENCIA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926F09-6483-44B3-98BE-08A00618F17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brecha de ambigüedad puede analizarse sin depender de porcentajes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E2C8C7-835F-426C-A5AA-57C08E6A324F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D9DEEA"/>
          </a:solidFill>
          <a:ln w="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3F3B354-E325-4C19-AA75-FBA797CFC2A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95875" cy="3857625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99D2D07-5F03-40BA-BCF5-C2D9D6189B95}"/>
              </a:ext>
            </a:extLst>
          </p:cNvPr>
          <p:cNvSpPr>
            <a:spLocks noGrp="1"/>
          </p:cNvSpPr>
          <p:nvPr/>
        </p:nvSpPr>
        <p:spPr>
          <a:xfrm>
            <a:off x="933450" y="2143125"/>
            <a:ext cx="4572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Definiciones simbólicas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6D8BEB3-72D7-44E8-ACBF-BFBDDDF37BE9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600575" cy="838200"/>
          </a:xfrm>
          <a:prstGeom prst="roundRect">
            <a:avLst>
              <a:gd name="adj" fmla="val 13636"/>
            </a:avLst>
          </a:prstGeom>
          <a:solidFill>
            <a:srgbClr val="EEECFF"/>
          </a:solidFill>
          <a:ln w="9525">
            <a:solidFill>
              <a:srgbClr val="D7D2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Qₙ⁰, Qₐ⁰ : calidad sin contexto</a:t>
            </a:r>
          </a:p>
          <a:p>
            <a:pPr algn="ctr">
              <a:lnSpc>
                <a:spcPct val="95000"/>
              </a:lnSpc>
              <a:buNone/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Qₙᶜ, Qₐᶜ : calidad con contexto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0ED35D-E025-494B-AEBF-B2FFED10AEA1}"/>
              </a:ext>
            </a:extLst>
          </p:cNvPr>
          <p:cNvSpPr>
            <a:spLocks noGrp="1"/>
          </p:cNvSpPr>
          <p:nvPr/>
        </p:nvSpPr>
        <p:spPr>
          <a:xfrm>
            <a:off x="1047750" y="3552825"/>
            <a:ext cx="436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 = consultas no ambiguas · A = consultas ambiguas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5B57ACD-9DDC-414B-A7E1-5A732FF953A7}"/>
              </a:ext>
            </a:extLst>
          </p:cNvPr>
          <p:cNvSpPr>
            <a:spLocks noGrp="1"/>
          </p:cNvSpPr>
          <p:nvPr/>
        </p:nvSpPr>
        <p:spPr>
          <a:xfrm>
            <a:off x="933450" y="4057650"/>
            <a:ext cx="4600575" cy="828675"/>
          </a:xfrm>
          <a:prstGeom prst="roundRect">
            <a:avLst>
              <a:gd name="adj" fmla="val 13793"/>
            </a:avLst>
          </a:prstGeom>
          <a:solidFill>
            <a:srgbClr val="E3F9F6"/>
          </a:solidFill>
          <a:ln w="9525">
            <a:solidFill>
              <a:srgbClr val="33D6C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1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rPr>
              <a:t>Δₙ = Qₙᶜ − Qₙ⁰</a:t>
            </a:r>
          </a:p>
          <a:p>
            <a:pPr algn="ctr">
              <a:lnSpc>
                <a:spcPct val="95000"/>
              </a:lnSpc>
              <a:buNone/>
              <a:defRPr sz="21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rPr>
              <a:t>Δₐ = Qₐᶜ − Qₐ⁰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7A8936-DE1C-4272-B9CB-2D0F1B80BB6E}"/>
              </a:ext>
            </a:extLst>
          </p:cNvPr>
          <p:cNvSpPr>
            <a:spLocks noGrp="1"/>
          </p:cNvSpPr>
          <p:nvPr/>
        </p:nvSpPr>
        <p:spPr>
          <a:xfrm>
            <a:off x="1047750" y="5105400"/>
            <a:ext cx="436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Δ mide el lift atribuible a añadir contexto dentro de cada grupo.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48FBFD4-77CF-4396-B806-9AEC116729B6}"/>
              </a:ext>
            </a:extLst>
          </p:cNvPr>
          <p:cNvSpPr>
            <a:spLocks noGrp="1"/>
          </p:cNvSpPr>
          <p:nvPr/>
        </p:nvSpPr>
        <p:spPr>
          <a:xfrm>
            <a:off x="6124575" y="1952625"/>
            <a:ext cx="5381625" cy="3857625"/>
          </a:xfrm>
          <a:prstGeom prst="roundRect">
            <a:avLst>
              <a:gd name="adj" fmla="val 3951"/>
            </a:avLst>
          </a:prstGeom>
          <a:solidFill>
            <a:srgbClr val="FFF3E6"/>
          </a:solidFill>
          <a:ln w="11430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A3D9AFF-3A09-4EC1-B384-3317E78D4DF5}"/>
              </a:ext>
            </a:extLst>
          </p:cNvPr>
          <p:cNvSpPr>
            <a:spLocks noGrp="1"/>
          </p:cNvSpPr>
          <p:nvPr/>
        </p:nvSpPr>
        <p:spPr>
          <a:xfrm>
            <a:off x="6372225" y="2143125"/>
            <a:ext cx="4886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C96C0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6C0D"/>
                </a:solidFill>
                <a:latin typeface="Aptos"/>
                <a:ea typeface="Aptos"/>
                <a:cs typeface="Aptos"/>
              </a:rPr>
              <a:t>Identidad para la brecha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8BCDAD6-9FB9-4980-BC22-11865C0B82DD}"/>
              </a:ext>
            </a:extLst>
          </p:cNvPr>
          <p:cNvSpPr>
            <a:spLocks noGrp="1"/>
          </p:cNvSpPr>
          <p:nvPr/>
        </p:nvSpPr>
        <p:spPr>
          <a:xfrm>
            <a:off x="6372225" y="2609850"/>
            <a:ext cx="488632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FFD7A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G₀ = Qₙ⁰ − Qₐ⁰</a:t>
            </a:r>
          </a:p>
          <a:p>
            <a:pPr algn="ctr">
              <a:lnSpc>
                <a:spcPct val="95000"/>
              </a:lnSpc>
              <a:buNone/>
              <a:def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G꜀ = Qₙᶜ − Qₐᶜ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1A33669-08CB-4000-909A-9A3867037F47}"/>
              </a:ext>
            </a:extLst>
          </p:cNvPr>
          <p:cNvSpPr>
            <a:spLocks noGrp="1"/>
          </p:cNvSpPr>
          <p:nvPr/>
        </p:nvSpPr>
        <p:spPr>
          <a:xfrm>
            <a:off x="6581775" y="3667125"/>
            <a:ext cx="4467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Restando ambas brechas: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2E00C5B-5071-4178-9999-35F5884C4AA6}"/>
              </a:ext>
            </a:extLst>
          </p:cNvPr>
          <p:cNvSpPr>
            <a:spLocks noGrp="1"/>
          </p:cNvSpPr>
          <p:nvPr/>
        </p:nvSpPr>
        <p:spPr>
          <a:xfrm>
            <a:off x="6657975" y="4057650"/>
            <a:ext cx="4314825" cy="647700"/>
          </a:xfrm>
          <a:prstGeom prst="roundRect">
            <a:avLst>
              <a:gd name="adj" fmla="val 17647"/>
            </a:avLst>
          </a:prstGeom>
          <a:solidFill>
            <a:srgbClr val="FFF0F3"/>
          </a:solidFill>
          <a:ln w="9525">
            <a:solidFill>
              <a:srgbClr val="FF647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250" b="1">
                <a:solidFill>
                  <a:srgbClr val="FF647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FF647C"/>
                </a:solidFill>
                <a:latin typeface="Cambria Math"/>
                <a:ea typeface="Cambria Math"/>
                <a:cs typeface="Cambria Math"/>
              </a:rPr>
              <a:t>G꜀ − G₀ = Δₙ − Δₐ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EC92FEB-33AF-449C-A761-431587C38780}"/>
              </a:ext>
            </a:extLst>
          </p:cNvPr>
          <p:cNvSpPr>
            <a:spLocks noGrp="1"/>
          </p:cNvSpPr>
          <p:nvPr/>
        </p:nvSpPr>
        <p:spPr>
          <a:xfrm>
            <a:off x="6581775" y="4895850"/>
            <a:ext cx="44672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 Δₙ &gt; Δₐ, el contexto mejora ambos grupos, pero amplía la brecha de ambigüedad. Es señal de que falta inferir Z o preguntar.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BCDCD8F-09E9-49AB-899A-C555FF48ECF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Reexpresión algebraica de la evidencia agregada del deck · interpretación no causal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82E8C3B-AE50-4BA6-8033-4061B6BDE3B0}"/>
              </a:ext>
            </a:extLst>
          </p:cNvPr>
          <p:cNvSpPr>
            <a:spLocks noGrp="1"/>
          </p:cNvSpPr>
          <p:nvPr/>
        </p:nvSpPr>
        <p:spPr>
          <a:xfrm>
            <a:off x="11087100" y="64865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3851310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4745</Words>
  <Application>Microsoft Office PowerPoint</Application>
  <DocSecurity>0</DocSecurity>
  <PresentationFormat>Panorámica</PresentationFormat>
  <Paragraphs>547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Calibri</vt:lpstr>
      <vt:lpstr>Cambria Math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 Gomez Villanueva</cp:lastModifiedBy>
  <cp:revision>1</cp:revision>
  <dcterms:created xsi:type="dcterms:W3CDTF">2026-07-29T00:43:51Z</dcterms:created>
  <dcterms:modified xsi:type="dcterms:W3CDTF">2026-07-29T17:42:45Z</dcterms:modified>
</cp:coreProperties>
</file>