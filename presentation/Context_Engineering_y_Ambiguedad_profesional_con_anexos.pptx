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1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7310e5f80e4b6e" /><Relationship Type="http://schemas.openxmlformats.org/officeDocument/2006/relationships/extended-properties" Target="/docProps/app.xml" Id="R83450f7f5832418b" /><Relationship Type="http://schemas.openxmlformats.org/officeDocument/2006/relationships/officeDocument" Target="/ppt/presentation.xml" Id="R3ff646caeb144f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14aa5398a242ec"/>
  </p:sldMasterIdLst>
  <p:notesMasterIdLst>
    <p:notesMasterId xmlns:r="http://schemas.openxmlformats.org/officeDocument/2006/relationships" r:id="Rc73ef5fb669b4241"/>
  </p:notesMasterIdLst>
  <p:sldIdLst>
    <p:sldId xmlns:r="http://schemas.openxmlformats.org/officeDocument/2006/relationships" id="256" r:id="R8309fd57d90147ec"/>
    <p:sldId xmlns:r="http://schemas.openxmlformats.org/officeDocument/2006/relationships" id="257" r:id="R36dd3f0098174ec7"/>
    <p:sldId xmlns:r="http://schemas.openxmlformats.org/officeDocument/2006/relationships" id="258" r:id="Rd92f9bfb6e5f4cbb"/>
    <p:sldId xmlns:r="http://schemas.openxmlformats.org/officeDocument/2006/relationships" id="259" r:id="Rc96a41ec78e64954"/>
    <p:sldId xmlns:r="http://schemas.openxmlformats.org/officeDocument/2006/relationships" id="260" r:id="R2c7e8ccad8b94153"/>
    <p:sldId xmlns:r="http://schemas.openxmlformats.org/officeDocument/2006/relationships" id="261" r:id="R2f8fc4b91f0449d4"/>
    <p:sldId xmlns:r="http://schemas.openxmlformats.org/officeDocument/2006/relationships" id="262" r:id="Rdaf9637a07c445e4"/>
    <p:sldId xmlns:r="http://schemas.openxmlformats.org/officeDocument/2006/relationships" id="263" r:id="Redb15069d27b49ab"/>
    <p:sldId xmlns:r="http://schemas.openxmlformats.org/officeDocument/2006/relationships" id="264" r:id="Rbc41b6c2db224344"/>
    <p:sldId xmlns:r="http://schemas.openxmlformats.org/officeDocument/2006/relationships" id="265" r:id="R1ae8a77739424338"/>
    <p:sldId xmlns:r="http://schemas.openxmlformats.org/officeDocument/2006/relationships" id="266" r:id="R4c307cef6a1a47fb"/>
    <p:sldId xmlns:r="http://schemas.openxmlformats.org/officeDocument/2006/relationships" id="267" r:id="Rfe2d1fd992de47ea"/>
    <p:sldId xmlns:r="http://schemas.openxmlformats.org/officeDocument/2006/relationships" id="268" r:id="R59efafb7e9884789"/>
    <p:sldId xmlns:r="http://schemas.openxmlformats.org/officeDocument/2006/relationships" id="269" r:id="R7d471017b813476b"/>
    <p:sldId xmlns:r="http://schemas.openxmlformats.org/officeDocument/2006/relationships" id="270" r:id="Rbf6fa769081a447c"/>
    <p:sldId xmlns:r="http://schemas.openxmlformats.org/officeDocument/2006/relationships" id="271" r:id="R0aba3581ec864cb6"/>
    <p:sldId xmlns:r="http://schemas.openxmlformats.org/officeDocument/2006/relationships" id="272" r:id="R85aab460f9ea4046"/>
    <p:sldId xmlns:r="http://schemas.openxmlformats.org/officeDocument/2006/relationships" id="273" r:id="R0b97a92be2da486b"/>
    <p:sldId xmlns:r="http://schemas.openxmlformats.org/officeDocument/2006/relationships" id="274" r:id="R1d42e3c43c5d409c"/>
    <p:sldId xmlns:r="http://schemas.openxmlformats.org/officeDocument/2006/relationships" id="275" r:id="R5031d35f86b64e18"/>
    <p:sldId xmlns:r="http://schemas.openxmlformats.org/officeDocument/2006/relationships" id="276" r:id="R5342c05e805946ce"/>
    <p:sldId xmlns:r="http://schemas.openxmlformats.org/officeDocument/2006/relationships" id="277" r:id="Rc62fa06ba3b9463b"/>
    <p:sldId xmlns:r="http://schemas.openxmlformats.org/officeDocument/2006/relationships" id="278" r:id="Rc4dde30cc9054ce7"/>
    <p:sldId xmlns:r="http://schemas.openxmlformats.org/officeDocument/2006/relationships" id="279" r:id="R9994a9a7f67e42b2"/>
    <p:sldId xmlns:r="http://schemas.openxmlformats.org/officeDocument/2006/relationships" id="280" r:id="Re1fe058aaf8045df"/>
    <p:sldId xmlns:r="http://schemas.openxmlformats.org/officeDocument/2006/relationships" id="281" r:id="Rb276d649a0ea4268"/>
    <p:sldId xmlns:r="http://schemas.openxmlformats.org/officeDocument/2006/relationships" id="282" r:id="R03bc0c7e99094566"/>
    <p:sldId xmlns:r="http://schemas.openxmlformats.org/officeDocument/2006/relationships" id="283" r:id="R59363e9f766b4c4e"/>
    <p:sldId xmlns:r="http://schemas.openxmlformats.org/officeDocument/2006/relationships" id="284" r:id="Rb7baeaa3c76e4706"/>
    <p:sldId xmlns:r="http://schemas.openxmlformats.org/officeDocument/2006/relationships" id="285" r:id="R41c05b80ccec47de"/>
    <p:sldId xmlns:r="http://schemas.openxmlformats.org/officeDocument/2006/relationships" id="286" r:id="Ra9ec348f39194590"/>
    <p:sldId xmlns:r="http://schemas.openxmlformats.org/officeDocument/2006/relationships" id="287" r:id="R98c86faa96db4294"/>
    <p:sldId xmlns:r="http://schemas.openxmlformats.org/officeDocument/2006/relationships" id="288" r:id="Rc32b0bda6fde413b"/>
    <p:sldId xmlns:r="http://schemas.openxmlformats.org/officeDocument/2006/relationships" id="289" r:id="R42e1ddbc3d444869"/>
    <p:sldId xmlns:r="http://schemas.openxmlformats.org/officeDocument/2006/relationships" id="290" r:id="R4ce329e329a648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a7b5b73abd4f48" /><Relationship Type="http://schemas.openxmlformats.org/officeDocument/2006/relationships/slideMaster" Target="/ppt/slideMasters/slideMaster1.xml" Id="Rbe14aa5398a242ec" /><Relationship Type="http://schemas.openxmlformats.org/officeDocument/2006/relationships/notesMaster" Target="/ppt/notesMasters/notesMaster1.xml" Id="Rc73ef5fb669b4241" /><Relationship Type="http://schemas.openxmlformats.org/officeDocument/2006/relationships/presProps" Target="/ppt/presProps.xml" Id="Rcc351cc64c834208" /><Relationship Type="http://schemas.openxmlformats.org/officeDocument/2006/relationships/tableStyles" Target="/ppt/tableStyles.xml" Id="R8f65cc3376e34ac2" /><Relationship Type="http://schemas.openxmlformats.org/officeDocument/2006/relationships/slide" Target="/ppt/slides/slide1.xml" Id="R8309fd57d90147ec" /><Relationship Type="http://schemas.openxmlformats.org/officeDocument/2006/relationships/slide" Target="/ppt/slides/slide2.xml" Id="R36dd3f0098174ec7" /><Relationship Type="http://schemas.openxmlformats.org/officeDocument/2006/relationships/slide" Target="/ppt/slides/slide3.xml" Id="Rd92f9bfb6e5f4cbb" /><Relationship Type="http://schemas.openxmlformats.org/officeDocument/2006/relationships/slide" Target="/ppt/slides/slide4.xml" Id="Rc96a41ec78e64954" /><Relationship Type="http://schemas.openxmlformats.org/officeDocument/2006/relationships/slide" Target="/ppt/slides/slide5.xml" Id="R2c7e8ccad8b94153" /><Relationship Type="http://schemas.openxmlformats.org/officeDocument/2006/relationships/slide" Target="/ppt/slides/slide6.xml" Id="R2f8fc4b91f0449d4" /><Relationship Type="http://schemas.openxmlformats.org/officeDocument/2006/relationships/slide" Target="/ppt/slides/slide7.xml" Id="Rdaf9637a07c445e4" /><Relationship Type="http://schemas.openxmlformats.org/officeDocument/2006/relationships/slide" Target="/ppt/slides/slide8.xml" Id="Redb15069d27b49ab" /><Relationship Type="http://schemas.openxmlformats.org/officeDocument/2006/relationships/slide" Target="/ppt/slides/slide9.xml" Id="Rbc41b6c2db224344" /><Relationship Type="http://schemas.openxmlformats.org/officeDocument/2006/relationships/slide" Target="/ppt/slides/slide10.xml" Id="R1ae8a77739424338" /><Relationship Type="http://schemas.openxmlformats.org/officeDocument/2006/relationships/slide" Target="/ppt/slides/slide11.xml" Id="R4c307cef6a1a47fb" /><Relationship Type="http://schemas.openxmlformats.org/officeDocument/2006/relationships/slide" Target="/ppt/slides/slide12.xml" Id="Rfe2d1fd992de47ea" /><Relationship Type="http://schemas.openxmlformats.org/officeDocument/2006/relationships/slide" Target="/ppt/slides/slide13.xml" Id="R59efafb7e9884789" /><Relationship Type="http://schemas.openxmlformats.org/officeDocument/2006/relationships/slide" Target="/ppt/slides/slide14.xml" Id="R7d471017b813476b" /><Relationship Type="http://schemas.openxmlformats.org/officeDocument/2006/relationships/slide" Target="/ppt/slides/slide15.xml" Id="Rbf6fa769081a447c" /><Relationship Type="http://schemas.openxmlformats.org/officeDocument/2006/relationships/slide" Target="/ppt/slides/slide16.xml" Id="R0aba3581ec864cb6" /><Relationship Type="http://schemas.openxmlformats.org/officeDocument/2006/relationships/slide" Target="/ppt/slides/slide17.xml" Id="R85aab460f9ea4046" /><Relationship Type="http://schemas.openxmlformats.org/officeDocument/2006/relationships/slide" Target="/ppt/slides/slide18.xml" Id="R0b97a92be2da486b" /><Relationship Type="http://schemas.openxmlformats.org/officeDocument/2006/relationships/slide" Target="/ppt/slides/slide19.xml" Id="R1d42e3c43c5d409c" /><Relationship Type="http://schemas.openxmlformats.org/officeDocument/2006/relationships/slide" Target="/ppt/slides/slide20.xml" Id="R5031d35f86b64e18" /><Relationship Type="http://schemas.openxmlformats.org/officeDocument/2006/relationships/slide" Target="/ppt/slides/slide21.xml" Id="R5342c05e805946ce" /><Relationship Type="http://schemas.openxmlformats.org/officeDocument/2006/relationships/slide" Target="/ppt/slides/slide22.xml" Id="Rc62fa06ba3b9463b" /><Relationship Type="http://schemas.openxmlformats.org/officeDocument/2006/relationships/slide" Target="/ppt/slides/slide23.xml" Id="Rc4dde30cc9054ce7" /><Relationship Type="http://schemas.openxmlformats.org/officeDocument/2006/relationships/slide" Target="/ppt/slides/slide24.xml" Id="R9994a9a7f67e42b2" /><Relationship Type="http://schemas.openxmlformats.org/officeDocument/2006/relationships/slide" Target="/ppt/slides/slide25.xml" Id="Re1fe058aaf8045df" /><Relationship Type="http://schemas.openxmlformats.org/officeDocument/2006/relationships/slide" Target="/ppt/slides/slide26.xml" Id="Rb276d649a0ea4268" /><Relationship Type="http://schemas.openxmlformats.org/officeDocument/2006/relationships/slide" Target="/ppt/slides/slide27.xml" Id="R03bc0c7e99094566" /><Relationship Type="http://schemas.openxmlformats.org/officeDocument/2006/relationships/slide" Target="/ppt/slides/slide28.xml" Id="R59363e9f766b4c4e" /><Relationship Type="http://schemas.openxmlformats.org/officeDocument/2006/relationships/slide" Target="/ppt/slides/slide29.xml" Id="Rb7baeaa3c76e4706" /><Relationship Type="http://schemas.openxmlformats.org/officeDocument/2006/relationships/slide" Target="/ppt/slides/slide30.xml" Id="R41c05b80ccec47de" /><Relationship Type="http://schemas.openxmlformats.org/officeDocument/2006/relationships/slide" Target="/ppt/slides/slide31.xml" Id="Ra9ec348f39194590" /><Relationship Type="http://schemas.openxmlformats.org/officeDocument/2006/relationships/slide" Target="/ppt/slides/slide32.xml" Id="R98c86faa96db4294" /><Relationship Type="http://schemas.openxmlformats.org/officeDocument/2006/relationships/slide" Target="/ppt/slides/slide33.xml" Id="Rc32b0bda6fde413b" /><Relationship Type="http://schemas.openxmlformats.org/officeDocument/2006/relationships/slide" Target="/ppt/slides/slide34.xml" Id="R42e1ddbc3d444869" /><Relationship Type="http://schemas.openxmlformats.org/officeDocument/2006/relationships/slide" Target="/ppt/slides/slide35.xml" Id="R4ce329e329a648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e5150ca4414c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738d3691024a97" /><Relationship Type="http://schemas.openxmlformats.org/officeDocument/2006/relationships/notesMaster" Target="/ppt/notesMasters/notesMaster1.xml" Id="R48fbff4343b342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6d11b80caa4787" /><Relationship Type="http://schemas.openxmlformats.org/officeDocument/2006/relationships/notesMaster" Target="/ppt/notesMasters/notesMaster1.xml" Id="R7e02af1fd21642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7cecd9d6814c1c" /><Relationship Type="http://schemas.openxmlformats.org/officeDocument/2006/relationships/notesMaster" Target="/ppt/notesMasters/notesMaster1.xml" Id="R414d891b0c5b48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78590500584abe" /><Relationship Type="http://schemas.openxmlformats.org/officeDocument/2006/relationships/notesMaster" Target="/ppt/notesMasters/notesMaster1.xml" Id="Re67319d854684c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047b51dfa94182" /><Relationship Type="http://schemas.openxmlformats.org/officeDocument/2006/relationships/notesMaster" Target="/ppt/notesMasters/notesMaster1.xml" Id="Rd8163c57483841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57014ddd7c4115" /><Relationship Type="http://schemas.openxmlformats.org/officeDocument/2006/relationships/notesMaster" Target="/ppt/notesMasters/notesMaster1.xml" Id="Rbf0c70c9361e40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516e63364b4145" /><Relationship Type="http://schemas.openxmlformats.org/officeDocument/2006/relationships/notesMaster" Target="/ppt/notesMasters/notesMaster1.xml" Id="R64c674f193c34f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b4f7ccb3904a4f" /><Relationship Type="http://schemas.openxmlformats.org/officeDocument/2006/relationships/notesMaster" Target="/ppt/notesMasters/notesMaster1.xml" Id="Re6769de17d94436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2431561d95451e" /><Relationship Type="http://schemas.openxmlformats.org/officeDocument/2006/relationships/notesMaster" Target="/ppt/notesMasters/notesMaster1.xml" Id="R3321b9dae1b54a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c1792f964d4bb8" /><Relationship Type="http://schemas.openxmlformats.org/officeDocument/2006/relationships/notesMaster" Target="/ppt/notesMasters/notesMaster1.xml" Id="R8b2b9f1b323743a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2ed1c4bb6f84d62" /><Relationship Type="http://schemas.openxmlformats.org/officeDocument/2006/relationships/notesMaster" Target="/ppt/notesMasters/notesMaster1.xml" Id="R4181cfd7699c43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773ac706f1f4228" /><Relationship Type="http://schemas.openxmlformats.org/officeDocument/2006/relationships/notesMaster" Target="/ppt/notesMasters/notesMaster1.xml" Id="R29464207cf2e4d4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2646ec721b6450e" /><Relationship Type="http://schemas.openxmlformats.org/officeDocument/2006/relationships/notesMaster" Target="/ppt/notesMasters/notesMaster1.xml" Id="Rc385b082f1d7452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bcd5261cf5c4336" /><Relationship Type="http://schemas.openxmlformats.org/officeDocument/2006/relationships/notesMaster" Target="/ppt/notesMasters/notesMaster1.xml" Id="R8f4d499e94f04c2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1e35f9adc024084" /><Relationship Type="http://schemas.openxmlformats.org/officeDocument/2006/relationships/notesMaster" Target="/ppt/notesMasters/notesMaster1.xml" Id="R4d1a7c146779425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113f11ac1f4443f" /><Relationship Type="http://schemas.openxmlformats.org/officeDocument/2006/relationships/notesMaster" Target="/ppt/notesMasters/notesMaster1.xml" Id="Rb4ca1038c3344f9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d400ca285d24951" /><Relationship Type="http://schemas.openxmlformats.org/officeDocument/2006/relationships/notesMaster" Target="/ppt/notesMasters/notesMaster1.xml" Id="R7f3703cd96fa4b5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9562423e3b04d18" /><Relationship Type="http://schemas.openxmlformats.org/officeDocument/2006/relationships/notesMaster" Target="/ppt/notesMasters/notesMaster1.xml" Id="Rc102e5b5dfa6426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9c290fab90a4a71" /><Relationship Type="http://schemas.openxmlformats.org/officeDocument/2006/relationships/notesMaster" Target="/ppt/notesMasters/notesMaster1.xml" Id="R11b2e8de41be4cf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54f4674882048ea" /><Relationship Type="http://schemas.openxmlformats.org/officeDocument/2006/relationships/notesMaster" Target="/ppt/notesMasters/notesMaster1.xml" Id="R2a2ffaaa567440e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cc8edff43784826" /><Relationship Type="http://schemas.openxmlformats.org/officeDocument/2006/relationships/notesMaster" Target="/ppt/notesMasters/notesMaster1.xml" Id="R17ed33c66c6040b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be98d45b90d49e1" /><Relationship Type="http://schemas.openxmlformats.org/officeDocument/2006/relationships/notesMaster" Target="/ppt/notesMasters/notesMaster1.xml" Id="R3ae8a537ed5548d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4d19c5094f54c92" /><Relationship Type="http://schemas.openxmlformats.org/officeDocument/2006/relationships/notesMaster" Target="/ppt/notesMasters/notesMaster1.xml" Id="Rc877e4db114b475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c24e5fb658e4a90" /><Relationship Type="http://schemas.openxmlformats.org/officeDocument/2006/relationships/notesMaster" Target="/ppt/notesMasters/notesMaster1.xml" Id="R589737ac15604f7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771612fe3ba45f4" /><Relationship Type="http://schemas.openxmlformats.org/officeDocument/2006/relationships/notesMaster" Target="/ppt/notesMasters/notesMaster1.xml" Id="R0123178c94804e8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448e83de0f641b7" /><Relationship Type="http://schemas.openxmlformats.org/officeDocument/2006/relationships/notesMaster" Target="/ppt/notesMasters/notesMaster1.xml" Id="R98c895a25d2f458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342e1a948984f0b" /><Relationship Type="http://schemas.openxmlformats.org/officeDocument/2006/relationships/notesMaster" Target="/ppt/notesMasters/notesMaster1.xml" Id="R4640609f5346495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2330da81713444a" /><Relationship Type="http://schemas.openxmlformats.org/officeDocument/2006/relationships/notesMaster" Target="/ppt/notesMasters/notesMaster1.xml" Id="R418455a643084b4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e9115cd2bc9434e" /><Relationship Type="http://schemas.openxmlformats.org/officeDocument/2006/relationships/notesMaster" Target="/ppt/notesMasters/notesMaster1.xml" Id="R887126ecbd094dc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a0f895f588749d1" /><Relationship Type="http://schemas.openxmlformats.org/officeDocument/2006/relationships/notesMaster" Target="/ppt/notesMasters/notesMaster1.xml" Id="Rdee4ea2f93a3401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1dda7567e1a48ea" /><Relationship Type="http://schemas.openxmlformats.org/officeDocument/2006/relationships/notesMaster" Target="/ppt/notesMasters/notesMaster1.xml" Id="Re0241581bf3c451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c71138898a04b37" /><Relationship Type="http://schemas.openxmlformats.org/officeDocument/2006/relationships/notesMaster" Target="/ppt/notesMasters/notesMaster1.xml" Id="R77e590eb490d44c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2c8f362de064644" /><Relationship Type="http://schemas.openxmlformats.org/officeDocument/2006/relationships/notesMaster" Target="/ppt/notesMasters/notesMaster1.xml" Id="R6c1e5b6748ce452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4b14487cf474de3" /><Relationship Type="http://schemas.openxmlformats.org/officeDocument/2006/relationships/notesMaster" Target="/ppt/notesMasters/notesMaster1.xml" Id="Rdb0d168116c5455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ea7aa8dfe07452d" /><Relationship Type="http://schemas.openxmlformats.org/officeDocument/2006/relationships/notesMaster" Target="/ppt/notesMasters/notesMaster1.xml" Id="Raa689661805b48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5.</a:t>
            </a:r>
          </a:p>
          <a:p xmlns:a="http://schemas.openxmlformats.org/drawingml/2006/main">
            <a:r>
              <a:t>- Shannon, C. E. (1948), A Mathematical Theory of Communication. https://doi.org/10.1002/j.1538-7305.1948.tb01338.x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6.</a:t>
            </a:r>
          </a:p>
          <a:p xmlns:a="http://schemas.openxmlformats.org/drawingml/2006/main">
            <a:r>
              <a:t>- Shannon, C. E. (1948), A Mathematical Theory of Communication. https://doi.org/10.1002/j.1538-7305.1948.tb01338.x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7.</a:t>
            </a:r>
          </a:p>
          <a:p xmlns:a="http://schemas.openxmlformats.org/drawingml/2006/main">
            <a:r>
              <a:t>- Shannon, C. E. (1948), A Mathematical Theory of Communication. https://doi.org/10.1002/j.1538-7305.1948.tb01338.x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9.</a:t>
            </a:r>
          </a:p>
          <a:p xmlns:a="http://schemas.openxmlformats.org/drawingml/2006/main">
            <a:r>
              <a:t>- Lewis, P. et al. (2020), Retrieval-Augmented Generation for Knowledge-Intensive NLP Tasks. https://arxiv.org/abs/2005.11401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10.</a:t>
            </a:r>
          </a:p>
          <a:p xmlns:a="http://schemas.openxmlformats.org/drawingml/2006/main">
            <a:r>
              <a:t>- Lewis, P. et al. (2020), Retrieval-Augmented Generation for Knowledge-Intensive NLP Tasks. https://arxiv.org/abs/2005.11401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11.</a:t>
            </a:r>
          </a:p>
          <a:p xmlns:a="http://schemas.openxmlformats.org/drawingml/2006/main">
            <a:r>
              <a:t>- Lewis, P. et al. (2020), Retrieval-Augmented Generation for Knowledge-Intensive NLP Tasks. https://arxiv.org/abs/2005.11401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13.</a:t>
            </a:r>
          </a:p>
          <a:p xmlns:a="http://schemas.openxmlformats.org/drawingml/2006/main">
            <a:r>
              <a:t>- Wei, J. et al. (2022), Chain-of-Thought Prompting Elicits Reasoning in Large Language Models. https://arxiv.org/abs/2201.11903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14.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18.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19.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22.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23.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diapositiva 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derivación añadida después de la diapositiva 25.</a:t>
            </a:r>
          </a:p>
          <a:p xmlns:a="http://schemas.openxmlformats.org/drawingml/2006/main">
            <a:r>
              <a:t>- Shannon, C. E. (1948), A Mathematical Theory of Communication.</a:t>
            </a:r>
          </a:p>
          <a:p xmlns:a="http://schemas.openxmlformats.org/drawingml/2006/main">
            <a:r>
              <a:t>- Lewis, P. et al. (2020), Retrieval-Augmented Generation for Knowledge-Intensive NLP Tasks.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derivación añadida después de la diapositiva 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derivación añadida después de la diapositiva 26.</a:t>
            </a:r>
          </a:p>
          <a:p xmlns:a="http://schemas.openxmlformats.org/drawingml/2006/main">
            <a:r>
              <a:t>- Bayes, T. (1763), An Essay towards solving a Problem in the Doctrine of Chances.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derivación añadida después de la diapositiva 28.</a:t>
            </a:r>
          </a:p>
          <a:p xmlns:a="http://schemas.openxmlformats.org/drawingml/2006/main">
            <a:r>
              <a:t>- Shannon, C. E. (1948), A Mathematical Theory of Communication.</a:t>
            </a:r>
          </a:p>
          <a:p xmlns:a="http://schemas.openxmlformats.org/drawingml/2006/main">
            <a:r>
              <a:t>- Cover, T. M. &amp; Thomas, J. A. (2006), Elements of Information Theory.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derivación añadida después de la diapositiva 29.</a:t>
            </a:r>
          </a:p>
          <a:p xmlns:a="http://schemas.openxmlformats.org/drawingml/2006/main">
            <a:r>
              <a:t>- Berger, J. O. (1985), Statistical Decision Theory and Bayesian Analysis.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derivación añadida después de la diapositiva 30.</a:t>
            </a:r>
          </a:p>
          <a:p xmlns:a="http://schemas.openxmlformats.org/drawingml/2006/main">
            <a:r>
              <a:t>- Lewis, P. et al. (2020), Retrieval-Augmented Generation for Knowledge-Intensive NLP Tasks.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derivación añadida después de la diapositiva 31.</a:t>
            </a:r>
          </a:p>
          <a:p xmlns:a="http://schemas.openxmlformats.org/drawingml/2006/main">
            <a:r>
              <a:t>- Cover, T. M. &amp; Thomas, J. A. (2006), Elements of Information Theory.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derivación añadida después de la diapositiva 32.</a:t>
            </a:r>
          </a:p>
          <a:p xmlns:a="http://schemas.openxmlformats.org/drawingml/2006/main">
            <a:r>
              <a:t>- Cover, T. M. &amp; Thomas, J. A. (2006), Elements of Information Theory.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derivación añadida después de la diapositiva 33.</a:t>
            </a:r>
          </a:p>
          <a:p xmlns:a="http://schemas.openxmlformats.org/drawingml/2006/main">
            <a:r>
              <a:t>- Cover, T. M. &amp; Thomas, J. A. (2006), Elements of Information Theory.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Deck fuente: Context_Engineering_y_Ambiguedad_final_matematica.pptx, derivación añadida después de la diapositiva 34.</a:t>
            </a:r>
          </a:p>
          <a:p xmlns:a="http://schemas.openxmlformats.org/drawingml/2006/main">
            <a:r>
              <a:t>- Su &amp; Cardie (2026), evidencia agregada citada en el deck fuente.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d1eb71045247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973e94971b4f4c" /><Relationship Type="http://schemas.openxmlformats.org/officeDocument/2006/relationships/slideLayout" Target="/ppt/slideLayouts/slideLayout1.xml" Id="R8eafa43fcf4343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afa43fcf4343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c29902c9a453c" /><Relationship Type="http://schemas.openxmlformats.org/officeDocument/2006/relationships/notesSlide" Target="/ppt/notesSlides/notesSlide1.xml" Id="Ra15354666ec246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db2978a264970" /><Relationship Type="http://schemas.openxmlformats.org/officeDocument/2006/relationships/notesSlide" Target="/ppt/notesSlides/notesSlide2.xml" Id="Rbb7718523cab41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67f260e8344cc" /><Relationship Type="http://schemas.openxmlformats.org/officeDocument/2006/relationships/image" Target="/ppt/media/image.png" Id="R55d5d452e92a49e3" /><Relationship Type="http://schemas.openxmlformats.org/officeDocument/2006/relationships/notesSlide" Target="/ppt/notesSlides/notesSlide3.xml" Id="R62318c6ae2db4c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2946702ec4bee" /><Relationship Type="http://schemas.openxmlformats.org/officeDocument/2006/relationships/image" Target="/ppt/media/image.jpeg" Id="R88ade74658394a33" /><Relationship Type="http://schemas.openxmlformats.org/officeDocument/2006/relationships/notesSlide" Target="/ppt/notesSlides/notesSlide4.xml" Id="R84dd8ede2b7a42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6016c15074e20" /><Relationship Type="http://schemas.openxmlformats.org/officeDocument/2006/relationships/image" Target="/ppt/media/image2.png" Id="Rca2414464cae46d1" /><Relationship Type="http://schemas.openxmlformats.org/officeDocument/2006/relationships/notesSlide" Target="/ppt/notesSlides/notesSlide5.xml" Id="R87dff16ac15d47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0ab7c83ed44a79" /><Relationship Type="http://schemas.openxmlformats.org/officeDocument/2006/relationships/image" Target="/ppt/media/image3.png" Id="R60a6f38a393b4ab1" /><Relationship Type="http://schemas.openxmlformats.org/officeDocument/2006/relationships/image" Target="/ppt/media/image4.png" Id="Re955a37995254cf5" /><Relationship Type="http://schemas.openxmlformats.org/officeDocument/2006/relationships/image" Target="/ppt/media/image5.png" Id="Rad8040488437455d" /><Relationship Type="http://schemas.openxmlformats.org/officeDocument/2006/relationships/notesSlide" Target="/ppt/notesSlides/notesSlide6.xml" Id="Re24d9ab163e24d5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f03b8962344102" /><Relationship Type="http://schemas.openxmlformats.org/officeDocument/2006/relationships/image" Target="/ppt/media/image6.png" Id="R81c61d177b9b450d" /><Relationship Type="http://schemas.openxmlformats.org/officeDocument/2006/relationships/image" Target="/ppt/media/image7.png" Id="Rdfdbee01ee44432c" /><Relationship Type="http://schemas.openxmlformats.org/officeDocument/2006/relationships/notesSlide" Target="/ppt/notesSlides/notesSlide7.xml" Id="R79d4d23cf5644b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0c30e1d11643d5" /><Relationship Type="http://schemas.openxmlformats.org/officeDocument/2006/relationships/image" Target="/ppt/media/image8.png" Id="R91fe4f57a5be4819" /><Relationship Type="http://schemas.openxmlformats.org/officeDocument/2006/relationships/image" Target="/ppt/media/image9.png" Id="R4718ff269c5c438e" /><Relationship Type="http://schemas.openxmlformats.org/officeDocument/2006/relationships/notesSlide" Target="/ppt/notesSlides/notesSlide8.xml" Id="Ra06d452cccb642b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c8c3057114c67" /><Relationship Type="http://schemas.openxmlformats.org/officeDocument/2006/relationships/image" Target="/ppt/media/image10.png" Id="Ref75d7b2bd214ba0" /><Relationship Type="http://schemas.openxmlformats.org/officeDocument/2006/relationships/notesSlide" Target="/ppt/notesSlides/notesSlide9.xml" Id="Rcdcd8ae1a51848f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fb3a5b6394779" /><Relationship Type="http://schemas.openxmlformats.org/officeDocument/2006/relationships/image" Target="/ppt/media/image11.png" Id="Ra02da73c7c444a25" /><Relationship Type="http://schemas.openxmlformats.org/officeDocument/2006/relationships/image" Target="/ppt/media/image12.png" Id="R77f5ec63b79e4db9" /><Relationship Type="http://schemas.openxmlformats.org/officeDocument/2006/relationships/image" Target="/ppt/media/image13.png" Id="Re6f0f97132dc4d99" /><Relationship Type="http://schemas.openxmlformats.org/officeDocument/2006/relationships/image" Target="/ppt/media/image14.png" Id="Rd0556559f70d4305" /><Relationship Type="http://schemas.openxmlformats.org/officeDocument/2006/relationships/notesSlide" Target="/ppt/notesSlides/notesSlide10.xml" Id="R6e1faf093cd5445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43de539cb45a3" /><Relationship Type="http://schemas.openxmlformats.org/officeDocument/2006/relationships/image" Target="/ppt/media/image15.png" Id="Ra8820356d4b9434a" /><Relationship Type="http://schemas.openxmlformats.org/officeDocument/2006/relationships/notesSlide" Target="/ppt/notesSlides/notesSlide11.xml" Id="R670e2f91b7d64a2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7ff8490e446a0" /><Relationship Type="http://schemas.openxmlformats.org/officeDocument/2006/relationships/image" Target="/ppt/media/image16.png" Id="Re91f94541c1b4323" /><Relationship Type="http://schemas.openxmlformats.org/officeDocument/2006/relationships/notesSlide" Target="/ppt/notesSlides/notesSlide12.xml" Id="R3d376cbd1b414f1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76b2189084581" /><Relationship Type="http://schemas.openxmlformats.org/officeDocument/2006/relationships/image" Target="/ppt/media/image17.png" Id="Rb16fc25389b44285" /><Relationship Type="http://schemas.openxmlformats.org/officeDocument/2006/relationships/image" Target="/ppt/media/image18.png" Id="Rbb49803cb37847c8" /><Relationship Type="http://schemas.openxmlformats.org/officeDocument/2006/relationships/notesSlide" Target="/ppt/notesSlides/notesSlide13.xml" Id="Ra01498bf447d44f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5ab6f444e4b47" /><Relationship Type="http://schemas.openxmlformats.org/officeDocument/2006/relationships/notesSlide" Target="/ppt/notesSlides/notesSlide14.xml" Id="R994b377bc5a8413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edbabb48be4630" /><Relationship Type="http://schemas.openxmlformats.org/officeDocument/2006/relationships/notesSlide" Target="/ppt/notesSlides/notesSlide15.xml" Id="Rc433bc6f2ef04f2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0be435cbb94a3f" /><Relationship Type="http://schemas.openxmlformats.org/officeDocument/2006/relationships/image" Target="/ppt/media/image19.png" Id="Raf47067cf5d8415d" /><Relationship Type="http://schemas.openxmlformats.org/officeDocument/2006/relationships/notesSlide" Target="/ppt/notesSlides/notesSlide16.xml" Id="R12c7c48833384e1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bacff99c24c4e" /><Relationship Type="http://schemas.openxmlformats.org/officeDocument/2006/relationships/image" Target="/ppt/media/image20.png" Id="Rf34af0f86b4a45eb" /><Relationship Type="http://schemas.openxmlformats.org/officeDocument/2006/relationships/notesSlide" Target="/ppt/notesSlides/notesSlide17.xml" Id="R6f55853ac6334c1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dff4c9c7d4b96" /><Relationship Type="http://schemas.openxmlformats.org/officeDocument/2006/relationships/image" Target="/ppt/media/image21.png" Id="Rb005207e8045403f" /><Relationship Type="http://schemas.openxmlformats.org/officeDocument/2006/relationships/image" Target="/ppt/media/image22.png" Id="R99c9dfd15df64197" /><Relationship Type="http://schemas.openxmlformats.org/officeDocument/2006/relationships/notesSlide" Target="/ppt/notesSlides/notesSlide18.xml" Id="R38d21771e22f487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4443542a944ea" /><Relationship Type="http://schemas.openxmlformats.org/officeDocument/2006/relationships/image" Target="/ppt/media/image23.png" Id="Rd6899c856f1f4f26" /><Relationship Type="http://schemas.openxmlformats.org/officeDocument/2006/relationships/image" Target="/ppt/media/image24.png" Id="Re3a563c06d704a49" /><Relationship Type="http://schemas.openxmlformats.org/officeDocument/2006/relationships/image" Target="/ppt/media/image25.png" Id="Rb5b819baf35045ca" /><Relationship Type="http://schemas.openxmlformats.org/officeDocument/2006/relationships/notesSlide" Target="/ppt/notesSlides/notesSlide19.xml" Id="R9a1cf1ce7580453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1439c167984b94" /><Relationship Type="http://schemas.openxmlformats.org/officeDocument/2006/relationships/notesSlide" Target="/ppt/notesSlides/notesSlide20.xml" Id="R55d422384c1b46e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19f2605084480a" /><Relationship Type="http://schemas.openxmlformats.org/officeDocument/2006/relationships/image" Target="/ppt/media/image26.png" Id="Rece3c6692ae04332" /><Relationship Type="http://schemas.openxmlformats.org/officeDocument/2006/relationships/image" Target="/ppt/media/image27.png" Id="R343a5c50472a4457" /><Relationship Type="http://schemas.openxmlformats.org/officeDocument/2006/relationships/image" Target="/ppt/media/image28.png" Id="R284b93a607984f75" /><Relationship Type="http://schemas.openxmlformats.org/officeDocument/2006/relationships/image" Target="/ppt/media/image29.png" Id="R7528d9fa78c543d1" /><Relationship Type="http://schemas.openxmlformats.org/officeDocument/2006/relationships/notesSlide" Target="/ppt/notesSlides/notesSlide21.xml" Id="R142a6005f7f94c8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859d75cd14b24" /><Relationship Type="http://schemas.openxmlformats.org/officeDocument/2006/relationships/image" Target="/ppt/media/image30.png" Id="Rec92844371d9479c" /><Relationship Type="http://schemas.openxmlformats.org/officeDocument/2006/relationships/image" Target="/ppt/media/image31.png" Id="Re4e1eff9f1f642e8" /><Relationship Type="http://schemas.openxmlformats.org/officeDocument/2006/relationships/notesSlide" Target="/ppt/notesSlides/notesSlide22.xml" Id="R265e9fc5099748e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c0997d69d4389" /><Relationship Type="http://schemas.openxmlformats.org/officeDocument/2006/relationships/image" Target="/ppt/media/image32.png" Id="Rf5a55fb139e8463a" /><Relationship Type="http://schemas.openxmlformats.org/officeDocument/2006/relationships/image" Target="/ppt/media/image33.png" Id="R2a79282b3bec4856" /><Relationship Type="http://schemas.openxmlformats.org/officeDocument/2006/relationships/image" Target="/ppt/media/image34.png" Id="R40e7d7dd715c4044" /><Relationship Type="http://schemas.openxmlformats.org/officeDocument/2006/relationships/notesSlide" Target="/ppt/notesSlides/notesSlide23.xml" Id="R5f555274d91746f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5321c0ab9c4c9c" /><Relationship Type="http://schemas.openxmlformats.org/officeDocument/2006/relationships/chart" Target="/ppt/slides/charts/chart1.xml" Id="Rcbb185f6649641d9" /><Relationship Type="http://schemas.openxmlformats.org/officeDocument/2006/relationships/notesSlide" Target="/ppt/notesSlides/notesSlide24.xml" Id="R7705b864c1a64a7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63494a9554cad" /><Relationship Type="http://schemas.openxmlformats.org/officeDocument/2006/relationships/image" Target="/ppt/media/image35.png" Id="R482733ec1b6c4d9f" /><Relationship Type="http://schemas.openxmlformats.org/officeDocument/2006/relationships/notesSlide" Target="/ppt/notesSlides/notesSlide25.xml" Id="R5202f99db4af41a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7a81c96524451" /><Relationship Type="http://schemas.openxmlformats.org/officeDocument/2006/relationships/notesSlide" Target="/ppt/notesSlides/notesSlide26.xml" Id="R8e822e3d88254cd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628ade10848fd" /><Relationship Type="http://schemas.openxmlformats.org/officeDocument/2006/relationships/notesSlide" Target="/ppt/notesSlides/notesSlide27.xml" Id="R5b499f728ea3419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4ebde6ead04a05" /><Relationship Type="http://schemas.openxmlformats.org/officeDocument/2006/relationships/notesSlide" Target="/ppt/notesSlides/notesSlide28.xml" Id="Rfce571826f4b47f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9761ba65b45a0" /><Relationship Type="http://schemas.openxmlformats.org/officeDocument/2006/relationships/notesSlide" Target="/ppt/notesSlides/notesSlide29.xml" Id="R9ffc4622fa914a0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fc83361864817" /><Relationship Type="http://schemas.openxmlformats.org/officeDocument/2006/relationships/notesSlide" Target="/ppt/notesSlides/notesSlide30.xml" Id="R098199de62e7489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3d62d9fcde4e5f" /><Relationship Type="http://schemas.openxmlformats.org/officeDocument/2006/relationships/notesSlide" Target="/ppt/notesSlides/notesSlide31.xml" Id="Rd403c11f17c34d1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b12605d3a41ec" /><Relationship Type="http://schemas.openxmlformats.org/officeDocument/2006/relationships/notesSlide" Target="/ppt/notesSlides/notesSlide32.xml" Id="R500813beddd5413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5b1f982b6f4407" /><Relationship Type="http://schemas.openxmlformats.org/officeDocument/2006/relationships/notesSlide" Target="/ppt/notesSlides/notesSlide33.xml" Id="R243eae4dc267446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daaec929304dc1" /><Relationship Type="http://schemas.openxmlformats.org/officeDocument/2006/relationships/notesSlide" Target="/ppt/notesSlides/notesSlide34.xml" Id="R38d670f2cc914fe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fcbcec990745f8" /><Relationship Type="http://schemas.openxmlformats.org/officeDocument/2006/relationships/notesSlide" Target="/ppt/notesSlides/notesSlide35.xml" Id="R4e491f8d19244d6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Sin contexto</c:v>
          </c:tx>
          <c:spPr>
            <a:solidFill xmlns:a="http://schemas.openxmlformats.org/drawingml/2006/main">
              <a:srgbClr val="AFC8CE"/>
            </a:solidFill>
            <a:ln xmlns:a="http://schemas.openxmlformats.org/drawingml/2006/main" w="9525">
              <a:solidFill>
                <a:srgbClr val="8AABB4"/>
              </a:solidFill>
              <a:prstDash val="solid"/>
            </a:ln>
          </c:spPr>
          <c:cat>
            <c:strLit>
              <c:ptCount val="2"/>
              <c:pt idx="0">
                <c:v>No ambigua</c:v>
              </c:pt>
              <c:pt idx="1">
                <c:v>Ambigua</c:v>
              </c:pt>
            </c:strLit>
          </c:cat>
          <c:val>
            <c:numLit>
              <c:formatCode>0"%"</c:formatCode>
              <c:ptCount val="2"/>
              <c:pt idx="0">
                <c:v>54</c:v>
              </c:pt>
              <c:pt idx="1">
                <c:v>46</c:v>
              </c:pt>
            </c:numLit>
          </c:val>
        </c:ser>
        <c:ser>
          <c:idx val="1"/>
          <c:order val="1"/>
          <c:tx>
            <c:v>Con contexto</c:v>
          </c:tx>
          <c:spPr>
            <a:solidFill xmlns:a="http://schemas.openxmlformats.org/drawingml/2006/main">
              <a:srgbClr val="156082"/>
            </a:solidFill>
            <a:ln xmlns:a="http://schemas.openxmlformats.org/drawingml/2006/main" w="9525">
              <a:solidFill>
                <a:srgbClr val="0E4A5A"/>
              </a:solidFill>
              <a:prstDash val="solid"/>
            </a:ln>
          </c:spPr>
          <c:cat>
            <c:strLit>
              <c:ptCount val="2"/>
              <c:pt idx="0">
                <c:v>No ambigua</c:v>
              </c:pt>
              <c:pt idx="1">
                <c:v>Ambigua</c:v>
              </c:pt>
            </c:strLit>
          </c:cat>
          <c:val>
            <c:numLit>
              <c:formatCode>0"%"</c:formatCode>
              <c:ptCount val="2"/>
              <c:pt idx="0">
                <c:v>67</c:v>
              </c:pt>
              <c:pt idx="1">
                <c:v>55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34155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475569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8E6363-E16B-41EB-A49F-6C509F7F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904875"/>
            <a:ext cx="4000500" cy="40005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7769F4">
                  <a:alpha val="42000"/>
                </a:srgbClr>
              </a:gs>
              <a:gs pos="72000">
                <a:srgbClr val="7769F4">
                  <a:alpha val="0"/>
                </a:srgbClr>
              </a:gs>
            </a:gsLst>
            <a:path path="shape"/>
          </a:gra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5CF0B-79BC-43ED-B98D-A46A3031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29000"/>
            <a:ext cx="3429000" cy="3429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45E0D0">
                  <a:alpha val="30000"/>
                </a:srgbClr>
              </a:gs>
              <a:gs pos="72000">
                <a:srgbClr val="45E0D0">
                  <a:alpha val="0"/>
                </a:srgbClr>
              </a:gs>
            </a:gsLst>
            <a:path path="shape"/>
          </a:gra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0EF1A-BA7C-4550-95CA-F4F2195E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2762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2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0852A1-DC7C-48F2-9E5E-812E3735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2533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ESTRATEGIA · RAG · DECISIONES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DCA87D-7E4A-42F4-9B2F-484246F9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Context Engineering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5D148-99ED-4F9C-AEA8-96ABD6D0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657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400" b="1" i="0">
                <a:solidFill>
                  <a:srgbClr val="3DD6C6"/>
                </a:solidFill>
                <a:latin typeface="Aptos Display"/>
                <a:ea typeface="Aptos Display"/>
                <a:cs typeface="Aptos Display"/>
              </a:rPr>
              <a:t>y manejo de ambigüedad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0339DB-9AFF-410C-B228-9522E897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581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0" i="0">
                <a:solidFill>
                  <a:srgbClr val="CDD4E7"/>
                </a:solidFill>
                <a:latin typeface="Aptos"/>
                <a:ea typeface="Aptos"/>
                <a:cs typeface="Aptos"/>
              </a:defRPr>
            </a:pPr>
            <a:r>
              <a:rPr sz="20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Diseñar la información que el modelo necesita — y saber cuándo preguntar.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E30BF-89C8-4850-B361-2AA577B9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300" b="0">
                <a:solidFill>
                  <a:srgbClr val="C7CEDF"/>
                </a:solidFill>
                <a:latin typeface="Aptos"/>
                <a:ea typeface="Aptos"/>
                <a:cs typeface="Aptos"/>
              </a:rPr>
              <a:t>Kevin Gomez Villanueva  ·  AI Engineer en BCP  ·  Julio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543B5-D8F6-445E-8B61-D262757A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810625" y="1714500"/>
            <a:ext cx="1266825" cy="1885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5E0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B44321-8953-4B9F-91AE-4282FDB7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810625" y="2667000"/>
            <a:ext cx="1685925" cy="933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B9E05F-0ABB-4D0C-A366-59B01D2A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762125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B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062AC5-F0E5-4C83-A43D-266B5A62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190625" cy="1209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6F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1A806-ADE3-4C74-97F6-4FC845DF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00450"/>
            <a:ext cx="1190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98B71-39A0-46E6-90F9-7253CDE7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14700"/>
            <a:ext cx="11430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5E0D0">
                <a:alpha val="7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40CC15-8324-4F81-B4B0-AD8833DA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QUERY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40D85D-7978-40FF-AE57-131F4538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4287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20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141880-6621-4370-A6C3-A6ECE357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5621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E21044-4E30-43AC-A5E8-3D2538EE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3812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20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A430F-F76B-4A83-B18B-C091F0DE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5146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2E1A1F-E6F4-4AE9-95AB-3F126D59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480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>
              <a:alpha val="20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8017C7-B626-444D-B671-2B1A54FA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5814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80843B-C48B-4226-9204-88BE085D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24375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F7D">
              <a:alpha val="20000"/>
            </a:srgbClr>
          </a:solidFill>
          <a:ln xmlns:a="http://schemas.openxmlformats.org/drawingml/2006/main" w="19050">
            <a:solidFill>
              <a:srgbClr val="FF6F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0C7BF6-9AE4-4833-8681-7534587E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6577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2BB35A-5BEB-4322-B691-4DB25931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3876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7DAF15-F4E4-46D8-8B59-477BD0E5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02 / EL PROBLEMA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4E3513-4D26-471F-9310-13C093F8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Una pregunta puede tener varias respuestas correctas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AE608-6C66-439C-8708-BBC502AD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E694F-1545-4ED6-8830-8982114D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47875"/>
            <a:ext cx="9563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“¿Cuál es el banco más grande?”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32C6DB-420E-4824-A0F6-EFA2128E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26093-1646-43B0-B60B-897B50DE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activos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58157-7264-4E52-8ADE-1400CF58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2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E3EB26-D14E-4DC3-BA95-8F647412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capitalización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3E0789-F1EE-40B4-90FA-F8BF1B5B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1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C37F4-EAC5-4696-A4C1-70B57C25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41E6B-74DA-43BC-AC26-B1DAFC5C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F7D">
              <a:alpha val="12000"/>
            </a:srgbClr>
          </a:solidFill>
          <a:ln xmlns:a="http://schemas.openxmlformats.org/drawingml/2006/main" w="9525">
            <a:solidFill>
              <a:srgbClr val="FF6F7D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B9B5F-C591-42E0-A0CC-B9471C0A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ingresos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1AE61-557C-43ED-9D75-F881A2A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2D590">
              <a:alpha val="12000"/>
            </a:srgbClr>
          </a:solidFill>
          <a:ln xmlns:a="http://schemas.openxmlformats.org/drawingml/2006/main" w="9525">
            <a:solidFill>
              <a:srgbClr val="62D590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9812D-1D48-49A2-BD64-F95F26A9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presencia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15466C-C19A-48A2-955B-BCC5909E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76750"/>
            <a:ext cx="895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>
                <a:solidFill/>
                <a:latin typeface="Aptos"/>
                <a:ea typeface="Aptos"/>
                <a:cs typeface="Aptos"/>
              </a:rPr>
              <a:t>Una respuesta puede ser correcta y, aun así, interpretar mal la intención.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FC0C2F-3C85-4B8C-ADE4-FC441490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81625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>
                <a:solidFill/>
                <a:latin typeface="Aptos"/>
                <a:ea typeface="Aptos"/>
                <a:cs typeface="Aptos"/>
              </a:rPr>
              <a:t>Antes de responder, el sistema debe decidir qué significa realmente X.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53314D-EFA6-403E-AEFC-8CB21E28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Ejemplo conceptual basado en context.md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E44D1D-780A-4BE1-962F-A8A6E519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112773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BB61D0-7E1B-4090-BC1A-62A1AE78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03 / QUÉ ES CONTEXT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0ADB4-FB88-4845-81D4-1F2226BC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7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Context Engineering decide qué información entra al modelo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A57129-62B8-479A-824B-2A9E4146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87F132-58CB-469B-91DF-05845C86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398E1-DAB9-4F04-BA15-711A5527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6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DEFINICIÓN OPERACIONAL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8CCD8E-405F-4101-BFFF-CBE97322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400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Seleccionar, generar, estructurar y administrar la información que condiciona la respuesta.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9AC76-B99C-4177-8476-8190B7EA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4000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6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No es solo prompt engineering. Incluye recuperación, memoria, herramientas, estructura, compresión y ensamblaje dinámico.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A70179-C404-452F-95FD-B1A56182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752600"/>
            <a:ext cx="6457950" cy="369570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5d452e92a49e3"/>
          <a:stretch xmlns:a="http://schemas.openxmlformats.org/drawingml/2006/main"/>
        </p:blipFill>
        <p:spPr>
          <a:xfrm xmlns:a="http://schemas.openxmlformats.org/drawingml/2006/main">
            <a:off x="5257800" y="2590468"/>
            <a:ext cx="6038850" cy="2019964"/>
          </a:xfrm>
          <a:prstGeom xmlns:a="http://schemas.openxmlformats.org/drawingml/2006/main" prst="roundRect">
            <a:avLst>
              <a:gd name="adj" fmla="val 416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53669-ADC3-4EC9-A1A4-30228F72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survey_context.pdf, Fig. 3; imagen suministrada en el proyecto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3B65A-095B-4096-B0FA-9B0A6520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782229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A7F4F8F-C3FD-4225-B39E-088ECB01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"/>
            <a:ext cx="5943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04 / ARQUITECTURA DE CONTEXT ENGINEERING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4C24F49-3AE1-4E71-856D-991AB47C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108356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Context Engineering integra RAG, memoria y herramientas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74D261-EA89-45AC-A5AF-8C71FABA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7320"/>
            <a:ext cx="10817352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ade74658394a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36876" y="1554480"/>
            <a:ext cx="7315200" cy="4114800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F893B8E-1CA5-4211-AD44-7CFE4B3E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0720"/>
            <a:ext cx="1081735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Context Engineering orquesta RAG, memoria, herramientas, historial y formatos estructurados.</a:t>
            </a:r>
          </a:p>
        </p:txBody>
      </p:sp>
    </p:spTree>
    <p:extLst>
      <p:ext uri="{BB962C8B-B14F-4D97-AF65-F5344CB8AC3E}">
        <p14:creationId xmlns:p14="http://schemas.microsoft.com/office/powerpoint/2010/main" val="970180884"/>
      </p:ext>
    </p:extLst>
  </p:cSld>
</p:sld>
</file>

<file path=ppt/slides/slide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6EBFB4-F358-485A-B659-0A7E83D0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05 / TESIS CENTRAL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DB1AD-80A4-406B-B986-BA074C9A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La unidad de valor es la señal útil por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410622-8EFD-4471-B95D-8350A824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96E47-9EF9-452B-85E9-FC3C768D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 i="0">
                <a:solidFill>
                  <a:srgbClr val="BFC7DA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El objetivo real es maximizar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0435B-914D-44BC-B93F-4A67968C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628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información útil</a:t>
            </a: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 /  token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C77184-07A2-4C73-8A99-6FAE908D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0275"/>
            <a:ext cx="40005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7D7D0-1779-4C0B-B9A0-DE15F2F6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0275"/>
            <a:ext cx="10001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A9760-90F7-4F98-B615-CAA5491A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71725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señal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8CD4C-9B74-4257-9D9C-83CE9C06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71725"/>
            <a:ext cx="2705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3CBE0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ruido · redundancia · conflicto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B0C77-28B5-4F8F-8298-505FFB22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52775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Un contexto corto y preciso puede superar a uno largo y ruidoso.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111756-D17C-4C0F-A33F-533EB261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24350"/>
            <a:ext cx="123825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8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54C6ED-E895-445A-9C32-2A59DE48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00550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seleccionar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8D06E3-6D74-487F-9422-144F3B2B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24350"/>
            <a:ext cx="10953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8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8BB409-F1CA-450B-8F43-104D70EA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00550"/>
            <a:ext cx="866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ordenar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593A1A-FB0C-4C37-B8C3-B9EEAA80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324350"/>
            <a:ext cx="14001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7FF68-DBCC-4117-A8CD-7093F9DB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400550"/>
            <a:ext cx="1171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comprimir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7E85F3-53C0-46B7-96B0-87E4C8D4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información útil por token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0C79EE-3BEF-4FD4-A4AC-B1E48930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41" name="Ecuación s04_signal_densit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2414464cae46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409950"/>
            <a:ext cx="1319902" cy="723900"/>
          </a:xfrm>
          <a:prstGeom xmlns:a="http://schemas.openxmlformats.org/drawingml/2006/main" prst="rect">
            <a:avLst/>
          </a:prstGeom>
        </p:spPr>
      </p:pic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542DDEE-20B0-4562-9FA0-C718CC2F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9080"/>
            <a:ext cx="53949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  <a:ea typeface="Aptos"/>
                <a:cs typeface="Aptos"/>
              </a:rPr>
              <a:t>X consulta · Y respuesta · C contexto · |C| número de tokens</a:t>
            </a:r>
          </a:p>
        </p:txBody>
      </p:sp>
    </p:spTree>
    <p:extLst>
      <p:ext uri="{BB962C8B-B14F-4D97-AF65-F5344CB8AC3E}">
        <p14:creationId xmlns:p14="http://schemas.microsoft.com/office/powerpoint/2010/main" val="12248808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E20CD3A-5CF0-4613-8352-A1AED48A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06 / MODELO PROBABILÍSTICO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0B8AA6-9A27-4079-B48F-1A4F4A79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probabilidad de una respuesta se construye token a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6773F-7EBE-437C-8DB8-2BC90D6B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FFA801-F445-41AB-8958-A15FF773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19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E4A5A"/>
                </a:solidFill>
                <a:latin typeface="Aptos"/>
                <a:ea typeface="Aptos"/>
                <a:cs typeface="Aptos"/>
              </a:rPr>
              <a:t>Conexión: la primera fórmula genera cada factor; la segunda combina esos factores para puntuar la respuesta 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9CE881-95DC-403F-B27E-72E1BE63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10820400" cy="1581150"/>
          </a:xfrm>
          <a:prstGeom xmlns:a="http://schemas.openxmlformats.org/drawingml/2006/main" prst="roundRect">
            <a:avLst>
              <a:gd name="adj" fmla="val 74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138318-E307-4F06-8FC3-E70029D7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BF6F70-52A2-4E04-852B-F8D7082A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006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33D6C8"/>
                </a:solidFill>
                <a:latin typeface="Aptos"/>
                <a:ea typeface="Aptos"/>
                <a:cs typeface="Aptos"/>
              </a:rPr>
              <a:t>EJEMPLO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D685CC-F2E2-4A29-90FE-27CD0B57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053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Sin contrato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E9245C-0FAC-4767-B949-BD34A710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7200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647C"/>
                </a:solidFill>
                <a:latin typeface="Aptos"/>
                <a:ea typeface="Aptos"/>
                <a:cs typeface="Aptos"/>
              </a:rPr>
              <a:t>“12 meses”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461332-9B29-40C6-B934-2C329142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10125"/>
            <a:ext cx="647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8AF78C-AD19-488F-B98D-5D33CD7E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053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Con contrato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000D48-457B-463C-B62E-990E1564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7200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49C986"/>
                </a:solidFill>
                <a:latin typeface="Aptos"/>
                <a:ea typeface="Aptos"/>
                <a:cs typeface="Aptos"/>
              </a:rPr>
              <a:t>“24 meses”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858BDA-5CE8-4CAB-904C-6D53DA44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generación condicional y ejemplo de garantía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E03278-1F75-4172-9C82-70EFA705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48" name="Ecuación s05_toke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a6f38a393b4a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400300"/>
            <a:ext cx="4572000" cy="723900"/>
          </a:xfrm>
          <a:prstGeom xmlns:a="http://schemas.openxmlformats.org/drawingml/2006/main" prst="rect">
            <a:avLst/>
          </a:prstGeom>
        </p:spPr>
      </p:pic>
      <p:pic>
        <p:nvPicPr>
          <p:cNvPr id="49" name="Ecuación s05_sequenc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55a37995254c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2438400"/>
            <a:ext cx="4000500" cy="666750"/>
          </a:xfrm>
          <a:prstGeom xmlns:a="http://schemas.openxmlformats.org/drawingml/2006/main" prst="rect">
            <a:avLst/>
          </a:prstGeom>
        </p:spPr>
      </p:pic>
      <p:pic>
        <p:nvPicPr>
          <p:cNvPr id="50" name="Ecuación s05_examp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804048843745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5219700"/>
            <a:ext cx="4476750" cy="361950"/>
          </a:xfrm>
          <a:prstGeom xmlns:a="http://schemas.openxmlformats.org/drawingml/2006/main" prst="rect">
            <a:avLst/>
          </a:prstGeom>
        </p:spPr>
      </p:pic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A47B936-39B5-4581-9D50-939345D7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4A5A"/>
                </a:solidFill>
                <a:latin typeface="Aptos"/>
                <a:ea typeface="Aptos"/>
                <a:cs typeface="Aptos"/>
              </a:rPr>
              <a:t>Consulta: «¿Cuánto dura la garantía?»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13A729F-91BB-46D2-AA10-F172F2BE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 · θ parámetros · yₜ token actual · y&lt;ₜ prefijo · X consulta · C contrato · Y respuesta completa</a:t>
            </a:r>
          </a:p>
        </p:txBody>
      </p:sp>
      <p:sp>
        <p:nvSpPr>
          <p:cNvPr id="26" name="slide6-step1-surface">
            <a:extLst xmlns:a="http://schemas.openxmlformats.org/drawingml/2006/main">
              <a:ext uri="{FF2B5EF4-FFF2-40B4-BE49-F238E27FC236}">
                <a16:creationId xmlns:a16="http://schemas.microsoft.com/office/drawing/2014/main" id="{326715AF-A22B-470B-8661-3854F5CF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6002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CFF"/>
          </a:solidFill>
          <a:ln xmlns:a="http://schemas.openxmlformats.org/drawingml/2006/main" w="9525">
            <a:solidFill>
              <a:srgbClr val="6C63FF"/>
            </a:solidFill>
            <a:prstDash val="solid"/>
          </a:ln>
        </p:spPr>
      </p:sp>
      <p:sp>
        <p:nvSpPr>
          <p:cNvPr id="27" name="slide6-step1">
            <a:extLst xmlns:a="http://schemas.openxmlformats.org/drawingml/2006/main">
              <a:ext uri="{FF2B5EF4-FFF2-40B4-BE49-F238E27FC236}">
                <a16:creationId xmlns:a16="http://schemas.microsoft.com/office/drawing/2014/main" id="{CC8E171D-C129-4EDA-A0E1-76E10FEE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66925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SIGUIENTE TOKEN</a:t>
            </a:r>
          </a:p>
        </p:txBody>
      </p:sp>
      <p:sp>
        <p:nvSpPr>
          <p:cNvPr id="28" name="slide6-step2-surface">
            <a:extLst xmlns:a="http://schemas.openxmlformats.org/drawingml/2006/main">
              <a:ext uri="{FF2B5EF4-FFF2-40B4-BE49-F238E27FC236}">
                <a16:creationId xmlns:a16="http://schemas.microsoft.com/office/drawing/2014/main" id="{92F1B860-0FE7-4F50-AA60-344B8CF3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38350"/>
            <a:ext cx="1943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9F6"/>
          </a:solidFill>
          <a:ln xmlns:a="http://schemas.openxmlformats.org/drawingml/2006/main" w="9525">
            <a:solidFill>
              <a:srgbClr val="168E83"/>
            </a:solidFill>
            <a:prstDash val="solid"/>
          </a:ln>
        </p:spPr>
      </p:sp>
      <p:sp>
        <p:nvSpPr>
          <p:cNvPr id="29" name="slide6-step2">
            <a:extLst xmlns:a="http://schemas.openxmlformats.org/drawingml/2006/main">
              <a:ext uri="{FF2B5EF4-FFF2-40B4-BE49-F238E27FC236}">
                <a16:creationId xmlns:a16="http://schemas.microsoft.com/office/drawing/2014/main" id="{A0E3CE88-A635-4E57-8D35-5108AB90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66925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RESPUESTA COMPLETA</a:t>
            </a:r>
          </a:p>
        </p:txBody>
      </p:sp>
      <p:sp>
        <p:nvSpPr>
          <p:cNvPr id="30" name="slide6-token-to-sequence">
            <a:extLst xmlns:a="http://schemas.openxmlformats.org/drawingml/2006/main">
              <a:ext uri="{FF2B5EF4-FFF2-40B4-BE49-F238E27FC236}">
                <a16:creationId xmlns:a16="http://schemas.microsoft.com/office/drawing/2014/main" id="{6E0FFC64-F351-4628-A879-61D2B66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590800"/>
            <a:ext cx="5905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9C0D4"/>
          </a:solidFill>
          <a:ln xmlns:a="http://schemas.openxmlformats.org/drawingml/2006/main" w="9525">
            <a:solidFill>
              <a:srgbClr val="A5AEC4"/>
            </a:solidFill>
            <a:prstDash val="solid"/>
          </a:ln>
        </p:spPr>
      </p:sp>
      <p:sp>
        <p:nvSpPr>
          <p:cNvPr id="31" name="slide6-connector-label">
            <a:extLst xmlns:a="http://schemas.openxmlformats.org/drawingml/2006/main">
              <a:ext uri="{FF2B5EF4-FFF2-40B4-BE49-F238E27FC236}">
                <a16:creationId xmlns:a16="http://schemas.microsoft.com/office/drawing/2014/main" id="{95F8FAE9-0BD0-4F54-BE0B-B649E4A9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24175"/>
            <a:ext cx="1181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repetir para t=1…T</a:t>
            </a:r>
          </a:p>
        </p:txBody>
      </p:sp>
      <p:sp>
        <p:nvSpPr>
          <p:cNvPr id="32" name="slide6-step1-explanation">
            <a:extLst xmlns:a="http://schemas.openxmlformats.org/drawingml/2006/main">
              <a:ext uri="{FF2B5EF4-FFF2-40B4-BE49-F238E27FC236}">
                <a16:creationId xmlns:a16="http://schemas.microsoft.com/office/drawing/2014/main" id="{B18EF875-FF27-45D0-B3FC-A88433B9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Calcula la probabilidad de yₜ usando la consulta X, el contexto C y los tokens anteriores y&lt;ₜ.</a:t>
            </a:r>
          </a:p>
        </p:txBody>
      </p:sp>
      <p:sp>
        <p:nvSpPr>
          <p:cNvPr id="33" name="slide6-step2-explanation">
            <a:extLst xmlns:a="http://schemas.openxmlformats.org/drawingml/2006/main">
              <a:ext uri="{FF2B5EF4-FFF2-40B4-BE49-F238E27FC236}">
                <a16:creationId xmlns:a16="http://schemas.microsoft.com/office/drawing/2014/main" id="{383E6F8C-0B09-45C2-A623-0765C650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9087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Repite el mismo cálculo en cada posición y multiplica todos los factores.</a:t>
            </a:r>
          </a:p>
        </p:txBody>
      </p:sp>
    </p:spTree>
    <p:extLst>
      <p:ext uri="{BB962C8B-B14F-4D97-AF65-F5344CB8AC3E}">
        <p14:creationId xmlns:p14="http://schemas.microsoft.com/office/powerpoint/2010/main" val="883607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992F4B-5646-4550-82BF-9B9E337A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07 / VALOR DE LA INFORMACIÓN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C85BE-F140-4FBA-8115-31D96FB6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información aportada por C es la entropía que logra reducir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23640-FBEC-4CB9-8FC3-8D7EDB2D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74795-2397-4702-AA20-8EA1E5A9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609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E4A5A"/>
                </a:solidFill>
                <a:latin typeface="Aptos"/>
                <a:ea typeface="Aptos"/>
                <a:cs typeface="Aptos"/>
              </a:rPr>
              <a:t>Se resta la entropía final a la inicial: esa diferencia es I(Y;C|X).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BAC80-7536-4BD7-AB51-6F10B9EB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contexto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BA797-477A-468A-BB25-1B9EB806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3238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635BD-EFA4-47E7-9A3F-41DBE1E2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29051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F7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219886-0DA0-4294-AD75-22C3BF6A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098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 alta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EFA8E-0F7C-450B-B9C6-699905D2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051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 relevante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55D35-56BD-4832-8C11-846DCC20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86150"/>
            <a:ext cx="3238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548C2-7B8D-45BF-B28E-2A56F566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86150"/>
            <a:ext cx="10668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9FDF3A-2DF0-4643-B8A2-26FF9E99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290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H baja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EB258-76C1-4643-9C5D-8EC2555F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43400"/>
            <a:ext cx="3524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La barra que desaparece representa la información que C aporta sobre 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F6287E-9DF8-4D96-B508-748BB63F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Fuente: context.md — entropía e información mutua condicional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C9D1C2-F0FA-4485-9FD3-44A8AF2C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44" name="Ecuación s06_entrop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c61d177b9b45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90750"/>
            <a:ext cx="5871020" cy="704850"/>
          </a:xfrm>
          <a:prstGeom xmlns:a="http://schemas.openxmlformats.org/drawingml/2006/main" prst="rect">
            <a:avLst/>
          </a:prstGeom>
        </p:spPr>
      </p:pic>
      <p:pic>
        <p:nvPicPr>
          <p:cNvPr id="45" name="Ecuación s06_mutua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dbee01ee4443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752850"/>
            <a:ext cx="5623560" cy="440246"/>
          </a:xfrm>
          <a:prstGeom xmlns:a="http://schemas.openxmlformats.org/drawingml/2006/main" prst="rect">
            <a:avLst/>
          </a:prstGeom>
        </p:spPr>
      </p:pic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C4FBBA8-29BF-4AE1-8F75-ED4E05B4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609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H incertidumbre · I información aportada · X consulta · C contexto · Y respuesta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Lectura: más reducción de H implica más información útil de C sobre Y.</a:t>
            </a:r>
          </a:p>
        </p:txBody>
      </p:sp>
      <p:sp>
        <p:nvSpPr>
          <p:cNvPr id="23" name="slide7-step1-surface">
            <a:extLst xmlns:a="http://schemas.openxmlformats.org/drawingml/2006/main">
              <a:ext uri="{FF2B5EF4-FFF2-40B4-BE49-F238E27FC236}">
                <a16:creationId xmlns:a16="http://schemas.microsoft.com/office/drawing/2014/main" id="{125A443A-AEA3-4155-ABF4-EEB3BBA8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885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CFF"/>
          </a:solidFill>
          <a:ln xmlns:a="http://schemas.openxmlformats.org/drawingml/2006/main" w="9525">
            <a:solidFill>
              <a:srgbClr val="6C63FF"/>
            </a:solidFill>
            <a:prstDash val="solid"/>
          </a:ln>
        </p:spPr>
      </p:sp>
      <p:sp>
        <p:nvSpPr>
          <p:cNvPr id="24" name="slide7-step1">
            <a:extLst xmlns:a="http://schemas.openxmlformats.org/drawingml/2006/main">
              <a:ext uri="{FF2B5EF4-FFF2-40B4-BE49-F238E27FC236}">
                <a16:creationId xmlns:a16="http://schemas.microsoft.com/office/drawing/2014/main" id="{D311F35D-B8B7-48EC-AB83-FFDA96B1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77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EFECTO DE AÑADIR C</a:t>
            </a:r>
          </a:p>
        </p:txBody>
      </p:sp>
      <p:sp>
        <p:nvSpPr>
          <p:cNvPr id="25" name="slide7-step1-explanation">
            <a:extLst xmlns:a="http://schemas.openxmlformats.org/drawingml/2006/main">
              <a:ext uri="{FF2B5EF4-FFF2-40B4-BE49-F238E27FC236}">
                <a16:creationId xmlns:a16="http://schemas.microsoft.com/office/drawing/2014/main" id="{E04DAE32-5896-4C08-A914-B5A15564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La incertidumbre restante con contexto es menor o igual que sin contexto.</a:t>
            </a:r>
          </a:p>
        </p:txBody>
      </p:sp>
      <p:sp>
        <p:nvSpPr>
          <p:cNvPr id="26" name="slide7-effect-to-measure">
            <a:extLst xmlns:a="http://schemas.openxmlformats.org/drawingml/2006/main">
              <a:ext uri="{FF2B5EF4-FFF2-40B4-BE49-F238E27FC236}">
                <a16:creationId xmlns:a16="http://schemas.microsoft.com/office/drawing/2014/main" id="{4FFA5989-FFD1-4F23-A52E-B1623823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209925"/>
            <a:ext cx="32385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9C0D4"/>
          </a:solidFill>
          <a:ln xmlns:a="http://schemas.openxmlformats.org/drawingml/2006/main" w="9525">
            <a:solidFill>
              <a:srgbClr val="A5AEC4"/>
            </a:solidFill>
            <a:prstDash val="solid"/>
          </a:ln>
        </p:spPr>
      </p:sp>
      <p:sp>
        <p:nvSpPr>
          <p:cNvPr id="27" name="slide7-step2-surface">
            <a:extLst xmlns:a="http://schemas.openxmlformats.org/drawingml/2006/main">
              <a:ext uri="{FF2B5EF4-FFF2-40B4-BE49-F238E27FC236}">
                <a16:creationId xmlns:a16="http://schemas.microsoft.com/office/drawing/2014/main" id="{DBFE7CB8-0001-49C8-A4CB-90C095A9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9F6"/>
          </a:solidFill>
          <a:ln xmlns:a="http://schemas.openxmlformats.org/drawingml/2006/main" w="9525">
            <a:solidFill>
              <a:srgbClr val="168E83"/>
            </a:solidFill>
            <a:prstDash val="solid"/>
          </a:ln>
        </p:spPr>
      </p:sp>
      <p:sp>
        <p:nvSpPr>
          <p:cNvPr id="28" name="slide7-step2">
            <a:extLst xmlns:a="http://schemas.openxmlformats.org/drawingml/2006/main">
              <a:ext uri="{FF2B5EF4-FFF2-40B4-BE49-F238E27FC236}">
                <a16:creationId xmlns:a16="http://schemas.microsoft.com/office/drawing/2014/main" id="{978011BF-A607-428E-943E-4C758378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19475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MEDIR LA REDUCCIÓN</a:t>
            </a:r>
          </a:p>
        </p:txBody>
      </p:sp>
    </p:spTree>
    <p:extLst>
      <p:ext uri="{BB962C8B-B14F-4D97-AF65-F5344CB8AC3E}">
        <p14:creationId xmlns:p14="http://schemas.microsoft.com/office/powerpoint/2010/main" val="7657366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3EE3F50-A412-4278-B2DC-A10858CB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08 / LÍMITES DEL MODELO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66844-951C-40CC-8CD6-8E381AF0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En un LLM real, más contexto también añade fricción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835520-20D2-413D-8E13-FDAD2D82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BDC70-B217-41F8-8A25-4097DC8D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18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62168F-E6E6-47BD-820F-A1DC95D4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01835A-E849-49E3-A30A-551E7D93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relevancia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ACDEDA-FE17-4A82-8F20-50F9D418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F7D">
              <a:alpha val="18000"/>
            </a:srgbClr>
          </a:solidFill>
          <a:ln xmlns:a="http://schemas.openxmlformats.org/drawingml/2006/main" w="19050">
            <a:solidFill>
              <a:srgbClr val="FF6F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6B717F-BF4D-4BC5-BC10-F5A8BE33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EED24-0255-4AEA-A166-BD360676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ruido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A4571F-62AF-4742-B6CA-7CF19086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2FB9D-6CEF-457A-AA08-AFEEE2CA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696BA5-1ADC-4302-8799-F068ABA8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dificultad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E0ACC-4441-4DA6-A715-933AA7F4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18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C93944-8A3C-4743-ABB5-E9F7D603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509666-1122-4620-ADE7-9178DFD0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conflictos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783150-7C8E-4DCF-B4AD-F12C7814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911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1E44D0-06DF-4830-97BC-C7643A96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05100"/>
            <a:ext cx="0" cy="2286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C26057-04A5-42F9-9D79-BEAEF0D8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239000" y="4095750"/>
            <a:ext cx="571500" cy="514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C02E62-5FAF-4B37-8231-F17AD110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810500" y="3562350"/>
            <a:ext cx="571500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57C480-1944-45E1-BCFE-5C78BBCD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382000" y="3200400"/>
            <a:ext cx="57150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F7ACC1-8986-4689-ADC5-8364F85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57150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D54275-4D49-4559-B7C5-F3FB3C44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33750"/>
            <a:ext cx="571500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70E50A-7350-477B-A71B-624A6D1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752850"/>
            <a:ext cx="571500" cy="514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6294BE-6FA4-4A11-BCE3-EB6FBF87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67200"/>
            <a:ext cx="38100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98388F-F54C-40E9-9B28-52558DA9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67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A5FFCD-C3B4-4363-92EB-F2737177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zona útil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7B9694-C4DE-456A-A68C-5AAAF3EC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1625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tokens de contexto 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DF25FD-D6D1-481B-9B1E-6E44D1DA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modelo conceptual de calidad, ruido y longitud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79C7B7-558E-4F86-B1DE-B0F63AC6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67" name="Ecuación s07_qualit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e4f57a5be48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382714"/>
            <a:ext cx="6572250" cy="473322"/>
          </a:xfrm>
          <a:prstGeom xmlns:a="http://schemas.openxmlformats.org/drawingml/2006/main" prst="rect">
            <a:avLst/>
          </a:prstGeom>
        </p:spPr>
      </p:pic>
      <p:pic>
        <p:nvPicPr>
          <p:cNvPr id="68" name="Ecuación s07_nonmonotonic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8ff269c5c43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229100"/>
            <a:ext cx="2823815" cy="514350"/>
          </a:xfrm>
          <a:prstGeom xmlns:a="http://schemas.openxmlformats.org/drawingml/2006/main" prst="rect">
            <a:avLst/>
          </a:prstGeom>
        </p:spPr>
      </p:pic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82D18A73-4933-4564-8790-4B3DF598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1952"/>
            <a:ext cx="178308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0F8"/>
          </a:solidFill>
          <a:ln xmlns:a="http://schemas.openxmlformats.org/drawingml/2006/main" w="12700">
            <a:solidFill>
              <a:srgbClr val="7065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MODELO CONCEPTUAL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E1365601-E01C-42C9-A992-6334139E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0"/>
            <a:ext cx="5577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  <a:ea typeface="Aptos"/>
                <a:cs typeface="Aptos"/>
              </a:rPr>
              <a:t>Q calidad observada · R relevancia · N ruido · D dificultad · K conflictos · n tokens</a:t>
            </a:r>
          </a:p>
        </p:txBody>
      </p:sp>
    </p:spTree>
    <p:extLst>
      <p:ext uri="{BB962C8B-B14F-4D97-AF65-F5344CB8AC3E}">
        <p14:creationId xmlns:p14="http://schemas.microsoft.com/office/powerpoint/2010/main" val="1034722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524DA1-53AA-4EC8-893B-A7B8A92E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09 / RAG END-TO-END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8EA64-44E6-488A-854E-0904AD3F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RAG multiplica recuperación y generación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CE5B3E-A25E-44E9-B0F9-44175D8A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7CFA5-0F98-4AE8-8E61-16D9B9C9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3860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CDDFBB-E8C2-4678-B91A-6EB0F0E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D2054-E768-4428-8EE3-B5E8CDE3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71850"/>
            <a:ext cx="20955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BDB3D4-1210-4FF8-808E-6CFC60E8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71850"/>
            <a:ext cx="22860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5AFC9-125D-4011-8EE2-BEBD563C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71850"/>
            <a:ext cx="20955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CB513-20AB-4E7D-8CF7-2B832C21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E6A798-992F-400E-8621-73B35CEC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243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0.80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F580A7-EE54-41F8-A30C-3A837D23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004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GENERATOR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76B574-EBA5-4274-80E6-7B25F40A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243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0.90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4EB890-063E-476B-9E55-85EACAEC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00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SISTEMA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76F61-A58C-4D26-9D1E-A35731E9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0.72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85655-CFB3-44B8-9242-E3CA7416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029F09-9D51-4290-90A9-12580E69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195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=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81812F-EE5C-45CE-A097-2B4EFB0F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81600"/>
            <a:ext cx="800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4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Muchos “errores de generación” comienzan antes: en la selección del contexto.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13DADF-A81F-473E-9F96-82A8A802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descomposición probabilística de un pipeline RAG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33DD0-226A-49DB-97D7-680723ED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43" name="Ecuación s08_rag_produc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75d7b2bd214b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93885" y="2266950"/>
            <a:ext cx="9404230" cy="590550"/>
          </a:xfrm>
          <a:prstGeom xmlns:a="http://schemas.openxmlformats.org/drawingml/2006/main" prst="rect">
            <a:avLst/>
          </a:prstGeom>
        </p:spPr>
      </p:pic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8DF3748-609D-4BA1-AE0D-43D35CB3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34640"/>
            <a:ext cx="100584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  <a:ea typeface="Aptos"/>
                <a:cs typeface="Aptos"/>
              </a:rPr>
              <a:t>D corpus · C★ evidencia correcta · Y★ respuesta correcta · η retriever · θ generador</a:t>
            </a:r>
          </a:p>
        </p:txBody>
      </p:sp>
    </p:spTree>
    <p:extLst>
      <p:ext uri="{BB962C8B-B14F-4D97-AF65-F5344CB8AC3E}">
        <p14:creationId xmlns:p14="http://schemas.microsoft.com/office/powerpoint/2010/main" val="16472027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E7AFEECF-7B4E-4032-BE30-EB65553B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00200"/>
            <a:ext cx="5212080" cy="2880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3F9"/>
          </a:solidFill>
          <a:ln xmlns:a="http://schemas.openxmlformats.org/drawingml/2006/main" w="12700">
            <a:solidFill>
              <a:srgbClr val="D9DE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B9EA4F0-47B7-471A-97CE-297E6640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00200"/>
            <a:ext cx="5212080" cy="2880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0EEFF"/>
          </a:solidFill>
          <a:ln xmlns:a="http://schemas.openxmlformats.org/drawingml/2006/main" w="19050">
            <a:solidFill>
              <a:srgbClr val="7065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5CE0B65-E668-4E20-8B38-83A36B65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10 / MODELOS COMPARADOS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C9E793-8A01-43BC-957C-C697C575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108356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RAG recupera; Context Engineering orquesta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5DE304F-8E77-423D-BE1D-0FF8490D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3040"/>
            <a:ext cx="10817352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E3C13E-E4BB-41BA-B231-76118CB6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719072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RAG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0EF1BD3-4BBC-4642-B76B-AB2769E0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11680"/>
            <a:ext cx="49834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Recupera C desde documentos D</a:t>
            </a:r>
          </a:p>
        </p:txBody>
      </p:sp>
      <p:pic>
        <p:nvPicPr>
          <p:cNvPr id="32" name="Ecuación s09_rag_mode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da73c7c444a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3232" y="2749413"/>
            <a:ext cx="5001768" cy="554501"/>
          </a:xfrm>
          <a:prstGeom xmlns:a="http://schemas.openxmlformats.org/drawingml/2006/main" prst="rect">
            <a:avLst/>
          </a:prstGeom>
        </p:spPr>
      </p:pic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46F8122-F3F5-4DE3-AAAE-9EC2D926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584448"/>
            <a:ext cx="49834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60687C"/>
                </a:solidFill>
                <a:latin typeface="Aptos"/>
                <a:ea typeface="Aptos"/>
                <a:cs typeface="Aptos"/>
              </a:rPr>
              <a:t>η recupera documentos; θ genera con el contexto seleccionado.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5F8C7FC-7D2B-4159-B0E1-C1510EF0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19072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CONTEXT ENGINEERING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38CF38-B795-4C9D-B28F-195A65A3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011680"/>
            <a:ext cx="4892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Orquesta C desde el estado S</a:t>
            </a:r>
          </a:p>
        </p:txBody>
      </p:sp>
      <p:pic>
        <p:nvPicPr>
          <p:cNvPr id="36" name="Ecuación s09_ce_mode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f5ec63b79e4d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2738467"/>
            <a:ext cx="4892040" cy="576394"/>
          </a:xfrm>
          <a:prstGeom xmlns:a="http://schemas.openxmlformats.org/drawingml/2006/main" prst="rect">
            <a:avLst/>
          </a:prstGeom>
        </p:spPr>
      </p:pic>
      <p:pic>
        <p:nvPicPr>
          <p:cNvPr id="37" name="Ecuación s09_sta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f0f97132dc4d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42222" y="3511296"/>
            <a:ext cx="2854915" cy="393192"/>
          </a:xfrm>
          <a:prstGeom xmlns:a="http://schemas.openxmlformats.org/drawingml/2006/main" prst="rect">
            <a:avLst/>
          </a:prstGeom>
        </p:spPr>
      </p:pic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7200290-8A5F-4C4B-BC3D-8361E5FC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4892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60687C"/>
                </a:solidFill>
                <a:latin typeface="Aptos"/>
                <a:ea typeface="Aptos"/>
                <a:cs typeface="Aptos"/>
              </a:rPr>
              <a:t>φ combina documentos, memoria, herramientas, historial y entorno.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D726A2E-3E12-4439-86EF-1FE3AF60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645152"/>
            <a:ext cx="6675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RAG es un caso particular</a:t>
            </a:r>
          </a:p>
        </p:txBody>
      </p:sp>
      <p:pic>
        <p:nvPicPr>
          <p:cNvPr id="40" name="Ecuación s09_special_cas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556559f70d43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65868" y="4645152"/>
            <a:ext cx="2299062" cy="438912"/>
          </a:xfrm>
          <a:prstGeom xmlns:a="http://schemas.openxmlformats.org/drawingml/2006/main" prst="rect">
            <a:avLst/>
          </a:prstGeom>
        </p:spPr>
      </p:pic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96A333F-160A-447B-9B17-29508BE0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285232"/>
            <a:ext cx="1056132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  <a:ea typeface="Aptos"/>
                <a:cs typeface="Aptos"/>
              </a:rPr>
              <a:t>X consulta · Y respuesta · C contexto · D documentos · M memoria · T herramientas
H historial · E entorno · η retriever · φ orquestador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AACFA69-9B20-44AF-9D99-6E334A8D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7376"/>
            <a:ext cx="99669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formulación matemática del proyecto — RAG como caso particular de Context Engineering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C9D0F81-5EBC-49A1-8F43-F482A3B6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952" y="6419088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650280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8815DBF-6641-44C5-98B7-08BA92B7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"/>
            <a:ext cx="5943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11 / FORMALIZACIÓN PROBABILÍSTICA DE RAG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DBD10D-5177-4F7D-B264-D8D6D1D0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108356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RAG recupera evidencia antes de generar la respuesta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01EF426-A7F8-4559-80D6-1D382081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7320"/>
            <a:ext cx="10817352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20356d4b943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718843"/>
            <a:ext cx="10817352" cy="3786073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565713B-1A16-4A34-B37B-31726280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0720"/>
            <a:ext cx="1081735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sistema marginaliza documentos recuperados y genera la respuesta condicionada a la evidencia.</a:t>
            </a:r>
          </a:p>
        </p:txBody>
      </p:sp>
    </p:spTree>
    <p:extLst>
      <p:ext uri="{BB962C8B-B14F-4D97-AF65-F5344CB8AC3E}">
        <p14:creationId xmlns:p14="http://schemas.microsoft.com/office/powerpoint/2010/main" val="1680008017"/>
      </p:ext>
    </p:extLst>
  </p:cSld>
</p:sld>
</file>

<file path=ppt/slides/slide1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EFC5F0-3B9E-4D5D-927D-CCEFC57E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12 / RECUPERACIÓN INTERNA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A2DB4-35E9-4F79-B8B9-713DFF34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13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Antes de generar, el modelo debe encontrar la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4D0A8-97B5-4F83-9E7F-AA19EEB0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D2453-7FE9-49DD-8902-32DB88BE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Cada token compite por atención. El desafío no es solo leer: es localizar, integrar y responder.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5053C-5813-4E08-AD61-A04932FF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0BC72-ACCF-44DF-86F1-E4C5EEBE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5DFBE-F1D1-4E20-9F2C-15C1AC15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E4E99-EBF1-49F2-984E-F1830E3B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2D2F4-7CD9-4F57-BFBB-AF23D228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2E9A7A-A511-4BC5-A9AE-6F1F4E08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8349FC-2AFF-429C-A375-D8898B44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FA2016-3C87-4649-8633-9E3D0B04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FEBEAA-550A-4F20-92F0-9DCA2ECC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686EA-4002-4848-A7F5-2C4CE15C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F0985C-EDC4-4979-BC12-C5A01652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/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D39877-BA49-4B22-B571-6360F641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E422BD-76AC-44EA-8E4B-7B00CEE9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1292E5-9D00-4C01-A553-5F193970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52511A-EE36-4C34-9B93-9EFC9F89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E4F26A-A8D4-4448-A4EE-D1EA43BD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F9372B-3FF1-499F-A9EA-9C265CBA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2F537D-7DDC-43C3-AC08-85314E6F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E6254E-9362-43FF-B870-8E663FF9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147749-C2BB-49F3-B022-6C1AA0FE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0DE90C-7C54-466B-8770-A660F0C1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3EBDCA-D8EF-4D6C-84D1-51676189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324350"/>
            <a:ext cx="161925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3BE557-BE4D-4FC5-851B-5036F8C5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4958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respuesta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51E804-12AA-4645-99D4-AE34C9ED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990850"/>
            <a:ext cx="600075" cy="1638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5E0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5F1BD1-D343-4CCC-9E8D-373F0E0B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38375"/>
            <a:ext cx="2200275" cy="2390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634CE9-BE4D-4747-A5AF-5B7262E5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9715500" y="3419475"/>
            <a:ext cx="1000125" cy="1209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FD3C28-0664-4882-8CE1-2221A36E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C9882C-9DE7-45D8-A781-F1AC474E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identificar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795012-9B4E-4220-970C-7FC32C31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114284-1CB8-4588-BA89-951BD7BF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4E07AA-3047-49D4-AEEB-6DDE135C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1050DD-CBE1-4690-BE93-D0E92C84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generar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E7049E-32AB-4563-98E6-0FD3EC9D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atención y recuperación interna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511DDA-F61C-4407-9CA9-245CFCF1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81" name="Ecuación s09_attenti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f94541c1b43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24050"/>
            <a:ext cx="4245352" cy="590550"/>
          </a:xfrm>
          <a:prstGeom xmlns:a="http://schemas.openxmlformats.org/drawingml/2006/main" prst="rect">
            <a:avLst/>
          </a:prstGeom>
        </p:spPr>
      </p:pic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FC980D0C-4BE7-4089-86B3-FE6553E6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0128"/>
            <a:ext cx="58064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  <a:ea typeface="Aptos"/>
                <a:cs typeface="Aptos"/>
              </a:rPr>
              <a:t>Q consultas · K claves · V valores · dₖ dimensión de las claves</a:t>
            </a:r>
          </a:p>
        </p:txBody>
      </p:sp>
    </p:spTree>
    <p:extLst>
      <p:ext uri="{BB962C8B-B14F-4D97-AF65-F5344CB8AC3E}">
        <p14:creationId xmlns:p14="http://schemas.microsoft.com/office/powerpoint/2010/main" val="8035077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F8B25DAC-E229-4445-B394-B7A6CFE1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36192"/>
            <a:ext cx="521208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0EEFF"/>
          </a:solidFill>
          <a:ln xmlns:a="http://schemas.openxmlformats.org/drawingml/2006/main" w="19050">
            <a:solidFill>
              <a:srgbClr val="7065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51376B6-3877-4809-814F-A405C08B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536192"/>
            <a:ext cx="521208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F7"/>
          </a:solidFill>
          <a:ln xmlns:a="http://schemas.openxmlformats.org/drawingml/2006/main" w="19050">
            <a:solidFill>
              <a:srgbClr val="F266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5B2CEB-677A-44F5-8ED4-8A1727F1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"/>
            <a:ext cx="5943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13 / CHAIN-OF-THOUGHT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6CB6419-8102-4AC0-9D13-D6AEF301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108356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CoT reduce entropía, pero puede amplificar errores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E89A37D-BC2F-446D-9D04-5F2C1B87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7320"/>
            <a:ext cx="10817352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CD5DACE-9D13-418B-82BB-CB161009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27632"/>
            <a:ext cx="4983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1. Fundamento Probabilístico</a:t>
            </a:r>
          </a:p>
        </p:txBody>
      </p:sp>
      <p:pic>
        <p:nvPicPr>
          <p:cNvPr id="28" name="Ecuación s_cot_formula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6fc25389b442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97031" y="1993392"/>
            <a:ext cx="4215882" cy="566928"/>
          </a:xfrm>
          <a:prstGeom xmlns:a="http://schemas.openxmlformats.org/drawingml/2006/main" prst="rect">
            <a:avLst/>
          </a:prstGeom>
        </p:spPr>
      </p:pic>
      <p:pic>
        <p:nvPicPr>
          <p:cNvPr id="29" name="Ecuación s_cot_entrop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49803cb37847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4110" y="2606040"/>
            <a:ext cx="3741724" cy="384048"/>
          </a:xfrm>
          <a:prstGeom xmlns:a="http://schemas.openxmlformats.org/drawingml/2006/main" prst="rect">
            <a:avLst/>
          </a:prstGeom>
        </p:spPr>
      </p:pic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A55FB4B-D998-44B6-BED3-9B97399B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63240"/>
            <a:ext cx="49834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El razonamiento R amplía el prefijo antes de generar Y.</a:t>
            </a:r>
          </a:p>
          <a:p xmlns:a="http://schemas.openxmlformats.org/drawingml/2006/main">
            <a:r>
              <a:rPr sz="1200" b="1">
                <a:solidFill>
                  <a:srgbClr val="1015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200" b="1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Cada paso integra mejor la evidencia de X y C.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B6B3E2A-F952-41F0-A5C5-976B5027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627632"/>
            <a:ext cx="4983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2. Límites y Riesgos de CoT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C49D4A1-EFB9-44A2-9165-1BF1F01D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011680"/>
            <a:ext cx="4974336" cy="11704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DF0F0"/>
          </a:solidFill>
          <a:ln xmlns:a="http://schemas.openxmlformats.org/drawingml/2006/main" w="12700">
            <a:solidFill>
              <a:srgbClr val="F266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F066BA8-9E59-4638-90F2-F71726A6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057400"/>
            <a:ext cx="4791456" cy="10789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3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Cascada de errores</a:t>
            </a:r>
          </a:p>
          <a:p xmlns:a="http://schemas.openxmlformats.org/drawingml/2006/main">
            <a:r>
              <a:rPr sz="13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Un error temprano puede fijarse en el prefijo y condicionar la respuesta final.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F62687-84DD-444C-9F9C-D3B77C18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3246120"/>
            <a:ext cx="4974336" cy="11704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EE"/>
          </a:solidFill>
          <a:ln xmlns:a="http://schemas.openxmlformats.org/drawingml/2006/main" w="12700">
            <a:solidFill>
              <a:srgbClr val="F2A65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88E76E4-70A8-4E60-8C2B-2111A89C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291840"/>
            <a:ext cx="4791456" cy="10789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Overthinking y ruido</a:t>
            </a:r>
          </a:p>
          <a:p xmlns:a="http://schemas.openxmlformats.org/drawingml/2006/main"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Más tokens pueden diluir la señal útil e introducir contexto irrelevante.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67EF841-C4EA-415D-9C36-F1EEFF42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90288"/>
            <a:ext cx="10058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CoT ayuda a inferir; no resuelve una intención ambigua.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1B88310-C8BA-4130-A776-F341277B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257800"/>
            <a:ext cx="1056132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X consulta · C contexto · R razonamiento · Y respuesta · H entropía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72AE46B-C7E1-4154-AA23-8DE95E96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7376"/>
            <a:ext cx="99669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razonamiento autoregresivo, descomposición Bayesiana y análisis de riesgos de CoT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A4920B5-687F-4916-8E08-1ADEAD73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952" y="6419088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924517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9230F3A8-3D77-443E-986F-E9319125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00200"/>
            <a:ext cx="52120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DF0F0"/>
          </a:solidFill>
          <a:ln xmlns:a="http://schemas.openxmlformats.org/drawingml/2006/main" w="12700">
            <a:solidFill>
              <a:srgbClr val="F266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EDB155C-E90A-4116-A929-BCFB360B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00200"/>
            <a:ext cx="52120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0F8"/>
          </a:solidFill>
          <a:ln xmlns:a="http://schemas.openxmlformats.org/drawingml/2006/main" w="12700">
            <a:solidFill>
              <a:srgbClr val="7065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4AA9D126-14A1-4D73-AD80-3F748F84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63240"/>
            <a:ext cx="52120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CFA"/>
          </a:solidFill>
          <a:ln xmlns:a="http://schemas.openxmlformats.org/drawingml/2006/main" w="12700">
            <a:solidFill>
              <a:srgbClr val="3DD6C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A370FD0-D94F-439A-8B4C-E837F17C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63240"/>
            <a:ext cx="52120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EE"/>
          </a:solidFill>
          <a:ln xmlns:a="http://schemas.openxmlformats.org/drawingml/2006/main" w="12700">
            <a:solidFill>
              <a:srgbClr val="F2A65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B8F8B7F-BB6F-4FE7-BB76-3718405C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"/>
            <a:ext cx="50292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14 / DESAFÍOS CONVERSIONALES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FEF003F-B28E-4415-9896-FDF76999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108356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Cuando X no representa una intención literal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CBCA4B-3123-42C9-8B9F-0AE079A9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3040"/>
            <a:ext cx="10817352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B7F5FC-534A-4B08-AF4C-C027B6BF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91640"/>
            <a:ext cx="498348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1. Ironía y sarcasmo</a:t>
            </a:r>
          </a:p>
          <a:p xmlns:a="http://schemas.openxmlformats.org/drawingml/2006/main">
            <a:r>
              <a:rPr sz="14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«Qué gran servicio…» → reclamo, no elogio.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B426339-370A-42A1-9B7D-6F111D3A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691640"/>
            <a:ext cx="498348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2. Actos de habla indirectos</a:t>
            </a:r>
          </a:p>
          <a:p xmlns:a="http://schemas.openxmlformats.org/drawingml/2006/main">
            <a:r>
              <a:rPr sz="14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«¿Tienes saldo?» → consulta, no habilidad.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866DC04-3DE0-417E-AA00-E812AF7E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154680"/>
            <a:ext cx="498348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3. Elipsis y correferencia</a:t>
            </a:r>
          </a:p>
          <a:p xmlns:a="http://schemas.openxmlformats.org/drawingml/2006/main"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«Haz lo mismo con la otra» → resolver el referente en el historial.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EBA2F4C-BC68-43D5-B7BE-59B796CF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3154680"/>
            <a:ext cx="498348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4. Modismos</a:t>
            </a:r>
          </a:p>
          <a:p xmlns:a="http://schemas.openxmlformats.org/drawingml/2006/main"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«Se cayó el sistema» → incidente, no caída física.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75E705B-DC20-4B89-85BA-5C353444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7200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La intención se infiere: la consulta literal no siempre describe la acción esperada.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7810609-E5EE-433F-8972-CEBFB2E3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285232"/>
            <a:ext cx="1056132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X consulta observable · Z intención latente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15145C5-D36C-4F85-8D29-4F569FD0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7376"/>
            <a:ext cx="99669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pragmática del lenguaje natural y teoría de actos de habla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A6219A7-08B7-4BBB-9C52-1511105F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952" y="6419088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63466452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85EC37-6336-44E8-9CA6-FC4DBF98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2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A59D1-4359-4BA7-BD91-455AB875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0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PARTE II · AMBIGÜEDAD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8F93B-CA81-4818-958A-B348F534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8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La ambigüedad cambia el problema.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E80335-8C08-46AA-B85E-EB18F9E2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64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45E0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006E6-DFF8-4A7E-BB11-CE4790B6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3DD6C6"/>
                </a:solidFill>
                <a:latin typeface="Aptos Display"/>
                <a:ea typeface="Aptos Display"/>
                <a:cs typeface="Aptos Display"/>
              </a:rPr>
              <a:t>X ya no determina una única intención Z.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DEAA44-F439-475F-A8DA-2F576C0D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2000">
                <a:solidFill>
                  <a:srgbClr val="C7CEDF"/>
                </a:solidFill>
                <a:latin typeface="Aptos"/>
                <a:ea typeface="Aptos"/>
                <a:cs typeface="Aptos"/>
              </a:rPr>
              <a:t>Recuperar mejor no basta: primero hay que desambiguar.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BDFCA0-725A-418C-A80A-20F8E5A0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transición al modelamiento con intención latente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8234E-056D-4752-B174-BBDB58BF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21929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110B24-C458-4AE1-BE87-72712409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16 / INTENCIÓN LATENTE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4C526-2DE3-423C-87E9-8C6FB4CB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La respuesta se vuelve una mezcla de intenciones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D221D5-8BA7-4595-805A-47ABE784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7939B-44B2-4367-85B4-F51B904F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3619500" cy="16764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2F9A9-65DB-408C-98C4-1CF73792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3124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“¿Cómo funciona la memoria?”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F9C10D-049F-41F4-B1F4-3932FD8B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486275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AA0EF-6676-45CB-935F-539E5161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385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19050">
            <a:solidFill>
              <a:srgbClr val="45E0D0">
                <a:alpha val="5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98E98-56AD-49BA-9A57-E336A13B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3718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conversacional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83B12-D3D8-4CB7-B75C-F0773A22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4766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BC4CB8-7AF1-430C-8B06-EB2965E6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385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19050">
            <a:solidFill>
              <a:srgbClr val="7769F4">
                <a:alpha val="5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584FBF-44ED-48E3-955B-7C425C06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718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persistente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912BA0-3933-4DD3-BB24-9BFD1175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766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4F9BB8-C5A8-4FDF-BDFD-E25E50A0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434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FFB66E">
              <a:alpha val="14000"/>
            </a:srgbClr>
          </a:solidFill>
          <a:ln xmlns:a="http://schemas.openxmlformats.org/drawingml/2006/main" w="19050">
            <a:solidFill>
              <a:srgbClr val="FFB66E">
                <a:alpha val="5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92CE92-466D-40DB-A6BD-59B1D6C2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767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ventana de contexto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19DC9-70FD-4F0B-A619-926EEAE2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815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73CB16-42B5-4676-A9B4-4C534798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434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FF6F7D">
              <a:alpha val="14000"/>
            </a:srgbClr>
          </a:solidFill>
          <a:ln xmlns:a="http://schemas.openxmlformats.org/drawingml/2006/main" w="19050">
            <a:solidFill>
              <a:srgbClr val="FF6F7D">
                <a:alpha val="5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4B6193-017C-4035-A702-4A553291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767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framework específico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56419-C044-4B3F-AA81-B98A3D55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5815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6674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84B530-9C14-4235-9F90-322710D8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91150"/>
            <a:ext cx="942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Varias secuencias son plausibles; una respuesta fluida puede elegir el modo equivocado.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084B5C-034C-47C3-88A2-282C608E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distribución mezclada sobre intenciones Z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A24B61-E02A-4AB6-8C56-B6819F5F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pic>
        <p:nvPicPr>
          <p:cNvPr id="47" name="Ecuación s11_mixt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7067cf5d841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44431" y="2266950"/>
            <a:ext cx="6903138" cy="666750"/>
          </a:xfrm>
          <a:prstGeom xmlns:a="http://schemas.openxmlformats.org/drawingml/2006/main" prst="rect">
            <a:avLst/>
          </a:prstGeom>
        </p:spPr>
      </p:pic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E231841-7D5F-42C0-85B2-B16C99AB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62072"/>
            <a:ext cx="10058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  <a:ea typeface="Aptos"/>
                <a:cs typeface="Aptos"/>
              </a:rPr>
              <a:t>Z intención latente · z hipótesis de intención · la salida marginaliza interpretaciones posibles</a:t>
            </a:r>
          </a:p>
        </p:txBody>
      </p:sp>
    </p:spTree>
    <p:extLst>
      <p:ext uri="{BB962C8B-B14F-4D97-AF65-F5344CB8AC3E}">
        <p14:creationId xmlns:p14="http://schemas.microsoft.com/office/powerpoint/2010/main" val="2084356144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E878A9-3EB1-4521-8032-104C2C7E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17 / PROPAGACIÓN DEL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051C5-616D-4B0B-AFCC-CCA41ECC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7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La incertidumbre combina intención y respuesta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E4CE31-5AC3-4EB8-80CF-FC07ED4C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5476E-3C6A-4E59-8EE6-75D8365E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2B9AF3-71CD-4303-84AB-AF9B4DE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981450"/>
            <a:ext cx="762000" cy="11811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5E0D0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25466-F276-446C-94D3-4DAA4BEB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2578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AE257-2A50-47B9-9B23-5B245D5E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459736-535A-46EA-B177-39743AF8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981450"/>
            <a:ext cx="762000" cy="1033463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769F4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745FF-3716-4215-B361-F2C6BCAB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10163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8C9D3D-D617-42A7-8815-CADE6CA6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E4DACE-748F-4A09-B933-73EACF5E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981450"/>
            <a:ext cx="762000" cy="738188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B66E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A3DA6D-8705-4578-AAB7-90437D09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814888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532D8-713A-45BF-B40E-C2A533A9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867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multimodal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7C1DFD-5F4C-481E-9A99-57834DA9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438650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El modelo no está “confundido”: está promediando respuestas válidas bajo intenciones diferentes.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481A4F-C904-488D-92FF-8B8C8A57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regla de la cadena de entropía y multimodalidad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6FB55B-BB09-4B04-946A-A497233B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pic>
        <p:nvPicPr>
          <p:cNvPr id="42" name="Ecuación s12_chain_ru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4af0f86b4a45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64088" y="2084831"/>
            <a:ext cx="9233343" cy="566928"/>
          </a:xfrm>
          <a:prstGeom xmlns:a="http://schemas.openxmlformats.org/drawingml/2006/main" prst="rect">
            <a:avLst/>
          </a:prstGeom>
        </p:spPr>
      </p:pic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C0A50DA-ECA2-4BA5-88E4-B63875C9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706624"/>
            <a:ext cx="9006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incertidumbre total  =  intención no resuelta  +  respuesta condicionada a Z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F2599DE-6462-4945-8275-6E0C57BB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26664"/>
            <a:ext cx="9006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  <a:ea typeface="Aptos"/>
                <a:cs typeface="Aptos"/>
              </a:rPr>
              <a:t>H entropía · X consulta · C contexto · Z intención · Y respuesta</a:t>
            </a:r>
          </a:p>
        </p:txBody>
      </p:sp>
    </p:spTree>
    <p:extLst>
      <p:ext uri="{BB962C8B-B14F-4D97-AF65-F5344CB8AC3E}">
        <p14:creationId xmlns:p14="http://schemas.microsoft.com/office/powerpoint/2010/main" val="17025060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515855-C79D-401F-B722-E87D3CF3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18 /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DA542-150B-4B55-93A8-AADBF649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La query ambigua cae entre clústeres semánticos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4CD45-0533-43C2-AAC7-F6A603AE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F8CE88-66E3-4794-8DA9-BCE9A8FC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retriever devuelve evidencia de varios sentidos; el ranking se vuelve inestable.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77E7C-C07C-457E-B712-0743F82D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52600"/>
            <a:ext cx="4552950" cy="3238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66D7B-7318-4D21-BC1A-4756E8F5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590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E06AF3-A880-4E39-B002-C252E7CD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05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F4984-3C17-4A77-A40D-50BE6CFD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81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29338-F7EF-46CC-89EB-62D57018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702B7-91B4-4DC7-AFCD-6A8FF028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5205A-B55D-4C8F-9F09-5259BCD3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EF12F-6603-474F-8ACF-EF3C4460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76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512444-1329-4CEF-A028-B46F1749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352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CBF6D8-A683-40A6-8B47-23EC4B83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7528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689BDB-9DDF-46AC-8299-5F08FEBC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429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9C0C78-1A95-403E-BD37-B0FC78F1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A98DD1-21C9-4986-A4D5-E1C2C8B6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9433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105516-9130-4683-B2E2-43131B81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62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5C44C0-B05B-4461-B26A-45D419E9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3CB1AC-76C0-419E-9987-0DAD1E13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810500" y="2790825"/>
            <a:ext cx="1238250" cy="561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5E0D0">
                <a:alpha val="60000"/>
              </a:srgbClr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9110E6-E3E1-4AA3-A9A0-23166D0E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52800"/>
            <a:ext cx="100965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769F4">
                <a:alpha val="60000"/>
              </a:srgbClr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0484F5-4F4E-4192-BB96-54DBF2AA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910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memoria del agente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19AE5D-1FF3-45EE-8747-F030C5AC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910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memoria informática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A80470-A3E2-4127-A214-FCED00CD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aproximación conceptual del embedding y margen de similitud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03C1C-EE91-4AAE-A424-7B7D6354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pic>
        <p:nvPicPr>
          <p:cNvPr id="59" name="Ecuación s13_embeddi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05207e804540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66900"/>
            <a:ext cx="2762250" cy="552450"/>
          </a:xfrm>
          <a:prstGeom xmlns:a="http://schemas.openxmlformats.org/drawingml/2006/main" prst="rect">
            <a:avLst/>
          </a:prstGeom>
        </p:spPr>
      </p:pic>
      <p:pic>
        <p:nvPicPr>
          <p:cNvPr id="60" name="Ecuación s13_margi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c9dfd15df641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515061"/>
            <a:ext cx="5619750" cy="532478"/>
          </a:xfrm>
          <a:prstGeom xmlns:a="http://schemas.openxmlformats.org/drawingml/2006/main" prst="rect">
            <a:avLst/>
          </a:prstGeom>
        </p:spPr>
      </p:pic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CCA505B9-D14E-448B-88EC-72C2A355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36192"/>
            <a:ext cx="1444752" cy="246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0F8"/>
          </a:solidFill>
          <a:ln xmlns:a="http://schemas.openxmlformats.org/drawingml/2006/main" w="12700">
            <a:solidFill>
              <a:srgbClr val="7065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APROX. CONCEPTUAL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AF5554BE-74AE-4463-830B-F46642CD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5112"/>
            <a:ext cx="51663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  <a:ea typeface="Aptos"/>
                <a:cs typeface="Aptos"/>
              </a:rPr>
              <a:t>eₓ embedding · s similitud · C⁺ candidato relevante · C⁻ distractor · Δ margen</a:t>
            </a:r>
          </a:p>
        </p:txBody>
      </p:sp>
    </p:spTree>
    <p:extLst>
      <p:ext uri="{BB962C8B-B14F-4D97-AF65-F5344CB8AC3E}">
        <p14:creationId xmlns:p14="http://schemas.microsoft.com/office/powerpoint/2010/main" val="187712996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32BA90-800C-4185-A609-4269A45B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19 / RERANKING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500DB8-91DA-42CC-9AB7-704CF7E9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75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El reranker casi no puede separar intenciones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8E8323-0842-4E55-B428-78F4A1C8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14955-36D0-42E2-81AD-F387F23C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24150"/>
            <a:ext cx="4095750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45E0D0">
              <a:alpha val="10000"/>
            </a:srgbClr>
          </a:solidFill>
          <a:ln xmlns:a="http://schemas.openxmlformats.org/drawingml/2006/main" w="19050">
            <a:solidFill>
              <a:srgbClr val="45E0D0">
                <a:alpha val="6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7A4B3-0409-4DC8-8641-1621B7F7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24150"/>
            <a:ext cx="4095750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7769F4">
              <a:alpha val="10000"/>
            </a:srgbClr>
          </a:solidFill>
          <a:ln xmlns:a="http://schemas.openxmlformats.org/drawingml/2006/main" w="19050">
            <a:solidFill>
              <a:srgbClr val="7769F4">
                <a:alpha val="6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D5942-84CE-4D8A-8654-7BAEB3DC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908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Chunk C₁ · intención Z₁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EE60B-BEE6-45AE-9B74-95346294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3524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4000" b="1" i="0">
                <a:solidFill>
                  <a:srgbClr val="3DD6C6"/>
                </a:solidFill>
                <a:latin typeface="Aptos Display"/>
                <a:ea typeface="Aptos Display"/>
                <a:cs typeface="Aptos Display"/>
              </a:rPr>
              <a:t>0.5400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A24AD0-F387-45FD-86C5-1A89F478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Chunk C₂ · intención Z₂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BFA8B-AEFE-4378-8CF4-6DA3CB28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29000"/>
            <a:ext cx="3524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2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4000" b="1" i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0.5375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4B2CC-9CCB-4097-A8E1-8354728E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29200"/>
            <a:ext cx="895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El reranker parece preciso, pero la intención sigue sin estar identificada.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E6E318-467C-46AA-AE63-D3A53A27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ejemplo numérico de scores marginalizados por intención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24C26C-CE7B-465C-A060-BE2A4D1F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pic>
        <p:nvPicPr>
          <p:cNvPr id="34" name="Ecuación s14_rerank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899c856f1f4f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38238" y="1764792"/>
            <a:ext cx="3085044" cy="393192"/>
          </a:xfrm>
          <a:prstGeom xmlns:a="http://schemas.openxmlformats.org/drawingml/2006/main" prst="rect">
            <a:avLst/>
          </a:prstGeom>
        </p:spPr>
      </p:pic>
      <p:pic>
        <p:nvPicPr>
          <p:cNvPr id="35" name="Ecuación s14_prior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a563c06d704a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69698" y="2194560"/>
            <a:ext cx="4022124" cy="320040"/>
          </a:xfrm>
          <a:prstGeom xmlns:a="http://schemas.openxmlformats.org/drawingml/2006/main" prst="rect">
            <a:avLst/>
          </a:prstGeom>
        </p:spPr>
      </p:pic>
      <p:pic>
        <p:nvPicPr>
          <p:cNvPr id="36" name="Ecuación s14_delta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b819baf35045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86375" y="3425605"/>
            <a:ext cx="1619250" cy="368740"/>
          </a:xfrm>
          <a:prstGeom xmlns:a="http://schemas.openxmlformats.org/drawingml/2006/main" prst="rect">
            <a:avLst/>
          </a:prstGeom>
        </p:spPr>
      </p:pic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3DAC688-DE29-495E-A3B7-CD9AFF7A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59552"/>
            <a:ext cx="9966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  <a:ea typeface="Aptos"/>
                <a:cs typeface="Aptos"/>
              </a:rPr>
              <a:t>sᵢ score marginal · Cᵢ chunk · Z intención latente · p(Z=z|X) peso de cada interpretación</a:t>
            </a:r>
          </a:p>
        </p:txBody>
      </p:sp>
    </p:spTree>
    <p:extLst>
      <p:ext uri="{BB962C8B-B14F-4D97-AF65-F5344CB8AC3E}">
        <p14:creationId xmlns:p14="http://schemas.microsoft.com/office/powerpoint/2010/main" val="135815428"/>
      </p:ext>
    </p:extLst>
  </p:cSld>
</p:sld>
</file>

<file path=ppt/slides/slide2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CA4958-93D5-44DF-89CA-1A523F27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20 / GENERACIÓN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F0424-DF37-42A4-95D4-64B2E48E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8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Contexto correcto no equivale a intención correcta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E71DE-3FE3-48F8-9224-668AD4B4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E576D-1725-4D9B-B578-B41276E9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95650"/>
            <a:ext cx="247650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5E0D0">
                <a:alpha val="7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37EA2-C399-461E-80D6-171198CC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333750" y="3962400"/>
            <a:ext cx="2476500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>
                <a:alpha val="7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0C73C9-CA2B-4094-A63A-2DB91922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95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B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DB2C4B-217C-4341-B7FA-BDEC1CD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647950" cy="10477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B10CC1-37E6-4ECA-9A05-79E1877F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2647950" cy="10477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037AF-C1B3-4A00-9025-D2E12A08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CZ₁ · válido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13C40-0064-4201-9FA8-8DE32DAB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para intención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D58D5-9CB8-4376-8183-42A20C01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CZ₂ · válido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C99325-AB75-496C-9F83-514A0D11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29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para intención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28E193-6715-47F4-B951-75F3CDB5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05150"/>
            <a:ext cx="2286000" cy="1524000"/>
          </a:xfrm>
          <a:prstGeom xmlns:a="http://schemas.openxmlformats.org/drawingml/2006/main" prst="roundRect">
            <a:avLst>
              <a:gd name="adj" fmla="val 1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2F0EA-8AED-4586-8D40-78DAA775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956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137F8-084C-414E-8E66-314B71AA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171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4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elige · mezcla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generaliza · alarga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7312BA-48A6-4B5A-8A18-F482B1EA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248025"/>
            <a:ext cx="1524000" cy="1143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3591E6-BDC8-4650-884F-58FFBE1F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004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A65A"/>
                </a:solidFill>
                <a:latin typeface="Aptos Display"/>
                <a:ea typeface="Aptos Display"/>
                <a:cs typeface="Aptos Display"/>
              </a:rPr>
              <a:t>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424A3-69E9-4CC8-87D2-7F625033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467350"/>
            <a:ext cx="942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Los primeros tokens pueden fijar una interpretación sin nueva evidencia del usuario.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6D8ACA-E12C-4D17-A5DF-52F77CC4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contexto heterogéneo y auto-condicionamiento autoregresivo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09E975-2599-4B70-9AFD-DD95FB9D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0785334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50FC12-ACFF-4A32-92ED-C304023C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21 / LÍMITE TEÓRICO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B904C6-6ACD-4057-BD4E-0894AF81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Sin nueva información, existe un error irreducible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E03E5B-BC48-427D-AD3B-079FF906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7BC68-F358-4279-B63C-6E7F386E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81200"/>
            <a:ext cx="5905500" cy="21907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F6364D-48BA-4737-8479-AF9D70B1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629150"/>
            <a:ext cx="923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No toda respuesta errónea ante una query ambigua es falta de capacidad del LLM.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236A6E-EF9E-4658-BB63-DBD92FB7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410200"/>
            <a:ext cx="771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101526"/>
                </a:solidFill>
                <a:latin typeface="Aptos"/>
                <a:ea typeface="Aptos"/>
                <a:cs typeface="Aptos"/>
              </a:rPr>
              <a:t>A veces el dato que falta no está en el contexto: </a:t>
            </a:r>
            <a:r>
              <a:rPr sz="1800" b="1">
                <a:solidFill>
                  <a:srgbClr val="101526"/>
                </a:solidFill>
                <a:latin typeface="Aptos"/>
                <a:ea typeface="Aptos"/>
                <a:cs typeface="Aptos"/>
              </a:rPr>
              <a:t>está en la intención del usuario.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39685-9B92-4FC7-AC98-74EDFC77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riesgo Bayesiano mínimo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CB7A0-9201-4084-8653-BE8D186B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pic>
        <p:nvPicPr>
          <p:cNvPr id="30" name="Ecuación s16_prior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e3c6692ae043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3000" y="2113060"/>
            <a:ext cx="2857500" cy="479230"/>
          </a:xfrm>
          <a:prstGeom xmlns:a="http://schemas.openxmlformats.org/drawingml/2006/main" prst="rect">
            <a:avLst/>
          </a:prstGeom>
        </p:spPr>
      </p:pic>
      <p:pic>
        <p:nvPicPr>
          <p:cNvPr id="31" name="Ecuación s16_prior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a5c50472a44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3000" y="2875060"/>
            <a:ext cx="2857500" cy="479230"/>
          </a:xfrm>
          <a:prstGeom xmlns:a="http://schemas.openxmlformats.org/drawingml/2006/main" prst="rect">
            <a:avLst/>
          </a:prstGeom>
        </p:spPr>
      </p:pic>
      <p:pic>
        <p:nvPicPr>
          <p:cNvPr id="32" name="Ecuación s16_baye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b93a607984f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3415" y="2343150"/>
            <a:ext cx="4363669" cy="571500"/>
          </a:xfrm>
          <a:prstGeom xmlns:a="http://schemas.openxmlformats.org/drawingml/2006/main" prst="rect">
            <a:avLst/>
          </a:prstGeom>
        </p:spPr>
      </p:pic>
      <p:pic>
        <p:nvPicPr>
          <p:cNvPr id="33" name="Ecuación s16_resul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28d9fa78c5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97719" y="3009900"/>
            <a:ext cx="2235061" cy="800100"/>
          </a:xfrm>
          <a:prstGeom xmlns:a="http://schemas.openxmlformats.org/drawingml/2006/main" prst="rect">
            <a:avLst/>
          </a:prstGeom>
        </p:spPr>
      </p:pic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BFFD2A7-4C90-477E-8376-66FE345D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776472"/>
            <a:ext cx="53492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100">
                <a:solidFill>
                  <a:srgbClr val="C7CEDF"/>
                </a:solidFill>
                <a:latin typeface="Aptos"/>
                <a:ea typeface="Aptos"/>
                <a:cs typeface="Aptos"/>
              </a:rPr>
              <a:t>R★ riesgo Bayesiano mínimo · Z intención · pérdida 0–1</a:t>
            </a:r>
          </a:p>
        </p:txBody>
      </p:sp>
    </p:spTree>
    <p:extLst>
      <p:ext uri="{BB962C8B-B14F-4D97-AF65-F5344CB8AC3E}">
        <p14:creationId xmlns:p14="http://schemas.microsoft.com/office/powerpoint/2010/main" val="155899335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CBCCB8-47F0-492D-8B88-7A8656D9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22 / CLARIFICACIÓN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44311-BCA1-4EC9-AC3A-51D177A0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Aclarar reduce la incertidumbre de intención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3BEFC-9C70-4757-84D1-4CD0B0A2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AF7BD-9C0A-4151-A4F3-B5FBE38C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5429250" cy="3143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F3465-953B-4C17-9CD8-20B19C51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4381500" cy="1333500"/>
          </a:xfrm>
          <a:prstGeom xmlns:a="http://schemas.openxmlformats.org/drawingml/2006/main" prst="roundRect">
            <a:avLst>
              <a:gd name="adj" fmla="val 15714"/>
            </a:avLst>
          </a:prstGeom>
          <a:solidFill xmlns:a="http://schemas.openxmlformats.org/drawingml/2006/main">
            <a:srgbClr val="45E0D0">
              <a:alpha val="12000"/>
            </a:srgbClr>
          </a:solidFill>
          <a:ln xmlns:a="http://schemas.openxmlformats.org/drawingml/2006/main" w="19050">
            <a:solidFill>
              <a:srgbClr val="45E0D0">
                <a:alpha val="5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B03D8-71AB-448E-B3B1-CDF1F2E7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33850"/>
            <a:ext cx="381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Pregunta clave: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«¿Te refieres a la ventana del LLM o a la memoria del agente?»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CC3A2-C214-49D0-AAEA-95A7B7E9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Clarify When Necessary (Zhang &amp; Choi, 2023), Fig. 1; context.md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8A3DE5-E259-4750-9FB6-4032720C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pic>
        <p:nvPicPr>
          <p:cNvPr id="38" name="Ecuación s17_informati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2844371d947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2486426"/>
            <a:ext cx="4667250" cy="380197"/>
          </a:xfrm>
          <a:prstGeom xmlns:a="http://schemas.openxmlformats.org/drawingml/2006/main" prst="rect">
            <a:avLst/>
          </a:prstGeom>
        </p:spPr>
      </p:pic>
      <p:pic>
        <p:nvPicPr>
          <p:cNvPr id="39" name="Ecuación s17_questi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e1eff9f1f642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4684" y="3105150"/>
            <a:ext cx="3182382" cy="514350"/>
          </a:xfrm>
          <a:prstGeom xmlns:a="http://schemas.openxmlformats.org/drawingml/2006/main" prst="rect">
            <a:avLst/>
          </a:prstGeom>
        </p:spPr>
      </p:pic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3967EEE-692C-4F61-B2DD-5DE8F7E0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84448"/>
            <a:ext cx="4434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q pregunta · Z intención · I ganancia de información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5E9187-A324-46FA-A52F-43D354A9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562350"/>
            <a:ext cx="1714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E96A3"/>
          </a:solidFill>
          <a:ln xmlns:a="http://schemas.openxmlformats.org/drawingml/2006/main" w="9525">
            <a:solidFill>
              <a:srgbClr val="4E96A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5194C7-15DE-48BC-A524-B43D9168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562350"/>
            <a:ext cx="1714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E96A3"/>
          </a:solidFill>
          <a:ln xmlns:a="http://schemas.openxmlformats.org/drawingml/2006/main" w="9525">
            <a:solidFill>
              <a:srgbClr val="4E96A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C5DB5D-D804-4EAB-8CDF-E1967CB7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62350"/>
            <a:ext cx="1714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E96A3"/>
          </a:solidFill>
          <a:ln xmlns:a="http://schemas.openxmlformats.org/drawingml/2006/main" w="9525">
            <a:solidFill>
              <a:srgbClr val="4E96A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357FDF-8679-43A3-920B-3C6A1ACE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86125"/>
            <a:ext cx="1123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4F6"/>
          </a:solidFill>
          <a:ln xmlns:a="http://schemas.openxmlformats.org/drawingml/2006/main" w="14288">
            <a:solidFill>
              <a:srgbClr val="4E96A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Consulta</a:t>
            </a:r>
          </a:p>
          <a:p xmlns:a="http://schemas.openxmlformats.org/drawingml/2006/main"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q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075554-D85C-4C14-89E7-02439B82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286125"/>
            <a:ext cx="1123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14288">
            <a:solidFill>
              <a:srgbClr val="E971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Intención</a:t>
            </a:r>
          </a:p>
          <a:p xmlns:a="http://schemas.openxmlformats.org/drawingml/2006/main"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Z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0791DD-6E79-4C10-8DDA-BA0B6B16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86125"/>
            <a:ext cx="1123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EF7EE"/>
          </a:solidFill>
          <a:ln xmlns:a="http://schemas.openxmlformats.org/drawingml/2006/main" w="14288">
            <a:solidFill>
              <a:srgbClr val="5D8C5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Pregunta</a:t>
            </a:r>
          </a:p>
          <a:p xmlns:a="http://schemas.openxmlformats.org/drawingml/2006/main"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clarificadora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90587D-7E6E-4815-8685-B0B8180F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86125"/>
            <a:ext cx="1123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E4A5A"/>
          </a:solidFill>
          <a:ln xmlns:a="http://schemas.openxmlformats.org/drawingml/2006/main" w="14288">
            <a:solidFill>
              <a:srgbClr val="0E4A5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Respuesta</a:t>
            </a:r>
          </a:p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evidencia</a:t>
            </a:r>
          </a:p>
        </p:txBody>
      </p:sp>
    </p:spTree>
    <p:extLst>
      <p:ext uri="{BB962C8B-B14F-4D97-AF65-F5344CB8AC3E}">
        <p14:creationId xmlns:p14="http://schemas.microsoft.com/office/powerpoint/2010/main" val="1990080455"/>
      </p:ext>
    </p:extLst>
  </p:cSld>
</p:sld>
</file>

<file path=ppt/slides/slide2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4ECBD8-472B-4085-A083-5A7B9D99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23 / POLÍTICA DE INTERACCIÓN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6B045-8346-41BA-A2CF-BAC9FC51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5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Conviene preguntar cuando el error cuesta más que interactuar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66491-C917-458B-8F87-F66B1921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77E12-279A-4304-8AB5-D2EE1BB0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76550"/>
            <a:ext cx="4524375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93BC19-FF6C-4C1F-BB35-BCCBA751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76550"/>
            <a:ext cx="4524375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92FBB-9BCE-45D8-BE22-23FA2D3E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05150"/>
            <a:ext cx="1143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2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825387-1DA2-44B0-B579-310F9FA8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432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66F96-067B-4BD5-B38E-731C2D29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629025"/>
            <a:ext cx="3667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Bajo riesgo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+ intención dominante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DCF6A-689A-42FF-AB1B-09ECE3F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5770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asumir y explicitar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EEB7A4-E7EE-4878-AC1E-38115952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05150"/>
            <a:ext cx="1047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2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D1891-7AB7-4346-8575-DFDCA73B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4325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389F9E-4BFB-4EA8-98E5-0FC1A4CB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29025"/>
            <a:ext cx="3667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Alto costo de error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+ margen bajo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E925EF-C9E6-4EFA-958D-0ED10622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5770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preguntar antes de recuperar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752FD1-AA80-4825-9A9B-FA705E6C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9590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 i="0">
                <a:solidFill>
                  <a:srgbClr val="BEC6DB"/>
                </a:solidFill>
                <a:latin typeface="Aptos"/>
                <a:ea typeface="Aptos"/>
                <a:cs typeface="Aptos"/>
              </a:defRPr>
            </a:pPr>
            <a:r>
              <a:rPr sz="1300" b="0">
                <a:solidFill>
                  <a:srgbClr val="C7CEDF"/>
                </a:solidFill>
                <a:latin typeface="Aptos"/>
                <a:ea typeface="Aptos"/>
                <a:cs typeface="Aptos"/>
              </a:rPr>
              <a:t>L: pérdida · c_q: costo de preguntar · q: pregunta · A_q: respuesta · Ŷ: decisión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46F23-325F-418A-A8A7-E1BBA4AB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decisión Bayesiana con costo de interacción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36B7-6E40-4728-80C8-8634E054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pic>
        <p:nvPicPr>
          <p:cNvPr id="37" name="Ecuación s18_direc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a55fb139e846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85523" y="1755648"/>
            <a:ext cx="2366913" cy="402336"/>
          </a:xfrm>
          <a:prstGeom xmlns:a="http://schemas.openxmlformats.org/drawingml/2006/main" prst="rect">
            <a:avLst/>
          </a:prstGeom>
        </p:spPr>
      </p:pic>
      <p:pic>
        <p:nvPicPr>
          <p:cNvPr id="38" name="Ecuación s18_clarif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79282b3bec48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88994" y="1755648"/>
            <a:ext cx="3549892" cy="402336"/>
          </a:xfrm>
          <a:prstGeom xmlns:a="http://schemas.openxmlformats.org/drawingml/2006/main" prst="rect">
            <a:avLst/>
          </a:prstGeom>
        </p:spPr>
      </p:pic>
      <p:pic>
        <p:nvPicPr>
          <p:cNvPr id="39" name="Ecuación s18_conditi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e7d7dd715c40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40742" y="2267712"/>
            <a:ext cx="2725756" cy="43891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471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1BC5DE-0C3D-4543-AB23-A87672E7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24 / EVIDENCIA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5EF37-681E-4E86-AE33-2BC5ADD3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El contexto mejora QA, pero casi no induce aclaración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BBCE3-E076-49D4-8000-353388CC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454BF-E14D-468D-942C-D9DDEF8E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6667500" cy="3943350"/>
          </a:xfrm>
          <a:prstGeom xmlns:a="http://schemas.openxmlformats.org/drawingml/2006/main" prst="roundRect">
            <a:avLst>
              <a:gd name="adj" fmla="val 48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1F785-09E4-42A0-80E0-AE51D2F7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28850"/>
            <a:ext cx="1143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C77E3-A2BF-496B-89AE-1F9AAEFF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2669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RESULTADO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03931-643E-41F2-AC3E-AEFD0566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762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QA promedio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11D6E-C97A-44B8-9176-D6A12D66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861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52C97F"/>
                </a:solidFill>
                <a:latin typeface="Aptos Display"/>
                <a:ea typeface="Aptos Display"/>
                <a:cs typeface="Aptos Display"/>
              </a:rPr>
              <a:t>54% → 67%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FD01E-6098-4472-AA1B-5E2E139A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433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no ambiguas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4183B-23C1-4E04-AD8A-17AA9F2C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195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A65A"/>
                </a:solidFill>
                <a:latin typeface="Aptos Display"/>
                <a:ea typeface="Aptos Display"/>
                <a:cs typeface="Aptos Display"/>
              </a:rPr>
              <a:t>46% → 55%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62687-E1EB-46CF-856E-BE9ED32D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76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ambiguas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A15B9-5D37-499B-AB51-79E5FFEE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933950"/>
            <a:ext cx="3190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31FA07-13E6-4E88-85C7-B9B33FE4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143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Preguntas aclaratorias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64D2A-9E32-4BF3-B764-0C957139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46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6674"/>
                </a:solidFill>
                <a:latin typeface="Aptos Display"/>
                <a:ea typeface="Aptos Display"/>
                <a:cs typeface="Aptos Display"/>
              </a:rPr>
              <a:t>0–2.5%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28D900-62A8-48AB-8711-90471238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8640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contexto, en la mayoría de modelos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969B46-FB75-4770-A9AC-8FD6CFA2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Su &amp; Cardie (2026), Fig. 1 y Tablas 6–8; imagen suministrada en el proyecto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8466D4-5B21-4246-8A22-8296D502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1504950" y="2495550"/>
          <a:ext xmlns:a="http://schemas.openxmlformats.org/drawingml/2006/main" cx="5000625" cy="32956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b185f6649641d9"/>
          </a:graphicData>
        </a:graphic>
      </p:graphicFrame>
    </p:spTree>
    <p:extLst>
      <p:ext uri="{BB962C8B-B14F-4D97-AF65-F5344CB8AC3E}">
        <p14:creationId xmlns:p14="http://schemas.microsoft.com/office/powerpoint/2010/main" val="661281920"/>
      </p:ext>
    </p:extLst>
  </p:cSld>
</p:sld>
</file>

<file path=ppt/slides/slide2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AE5709-42AC-4DFC-A84F-827CCDB4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25 / DISEÑO OPERATIVO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79EB8-9C9F-483A-B1F1-643B8FBD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1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Diseña el sistema alrededor de la incertidumbre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20042-D36E-4E8A-9C61-2E045287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B5E11-D615-4D23-85BC-50E33D90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2FF27-6F9E-4308-AD67-B866C876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39A7B8-0A46-48AC-9106-2B19F83D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25EE3-C86E-4519-AC50-CBA145B7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F4A0F-1029-4B13-B353-5C852A92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FFB66E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C56F7-9577-4EA8-8081-70C8D4C7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1B4CC-71C4-4C57-95CD-34D0BD8F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DETECTAR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A630D1-4942-4FFA-B81D-CF574E7E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45E0D0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7D2EEF-2273-496D-8B55-ECF94618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8D44A3-13C4-472F-B8C3-B92F857A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DECIDIR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C3F354-756B-4DE5-B7CD-F9822541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responder / aclarar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5DBE1-B364-4B32-9CA6-025E669B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7769F4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8B4D4-5876-4711-BD3C-BE947E64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07AC02-8A0A-4C63-989B-3D7F7C2D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119B48-8FB6-43E9-B123-0C6FF68F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por intención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9B5D19-2E0F-45F0-B4F4-E2050F33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62D590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BF4924-70BA-4D97-B017-2D3ED4E1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52C97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636B5-7FE0-4131-A64E-C65B9D0F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860D98-BDE8-43A9-A5A5-0D6B7537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con evidencia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F07A2C-4616-43AB-A272-CD42D31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FF6F7D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14812D-9866-45BF-BB71-88BD2A04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6674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CD19DD-E2B1-44AE-ACCF-37E41441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B233B5-8D4C-475C-B377-C554295F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calidad + costo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61E4AB-7E0C-4A6A-923C-4E004309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1009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3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Context Engineering = seleccionar evidencia y decidir cuándo preguntar.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B3FAD3-CC74-473A-AC62-7058AB71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44830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B8C0D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Caso de negocio · Tolerancia al error · Umbral de ambigüedad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8A5BC7-5175-4565-9FD5-EA3BD9A3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Fuentes clave: context.md · survey_context.pdf · Zhang &amp; Choi (2023) · Su &amp; Cardie (2026)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356272-0711-4EA4-9FFC-D3FFE9D3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pic>
        <p:nvPicPr>
          <p:cNvPr id="65" name="Ecuación s20_entrop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2733ec1b6c4d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96068" y="3467100"/>
            <a:ext cx="789214" cy="266700"/>
          </a:xfrm>
          <a:prstGeom xmlns:a="http://schemas.openxmlformats.org/drawingml/2006/main" prst="rect">
            <a:avLst/>
          </a:prstGeom>
        </p:spPr>
      </p:pic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E40CFA9-4FB7-45E5-B005-C3E53A50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9008"/>
            <a:ext cx="45720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  <a:ea typeface="Aptos"/>
                <a:cs typeface="Aptos"/>
              </a:rPr>
              <a:t>H entropía · Z intención · X consulta</a:t>
            </a:r>
          </a:p>
        </p:txBody>
      </p:sp>
    </p:spTree>
    <p:extLst>
      <p:ext uri="{BB962C8B-B14F-4D97-AF65-F5344CB8AC3E}">
        <p14:creationId xmlns:p14="http://schemas.microsoft.com/office/powerpoint/2010/main" val="1735537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118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8ECE71-DDF6-4B6E-A42B-BE72B818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26 / CONCLUSIONES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5E19AF-A3D2-43F5-9CD2-C9B445B8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7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Qué permite concluir el modelo probabilístico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F753BB-1C23-42E5-BD2C-FBD5F80A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58"/>
          </a:solidFill>
          <a:ln xmlns:a="http://schemas.openxmlformats.org/drawingml/2006/main" w="0">
            <a:solidFill>
              <a:srgbClr val="3039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830FC3-EB1E-42C1-AC79-BBC83A36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2000250" cy="27241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242C49"/>
          </a:solidFill>
          <a:ln xmlns:a="http://schemas.openxmlformats.org/drawingml/2006/main" w="13335">
            <a:solidFill>
              <a:srgbClr val="F5A1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300FF-3632-4578-9B3E-9ADCA75E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22839D-C9E0-41CC-937C-96340E75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Contexto discriminativo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15F8EF-598D-4258-A3B3-28726432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71825"/>
            <a:ext cx="1657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Ayuda cuando separa intenciones plausibles; similitud semántica por sí sola no basta.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666347-C655-42D7-9550-A583E85A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29125"/>
            <a:ext cx="1657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14A"/>
          </a:solidFill>
          <a:ln xmlns:a="http://schemas.openxmlformats.org/drawingml/2006/main" w="0">
            <a:solidFill>
              <a:srgbClr val="F5A1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E19F5-00EE-4194-8B84-A1AAFE10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52625"/>
            <a:ext cx="2000250" cy="27241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242C49"/>
          </a:solidFill>
          <a:ln xmlns:a="http://schemas.openxmlformats.org/drawingml/2006/main" w="13335">
            <a:solidFill>
              <a:srgbClr val="33D6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C42E95-55E6-4ABB-A685-710CAAA5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9550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8A43E-737D-448E-922A-CCFED547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7650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Entropía como brújula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E50794-AA00-4205-BB8D-230D3DDE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71825"/>
            <a:ext cx="1657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La incertidumbre residual indica si conviene recuperar, aclarar o responder.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A1A845-74CB-4ACE-BD83-748D2886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429125"/>
            <a:ext cx="1657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6C8"/>
          </a:solidFill>
          <a:ln xmlns:a="http://schemas.openxmlformats.org/drawingml/2006/main" w="0">
            <a:solidFill>
              <a:srgbClr val="33D6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6D9348-C74A-4E39-A24E-BA83F6DB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52625"/>
            <a:ext cx="2000250" cy="27241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242C49"/>
          </a:solidFill>
          <a:ln xmlns:a="http://schemas.openxmlformats.org/drawingml/2006/main" w="13335">
            <a:solidFill>
              <a:srgbClr val="6C63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4546A5-01F5-493D-BD4E-28812E9D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9550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2E90BC-3F80-45DA-9D25-6E601775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7650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Retrieval como cuello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D5C675-347F-4577-A536-25658FF1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71825"/>
            <a:ext cx="1657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Si el documento correcto recibe poco peso, mejorar solo el generador tiene efecto limitado.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33F64A-2437-4951-B3DB-4628B81F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429125"/>
            <a:ext cx="1657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63FF"/>
          </a:solidFill>
          <a:ln xmlns:a="http://schemas.openxmlformats.org/drawingml/2006/main" w="0">
            <a:solidFill>
              <a:srgbClr val="6C63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3C5B44-3E03-4425-B037-CE522A3F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52625"/>
            <a:ext cx="2000250" cy="27241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242C49"/>
          </a:solidFill>
          <a:ln xmlns:a="http://schemas.openxmlformats.org/drawingml/2006/main" w="13335">
            <a:solidFill>
              <a:srgbClr val="49C98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3985B8-1204-4200-B27B-F2E3FFAC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9550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697FB0-6125-4A54-94AD-075A8490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7650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Más contexto ≠ mejor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3FB8C6-7431-4820-A9FB-EC3F7B97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71825"/>
            <a:ext cx="1657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Cada bloque debe aportar información marginal; la redundancia consume ventana sin reducir riesgo.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587CBE-4961-4A38-9697-946718C2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29125"/>
            <a:ext cx="1657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C986"/>
          </a:solidFill>
          <a:ln xmlns:a="http://schemas.openxmlformats.org/drawingml/2006/main" w="0">
            <a:solidFill>
              <a:srgbClr val="49C98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3A3535-495B-4C29-B1C9-17F87F34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952625"/>
            <a:ext cx="2000250" cy="27241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242C49"/>
          </a:solidFill>
          <a:ln xmlns:a="http://schemas.openxmlformats.org/drawingml/2006/main" w="13335">
            <a:solidFill>
              <a:srgbClr val="FF647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FC68A5-2B4C-4F41-87CD-EAADA763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9550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E31B95-E987-4822-9653-064273AA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47650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Aclarar crea evidencia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B73F8A-69CE-4442-A503-4F316EB1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171825"/>
            <a:ext cx="1657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Una pregunta útil incorpora información de intención que no estaba disponible en X ni en C.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8CE686-52C6-4F50-BA23-9F56B103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429125"/>
            <a:ext cx="1657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7C"/>
          </a:solidFill>
          <a:ln xmlns:a="http://schemas.openxmlformats.org/drawingml/2006/main" w="0">
            <a:solidFill>
              <a:srgbClr val="FF647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D7E50F-75E9-4918-82FE-47C7A9DD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076825"/>
            <a:ext cx="9258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A2340"/>
          </a:solidFill>
          <a:ln xmlns:a="http://schemas.openxmlformats.org/drawingml/2006/main" w="11430">
            <a:solidFill>
              <a:srgbClr val="33D6C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22C5EB-A1B7-400A-99FE-CBF94293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38750"/>
            <a:ext cx="868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6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Context Engineering = maximizar información útil por token y preguntar cuando el riesgo Bayesiano supera el costo de interactuar.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B3DE8B-093D-4605-8D77-607B3C58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AA6C4"/>
                </a:solidFill>
                <a:latin typeface="Aptos"/>
                <a:ea typeface="Aptos"/>
                <a:cs typeface="Aptos"/>
              </a:rPr>
              <a:t>Síntesis propia · Bayes · teoría de la información · decisión Bayesiana · RAG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010FDC-964C-4BE3-9D91-1A04F1FA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8652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79728774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118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C879C7-D9DF-4367-86C4-DCD59222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924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B3340"/>
          </a:solidFill>
          <a:ln xmlns:a="http://schemas.openxmlformats.org/drawingml/2006/main" w="9525">
            <a:solidFill>
              <a:srgbClr val="F5A1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052AFE-452C-4396-9D91-10852E37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714375"/>
            <a:ext cx="1828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ANEXOS · DERIVACIONES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5BC6C-ABCC-4208-B141-C1856E9F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38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 las probabilidades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las conclusiones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99501C-A86F-4916-8805-3834FB10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495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6C8"/>
          </a:solidFill>
          <a:ln xmlns:a="http://schemas.openxmlformats.org/drawingml/2006/main" w="0">
            <a:solidFill>
              <a:srgbClr val="33D6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057D37-1DC5-4AFA-BE29-E1A627B0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Desarrollo simbólico · supuestos explícitos · sin depender de ejemplos numéricos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ACEA88-80E4-4649-9A5A-10D9E455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62275"/>
            <a:ext cx="152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415F"/>
          </a:solidFill>
          <a:ln xmlns:a="http://schemas.openxmlformats.org/drawingml/2006/main" w="9525">
            <a:solidFill>
              <a:srgbClr val="5962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92D21A-9FF8-4F73-84FB-5A7B2D3F6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62275"/>
            <a:ext cx="152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415F"/>
          </a:solidFill>
          <a:ln xmlns:a="http://schemas.openxmlformats.org/drawingml/2006/main" w="9525">
            <a:solidFill>
              <a:srgbClr val="5962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6178A-0391-4D36-B7D8-7F6DF430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62275"/>
            <a:ext cx="152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8415F"/>
          </a:solidFill>
          <a:ln xmlns:a="http://schemas.openxmlformats.org/drawingml/2006/main" w="9525">
            <a:solidFill>
              <a:srgbClr val="59627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1D96EE-EF4E-4238-B66A-97EF18D9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24150"/>
            <a:ext cx="952500" cy="7239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C49"/>
          </a:solidFill>
          <a:ln xmlns:a="http://schemas.openxmlformats.org/drawingml/2006/main" w="13335">
            <a:solidFill>
              <a:srgbClr val="F5A1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C24167-D305-4DC7-A590-29294B4F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89560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Bayes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D75F3-54A2-4A57-85D4-17161779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24150"/>
            <a:ext cx="952500" cy="7239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C49"/>
          </a:solidFill>
          <a:ln xmlns:a="http://schemas.openxmlformats.org/drawingml/2006/main" w="13335">
            <a:solidFill>
              <a:srgbClr val="6C63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488221-F050-4CE8-8E00-251A0592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89560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Entropía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494A59-4322-475D-93F9-3CE1AE95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24150"/>
            <a:ext cx="952500" cy="7239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C49"/>
          </a:solidFill>
          <a:ln xmlns:a="http://schemas.openxmlformats.org/drawingml/2006/main" w="13335">
            <a:solidFill>
              <a:srgbClr val="FF647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AFE4A-1EB5-4283-9055-BC4ED6B2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89560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Riesgo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EBA750-4EC2-4C98-9E2D-27D7A934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724150"/>
            <a:ext cx="952500" cy="7239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C49"/>
          </a:solidFill>
          <a:ln xmlns:a="http://schemas.openxmlformats.org/drawingml/2006/main" w="13335">
            <a:solidFill>
              <a:srgbClr val="33D6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9A55F3-750D-476C-B45E-21A6AF35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289560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Decisión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80D985-A7E0-4AF2-B79F-A251A81D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AA6C4"/>
                </a:solidFill>
                <a:latin typeface="Aptos"/>
                <a:ea typeface="Aptos"/>
                <a:cs typeface="Aptos"/>
              </a:rPr>
              <a:t>Anexos matemáticos · notación: X consulta · C contexto · Z intención · Y respuesta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B9B4A8-C929-4052-A639-0C7B04E4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8652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73591137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558F03-A51F-41A9-A5B6-165624F5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A1 / ACTUALIZACIÓN BAYESIANA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F22FB0-2783-4EAD-AB6F-8723C662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El contexto es útil cuando cambia las odds entre intenciones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F577BD-E722-450F-955F-D2FF2D25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A"/>
          </a:solidFill>
          <a:ln xmlns:a="http://schemas.openxmlformats.org/drawingml/2006/main" w="0">
            <a:solidFill>
              <a:srgbClr val="D9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0D237D-9FE9-416B-B094-98566C6C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6762750" cy="392430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002E7-47C3-4ECC-94C0-1190A644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1562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CFF"/>
          </a:solidFill>
          <a:ln xmlns:a="http://schemas.openxmlformats.org/drawingml/2006/main" w="9525">
            <a:solidFill>
              <a:srgbClr val="EEE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89A12-C9D1-4D29-A02F-B4920C77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105025"/>
            <a:ext cx="1466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DESARROLLO LITERAL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3F534-89E8-4FF2-BDF8-6042B8C4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63055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F7FF"/>
          </a:solidFill>
          <a:ln xmlns:a="http://schemas.openxmlformats.org/drawingml/2006/main" w="9525">
            <a:solidFill>
              <a:srgbClr val="D7D2F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rPr>
              <a:t>P(Zᵢ | X,C) = P(C | Zᵢ,X) P(Zᵢ | X) / ∑ⱼ P(C | Zⱼ,X) P(Zⱼ | X)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7AF3D-BE3B-445B-B3ED-B8F2960F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813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Al dividir dos posteriores, el denominador común se cancela: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1A45BB-1216-4E44-BA44-17EF9119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05225"/>
            <a:ext cx="63055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3F9F6"/>
          </a:solidFill>
          <a:ln xmlns:a="http://schemas.openxmlformats.org/drawingml/2006/main" w="9525">
            <a:solidFill>
              <a:srgbClr val="33D6C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P(Z₁ | X,C) / P(Z₂ | X,C)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= [P(Z₁ | X) / P(Z₂ | X)] · [P(C | Z₁,X) / P(C | Z₂,X)]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5519E-317B-496D-BA39-D9E9E4D1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81575"/>
            <a:ext cx="565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odds posteriores = odds previas × factor de Bayes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9FFD74-7D8D-4740-9C38-55D5223C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905000"/>
            <a:ext cx="3714750" cy="3924300"/>
          </a:xfrm>
          <a:prstGeom xmlns:a="http://schemas.openxmlformats.org/drawingml/2006/main" prst="roundRect">
            <a:avLst>
              <a:gd name="adj" fmla="val 4103"/>
            </a:avLst>
          </a:prstGeom>
          <a:solidFill xmlns:a="http://schemas.openxmlformats.org/drawingml/2006/main">
            <a:srgbClr val="EEECFF"/>
          </a:solidFill>
          <a:ln xmlns:a="http://schemas.openxmlformats.org/drawingml/2006/main" w="11430">
            <a:solidFill>
              <a:srgbClr val="6C63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B8EC3F-68F7-4DE6-A1DE-A20B47D9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43125"/>
            <a:ext cx="3219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Lectura de la conclusión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7B7503-E5A6-474F-B0DB-AEAF4486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76525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CFF"/>
          </a:solidFill>
          <a:ln xmlns:a="http://schemas.openxmlformats.org/drawingml/2006/main" w="9525">
            <a:solidFill>
              <a:srgbClr val="6C63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B195F4-BDE5-430E-9B75-4A5311A2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7051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3958BB-BABA-42B6-AC2E-58BABB16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67000"/>
            <a:ext cx="2524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Prior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9FD250-0C95-488B-B766-CEB75D10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952750"/>
            <a:ext cx="2524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P(Zᵢ|X) resume qué intención era plausible antes de añadir C.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86FCD5-FD99-4CD0-88CB-8763E34B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CFF"/>
          </a:solidFill>
          <a:ln xmlns:a="http://schemas.openxmlformats.org/drawingml/2006/main" w="9525">
            <a:solidFill>
              <a:srgbClr val="33D6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3280D1-4E54-457D-8C64-B8FF3B81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6099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44D14-6B00-45D8-BA9F-35BAE51F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571875"/>
            <a:ext cx="2524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Evidencia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9EB53D-5335-44C3-8010-20E7E7EC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857625"/>
            <a:ext cx="2524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P(C|Zᵢ,X) mide cuánto esperaba observar ese contexto bajo cada intención.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0C69D-4242-4856-AEE9-9FD5B381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CFF"/>
          </a:solidFill>
          <a:ln xmlns:a="http://schemas.openxmlformats.org/drawingml/2006/main" w="9525">
            <a:solidFill>
              <a:srgbClr val="F5A1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D4BC7F-87A7-471B-9606-6AD1ADED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6005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6179B3-9C13-41D0-9BCE-5EEE1AE7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562475"/>
            <a:ext cx="2524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Criterio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9182B1-79FA-4634-9E80-389D3AD2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848225"/>
            <a:ext cx="2524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 el factor de Bayes ≈ 1, C no separa Z₁ de Z₂: agrega texto, no decisión.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27CA1F-EF9F-465D-AE0F-22F647FA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Derivación propia · regla de Bayes · comparación de odds posteriores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2152D0-9E79-493B-8AA8-3AA742BD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8652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97348707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118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365513-9F5B-4768-8DF5-A442EB78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A2 / INFORMACIÓN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C38D6-8BA4-47D5-AF96-691733E3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976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 ganancia media de información está acotada por la incertidumbre inicial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AE185F-5654-444C-9DCC-AF9C9DAE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58"/>
          </a:solidFill>
          <a:ln xmlns:a="http://schemas.openxmlformats.org/drawingml/2006/main" w="0">
            <a:solidFill>
              <a:srgbClr val="3039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689924-EFCF-49EF-BEB3-92BC9007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3667125"/>
          </a:xfrm>
          <a:prstGeom xmlns:a="http://schemas.openxmlformats.org/drawingml/2006/main" prst="roundRect">
            <a:avLst>
              <a:gd name="adj" fmla="val 4156"/>
            </a:avLst>
          </a:prstGeom>
          <a:solidFill xmlns:a="http://schemas.openxmlformats.org/drawingml/2006/main">
            <a:srgbClr val="202846"/>
          </a:solidFill>
          <a:ln xmlns:a="http://schemas.openxmlformats.org/drawingml/2006/main" w="11430">
            <a:solidFill>
              <a:srgbClr val="6C63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E43955-082A-493F-AB58-AD04994C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Entropía condicional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792786-D1CF-42B7-BB82-9A1C15B4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4457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171E37"/>
          </a:solidFill>
          <a:ln xmlns:a="http://schemas.openxmlformats.org/drawingml/2006/main" w="9525">
            <a:solidFill>
              <a:srgbClr val="36405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95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95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H(Z|X) = −Σ z∈𝒵  P(z|X) log P(z|X)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81FE5F-345E-402E-855B-0116F51C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57575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Para un contexto observado c: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8F9707-EA88-4A8E-AA48-9EA2E7D6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90950"/>
            <a:ext cx="4457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71E37"/>
          </a:solidFill>
          <a:ln xmlns:a="http://schemas.openxmlformats.org/drawingml/2006/main" w="9525">
            <a:solidFill>
              <a:srgbClr val="36405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0">
                <a:solidFill>
                  <a:srgbClr val="33D6C8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>
                <a:solidFill>
                  <a:srgbClr val="33D6C8"/>
                </a:solidFill>
                <a:latin typeface="Cambria Math"/>
                <a:ea typeface="Cambria Math"/>
                <a:cs typeface="Cambria Math"/>
              </a:rPr>
              <a:t>IG(c) = H(Z|X=x) − H(Z|X=x,C=c)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FCB6F-E8A3-40D9-91E1-2B329E6A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05350"/>
            <a:ext cx="4238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IG(c) puede variar para cada contexto concreto.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14CA30-5624-4C23-A472-7C86C6FA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62150"/>
            <a:ext cx="5543550" cy="3667125"/>
          </a:xfrm>
          <a:prstGeom xmlns:a="http://schemas.openxmlformats.org/drawingml/2006/main" prst="roundRect">
            <a:avLst>
              <a:gd name="adj" fmla="val 4156"/>
            </a:avLst>
          </a:prstGeom>
          <a:solidFill xmlns:a="http://schemas.openxmlformats.org/drawingml/2006/main">
            <a:srgbClr val="202846"/>
          </a:solidFill>
          <a:ln xmlns:a="http://schemas.openxmlformats.org/drawingml/2006/main" w="11430">
            <a:solidFill>
              <a:srgbClr val="33D6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323078-FFD1-4B0D-843A-A2DF725B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5048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Promedio sobre todos los contextos posibles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2BD02-799D-4028-9387-BEA6B4C5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09850"/>
            <a:ext cx="504825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171E37"/>
          </a:solidFill>
          <a:ln xmlns:a="http://schemas.openxmlformats.org/drawingml/2006/main" w="9525">
            <a:solidFill>
              <a:srgbClr val="36405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I(Z;C|X) = 𝔼[IG(C)]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= H(Z|X) − H(Z|X,C)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76728B-BF73-42CB-8C2E-FF266C70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29050"/>
            <a:ext cx="44767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263C"/>
          </a:solidFill>
          <a:ln xmlns:a="http://schemas.openxmlformats.org/drawingml/2006/main" w="9525">
            <a:solidFill>
              <a:srgbClr val="33D6C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325" b="1">
                <a:solidFill>
                  <a:srgbClr val="33D6C8"/>
                </a:solidFill>
                <a:latin typeface="Cambria Math"/>
                <a:ea typeface="Cambria Math"/>
                <a:cs typeface="Cambria Math"/>
              </a:defRPr>
            </a:pPr>
            <a:r>
              <a:rPr sz="2325" b="1">
                <a:solidFill>
                  <a:srgbClr val="33D6C8"/>
                </a:solidFill>
                <a:latin typeface="Cambria Math"/>
                <a:ea typeface="Cambria Math"/>
                <a:cs typeface="Cambria Math"/>
              </a:rPr>
              <a:t>0 ≤ I(Z;C|X) ≤ H(Z|X)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1FB650-6AC0-4D11-A4CC-AA614776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52975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Conclusión: el contexto no puede eliminar más incertidumbre que la que existía. Si I≈0, su aporte medio es redundante.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57C266-9A75-4655-8EA7-37120E2B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AA6C4"/>
                </a:solidFill>
                <a:latin typeface="Aptos"/>
                <a:ea typeface="Aptos"/>
                <a:cs typeface="Aptos"/>
              </a:rPr>
              <a:t>Shannon (1948) · identidad de información mutua condicional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D21076-BFBF-4085-8881-FA64A647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8652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56261784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153E26-E086-4542-B85F-6835338A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A3 / DECISIÓN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BC316B-D9EE-4C9B-833F-C03726E9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7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El umbral de aclaración aparece al comparar dos riesgos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F0F15F-5D76-4700-B521-7DFD4AE9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A"/>
          </a:solidFill>
          <a:ln xmlns:a="http://schemas.openxmlformats.org/drawingml/2006/main" w="0">
            <a:solidFill>
              <a:srgbClr val="D9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D2ACE-C610-4BB0-8572-8C7602AA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23875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FFF3E6"/>
          </a:solidFill>
          <a:ln xmlns:a="http://schemas.openxmlformats.org/drawingml/2006/main" w="11430">
            <a:solidFill>
              <a:srgbClr val="F5A1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DCE768-2E25-40EB-8A94-FEDE73630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3125"/>
            <a:ext cx="1123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8EF"/>
          </a:solidFill>
          <a:ln xmlns:a="http://schemas.openxmlformats.org/drawingml/2006/main" w="9525">
            <a:solidFill>
              <a:srgbClr val="F5A14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4FB807-6C50-4398-B84D-4E8D4941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17170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C96C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6C0D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22622B-A568-4A4D-8D2A-5EF16CF4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Rᵣₑₛₚ = Lw (1 − pₘₐₓ)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4FC12B-EC10-4B8B-9D1C-092E30AA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28975"/>
            <a:ext cx="4629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pₘₐₓ = max sobre z de P(z|X,C) · Lw = pérdida de equivocarse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F808E1-C885-451C-A028-2E8948A1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52625"/>
            <a:ext cx="5238750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E3F9F6"/>
          </a:solidFill>
          <a:ln xmlns:a="http://schemas.openxmlformats.org/drawingml/2006/main" w="11430">
            <a:solidFill>
              <a:srgbClr val="33D6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4937A-90A7-41E6-BE3D-0ABFEA02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43125"/>
            <a:ext cx="1028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FFC"/>
          </a:solidFill>
          <a:ln xmlns:a="http://schemas.openxmlformats.org/drawingml/2006/main" w="9525">
            <a:solidFill>
              <a:srgbClr val="33D6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05E52C-5526-4839-8FCF-62862E6F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1717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ADA1ED-3ABF-4279-AF81-DB0A51FB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09850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Rₐcₗₐᵣ = c(q) + Lw ε(q)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4DB965-EC1E-4F3B-BF9A-79ED8EAF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28975"/>
            <a:ext cx="4629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c(q) = costo de preguntar · ε(q) = error residual después de la respuesta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B89545-15E6-4FEA-8782-CAC67E7B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005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Aclarar si Rₐcₗₐᵣ &lt; Rᵣₑₛₚ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41AE77-BAB8-4ABF-B55C-C9A61560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00550"/>
            <a:ext cx="7048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EECFF"/>
          </a:solidFill>
          <a:ln xmlns:a="http://schemas.openxmlformats.org/drawingml/2006/main" w="9525">
            <a:solidFill>
              <a:srgbClr val="6C63F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rPr>
              <a:t>c(q) + Lw ε(q) &lt; Lw(1 − pₘₐₓ)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1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rPr>
              <a:t>⇒  pₘₐₓ &lt; 1 − c(q)/Lw − ε(q)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FEE22-BB2E-4335-95BE-2EB0A778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53075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pregunta óptima minimiza costo + riesgo posterior esperado:   q* = arg min sobre q de [c(q) + 𝔼 R*(X,C,A(q))]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77DCF5-0F21-4161-8283-EA1B1058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Derivación propia · pérdida 0–1 generalizada por costo de error e interacción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61E361-9E47-462D-A334-7AF9A03A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8652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05794272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4E379A-417D-4900-8F9D-B5C5EC72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A4 / RAG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27031-0410-481E-81E4-4C263EA7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recuperación y la generación intervienen en operaciones distintas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52BEE-71F4-455C-906D-8563CF44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A"/>
          </a:solidFill>
          <a:ln xmlns:a="http://schemas.openxmlformats.org/drawingml/2006/main" w="0">
            <a:solidFill>
              <a:srgbClr val="D9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53A6E-84AA-406B-8762-E085690E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08204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4407B7-11F1-4248-A306-308A9595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Marginalizar documentos y factorizar tokens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473914-E162-4800-9DB5-6368DFE9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193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P(Y=y₁:T | X,D) = Σ d∈D  P(d|X,D) · Π t=1…T  P(yₜ | y&lt;ₜ,X,d)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208A8-5A42-4345-ACFB-925BA9EA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5191125" cy="2333625"/>
          </a:xfrm>
          <a:prstGeom xmlns:a="http://schemas.openxmlformats.org/drawingml/2006/main" prst="roundRect">
            <a:avLst>
              <a:gd name="adj" fmla="val 6531"/>
            </a:avLst>
          </a:prstGeom>
          <a:solidFill xmlns:a="http://schemas.openxmlformats.org/drawingml/2006/main">
            <a:srgbClr val="E3F9F6"/>
          </a:solidFill>
          <a:ln xmlns:a="http://schemas.openxmlformats.org/drawingml/2006/main" w="11430">
            <a:solidFill>
              <a:srgbClr val="33D6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A8493B-0461-4E0F-BEE1-61928C5A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5285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Caso simbólico con dos documentos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DC7AB7-D274-4EA5-B04E-A75ED690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62425"/>
            <a:ext cx="4695825" cy="790575"/>
          </a:xfrm>
          <a:prstGeom xmlns:a="http://schemas.openxmlformats.org/drawingml/2006/main" prst="roundRect">
            <a:avLst>
              <a:gd name="adj" fmla="val 14458"/>
            </a:avLst>
          </a:prstGeom>
          <a:solidFill xmlns:a="http://schemas.openxmlformats.org/drawingml/2006/main">
            <a:srgbClr val="F4FFFD"/>
          </a:solidFill>
          <a:ln xmlns:a="http://schemas.openxmlformats.org/drawingml/2006/main" w="9525">
            <a:solidFill>
              <a:srgbClr val="A8ECE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974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P(Y*) = p·g₁ + (1−p)·g₂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= g₂ + p(g₁−g₂)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5C3991-CBAD-482E-86E9-5CB1A067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53025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 = peso del documento d₁ · gᵢ = P(Y*|X,dᵢ)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CF839-B6B0-4D3E-B654-6199CFF1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571875"/>
            <a:ext cx="5286375" cy="2333625"/>
          </a:xfrm>
          <a:prstGeom xmlns:a="http://schemas.openxmlformats.org/drawingml/2006/main" prst="roundRect">
            <a:avLst>
              <a:gd name="adj" fmla="val 6531"/>
            </a:avLst>
          </a:prstGeom>
          <a:solidFill xmlns:a="http://schemas.openxmlformats.org/drawingml/2006/main">
            <a:srgbClr val="EEECFF"/>
          </a:solidFill>
          <a:ln xmlns:a="http://schemas.openxmlformats.org/drawingml/2006/main" w="11430">
            <a:solidFill>
              <a:srgbClr val="6C63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099384-593D-4F3D-8668-AF6B6E6C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7528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Sensibilidad marginal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E71677-3EFE-4C19-8675-02818DC5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162425"/>
            <a:ext cx="4791075" cy="790575"/>
          </a:xfrm>
          <a:prstGeom xmlns:a="http://schemas.openxmlformats.org/drawingml/2006/main" prst="roundRect">
            <a:avLst>
              <a:gd name="adj" fmla="val 14458"/>
            </a:avLst>
          </a:prstGeom>
          <a:solidFill xmlns:a="http://schemas.openxmlformats.org/drawingml/2006/main">
            <a:srgbClr val="FAF9FF"/>
          </a:solidFill>
          <a:ln xmlns:a="http://schemas.openxmlformats.org/drawingml/2006/main" w="9525">
            <a:solidFill>
              <a:srgbClr val="D7D2F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939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1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∂P(Y*)/∂p = g₁−g₂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1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1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∂P(Y*)/∂g₁ = 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1D767F-CE43-4B8A-A826-2C8305F0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054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 g₁−g₂ es grande y p es pequeño, reasignar masa al documento correcto puede rendir más que refinar el generador.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AE3A17-A121-4BB1-A911-524ACD1B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Lewis et al. (2020) · descomposición propia de sensibilidad de una mezcla RAG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8B333D-1528-4642-A792-C84E5296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8652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87186775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118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87CCAA-E844-4576-8259-E1CA9282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A5 / EFECTO LOCAL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D25C75-2A50-4583-A1CB-A2258B9F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8422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Un contexto concreto puede aumentar la incertidumbre aunque el promedio disminuya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04CAB4-DC9E-495A-BF7E-9D4541DB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58"/>
          </a:solidFill>
          <a:ln xmlns:a="http://schemas.openxmlformats.org/drawingml/2006/main" w="0">
            <a:solidFill>
              <a:srgbClr val="3039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E3DC06-0E1D-470F-9422-DCABE37E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143500" cy="3762375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202846"/>
          </a:solidFill>
          <a:ln xmlns:a="http://schemas.openxmlformats.org/drawingml/2006/main" w="11430">
            <a:solidFill>
              <a:srgbClr val="33D6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58253-EE17-464C-89D5-AF2290C3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43125"/>
            <a:ext cx="4572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La desigualdad es un promedio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D78F3-91DD-4EFE-B12C-A473DFEC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47950"/>
            <a:ext cx="44196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171E37"/>
          </a:solidFill>
          <a:ln xmlns:a="http://schemas.openxmlformats.org/drawingml/2006/main" w="9525">
            <a:solidFill>
              <a:srgbClr val="36405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40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40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H(Z|X,C) ≤ H(Z|X)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0A796-7245-4898-B615-D2340ACE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90925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Pero para un valor específico c: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C8FCD3-EC4F-4837-AF83-008A27C3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419600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71E37"/>
          </a:solidFill>
          <a:ln xmlns:a="http://schemas.openxmlformats.org/drawingml/2006/main" w="9525">
            <a:solidFill>
              <a:srgbClr val="36405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0">
                <a:solidFill>
                  <a:srgbClr val="F5A14A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F5A14A"/>
                </a:solidFill>
                <a:latin typeface="Cambria Math"/>
                <a:ea typeface="Cambria Math"/>
                <a:cs typeface="Cambria Math"/>
              </a:rPr>
              <a:t>ΔH(c)=H(Z|x,c)−H(Z|x)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5E7192-F157-4AB6-BF09-17EAB442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57750"/>
            <a:ext cx="445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Nada impide que ΔH(c)&gt;0 para una observación particular.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791FB5-654D-4065-9BD3-FF85299A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52625"/>
            <a:ext cx="5334000" cy="3762375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202846"/>
          </a:solidFill>
          <a:ln xmlns:a="http://schemas.openxmlformats.org/drawingml/2006/main" w="11430">
            <a:solidFill>
              <a:srgbClr val="F5A1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53848E-42FD-4529-BA21-60A8C8B3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43125"/>
            <a:ext cx="4838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Cuándo el contexto vuelve binaria la duda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A0C9B-8156-4B24-A6B6-B0857BC7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4838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171E37"/>
          </a:solidFill>
          <a:ln xmlns:a="http://schemas.openxmlformats.org/drawingml/2006/main" w="9525">
            <a:solidFill>
              <a:srgbClr val="36405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P(Z₁|x,c) = πℓ₁ / [πℓ₁ + (1−π)ℓ₂]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22F891-9542-4706-9F8E-D0E56BD1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57575"/>
            <a:ext cx="4343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donde π=P(Z₁|x) y ℓᵢ=P(c|Zᵢ,x)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7ACBA7-ED1D-4E1E-81B1-14679C84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43350"/>
            <a:ext cx="48387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241F30"/>
          </a:solidFill>
          <a:ln xmlns:a="http://schemas.openxmlformats.org/drawingml/2006/main" w="9525">
            <a:solidFill>
              <a:srgbClr val="F5A14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0">
                <a:solidFill>
                  <a:srgbClr val="F5A14A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>
                <a:solidFill>
                  <a:srgbClr val="F5A14A"/>
                </a:solidFill>
                <a:latin typeface="Cambria Math"/>
                <a:ea typeface="Cambria Math"/>
                <a:cs typeface="Cambria Math"/>
              </a:rPr>
              <a:t>πℓ₁ = (1−π)ℓ₂  ⇒  P(Z₁|x,c)=P(Z₂|x,c)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7E9406-5090-4744-ACA8-B547B3D1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7680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El nuevo contexto puede equilibrar las hipótesis y llevar el posterior hacia máxima ambigüedad.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9F2619-8D85-458A-A187-CA505F89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AA6C4"/>
                </a:solidFill>
                <a:latin typeface="Aptos"/>
                <a:ea typeface="Aptos"/>
                <a:cs typeface="Aptos"/>
              </a:rPr>
              <a:t>Identidad de entropía condicional · derivación Bayesiana para dos hipótesis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2187DB-9D7F-47AE-BBD2-785814D1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8652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92771155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D14589-56C4-4945-8C80-6137C06F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A6 / SELECCIÓN DE CONTEXTO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D2061B-05E2-4514-A0F5-58965342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7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información marginal permite medir utilidad y redundancia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524310-0E1B-4F26-8616-45FF9C10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A"/>
          </a:solidFill>
          <a:ln xmlns:a="http://schemas.openxmlformats.org/drawingml/2006/main" w="0">
            <a:solidFill>
              <a:srgbClr val="D9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9BF41-3754-4731-83EC-F19D37D2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3352800" cy="34290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3F9F6"/>
          </a:solidFill>
          <a:ln xmlns:a="http://schemas.openxmlformats.org/drawingml/2006/main" w="11430">
            <a:solidFill>
              <a:srgbClr val="33D6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0DD552-D0F7-4F89-A0C0-48BB0C68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1123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D6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31F8F5-34C7-4C1B-BBC9-3CC6B350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23837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DENSIDAD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DC4264-F0C6-47A7-901D-46916E46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2933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ρ(C) = I(Y;C|X) / |C|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7B9485-E815-4F2F-84BB-2BD9E04D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71925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Compara información útil con el costo de ventana. Un bloque largo puede tener alta información total y baja densidad.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88B41A-AC24-4BE8-AB88-D23802F6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91125"/>
            <a:ext cx="2552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6C8"/>
          </a:solidFill>
          <a:ln xmlns:a="http://schemas.openxmlformats.org/drawingml/2006/main" w="0">
            <a:solidFill>
              <a:srgbClr val="33D6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0C8FD6-7E7B-487E-BF74-2B56D83B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19300"/>
            <a:ext cx="3352800" cy="34290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ECFF"/>
          </a:solidFill>
          <a:ln xmlns:a="http://schemas.openxmlformats.org/drawingml/2006/main" w="11430">
            <a:solidFill>
              <a:srgbClr val="6C63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60A504-487A-4E7B-8384-61699F88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09800"/>
            <a:ext cx="1123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C63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7B8621-40C6-4193-B3E1-4A0FB048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23837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SELECCIÓN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4C375D-C45B-4957-9738-149001FA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62250"/>
            <a:ext cx="2933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C* = arg max { I(Y;C|X) − λ|C| : C∈𝒞 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F30A35-A75A-4FAF-9B83-CE4B6486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971925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λ traduce el costo de tokens, latencia o atención. El óptimo equilibra valor informativo y presupuesto.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383CC1-5336-4CE6-8352-0371A73E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91125"/>
            <a:ext cx="2552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63FF"/>
          </a:solidFill>
          <a:ln xmlns:a="http://schemas.openxmlformats.org/drawingml/2006/main" w="0">
            <a:solidFill>
              <a:srgbClr val="6C63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ED6BD2-D059-4673-A039-B1688C00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19300"/>
            <a:ext cx="3352800" cy="34290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3E6"/>
          </a:solidFill>
          <a:ln xmlns:a="http://schemas.openxmlformats.org/drawingml/2006/main" w="11430">
            <a:solidFill>
              <a:srgbClr val="F5A1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9E8D74-2CFD-4AB2-8B8D-007BE11D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1123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A1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CC6BB5-6BEC-4A4D-BA86-705F1B5B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23837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REDUNDANCIA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5F6766-E76D-4250-96B3-3E208041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62250"/>
            <a:ext cx="2933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65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I(Y;C₁,C₂|X)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65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= I(Y;C₁|X)+I(Y;C₂|X,C₁)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CF4FB5-EA30-446E-81DD-DB2D124E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71925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 el segundo término es cercano a cero, C₂ repite lo ya explicado por C₁ y aporta poco valor marginal.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7EFDFC-3215-41D9-929A-85864BB9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191125"/>
            <a:ext cx="2552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14A"/>
          </a:solidFill>
          <a:ln xmlns:a="http://schemas.openxmlformats.org/drawingml/2006/main" w="0">
            <a:solidFill>
              <a:srgbClr val="F5A1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88A928-7C8C-4A27-9408-F1422AFD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959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8728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Conclusión operativa: priorizar el siguiente bloque con mayor información condicional, no el más parecido ni el más largo.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8EA085-3BFE-404A-AC32-053AFE17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Regla de la cadena de información mutua · objetivo regularizado por longitud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FE2ED7-B3A9-4E31-B1E2-DBB5F474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8652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58525771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1118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CBE298-898E-4D10-A35B-5DDC7895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A7 / LÍMITE TEÓRICO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A8239-A58B-4E1F-83D2-F272621E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6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El procesamiento no crea información de intención que nunca ingresó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203051-8712-42FD-A73B-F9A94FB4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58"/>
          </a:solidFill>
          <a:ln xmlns:a="http://schemas.openxmlformats.org/drawingml/2006/main" w="0">
            <a:solidFill>
              <a:srgbClr val="3039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8F41BE-9DF1-4127-BF68-29A54C11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6573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32B49"/>
          </a:solidFill>
          <a:ln xmlns:a="http://schemas.openxmlformats.org/drawingml/2006/main" w="14288">
            <a:solidFill>
              <a:srgbClr val="F5A1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3AAE3-12D1-436B-AF4F-DB38D7F4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142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Z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intención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A389E-1AB6-4E78-B6CC-DA3A27C9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47925"/>
            <a:ext cx="5524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6506F"/>
          </a:solidFill>
          <a:ln xmlns:a="http://schemas.openxmlformats.org/drawingml/2006/main" w="9525">
            <a:solidFill>
              <a:srgbClr val="65708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961769-225C-4D0D-A5DE-6097C3F1F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14550"/>
            <a:ext cx="16573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32B49"/>
          </a:solidFill>
          <a:ln xmlns:a="http://schemas.openxmlformats.org/drawingml/2006/main" w="14288">
            <a:solidFill>
              <a:srgbClr val="33D6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D202F6-D9D1-4CAC-9333-708642C8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86000"/>
            <a:ext cx="142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contexto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C1D561-B712-4D44-994B-437F59E8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47925"/>
            <a:ext cx="5524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6506F"/>
          </a:solidFill>
          <a:ln xmlns:a="http://schemas.openxmlformats.org/drawingml/2006/main" w="9525">
            <a:solidFill>
              <a:srgbClr val="65708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D6FA7A-C28B-4F63-B6D0-0B1B18AB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14550"/>
            <a:ext cx="16573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32B49"/>
          </a:solidFill>
          <a:ln xmlns:a="http://schemas.openxmlformats.org/drawingml/2006/main" w="14288">
            <a:solidFill>
              <a:srgbClr val="6C63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027D6F-0905-4067-A922-AC7E04D4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86000"/>
            <a:ext cx="142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razonamiento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EC2C2A-BBAD-49D2-8C53-63CBE6DE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47925"/>
            <a:ext cx="5524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6506F"/>
          </a:solidFill>
          <a:ln xmlns:a="http://schemas.openxmlformats.org/drawingml/2006/main" w="9525">
            <a:solidFill>
              <a:srgbClr val="65708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E5A7B-6AA0-4A05-AC30-228A4AD7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14550"/>
            <a:ext cx="16573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32B49"/>
          </a:solidFill>
          <a:ln xmlns:a="http://schemas.openxmlformats.org/drawingml/2006/main" w="14288">
            <a:solidFill>
              <a:srgbClr val="49C98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9374DD-917A-40D7-BA60-57A8B31F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86000"/>
            <a:ext cx="142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respuesta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A5955-83B5-46A3-A600-CE152727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48025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Cadena de Markov condicionada en 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CCD9B4-CEBB-4420-AA66-E9B68A54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38550"/>
            <a:ext cx="73914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8213B"/>
          </a:solidFill>
          <a:ln xmlns:a="http://schemas.openxmlformats.org/drawingml/2006/main" w="9525">
            <a:solidFill>
              <a:srgbClr val="33D6C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325" b="1">
                <a:solidFill>
                  <a:srgbClr val="33D6C8"/>
                </a:solidFill>
                <a:latin typeface="Cambria Math"/>
                <a:ea typeface="Cambria Math"/>
                <a:cs typeface="Cambria Math"/>
              </a:defRPr>
            </a:pPr>
            <a:r>
              <a:rPr sz="2325" b="1">
                <a:solidFill>
                  <a:srgbClr val="33D6C8"/>
                </a:solidFill>
                <a:latin typeface="Cambria Math"/>
                <a:ea typeface="Cambria Math"/>
                <a:cs typeface="Cambria Math"/>
              </a:rPr>
              <a:t>I(Z;Y|X) ≤ I(Z;R|X) ≤ I(Z;C|X)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9E2C45-A270-4165-A623-A36C4227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5219700" cy="1285875"/>
          </a:xfrm>
          <a:prstGeom xmlns:a="http://schemas.openxmlformats.org/drawingml/2006/main" prst="roundRect">
            <a:avLst>
              <a:gd name="adj" fmla="val 11852"/>
            </a:avLst>
          </a:prstGeom>
          <a:solidFill xmlns:a="http://schemas.openxmlformats.org/drawingml/2006/main">
            <a:srgbClr val="202846"/>
          </a:solidFill>
          <a:ln xmlns:a="http://schemas.openxmlformats.org/drawingml/2006/main" w="11430">
            <a:solidFill>
              <a:srgbClr val="FF647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F45A1-7643-45FA-9737-1DE31461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Límite de error (Fano)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05F603-27B4-4C02-979A-A76B5F30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91125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Pₑ ≥ [H(Z|O) − 1] / log₂K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FF6C48-E8BB-4CB8-B8CC-B1CEFCA3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5219700" cy="1285875"/>
          </a:xfrm>
          <a:prstGeom xmlns:a="http://schemas.openxmlformats.org/drawingml/2006/main" prst="roundRect">
            <a:avLst>
              <a:gd name="adj" fmla="val 11852"/>
            </a:avLst>
          </a:prstGeom>
          <a:solidFill xmlns:a="http://schemas.openxmlformats.org/drawingml/2006/main">
            <a:srgbClr val="202846"/>
          </a:solidFill>
          <a:ln xmlns:a="http://schemas.openxmlformats.org/drawingml/2006/main" w="11430">
            <a:solidFill>
              <a:srgbClr val="33D6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7955E7-7444-4549-807E-A8DB7AF7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57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Por qué preguntar sí ayuda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7C5F2B-3629-4225-8FCB-23970E0F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191125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65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I(Z;C,A(q)|X)=I(Z;C|X)+I(Z;A(q)|X,C)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8244D6-7DC9-4725-88DD-81A32BEB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AA6C4"/>
                </a:solidFill>
                <a:latin typeface="Aptos"/>
                <a:ea typeface="Aptos"/>
                <a:cs typeface="Aptos"/>
              </a:rPr>
              <a:t>Desigualdad de procesamiento de datos · desigualdad de Fano · regla de la cadena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FF8276-DA34-4649-A22C-AF06F0C3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8652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02114121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8781BA-B55E-4355-B77D-E6B66B00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A8 / LECTURA DE EVIDENCIA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926F09-6483-44B3-98BE-08A00618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81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brecha de ambigüedad puede analizarse sin depender de porcentajes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E2C8C7-835F-426C-A5AA-57C08E6A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A"/>
          </a:solidFill>
          <a:ln xmlns:a="http://schemas.openxmlformats.org/drawingml/2006/main" w="0">
            <a:solidFill>
              <a:srgbClr val="D9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F3B354-E325-4C19-AA75-FBA797CF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095875" cy="3857625"/>
          </a:xfrm>
          <a:prstGeom xmlns:a="http://schemas.openxmlformats.org/drawingml/2006/main" prst="roundRect">
            <a:avLst>
              <a:gd name="adj" fmla="val 3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9D2D07-5F03-40BA-BCF5-C2D9D618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43125"/>
            <a:ext cx="4572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Definiciones simbólicas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D8BEB3-72D7-44E8-ACBF-BFBDDDF3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09850"/>
            <a:ext cx="460057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EECFF"/>
          </a:solidFill>
          <a:ln xmlns:a="http://schemas.openxmlformats.org/drawingml/2006/main" w="9525">
            <a:solidFill>
              <a:srgbClr val="D7D2F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Qₙ⁰, Qₐ⁰ : calidad sin contexto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Qₙᶜ, Qₐᶜ : calidad con contexto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0ED35D-E025-494B-AEBF-B2FFED10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52825"/>
            <a:ext cx="436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 = consultas no ambiguas · A = consultas ambiguas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B57ACD-9DDC-414B-A7E1-5A732FF9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57650"/>
            <a:ext cx="4600575" cy="828675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3F9F6"/>
          </a:solidFill>
          <a:ln xmlns:a="http://schemas.openxmlformats.org/drawingml/2006/main" w="9525">
            <a:solidFill>
              <a:srgbClr val="33D6C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0">
                <a:solidFill>
                  <a:srgbClr val="33D6C8"/>
                </a:solidFill>
                <a:latin typeface="Cambria Math"/>
                <a:ea typeface="Cambria Math"/>
                <a:cs typeface="Cambria Math"/>
              </a:defRPr>
            </a:pPr>
            <a:r>
              <a:rPr sz="2100" b="0">
                <a:solidFill>
                  <a:srgbClr val="33D6C8"/>
                </a:solidFill>
                <a:latin typeface="Cambria Math"/>
                <a:ea typeface="Cambria Math"/>
                <a:cs typeface="Cambria Math"/>
              </a:rPr>
              <a:t>Δₙ = Qₙᶜ − Qₙ⁰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100" b="0">
                <a:solidFill>
                  <a:srgbClr val="33D6C8"/>
                </a:solidFill>
                <a:latin typeface="Cambria Math"/>
                <a:ea typeface="Cambria Math"/>
                <a:cs typeface="Cambria Math"/>
              </a:defRPr>
            </a:pPr>
            <a:r>
              <a:rPr sz="2100" b="0">
                <a:solidFill>
                  <a:srgbClr val="33D6C8"/>
                </a:solidFill>
                <a:latin typeface="Cambria Math"/>
                <a:ea typeface="Cambria Math"/>
                <a:cs typeface="Cambria Math"/>
              </a:rPr>
              <a:t>Δₐ = Qₐᶜ − Qₐ⁰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7A8936-DE1C-4272-B9CB-2D0F1B80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05400"/>
            <a:ext cx="436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Δ mide el lift atribuible a añadir contexto dentro de cada grupo.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8FBFD4-77CF-4396-B806-9AEC1167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952625"/>
            <a:ext cx="5381625" cy="3857625"/>
          </a:xfrm>
          <a:prstGeom xmlns:a="http://schemas.openxmlformats.org/drawingml/2006/main" prst="roundRect">
            <a:avLst>
              <a:gd name="adj" fmla="val 3951"/>
            </a:avLst>
          </a:prstGeom>
          <a:solidFill xmlns:a="http://schemas.openxmlformats.org/drawingml/2006/main">
            <a:srgbClr val="FFF3E6"/>
          </a:solidFill>
          <a:ln xmlns:a="http://schemas.openxmlformats.org/drawingml/2006/main" w="11430">
            <a:solidFill>
              <a:srgbClr val="F5A1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3D9AFF-3A09-4EC1-B384-3317E78D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143125"/>
            <a:ext cx="48863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C96C0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96C0D"/>
                </a:solidFill>
                <a:latin typeface="Aptos"/>
                <a:ea typeface="Aptos"/>
                <a:cs typeface="Aptos"/>
              </a:rPr>
              <a:t>Identidad para la brecha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CDAD6-9FB9-4980-BC22-11865C0B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609850"/>
            <a:ext cx="48863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D7AD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G₀ = Qₙ⁰ − Qₐ⁰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G꜀ = Qₙᶜ − Qₐᶜ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A33669-08CB-4000-909A-9A386703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67125"/>
            <a:ext cx="44672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Restando ambas brechas: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E00C5B-5071-4178-9999-35F5884C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057650"/>
            <a:ext cx="43148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0F3"/>
          </a:solidFill>
          <a:ln xmlns:a="http://schemas.openxmlformats.org/drawingml/2006/main" w="9525">
            <a:solidFill>
              <a:srgbClr val="FF647C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250" b="1">
                <a:solidFill>
                  <a:srgbClr val="FF647C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1">
                <a:solidFill>
                  <a:srgbClr val="FF647C"/>
                </a:solidFill>
                <a:latin typeface="Cambria Math"/>
                <a:ea typeface="Cambria Math"/>
                <a:cs typeface="Cambria Math"/>
              </a:rPr>
              <a:t>G꜀ − G₀ = Δₙ − Δₐ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C92FEB-33AF-449C-A761-431587C3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895850"/>
            <a:ext cx="44672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 Δₙ &gt; Δₐ, el contexto mejora ambos grupos, pero amplía la brecha de ambigüedad. Es señal de que falta inferir Z o preguntar.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CDCD8F-09E9-49AB-899A-C555FF48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Reexpresión algebraica de la evidencia agregada del deck · interpretación no causal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2E8C3B-AE50-4BA6-8033-4061B6BD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8652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3851310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2026-07-29T00:43:51.4740000Z</dcterms:created>
  <dcterms:modified xsi:type="dcterms:W3CDTF">2026-07-29T00:43:51.4740000Z</dcterms:modified>
</coreProperties>
</file>