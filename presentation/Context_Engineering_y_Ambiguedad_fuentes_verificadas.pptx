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charts/chart1.xml" ContentType="application/vnd.openxmlformats-officedocument.drawingml.chart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</p:sldIdLst>
  <p:sldSz cx="12192000" cy="6858000"/>
  <p:notesSz cx="6858000" cy="9144000"/>
  <p:defaultTextStyle>
    <a:defPPr>
      <a:defRPr lang="es-P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notesMaster" Target="notesMasters/notesMaster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s-E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v>Sin contexto</c:v>
          </c:tx>
          <c:spPr>
            <a:solidFill>
              <a:srgbClr val="AFC8CE"/>
            </a:solidFill>
            <a:ln w="9525">
              <a:solidFill>
                <a:srgbClr val="8AABB4"/>
              </a:solidFill>
              <a:prstDash val="solid"/>
            </a:ln>
          </c:spPr>
          <c:invertIfNegative val="1"/>
          <c:dLbls>
            <c:spPr>
              <a:noFill/>
              <a:ln>
                <a:noFill/>
              </a:ln>
              <a:effectLst/>
            </c:spPr>
            <c:txPr>
              <a:bodyPr anchorCtr="1"/>
              <a:lstStyle/>
              <a:p>
                <a:pPr>
                  <a:defRPr sz="900" b="1">
                    <a:solidFill>
                      <a:srgbClr val="0F172A"/>
                    </a:solidFill>
                  </a:defRPr>
                </a:pPr>
                <a:endParaRPr lang="es-PE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2"/>
              <c:pt idx="0">
                <c:v>No ambigua</c:v>
              </c:pt>
              <c:pt idx="1">
                <c:v>Ambigua</c:v>
              </c:pt>
            </c:strLit>
          </c:cat>
          <c:val>
            <c:numLit>
              <c:formatCode>0"%"</c:formatCode>
              <c:ptCount val="2"/>
              <c:pt idx="0">
                <c:v>54</c:v>
              </c:pt>
              <c:pt idx="1">
                <c:v>46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 w="9525">
                    <a:solidFill>
                      <a:srgbClr val="8AABB4"/>
                    </a:solidFill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ADE2-4417-A29D-FF6CB4133A5D}"/>
            </c:ext>
          </c:extLst>
        </c:ser>
        <c:ser>
          <c:idx val="1"/>
          <c:order val="1"/>
          <c:tx>
            <c:v>Con contexto</c:v>
          </c:tx>
          <c:spPr>
            <a:solidFill>
              <a:srgbClr val="156082"/>
            </a:solidFill>
            <a:ln w="9525">
              <a:solidFill>
                <a:srgbClr val="0E4A5A"/>
              </a:solidFill>
              <a:prstDash val="solid"/>
            </a:ln>
          </c:spPr>
          <c:invertIfNegative val="1"/>
          <c:dLbls>
            <c:spPr>
              <a:noFill/>
              <a:ln>
                <a:noFill/>
              </a:ln>
              <a:effectLst/>
            </c:spPr>
            <c:txPr>
              <a:bodyPr anchorCtr="1"/>
              <a:lstStyle/>
              <a:p>
                <a:pPr>
                  <a:defRPr sz="900" b="1">
                    <a:solidFill>
                      <a:srgbClr val="0F172A"/>
                    </a:solidFill>
                  </a:defRPr>
                </a:pPr>
                <a:endParaRPr lang="es-PE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2"/>
              <c:pt idx="0">
                <c:v>No ambigua</c:v>
              </c:pt>
              <c:pt idx="1">
                <c:v>Ambigua</c:v>
              </c:pt>
            </c:strLit>
          </c:cat>
          <c:val>
            <c:numLit>
              <c:formatCode>0"%"</c:formatCode>
              <c:ptCount val="2"/>
              <c:pt idx="0">
                <c:v>67</c:v>
              </c:pt>
              <c:pt idx="1">
                <c:v>55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 w="9525">
                    <a:solidFill>
                      <a:srgbClr val="0E4A5A"/>
                    </a:solidFill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ADE2-4417-A29D-FF6CB4133A5D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52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w="9525">
              <a:solidFill>
                <a:srgbClr val="E2E8F0"/>
              </a:solidFill>
              <a:prstDash val="solid"/>
            </a:ln>
          </c:spPr>
        </c:majorGridlines>
        <c:numFmt formatCode="General" sourceLinked="1"/>
        <c:majorTickMark val="none"/>
        <c:minorTickMark val="none"/>
        <c:tickLblPos val="nextTo"/>
        <c:spPr>
          <a:ln w="9525">
            <a:solidFill>
              <a:srgbClr val="CBD5E1"/>
            </a:solidFill>
            <a:prstDash val="solid"/>
          </a:ln>
        </c:spPr>
        <c:txPr>
          <a:bodyPr anchorCtr="1"/>
          <a:lstStyle/>
          <a:p>
            <a:pPr>
              <a:defRPr sz="825">
                <a:solidFill>
                  <a:srgbClr val="64748B"/>
                </a:solidFill>
              </a:defRPr>
            </a:pPr>
            <a:endParaRPr lang="es-PE"/>
          </a:p>
        </c:txPr>
        <c:crossAx val="48672768"/>
        <c:crosses val="autoZero"/>
        <c:auto val="1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0&quot;%&quot;" sourceLinked="1"/>
        <c:majorTickMark val="none"/>
        <c:minorTickMark val="none"/>
        <c:tickLblPos val="nextTo"/>
        <c:spPr>
          <a:ln w="9525">
            <a:solidFill>
              <a:srgbClr val="CBD5E1"/>
            </a:solidFill>
            <a:prstDash val="solid"/>
          </a:ln>
        </c:spPr>
        <c:txPr>
          <a:bodyPr anchorCtr="1"/>
          <a:lstStyle/>
          <a:p>
            <a:pPr>
              <a:defRPr sz="975" b="1">
                <a:solidFill>
                  <a:srgbClr val="334155"/>
                </a:solidFill>
              </a:defRPr>
            </a:pPr>
            <a:endParaRPr lang="es-PE"/>
          </a:p>
        </c:txPr>
        <c:crossAx val="48650112"/>
        <c:crosses val="autoZero"/>
        <c:crossBetween val="between"/>
      </c:valAx>
      <c:spPr>
        <a:solidFill>
          <a:srgbClr val="FFFFFF"/>
        </a:solidFill>
        <a:ln w="0">
          <a:solidFill>
            <a:srgbClr val="FFFFFF"/>
          </a:solidFill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900">
              <a:solidFill>
                <a:srgbClr val="475569"/>
              </a:solidFill>
            </a:defRPr>
          </a:pPr>
          <a:endParaRPr lang="es-PE"/>
        </a:p>
      </c:txPr>
    </c:legend>
    <c:plotVisOnly val="1"/>
    <c:dispBlanksAs val="zero"/>
    <c:showDLblsOverMax val="1"/>
  </c:chart>
  <c:spPr>
    <a:solidFill>
      <a:srgbClr val="FFFFFF"/>
    </a:solidFill>
    <a:ln w="0">
      <a:solidFill>
        <a:srgbClr val="FFFFFF"/>
      </a:solidFill>
      <a:prstDash val="solid"/>
    </a:ln>
  </c:spPr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Clasificación: Apertura y tesis narrativa; diagrama conceptual propio..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Clasificación: Ejemplo ilustrativo, no resultado empírico..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Clasificación: Definición y figura citadas..</a:t>
            </a:r>
          </a:p>
          <a:p>
            <a:r>
              <a:t>- Mei et al. (2025), A Survey of Context Engineering for Large Language Models, arXiv:2507.13334v2. https://arxiv.org/abs/2507.13334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Clasificación: Componentes citados del survey; composición visual propia..</a:t>
            </a:r>
          </a:p>
          <a:p>
            <a:r>
              <a:t>- Mei et al. (2025), A Survey of Context Engineering for Large Language Models, arXiv:2507.13334v2. https://arxiv.org/abs/2507.13334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Clasificación: Ecuación 3 y restricción citadas; advertencia editorial propia..</a:t>
            </a:r>
          </a:p>
          <a:p>
            <a:r>
              <a:t>- Mei et al. (2025), A Survey of Context Engineering for Large Language Models, arXiv:2507.13334v2. https://arxiv.org/abs/2507.13334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Clasificación: Identidad autoregresiva; ejemplo de garantía ilustrativo..</a:t>
            </a:r>
          </a:p>
          <a:p>
            <a:r>
              <a:t>- Mei et al. (2025), A Survey of Context Engineering for Large Language Models, arXiv:2507.13334v2. https://arxiv.org/abs/2507.13334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Clasificación: Identidad matemática de información mutua condicional..</a:t>
            </a:r>
          </a:p>
          <a:p>
            <a:r>
              <a:t>- Shannon (1948), A Mathematical Theory of Communication. https://doi.org/10.1002/j.1538-7305.1948.tb01338.x</a:t>
            </a:r>
          </a:p>
          <a:p>
            <a:r>
              <a:t>- Cover &amp; Thomas (2006), Elements of Information Theory.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Clasificación: Comparación de dos formulaciones citadas..</a:t>
            </a:r>
          </a:p>
          <a:p>
            <a:r>
              <a:t>- Mei et al. (2025), A Survey of Context Engineering for Large Language Models, arXiv:2507.13334v2. https://arxiv.org/abs/2507.13334</a:t>
            </a:r>
          </a:p>
          <a:p>
            <a:r>
              <a:t>- Nagle et al. (2024), Fundamental Limits of Prompt Compression: A Rate-Distortion Framework for Black-Box Language Models, NeurIPS 2024. https://proceedings.neurips.cc/paper/2024/hash/ac8fbba029dadca99d6b8c3f913d3ed6-Abstract-Conference.html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Clasificación: Ecuación RAG citada; diagrama explicativo propio..</a:t>
            </a:r>
          </a:p>
          <a:p>
            <a:r>
              <a:t>- Lewis et al. (2020), Retrieval-Augmented Generation for Knowledge-Intensive NLP Tasks. https://arxiv.org/abs/2005.11401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Clasificación: Comparación basada en las definiciones de las fuentes..</a:t>
            </a:r>
          </a:p>
          <a:p>
            <a:r>
              <a:t>- Mei et al. (2025), A Survey of Context Engineering for Large Language Models, arXiv:2507.13334v2. https://arxiv.org/abs/2507.13334</a:t>
            </a:r>
          </a:p>
          <a:p>
            <a:r>
              <a:t>- Lewis et al. (2020), Retrieval-Augmented Generation for Knowledge-Intensive NLP Tasks. https://arxiv.org/abs/2005.11401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Clasificación: Ecuación y arquitectura RAG citadas..</a:t>
            </a:r>
          </a:p>
          <a:p>
            <a:r>
              <a:t>- Lewis et al. (2020), Retrieval-Augmented Generation for Knowledge-Intensive NLP Tasks. https://arxiv.org/abs/2005.11401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Clasificación: Ecuación de atención citada; distinción retrieval/atención derivada..</a:t>
            </a:r>
          </a:p>
          <a:p>
            <a:r>
              <a:t>- Vaswani et al. (2017), Attention Is All You Need. https://arxiv.org/abs/1706.03762</a:t>
            </a:r>
          </a:p>
          <a:p>
            <a:r>
              <a:t>- Mei et al. (2025), A Survey of Context Engineering for Large Language Models, arXiv:2507.13334v2. https://arxiv.org/abs/2507.13334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Clasificación: Resultado empírico e identidad matemática separados..</a:t>
            </a:r>
          </a:p>
          <a:p>
            <a:r>
              <a:t>- Wei et al. (2022), Chain-of-Thought Prompting Elicits Reasoning in Large Language Models. https://arxiv.org/abs/2201.11903</a:t>
            </a:r>
          </a:p>
          <a:p>
            <a:r>
              <a:t>- Cover &amp; Thomas (2006), Elements of Information Theory.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Clasificación: Taxonomía abreviada y ejemplos parafraseados; preprint..</a:t>
            </a:r>
          </a:p>
          <a:p>
            <a:r>
              <a:t>- Su &amp; Cardie (2026), Knowing but Not Showing: LLMs Recognize Ambiguity but Rarely Ask Clarifying Questions, preprint. https://arxiv.org/abs/2605.25284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Clasificación: Transición narrativa y modelamiento propio de Z..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Clasificación: Ley de probabilidad total; ejemplo ilustrativo..</a:t>
            </a:r>
          </a:p>
          <a:p>
            <a:r>
              <a:t>- Cover &amp; Thomas (2006), Elements of Information Theory.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Clasificación: Identidad matemática y lectura operacional derivada..</a:t>
            </a:r>
          </a:p>
          <a:p>
            <a:r>
              <a:t>- Cover &amp; Thomas (2006), Elements of Information Theory.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Clasificación: Esquema conceptual informado por RAG y entropía de intención..</a:t>
            </a:r>
          </a:p>
          <a:p>
            <a:r>
              <a:t>- Lewis et al. (2020), Retrieval-Augmented Generation for Knowledge-Intensive NLP Tasks. https://arxiv.org/abs/2005.11401</a:t>
            </a:r>
          </a:p>
          <a:p>
            <a:r>
              <a:t>- Zhang &amp; Choi (2025), Clarify When Necessary: Resolving Ambiguity Through Interaction with LMs, Findings of NAACL 2025. https://aclanthology.org/2025.naacl-findings.306/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Clasificación: Derivación simbólica; no contiene scores empíricos..</a:t>
            </a:r>
          </a:p>
          <a:p>
            <a:r>
              <a:t>- Cover &amp; Thomas (2006), Elements of Information Theory.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Clasificación: Implicación del modelo latente; diagrama conceptual propio..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Clasificación: Riesgo Bayesiano con pérdida 0–1; derivación..</a:t>
            </a:r>
          </a:p>
          <a:p>
            <a:r>
              <a:t>- Berger (1985), Statistical Decision Theory and Bayesian Analysis.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Clasificación: Criterio de información para seleccionar preguntas..</a:t>
            </a:r>
          </a:p>
          <a:p>
            <a:r>
              <a:t>- Deits et al. (2013), Clarifying Commands with Information-Theoretic Human-Robot Dialog. https://people.csail.mit.edu/stefie10/publications/deits13.pdf</a:t>
            </a:r>
          </a:p>
          <a:p>
            <a:r>
              <a:t>- Zhang &amp; Choi (2025), Clarify When Necessary: Resolving Ambiguity Through Interaction with LMs, Findings of NAACL 2025. https://aclanthology.org/2025.naacl-findings.306/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Clasificación: Comparación de acciones mediante riesgo Bayesiano; derivación..</a:t>
            </a:r>
          </a:p>
          <a:p>
            <a:r>
              <a:t>- Berger (1985), Statistical Decision Theory and Bayesian Analysis.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Clasificación: Resultado empírico citado y rotulado como preprint..</a:t>
            </a:r>
          </a:p>
          <a:p>
            <a:r>
              <a:t>- Su &amp; Cardie (2026), Knowing but Not Showing: LLMs Recognize Ambiguity but Rarely Ask Clarifying Questions, preprint. https://arxiv.org/abs/2605.25284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Clasificación: Síntesis operacional derivada de las fuentes..</a:t>
            </a:r>
          </a:p>
          <a:p>
            <a:r>
              <a:t>- Mei et al. (2025), A Survey of Context Engineering for Large Language Models, arXiv:2507.13334v2. https://arxiv.org/abs/2507.13334</a:t>
            </a:r>
          </a:p>
          <a:p>
            <a:r>
              <a:t>- Zhang &amp; Choi (2025), Clarify When Necessary: Resolving Ambiguity Through Interaction with LMs, Findings of NAACL 2025. https://aclanthology.org/2025.naacl-findings.306/</a:t>
            </a:r>
          </a:p>
          <a:p>
            <a:r>
              <a:t>- Su &amp; Cardie (2026), Knowing but Not Showing: LLMs Recognize Ambiguity but Rarely Ask Clarifying Questions, preprint. https://arxiv.org/abs/2605.25284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Clasificación: Ejemplo conceptual; no resultado empírico..</a:t>
            </a:r>
          </a:p>
          <a:p>
            <a:r>
              <a:t>- Zhang &amp; Choi (2025), Clarify When Necessary: Resolving Ambiguity Through Interaction with LMs, Findings of NAACL 2025. https://aclanthology.org/2025.naacl-findings.306/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Clasificación: Síntesis; cada punto se desarrolla en anexos..</a:t>
            </a:r>
          </a:p>
          <a:p>
            <a:r>
              <a:t>- Mei et al. (2025), A Survey of Context Engineering for Large Language Models, arXiv:2507.13334v2. https://arxiv.org/abs/2507.13334</a:t>
            </a:r>
          </a:p>
          <a:p>
            <a:r>
              <a:t>- Nagle et al. (2024), Fundamental Limits of Prompt Compression: A Rate-Distortion Framework for Black-Box Language Models, NeurIPS 2024. https://proceedings.neurips.cc/paper/2024/hash/ac8fbba029dadca99d6b8c3f913d3ed6-Abstract-Conference.html</a:t>
            </a:r>
          </a:p>
          <a:p>
            <a:r>
              <a:t>- Lewis et al. (2020), Retrieval-Augmented Generation for Knowledge-Intensive NLP Tasks. https://arxiv.org/abs/2005.11401</a:t>
            </a:r>
          </a:p>
          <a:p>
            <a:r>
              <a:t>- Deits et al. (2013), Clarifying Commands with Information-Theoretic Human-Robot Dialog. https://people.csail.mit.edu/stefie10/publications/deits13.pdf</a:t>
            </a:r>
          </a:p>
          <a:p>
            <a:r>
              <a:t>- Zhang &amp; Choi (2025), Clarify When Necessary: Resolving Ambiguity Through Interaction with LMs, Findings of NAACL 2025. https://aclanthology.org/2025.naacl-findings.306/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Clasificación: Separador de anexos; sin afirmaciones externas..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Clasificación: Derivación de la regla de Bayes..</a:t>
            </a:r>
          </a:p>
          <a:p>
            <a:r>
              <a:t>- Cover &amp; Thomas (2006), Elements of Information Theory.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Clasificación: Identidad de información mutua condicional..</a:t>
            </a:r>
          </a:p>
          <a:p>
            <a:r>
              <a:t>- Shannon (1948), A Mathematical Theory of Communication. https://doi.org/10.1002/j.1538-7305.1948.tb01338.x</a:t>
            </a:r>
          </a:p>
          <a:p>
            <a:r>
              <a:t>- Cover &amp; Thomas (2006), Elements of Information Theory.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Clasificación: Derivación de umbral bajo pérdida 0–1..</a:t>
            </a:r>
          </a:p>
          <a:p>
            <a:r>
              <a:t>- Berger (1985), Statistical Decision Theory and Bayesian Analysis.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Clasificación: Fórmula RAG citada y sensibilidad derivada..</a:t>
            </a:r>
          </a:p>
          <a:p>
            <a:r>
              <a:t>- Lewis et al. (2020), Retrieval-Augmented Generation for Knowledge-Intensive NLP Tasks. https://arxiv.org/abs/2005.11401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Clasificación: Diferencia entre promedio y observación puntual..</a:t>
            </a:r>
          </a:p>
          <a:p>
            <a:r>
              <a:t>- Cover &amp; Thomas (2006), Elements of Information Theory.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Clasificación: Dos formulaciones citadas y una forma Lagrangiana derivada..</a:t>
            </a:r>
          </a:p>
          <a:p>
            <a:r>
              <a:t>- Mei et al. (2025), A Survey of Context Engineering for Large Language Models, arXiv:2507.13334v2. https://arxiv.org/abs/2507.13334</a:t>
            </a:r>
          </a:p>
          <a:p>
            <a:r>
              <a:t>- Nagle et al. (2024), Fundamental Limits of Prompt Compression: A Rate-Distortion Framework for Black-Box Language Models, NeurIPS 2024. https://proceedings.neurips.cc/paper/2024/hash/ac8fbba029dadca99d6b8c3f913d3ed6-Abstract-Conference.html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Clasificación: Identidades matemáticas bajo el supuesto de Markov indicado..</a:t>
            </a:r>
          </a:p>
          <a:p>
            <a:r>
              <a:t>- Cover &amp; Thomas (2006), Elements of Information Theory.</a:t>
            </a:r>
          </a:p>
          <a:p>
            <a:r>
              <a:t>- Deits et al. (2013), Clarifying Commands with Information-Theoretic Human-Robot Dialog. https://people.csail.mit.edu/stefie10/publications/deits13.pdf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Clasificación: Matriz editorial de trazabilidad; no añade resultados..</a:t>
            </a:r>
          </a:p>
          <a:p>
            <a:r>
              <a:t>- Mei et al. (2025), A Survey of Context Engineering for Large Language Models, arXiv:2507.13334v2. https://arxiv.org/abs/2507.13334</a:t>
            </a:r>
          </a:p>
          <a:p>
            <a:r>
              <a:t>- Nagle et al. (2024), Fundamental Limits of Prompt Compression: A Rate-Distortion Framework for Black-Box Language Models, NeurIPS 2024. https://proceedings.neurips.cc/paper/2024/hash/ac8fbba029dadca99d6b8c3f913d3ed6-Abstract-Conference.html</a:t>
            </a:r>
          </a:p>
          <a:p>
            <a:r>
              <a:t>- Lewis et al. (2020), Retrieval-Augmented Generation for Knowledge-Intensive NLP Tasks. https://arxiv.org/abs/2005.11401</a:t>
            </a:r>
          </a:p>
          <a:p>
            <a:r>
              <a:t>- Zhang &amp; Choi (2025), Clarify When Necessary: Resolving Ambiguity Through Interaction with LMs, Findings of NAACL 2025. https://aclanthology.org/2025.naacl-findings.306/</a:t>
            </a:r>
          </a:p>
          <a:p>
            <a:r>
              <a:t>- Deits et al. (2013), Clarifying Commands with Information-Theoretic Human-Robot Dialog. https://people.csail.mit.edu/stefie10/publications/deits13.pdf</a:t>
            </a:r>
          </a:p>
          <a:p>
            <a:r>
              <a:t>- Su &amp; Cardie (2026), Knowing but Not Showing: LLMs Recognize Ambiguity but Rarely Ask Clarifying Questions, preprint. https://arxiv.org/abs/2605.25284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8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9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1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0B1020"/>
            </a:gs>
            <a:gs pos="58000">
              <a:srgbClr val="151B33"/>
            </a:gs>
            <a:gs pos="100000">
              <a:srgbClr val="252A55"/>
            </a:gs>
          </a:gsLst>
          <a:lin ang="8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Elipse 24">
            <a:extLst>
              <a:ext uri="{FF2B5EF4-FFF2-40B4-BE49-F238E27FC236}">
                <a16:creationId xmlns:a16="http://schemas.microsoft.com/office/drawing/2014/main" id="{668E6363-E16B-41EB-A49F-6C509F7F6495}"/>
              </a:ext>
            </a:extLst>
          </p:cNvPr>
          <p:cNvSpPr>
            <a:spLocks noGrp="1"/>
          </p:cNvSpPr>
          <p:nvPr/>
        </p:nvSpPr>
        <p:spPr>
          <a:xfrm>
            <a:off x="8001000" y="904875"/>
            <a:ext cx="4000500" cy="4000500"/>
          </a:xfrm>
          <a:prstGeom prst="ellipse">
            <a:avLst/>
          </a:prstGeom>
          <a:gradFill>
            <a:gsLst>
              <a:gs pos="0">
                <a:srgbClr val="7769F4">
                  <a:alpha val="42000"/>
                </a:srgbClr>
              </a:gs>
              <a:gs pos="72000">
                <a:srgbClr val="7769F4">
                  <a:alpha val="0"/>
                </a:srgbClr>
              </a:gs>
            </a:gsLst>
            <a:path path="shape"/>
          </a:gra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Elipse 1">
            <a:extLst>
              <a:ext uri="{FF2B5EF4-FFF2-40B4-BE49-F238E27FC236}">
                <a16:creationId xmlns:a16="http://schemas.microsoft.com/office/drawing/2014/main" id="{2445CF0B-79BC-43ED-B98D-A46A30310FE1}"/>
              </a:ext>
            </a:extLst>
          </p:cNvPr>
          <p:cNvSpPr>
            <a:spLocks noGrp="1"/>
          </p:cNvSpPr>
          <p:nvPr/>
        </p:nvSpPr>
        <p:spPr>
          <a:xfrm>
            <a:off x="6762750" y="3429000"/>
            <a:ext cx="3429000" cy="3429000"/>
          </a:xfrm>
          <a:prstGeom prst="ellipse">
            <a:avLst/>
          </a:prstGeom>
          <a:gradFill>
            <a:gsLst>
              <a:gs pos="0">
                <a:srgbClr val="45E0D0">
                  <a:alpha val="30000"/>
                </a:srgbClr>
              </a:gs>
              <a:gs pos="72000">
                <a:srgbClr val="45E0D0">
                  <a:alpha val="0"/>
                </a:srgbClr>
              </a:gs>
            </a:gsLst>
            <a:path path="shape"/>
          </a:gra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Rectángulo: esquinas redondeadas 2">
            <a:extLst>
              <a:ext uri="{FF2B5EF4-FFF2-40B4-BE49-F238E27FC236}">
                <a16:creationId xmlns:a16="http://schemas.microsoft.com/office/drawing/2014/main" id="{86F0EF1A-BA7C-4550-95CA-F4F2195E0DD7}"/>
              </a:ext>
            </a:extLst>
          </p:cNvPr>
          <p:cNvSpPr>
            <a:spLocks noGrp="1"/>
          </p:cNvSpPr>
          <p:nvPr/>
        </p:nvSpPr>
        <p:spPr>
          <a:xfrm>
            <a:off x="685800" y="571500"/>
            <a:ext cx="2762250" cy="285750"/>
          </a:xfrm>
          <a:prstGeom prst="roundRect">
            <a:avLst>
              <a:gd name="adj" fmla="val 50000"/>
            </a:avLst>
          </a:prstGeom>
          <a:solidFill>
            <a:srgbClr val="45E0D0">
              <a:alpha val="22000"/>
            </a:srgbClr>
          </a:solidFill>
          <a:ln w="9525">
            <a:solidFill>
              <a:srgbClr val="45E0D0">
                <a:alpha val="45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0C0852A1-DC7C-48F2-9E5E-812E373504EB}"/>
              </a:ext>
            </a:extLst>
          </p:cNvPr>
          <p:cNvSpPr>
            <a:spLocks noGrp="1"/>
          </p:cNvSpPr>
          <p:nvPr/>
        </p:nvSpPr>
        <p:spPr>
          <a:xfrm>
            <a:off x="800100" y="609600"/>
            <a:ext cx="25336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DD6C6"/>
                </a:solidFill>
                <a:latin typeface="Aptos"/>
                <a:ea typeface="Aptos"/>
                <a:cs typeface="Aptos"/>
              </a:rPr>
              <a:t>ESTRATEGIA · RAG · DECISIONES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33DCA87D-7E4A-42F4-9B2F-484246F90B79}"/>
              </a:ext>
            </a:extLst>
          </p:cNvPr>
          <p:cNvSpPr>
            <a:spLocks noGrp="1"/>
          </p:cNvSpPr>
          <p:nvPr/>
        </p:nvSpPr>
        <p:spPr>
          <a:xfrm>
            <a:off x="685800" y="1352550"/>
            <a:ext cx="685800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88000"/>
              </a:lnSpc>
              <a:buNone/>
              <a:defRPr sz="57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5400" b="1">
                <a:solidFill>
                  <a:srgbClr val="F7F8FC"/>
                </a:solidFill>
                <a:latin typeface="Aptos Display"/>
                <a:ea typeface="Aptos Display"/>
                <a:cs typeface="Aptos Display"/>
              </a:rPr>
              <a:t>Context Engineering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4995D148-99ED-4F9C-AEA8-96ABD6D04C11}"/>
              </a:ext>
            </a:extLst>
          </p:cNvPr>
          <p:cNvSpPr>
            <a:spLocks noGrp="1"/>
          </p:cNvSpPr>
          <p:nvPr/>
        </p:nvSpPr>
        <p:spPr>
          <a:xfrm>
            <a:off x="685800" y="2190750"/>
            <a:ext cx="657225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3675" b="1" i="0">
                <a:solidFill>
                  <a:srgbClr val="45E0D0"/>
                </a:solidFill>
                <a:latin typeface="Aptos"/>
                <a:ea typeface="Aptos"/>
                <a:cs typeface="Aptos"/>
              </a:defRPr>
            </a:pPr>
            <a:r>
              <a:rPr sz="3400" b="1" i="0">
                <a:solidFill>
                  <a:srgbClr val="3DD6C6"/>
                </a:solidFill>
                <a:latin typeface="Aptos Display"/>
                <a:ea typeface="Aptos Display"/>
                <a:cs typeface="Aptos Display"/>
              </a:rPr>
              <a:t>y manejo de ambigüedad</a:t>
            </a: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3F0339DB-9AFF-410C-B228-9522E897B106}"/>
              </a:ext>
            </a:extLst>
          </p:cNvPr>
          <p:cNvSpPr>
            <a:spLocks noGrp="1"/>
          </p:cNvSpPr>
          <p:nvPr/>
        </p:nvSpPr>
        <p:spPr>
          <a:xfrm>
            <a:off x="685800" y="3143250"/>
            <a:ext cx="581025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2100" b="0" i="0">
                <a:solidFill>
                  <a:srgbClr val="CDD4E7"/>
                </a:solidFill>
                <a:latin typeface="Aptos"/>
                <a:ea typeface="Aptos"/>
                <a:cs typeface="Aptos"/>
              </a:defRPr>
            </a:pPr>
            <a:r>
              <a:rPr sz="2000" b="0" i="0">
                <a:solidFill>
                  <a:srgbClr val="C7CEDF"/>
                </a:solidFill>
                <a:latin typeface="Aptos"/>
                <a:ea typeface="Aptos"/>
                <a:cs typeface="Aptos"/>
              </a:rPr>
              <a:t>Diseñar la información que el modelo necesita — y saber cuándo preguntar.</a:t>
            </a: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E27E30BF-89C8-4850-B361-2AA577B990CF}"/>
              </a:ext>
            </a:extLst>
          </p:cNvPr>
          <p:cNvSpPr>
            <a:spLocks noGrp="1"/>
          </p:cNvSpPr>
          <p:nvPr/>
        </p:nvSpPr>
        <p:spPr>
          <a:xfrm>
            <a:off x="685800" y="5810250"/>
            <a:ext cx="6191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500" b="0" i="0">
                <a:solidFill>
                  <a:srgbClr val="AEB7CE"/>
                </a:solidFill>
                <a:latin typeface="Aptos"/>
                <a:ea typeface="Aptos"/>
                <a:cs typeface="Aptos"/>
              </a:defRPr>
            </a:pPr>
            <a:r>
              <a:rPr sz="1300" b="0">
                <a:solidFill>
                  <a:srgbClr val="C7CEDF"/>
                </a:solidFill>
                <a:latin typeface="Aptos"/>
                <a:ea typeface="Aptos"/>
                <a:cs typeface="Aptos"/>
              </a:rPr>
              <a:t>Kevin Gomez Villanueva  ·  AI Engineer en BCP  ·  Julio 2026</a:t>
            </a:r>
          </a:p>
        </p:txBody>
      </p:sp>
      <p:sp>
        <p:nvSpPr>
          <p:cNvPr id="9" name="Conector recto 8">
            <a:extLst>
              <a:ext uri="{FF2B5EF4-FFF2-40B4-BE49-F238E27FC236}">
                <a16:creationId xmlns:a16="http://schemas.microsoft.com/office/drawing/2014/main" id="{304543B5-D8F6-445E-8B61-D262757A7A7D}"/>
              </a:ext>
            </a:extLst>
          </p:cNvPr>
          <p:cNvSpPr>
            <a:spLocks noGrp="1"/>
          </p:cNvSpPr>
          <p:nvPr/>
        </p:nvSpPr>
        <p:spPr>
          <a:xfrm flipV="1">
            <a:off x="8810625" y="1714500"/>
            <a:ext cx="1266825" cy="1885950"/>
          </a:xfrm>
          <a:prstGeom prst="line">
            <a:avLst/>
          </a:prstGeom>
          <a:noFill/>
          <a:ln w="28575">
            <a:solidFill>
              <a:srgbClr val="45E0D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Conector recto 9">
            <a:extLst>
              <a:ext uri="{FF2B5EF4-FFF2-40B4-BE49-F238E27FC236}">
                <a16:creationId xmlns:a16="http://schemas.microsoft.com/office/drawing/2014/main" id="{42B44321-8953-4B9F-91AE-4282FDB75A52}"/>
              </a:ext>
            </a:extLst>
          </p:cNvPr>
          <p:cNvSpPr>
            <a:spLocks noGrp="1"/>
          </p:cNvSpPr>
          <p:nvPr/>
        </p:nvSpPr>
        <p:spPr>
          <a:xfrm flipV="1">
            <a:off x="8810625" y="2667000"/>
            <a:ext cx="1685925" cy="933450"/>
          </a:xfrm>
          <a:prstGeom prst="line">
            <a:avLst/>
          </a:prstGeom>
          <a:noFill/>
          <a:ln w="28575">
            <a:solidFill>
              <a:srgbClr val="7769F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Conector recto 10">
            <a:extLst>
              <a:ext uri="{FF2B5EF4-FFF2-40B4-BE49-F238E27FC236}">
                <a16:creationId xmlns:a16="http://schemas.microsoft.com/office/drawing/2014/main" id="{14B9E05F-0ABB-4D0C-A366-59B01D2A8261}"/>
              </a:ext>
            </a:extLst>
          </p:cNvPr>
          <p:cNvSpPr>
            <a:spLocks noGrp="1"/>
          </p:cNvSpPr>
          <p:nvPr/>
        </p:nvSpPr>
        <p:spPr>
          <a:xfrm>
            <a:off x="8810625" y="3600450"/>
            <a:ext cx="1762125" cy="133350"/>
          </a:xfrm>
          <a:prstGeom prst="line">
            <a:avLst/>
          </a:prstGeom>
          <a:noFill/>
          <a:ln w="28575">
            <a:solidFill>
              <a:srgbClr val="FFB6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Conector recto 11">
            <a:extLst>
              <a:ext uri="{FF2B5EF4-FFF2-40B4-BE49-F238E27FC236}">
                <a16:creationId xmlns:a16="http://schemas.microsoft.com/office/drawing/2014/main" id="{4E062AC5-F0E5-4C83-A43D-266B5A6224F1}"/>
              </a:ext>
            </a:extLst>
          </p:cNvPr>
          <p:cNvSpPr>
            <a:spLocks noGrp="1"/>
          </p:cNvSpPr>
          <p:nvPr/>
        </p:nvSpPr>
        <p:spPr>
          <a:xfrm>
            <a:off x="8810625" y="3600450"/>
            <a:ext cx="1190625" cy="1209675"/>
          </a:xfrm>
          <a:prstGeom prst="line">
            <a:avLst/>
          </a:prstGeom>
          <a:noFill/>
          <a:ln w="28575">
            <a:solidFill>
              <a:srgbClr val="FF6F7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Conector recto 12">
            <a:extLst>
              <a:ext uri="{FF2B5EF4-FFF2-40B4-BE49-F238E27FC236}">
                <a16:creationId xmlns:a16="http://schemas.microsoft.com/office/drawing/2014/main" id="{9B81A806-ADE3-4C74-97F6-4FC845DF14E9}"/>
              </a:ext>
            </a:extLst>
          </p:cNvPr>
          <p:cNvSpPr>
            <a:spLocks noGrp="1"/>
          </p:cNvSpPr>
          <p:nvPr/>
        </p:nvSpPr>
        <p:spPr>
          <a:xfrm>
            <a:off x="7048500" y="3600450"/>
            <a:ext cx="1190625" cy="0"/>
          </a:xfrm>
          <a:prstGeom prst="line">
            <a:avLst/>
          </a:prstGeom>
          <a:noFill/>
          <a:ln w="28575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Elipse 13">
            <a:extLst>
              <a:ext uri="{FF2B5EF4-FFF2-40B4-BE49-F238E27FC236}">
                <a16:creationId xmlns:a16="http://schemas.microsoft.com/office/drawing/2014/main" id="{B9198B71-39A0-46E6-90F9-7253CDE798A0}"/>
              </a:ext>
            </a:extLst>
          </p:cNvPr>
          <p:cNvSpPr>
            <a:spLocks noGrp="1"/>
          </p:cNvSpPr>
          <p:nvPr/>
        </p:nvSpPr>
        <p:spPr>
          <a:xfrm>
            <a:off x="8239125" y="3314700"/>
            <a:ext cx="1143000" cy="5715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5E0D0">
                <a:alpha val="70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7040CC15-8324-4F81-B4B0-AD8833DAECB8}"/>
              </a:ext>
            </a:extLst>
          </p:cNvPr>
          <p:cNvSpPr>
            <a:spLocks noGrp="1"/>
          </p:cNvSpPr>
          <p:nvPr/>
        </p:nvSpPr>
        <p:spPr>
          <a:xfrm>
            <a:off x="8239125" y="3448050"/>
            <a:ext cx="1143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350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101526"/>
                </a:solidFill>
                <a:latin typeface="Aptos"/>
                <a:ea typeface="Aptos"/>
                <a:cs typeface="Aptos"/>
              </a:rPr>
              <a:t>QUERY</a:t>
            </a:r>
          </a:p>
        </p:txBody>
      </p:sp>
      <p:sp>
        <p:nvSpPr>
          <p:cNvPr id="16" name="Elipse 15">
            <a:extLst>
              <a:ext uri="{FF2B5EF4-FFF2-40B4-BE49-F238E27FC236}">
                <a16:creationId xmlns:a16="http://schemas.microsoft.com/office/drawing/2014/main" id="{B740D85D-7978-40FF-AE57-131F4538FB1A}"/>
              </a:ext>
            </a:extLst>
          </p:cNvPr>
          <p:cNvSpPr>
            <a:spLocks noGrp="1"/>
          </p:cNvSpPr>
          <p:nvPr/>
        </p:nvSpPr>
        <p:spPr>
          <a:xfrm>
            <a:off x="9791700" y="1428750"/>
            <a:ext cx="952500" cy="571500"/>
          </a:xfrm>
          <a:prstGeom prst="ellipse">
            <a:avLst/>
          </a:prstGeom>
          <a:solidFill>
            <a:srgbClr val="45E0D0">
              <a:alpha val="20000"/>
            </a:srgbClr>
          </a:solidFill>
          <a:ln w="19050">
            <a:solidFill>
              <a:srgbClr val="45E0D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Rectángulo 16">
            <a:extLst>
              <a:ext uri="{FF2B5EF4-FFF2-40B4-BE49-F238E27FC236}">
                <a16:creationId xmlns:a16="http://schemas.microsoft.com/office/drawing/2014/main" id="{CD141880-6621-4370-A6C3-A6ECE357C80D}"/>
              </a:ext>
            </a:extLst>
          </p:cNvPr>
          <p:cNvSpPr>
            <a:spLocks noGrp="1"/>
          </p:cNvSpPr>
          <p:nvPr/>
        </p:nvSpPr>
        <p:spPr>
          <a:xfrm>
            <a:off x="9791700" y="1562100"/>
            <a:ext cx="952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Z₁</a:t>
            </a:r>
          </a:p>
        </p:txBody>
      </p:sp>
      <p:sp>
        <p:nvSpPr>
          <p:cNvPr id="18" name="Elipse 17">
            <a:extLst>
              <a:ext uri="{FF2B5EF4-FFF2-40B4-BE49-F238E27FC236}">
                <a16:creationId xmlns:a16="http://schemas.microsoft.com/office/drawing/2014/main" id="{C8E21044-4E30-43AC-A5E8-3D2538EEC329}"/>
              </a:ext>
            </a:extLst>
          </p:cNvPr>
          <p:cNvSpPr>
            <a:spLocks noGrp="1"/>
          </p:cNvSpPr>
          <p:nvPr/>
        </p:nvSpPr>
        <p:spPr>
          <a:xfrm>
            <a:off x="10210800" y="2381250"/>
            <a:ext cx="952500" cy="571500"/>
          </a:xfrm>
          <a:prstGeom prst="ellipse">
            <a:avLst/>
          </a:prstGeom>
          <a:solidFill>
            <a:srgbClr val="7769F4">
              <a:alpha val="20000"/>
            </a:srgbClr>
          </a:solidFill>
          <a:ln w="19050">
            <a:solidFill>
              <a:srgbClr val="7769F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515A430F-F76B-4A83-B18B-C091F0DE142B}"/>
              </a:ext>
            </a:extLst>
          </p:cNvPr>
          <p:cNvSpPr>
            <a:spLocks noGrp="1"/>
          </p:cNvSpPr>
          <p:nvPr/>
        </p:nvSpPr>
        <p:spPr>
          <a:xfrm>
            <a:off x="10210800" y="2514600"/>
            <a:ext cx="952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Z₂</a:t>
            </a:r>
          </a:p>
        </p:txBody>
      </p:sp>
      <p:sp>
        <p:nvSpPr>
          <p:cNvPr id="20" name="Elipse 19">
            <a:extLst>
              <a:ext uri="{FF2B5EF4-FFF2-40B4-BE49-F238E27FC236}">
                <a16:creationId xmlns:a16="http://schemas.microsoft.com/office/drawing/2014/main" id="{5C2E1A1F-E6F4-4AE9-95AB-3F126D59DBCF}"/>
              </a:ext>
            </a:extLst>
          </p:cNvPr>
          <p:cNvSpPr>
            <a:spLocks noGrp="1"/>
          </p:cNvSpPr>
          <p:nvPr/>
        </p:nvSpPr>
        <p:spPr>
          <a:xfrm>
            <a:off x="10287000" y="3448050"/>
            <a:ext cx="952500" cy="571500"/>
          </a:xfrm>
          <a:prstGeom prst="ellipse">
            <a:avLst/>
          </a:prstGeom>
          <a:solidFill>
            <a:srgbClr val="FFB66E">
              <a:alpha val="20000"/>
            </a:srgbClr>
          </a:solidFill>
          <a:ln w="19050">
            <a:solidFill>
              <a:srgbClr val="FFB6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Rectángulo 20">
            <a:extLst>
              <a:ext uri="{FF2B5EF4-FFF2-40B4-BE49-F238E27FC236}">
                <a16:creationId xmlns:a16="http://schemas.microsoft.com/office/drawing/2014/main" id="{208017C7-B626-444D-B671-2B1A54FA0C00}"/>
              </a:ext>
            </a:extLst>
          </p:cNvPr>
          <p:cNvSpPr>
            <a:spLocks noGrp="1"/>
          </p:cNvSpPr>
          <p:nvPr/>
        </p:nvSpPr>
        <p:spPr>
          <a:xfrm>
            <a:off x="10287000" y="3581400"/>
            <a:ext cx="952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Z₃</a:t>
            </a:r>
          </a:p>
        </p:txBody>
      </p:sp>
      <p:sp>
        <p:nvSpPr>
          <p:cNvPr id="22" name="Elipse 21">
            <a:extLst>
              <a:ext uri="{FF2B5EF4-FFF2-40B4-BE49-F238E27FC236}">
                <a16:creationId xmlns:a16="http://schemas.microsoft.com/office/drawing/2014/main" id="{E680843B-C48B-4226-9204-88BE085D9337}"/>
              </a:ext>
            </a:extLst>
          </p:cNvPr>
          <p:cNvSpPr>
            <a:spLocks noGrp="1"/>
          </p:cNvSpPr>
          <p:nvPr/>
        </p:nvSpPr>
        <p:spPr>
          <a:xfrm>
            <a:off x="9715500" y="4524375"/>
            <a:ext cx="952500" cy="571500"/>
          </a:xfrm>
          <a:prstGeom prst="ellipse">
            <a:avLst/>
          </a:prstGeom>
          <a:solidFill>
            <a:srgbClr val="FF6F7D">
              <a:alpha val="20000"/>
            </a:srgbClr>
          </a:solidFill>
          <a:ln w="19050">
            <a:solidFill>
              <a:srgbClr val="FF6F7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Rectángulo 22">
            <a:extLst>
              <a:ext uri="{FF2B5EF4-FFF2-40B4-BE49-F238E27FC236}">
                <a16:creationId xmlns:a16="http://schemas.microsoft.com/office/drawing/2014/main" id="{A70C7BF6-9AE4-4833-8681-7534587E1669}"/>
              </a:ext>
            </a:extLst>
          </p:cNvPr>
          <p:cNvSpPr>
            <a:spLocks noGrp="1"/>
          </p:cNvSpPr>
          <p:nvPr/>
        </p:nvSpPr>
        <p:spPr>
          <a:xfrm>
            <a:off x="9715500" y="4657725"/>
            <a:ext cx="952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Z₄</a:t>
            </a:r>
          </a:p>
        </p:txBody>
      </p:sp>
      <p:sp>
        <p:nvSpPr>
          <p:cNvPr id="24" name="Rectángulo 23">
            <a:extLst>
              <a:ext uri="{FF2B5EF4-FFF2-40B4-BE49-F238E27FC236}">
                <a16:creationId xmlns:a16="http://schemas.microsoft.com/office/drawing/2014/main" id="{CB2BB35A-5BEB-4322-B691-4DB259310E4E}"/>
              </a:ext>
            </a:extLst>
          </p:cNvPr>
          <p:cNvSpPr>
            <a:spLocks noGrp="1"/>
          </p:cNvSpPr>
          <p:nvPr/>
        </p:nvSpPr>
        <p:spPr>
          <a:xfrm>
            <a:off x="11049000" y="6438900"/>
            <a:ext cx="4572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r">
              <a:lnSpc>
                <a:spcPct val="100000"/>
              </a:lnSpc>
              <a:buNone/>
              <a:defRPr sz="1125" b="1" i="0">
                <a:solidFill>
                  <a:srgbClr val="AEB7CE"/>
                </a:solidFill>
                <a:latin typeface="Aptos"/>
                <a:ea typeface="Aptos"/>
                <a:cs typeface="Aptos"/>
              </a:defRPr>
            </a:pPr>
            <a:r>
              <a:rPr sz="1100" b="1">
                <a:solidFill>
                  <a:srgbClr val="AAB3C8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6738767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ángulo 18">
            <a:extLst>
              <a:ext uri="{FF2B5EF4-FFF2-40B4-BE49-F238E27FC236}">
                <a16:creationId xmlns:a16="http://schemas.microsoft.com/office/drawing/2014/main" id="{937DAF15-F4E4-46D8-8B59-477BD0E58673}"/>
              </a:ext>
            </a:extLst>
          </p:cNvPr>
          <p:cNvSpPr>
            <a:spLocks noGrp="1"/>
          </p:cNvSpPr>
          <p:nvPr/>
        </p:nvSpPr>
        <p:spPr>
          <a:xfrm>
            <a:off x="685800" y="361950"/>
            <a:ext cx="4095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050" b="1" i="0">
                <a:solidFill>
                  <a:srgbClr val="6C63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6C63FF"/>
                </a:solidFill>
                <a:latin typeface="Aptos"/>
                <a:ea typeface="Aptos"/>
                <a:cs typeface="Aptos"/>
              </a:rPr>
              <a:t>02 / PROBLEMA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114E3513-4D26-471F-9310-13C093F8373C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10820400" cy="1104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92000"/>
              </a:lnSpc>
              <a:buNone/>
              <a:defRPr sz="2850" b="1" i="0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Una pregunta puede tener varias respuestas correctas</a:t>
            </a:r>
          </a:p>
        </p:txBody>
      </p:sp>
      <p:sp>
        <p:nvSpPr>
          <p:cNvPr id="3" name="Conector recto 2">
            <a:extLst>
              <a:ext uri="{FF2B5EF4-FFF2-40B4-BE49-F238E27FC236}">
                <a16:creationId xmlns:a16="http://schemas.microsoft.com/office/drawing/2014/main" id="{414AE608-6C66-439C-8708-BBC502ADE49F}"/>
              </a:ext>
            </a:extLst>
          </p:cNvPr>
          <p:cNvSpPr>
            <a:spLocks noGrp="1"/>
          </p:cNvSpPr>
          <p:nvPr/>
        </p:nvSpPr>
        <p:spPr>
          <a:xfrm>
            <a:off x="685800" y="1866900"/>
            <a:ext cx="10820400" cy="0"/>
          </a:xfrm>
          <a:prstGeom prst="line">
            <a:avLst/>
          </a:prstGeom>
          <a:noFill/>
          <a:ln w="9525">
            <a:solidFill>
              <a:srgbClr val="D9DD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0EEE694F-1545-4ED6-8830-8982114D4B12}"/>
              </a:ext>
            </a:extLst>
          </p:cNvPr>
          <p:cNvSpPr>
            <a:spLocks noGrp="1"/>
          </p:cNvSpPr>
          <p:nvPr/>
        </p:nvSpPr>
        <p:spPr>
          <a:xfrm>
            <a:off x="1314450" y="2047875"/>
            <a:ext cx="95631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3600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3600" b="1" i="0">
                <a:solidFill>
                  <a:srgbClr val="101526"/>
                </a:solidFill>
                <a:latin typeface="Aptos Display"/>
                <a:ea typeface="Aptos Display"/>
                <a:cs typeface="Aptos Display"/>
              </a:rPr>
              <a:t>“¿Cuál es el banco más grande?”</a:t>
            </a:r>
          </a:p>
        </p:txBody>
      </p:sp>
      <p:sp>
        <p:nvSpPr>
          <p:cNvPr id="5" name="Rectángulo: esquinas redondeadas 4">
            <a:extLst>
              <a:ext uri="{FF2B5EF4-FFF2-40B4-BE49-F238E27FC236}">
                <a16:creationId xmlns:a16="http://schemas.microsoft.com/office/drawing/2014/main" id="{1E32C6DB-420E-4824-A0F6-EFA2128E65AB}"/>
              </a:ext>
            </a:extLst>
          </p:cNvPr>
          <p:cNvSpPr>
            <a:spLocks noGrp="1"/>
          </p:cNvSpPr>
          <p:nvPr/>
        </p:nvSpPr>
        <p:spPr>
          <a:xfrm>
            <a:off x="904875" y="3381375"/>
            <a:ext cx="1905000" cy="419100"/>
          </a:xfrm>
          <a:prstGeom prst="roundRect">
            <a:avLst>
              <a:gd name="adj" fmla="val 50000"/>
            </a:avLst>
          </a:prstGeom>
          <a:solidFill>
            <a:srgbClr val="45E0D0">
              <a:alpha val="12000"/>
            </a:srgbClr>
          </a:solidFill>
          <a:ln w="9525">
            <a:solidFill>
              <a:srgbClr val="45E0D0">
                <a:alpha val="45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F5F26093-1646-43B0-B60B-897B50DE0079}"/>
              </a:ext>
            </a:extLst>
          </p:cNvPr>
          <p:cNvSpPr>
            <a:spLocks noGrp="1"/>
          </p:cNvSpPr>
          <p:nvPr/>
        </p:nvSpPr>
        <p:spPr>
          <a:xfrm>
            <a:off x="1019175" y="3457575"/>
            <a:ext cx="16764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425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101526"/>
                </a:solidFill>
                <a:latin typeface="Aptos"/>
                <a:ea typeface="Aptos"/>
                <a:cs typeface="Aptos"/>
              </a:rPr>
              <a:t>activos</a:t>
            </a:r>
          </a:p>
        </p:txBody>
      </p:sp>
      <p:sp>
        <p:nvSpPr>
          <p:cNvPr id="7" name="Rectángulo: esquinas redondeadas 6">
            <a:extLst>
              <a:ext uri="{FF2B5EF4-FFF2-40B4-BE49-F238E27FC236}">
                <a16:creationId xmlns:a16="http://schemas.microsoft.com/office/drawing/2014/main" id="{A2258157-7264-4E52-8ADE-1400CF583EBB}"/>
              </a:ext>
            </a:extLst>
          </p:cNvPr>
          <p:cNvSpPr>
            <a:spLocks noGrp="1"/>
          </p:cNvSpPr>
          <p:nvPr/>
        </p:nvSpPr>
        <p:spPr>
          <a:xfrm>
            <a:off x="3000375" y="3381375"/>
            <a:ext cx="1905000" cy="419100"/>
          </a:xfrm>
          <a:prstGeom prst="roundRect">
            <a:avLst>
              <a:gd name="adj" fmla="val 50000"/>
            </a:avLst>
          </a:prstGeom>
          <a:solidFill>
            <a:srgbClr val="7769F4">
              <a:alpha val="12000"/>
            </a:srgbClr>
          </a:solidFill>
          <a:ln w="9525">
            <a:solidFill>
              <a:srgbClr val="7769F4">
                <a:alpha val="45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95E3EB26-D14E-4DC3-BA95-8F647412472B}"/>
              </a:ext>
            </a:extLst>
          </p:cNvPr>
          <p:cNvSpPr>
            <a:spLocks noGrp="1"/>
          </p:cNvSpPr>
          <p:nvPr/>
        </p:nvSpPr>
        <p:spPr>
          <a:xfrm>
            <a:off x="3114675" y="3457575"/>
            <a:ext cx="16764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425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101526"/>
                </a:solidFill>
                <a:latin typeface="Aptos"/>
                <a:ea typeface="Aptos"/>
                <a:cs typeface="Aptos"/>
              </a:rPr>
              <a:t>capitalización</a:t>
            </a:r>
          </a:p>
        </p:txBody>
      </p:sp>
      <p:sp>
        <p:nvSpPr>
          <p:cNvPr id="9" name="Rectángulo: esquinas redondeadas 8">
            <a:extLst>
              <a:ext uri="{FF2B5EF4-FFF2-40B4-BE49-F238E27FC236}">
                <a16:creationId xmlns:a16="http://schemas.microsoft.com/office/drawing/2014/main" id="{DF3E0789-F1EE-40B4-90FA-F8BF1B5BEA16}"/>
              </a:ext>
            </a:extLst>
          </p:cNvPr>
          <p:cNvSpPr>
            <a:spLocks noGrp="1"/>
          </p:cNvSpPr>
          <p:nvPr/>
        </p:nvSpPr>
        <p:spPr>
          <a:xfrm>
            <a:off x="5095875" y="3381375"/>
            <a:ext cx="1905000" cy="419100"/>
          </a:xfrm>
          <a:prstGeom prst="roundRect">
            <a:avLst>
              <a:gd name="adj" fmla="val 50000"/>
            </a:avLst>
          </a:prstGeom>
          <a:solidFill>
            <a:srgbClr val="FFB66E">
              <a:alpha val="12000"/>
            </a:srgbClr>
          </a:solidFill>
          <a:ln w="9525">
            <a:solidFill>
              <a:srgbClr val="FFB66E">
                <a:alpha val="45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0D7C37F4-EAC5-4696-A4C1-70B57C250468}"/>
              </a:ext>
            </a:extLst>
          </p:cNvPr>
          <p:cNvSpPr>
            <a:spLocks noGrp="1"/>
          </p:cNvSpPr>
          <p:nvPr/>
        </p:nvSpPr>
        <p:spPr>
          <a:xfrm>
            <a:off x="5210175" y="3457575"/>
            <a:ext cx="16764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425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101526"/>
                </a:solidFill>
                <a:latin typeface="Aptos"/>
                <a:ea typeface="Aptos"/>
                <a:cs typeface="Aptos"/>
              </a:rPr>
              <a:t>clientes</a:t>
            </a:r>
          </a:p>
        </p:txBody>
      </p:sp>
      <p:sp>
        <p:nvSpPr>
          <p:cNvPr id="11" name="Rectángulo: esquinas redondeadas 10">
            <a:extLst>
              <a:ext uri="{FF2B5EF4-FFF2-40B4-BE49-F238E27FC236}">
                <a16:creationId xmlns:a16="http://schemas.microsoft.com/office/drawing/2014/main" id="{32441E6B-74DA-43BC-AC26-B1DAFC5C55F0}"/>
              </a:ext>
            </a:extLst>
          </p:cNvPr>
          <p:cNvSpPr>
            <a:spLocks noGrp="1"/>
          </p:cNvSpPr>
          <p:nvPr/>
        </p:nvSpPr>
        <p:spPr>
          <a:xfrm>
            <a:off x="7191375" y="3381375"/>
            <a:ext cx="1905000" cy="419100"/>
          </a:xfrm>
          <a:prstGeom prst="roundRect">
            <a:avLst>
              <a:gd name="adj" fmla="val 50000"/>
            </a:avLst>
          </a:prstGeom>
          <a:solidFill>
            <a:srgbClr val="FF6F7D">
              <a:alpha val="12000"/>
            </a:srgbClr>
          </a:solidFill>
          <a:ln w="9525">
            <a:solidFill>
              <a:srgbClr val="FF6F7D">
                <a:alpha val="45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5DDB9B5F-C591-42E0-A0CC-B9471C0A8E83}"/>
              </a:ext>
            </a:extLst>
          </p:cNvPr>
          <p:cNvSpPr>
            <a:spLocks noGrp="1"/>
          </p:cNvSpPr>
          <p:nvPr/>
        </p:nvSpPr>
        <p:spPr>
          <a:xfrm>
            <a:off x="7305675" y="3457575"/>
            <a:ext cx="16764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425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101526"/>
                </a:solidFill>
                <a:latin typeface="Aptos"/>
                <a:ea typeface="Aptos"/>
                <a:cs typeface="Aptos"/>
              </a:rPr>
              <a:t>ingresos</a:t>
            </a:r>
          </a:p>
        </p:txBody>
      </p:sp>
      <p:sp>
        <p:nvSpPr>
          <p:cNvPr id="13" name="Rectángulo: esquinas redondeadas 12">
            <a:extLst>
              <a:ext uri="{FF2B5EF4-FFF2-40B4-BE49-F238E27FC236}">
                <a16:creationId xmlns:a16="http://schemas.microsoft.com/office/drawing/2014/main" id="{5D81AE61-557C-43ED-9D75-F881A2A06618}"/>
              </a:ext>
            </a:extLst>
          </p:cNvPr>
          <p:cNvSpPr>
            <a:spLocks noGrp="1"/>
          </p:cNvSpPr>
          <p:nvPr/>
        </p:nvSpPr>
        <p:spPr>
          <a:xfrm>
            <a:off x="9286875" y="3381375"/>
            <a:ext cx="1905000" cy="419100"/>
          </a:xfrm>
          <a:prstGeom prst="roundRect">
            <a:avLst>
              <a:gd name="adj" fmla="val 50000"/>
            </a:avLst>
          </a:prstGeom>
          <a:solidFill>
            <a:srgbClr val="62D590">
              <a:alpha val="12000"/>
            </a:srgbClr>
          </a:solidFill>
          <a:ln w="9525">
            <a:solidFill>
              <a:srgbClr val="62D590">
                <a:alpha val="45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DAC9812D-1D48-49A2-BD64-F95F26A91AF1}"/>
              </a:ext>
            </a:extLst>
          </p:cNvPr>
          <p:cNvSpPr>
            <a:spLocks noGrp="1"/>
          </p:cNvSpPr>
          <p:nvPr/>
        </p:nvSpPr>
        <p:spPr>
          <a:xfrm>
            <a:off x="9401175" y="3457575"/>
            <a:ext cx="16764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425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101526"/>
                </a:solidFill>
                <a:latin typeface="Aptos"/>
                <a:ea typeface="Aptos"/>
                <a:cs typeface="Aptos"/>
              </a:rPr>
              <a:t>presencia</a:t>
            </a:r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0315466C-C19A-48A2-955B-BCC5909E9B17}"/>
              </a:ext>
            </a:extLst>
          </p:cNvPr>
          <p:cNvSpPr>
            <a:spLocks noGrp="1"/>
          </p:cNvSpPr>
          <p:nvPr/>
        </p:nvSpPr>
        <p:spPr>
          <a:xfrm>
            <a:off x="1619250" y="4476750"/>
            <a:ext cx="895350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1667"/>
          </a:bodyPr>
          <a:lstStyle/>
          <a:p>
            <a:pPr algn="ctr">
              <a:lnSpc>
                <a:spcPct val="100000"/>
              </a:lnSpc>
              <a:buNone/>
              <a:defRPr sz="2250" b="1" i="0">
                <a:solidFill>
                  <a:srgbClr val="7769F4"/>
                </a:solidFill>
                <a:latin typeface="Aptos"/>
                <a:ea typeface="Aptos"/>
                <a:cs typeface="Aptos"/>
              </a:defRPr>
            </a:pPr>
            <a:r>
              <a:rPr>
                <a:solidFill/>
                <a:latin typeface="Aptos"/>
                <a:ea typeface="Aptos"/>
                <a:cs typeface="Aptos"/>
              </a:rPr>
              <a:t>Una respuesta puede ser correcta y, aun así, interpretar mal la intención.</a:t>
            </a:r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CBFC0C2F-3C85-4B8C-ADE4-FC44149058F9}"/>
              </a:ext>
            </a:extLst>
          </p:cNvPr>
          <p:cNvSpPr>
            <a:spLocks noGrp="1"/>
          </p:cNvSpPr>
          <p:nvPr/>
        </p:nvSpPr>
        <p:spPr>
          <a:xfrm>
            <a:off x="2095500" y="5381625"/>
            <a:ext cx="80010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650" b="0" i="0">
                <a:solidFill>
                  <a:srgbClr val="5C6478"/>
                </a:solidFill>
                <a:latin typeface="Aptos"/>
                <a:ea typeface="Aptos"/>
                <a:cs typeface="Aptos"/>
              </a:defRPr>
            </a:pPr>
            <a:r>
              <a:rPr>
                <a:solidFill/>
                <a:latin typeface="Aptos"/>
                <a:ea typeface="Aptos"/>
                <a:cs typeface="Aptos"/>
              </a:rPr>
              <a:t>Antes de responder, el sistema debe decidir qué significa realmente X.</a:t>
            </a:r>
          </a:p>
        </p:txBody>
      </p:sp>
      <p:sp>
        <p:nvSpPr>
          <p:cNvPr id="17" name="Rectángulo 16">
            <a:extLst>
              <a:ext uri="{FF2B5EF4-FFF2-40B4-BE49-F238E27FC236}">
                <a16:creationId xmlns:a16="http://schemas.microsoft.com/office/drawing/2014/main" id="{9D53314D-EFA6-403E-AEFC-8CB21E289291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95362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750" b="0" i="0">
                <a:solidFill>
                  <a:srgbClr val="8792AA"/>
                </a:solidFill>
                <a:latin typeface="Aptos"/>
                <a:ea typeface="Aptos"/>
                <a:cs typeface="Aptos"/>
              </a:defRPr>
            </a:pPr>
            <a:r>
              <a:rPr sz="750" b="0" i="0">
                <a:solidFill>
                  <a:srgbClr val="8792AA"/>
                </a:solidFill>
                <a:latin typeface="Aptos"/>
                <a:ea typeface="Aptos"/>
                <a:cs typeface="Aptos"/>
              </a:rPr>
              <a:t>Ejemplo ilustrativo · las alternativas no son resultados empíricos</a:t>
            </a:r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C1E44D1D-780A-4BE1-962F-A8A6E5192B64}"/>
              </a:ext>
            </a:extLst>
          </p:cNvPr>
          <p:cNvSpPr>
            <a:spLocks noGrp="1"/>
          </p:cNvSpPr>
          <p:nvPr/>
        </p:nvSpPr>
        <p:spPr>
          <a:xfrm>
            <a:off x="11049000" y="6438900"/>
            <a:ext cx="4572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r">
              <a:lnSpc>
                <a:spcPct val="100000"/>
              </a:lnSpc>
              <a:buNone/>
              <a:defRPr sz="825" b="1" i="0">
                <a:solidFill>
                  <a:srgbClr val="7B879F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7B879F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6112773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ángulo 12">
            <a:extLst>
              <a:ext uri="{FF2B5EF4-FFF2-40B4-BE49-F238E27FC236}">
                <a16:creationId xmlns:a16="http://schemas.microsoft.com/office/drawing/2014/main" id="{36BB61D0-7E1B-4090-BC1A-62A1AE78612C}"/>
              </a:ext>
            </a:extLst>
          </p:cNvPr>
          <p:cNvSpPr>
            <a:spLocks noGrp="1"/>
          </p:cNvSpPr>
          <p:nvPr/>
        </p:nvSpPr>
        <p:spPr>
          <a:xfrm>
            <a:off x="685800" y="361950"/>
            <a:ext cx="4095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050" b="1" i="0">
                <a:solidFill>
                  <a:srgbClr val="6C63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6C63FF"/>
                </a:solidFill>
                <a:latin typeface="Aptos"/>
                <a:ea typeface="Aptos"/>
                <a:cs typeface="Aptos"/>
              </a:rPr>
              <a:t>03 / QUÉ ES CONTEXT ENGINEERING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7840ADB4-FB88-4845-81D4-1F2226BC9406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108204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92000"/>
              </a:lnSpc>
              <a:buNone/>
              <a:defRPr sz="2850" b="1" i="0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Context Engineering decide qué información entra al modelo</a:t>
            </a:r>
          </a:p>
        </p:txBody>
      </p:sp>
      <p:sp>
        <p:nvSpPr>
          <p:cNvPr id="3" name="Conector recto 2">
            <a:extLst>
              <a:ext uri="{FF2B5EF4-FFF2-40B4-BE49-F238E27FC236}">
                <a16:creationId xmlns:a16="http://schemas.microsoft.com/office/drawing/2014/main" id="{F1A57129-62B8-479A-824B-2A9E4146EFBA}"/>
              </a:ext>
            </a:extLst>
          </p:cNvPr>
          <p:cNvSpPr>
            <a:spLocks noGrp="1"/>
          </p:cNvSpPr>
          <p:nvPr/>
        </p:nvSpPr>
        <p:spPr>
          <a:xfrm>
            <a:off x="685800" y="1485900"/>
            <a:ext cx="10820400" cy="0"/>
          </a:xfrm>
          <a:prstGeom prst="line">
            <a:avLst/>
          </a:prstGeom>
          <a:noFill/>
          <a:ln w="9525">
            <a:solidFill>
              <a:srgbClr val="D9DD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Rectángulo: esquinas redondeadas 3">
            <a:extLst>
              <a:ext uri="{FF2B5EF4-FFF2-40B4-BE49-F238E27FC236}">
                <a16:creationId xmlns:a16="http://schemas.microsoft.com/office/drawing/2014/main" id="{2F87F132-58CB-469B-91DF-05845C865F5D}"/>
              </a:ext>
            </a:extLst>
          </p:cNvPr>
          <p:cNvSpPr>
            <a:spLocks noGrp="1"/>
          </p:cNvSpPr>
          <p:nvPr/>
        </p:nvSpPr>
        <p:spPr>
          <a:xfrm>
            <a:off x="685800" y="1733550"/>
            <a:ext cx="1809750" cy="285750"/>
          </a:xfrm>
          <a:prstGeom prst="roundRect">
            <a:avLst>
              <a:gd name="adj" fmla="val 50000"/>
            </a:avLst>
          </a:prstGeom>
          <a:solidFill>
            <a:srgbClr val="7769F4">
              <a:alpha val="14000"/>
            </a:srgbClr>
          </a:solidFill>
          <a:ln w="9525">
            <a:solidFill>
              <a:srgbClr val="7769F4">
                <a:alpha val="45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EA3398E1-DAB9-4F04-BA15-711A5527432D}"/>
              </a:ext>
            </a:extLst>
          </p:cNvPr>
          <p:cNvSpPr>
            <a:spLocks noGrp="1"/>
          </p:cNvSpPr>
          <p:nvPr/>
        </p:nvSpPr>
        <p:spPr>
          <a:xfrm>
            <a:off x="800100" y="1771650"/>
            <a:ext cx="15811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4611"/>
          </a:bodyPr>
          <a:lstStyle/>
          <a:p>
            <a:pPr algn="ctr">
              <a:lnSpc>
                <a:spcPct val="100000"/>
              </a:lnSpc>
              <a:buNone/>
              <a:defRPr sz="1050" b="1" i="0">
                <a:solidFill>
                  <a:srgbClr val="7769F4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7065E8"/>
                </a:solidFill>
                <a:latin typeface="Aptos"/>
                <a:ea typeface="Aptos"/>
                <a:cs typeface="Aptos"/>
              </a:rPr>
              <a:t>DEFINICIÓN OPERACIONAL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818CCD8E-405F-4101-BFFF-CBE973227172}"/>
              </a:ext>
            </a:extLst>
          </p:cNvPr>
          <p:cNvSpPr>
            <a:spLocks noGrp="1"/>
          </p:cNvSpPr>
          <p:nvPr/>
        </p:nvSpPr>
        <p:spPr>
          <a:xfrm>
            <a:off x="685800" y="2266950"/>
            <a:ext cx="4000500" cy="1143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97426"/>
          </a:bodyPr>
          <a:lstStyle/>
          <a:p>
            <a:pPr algn="l">
              <a:lnSpc>
                <a:spcPct val="105000"/>
              </a:lnSpc>
              <a:buNone/>
              <a:defRPr sz="2175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2200" b="1" i="0">
                <a:solidFill>
                  <a:srgbClr val="101526"/>
                </a:solidFill>
                <a:latin typeface="Aptos"/>
                <a:ea typeface="Aptos"/>
                <a:cs typeface="Aptos"/>
              </a:rPr>
              <a:t>Seleccionar, generar, estructurar y administrar la información que condiciona la respuesta.</a:t>
            </a: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2E09AC76-B99C-4177-8476-8190B7EA76CF}"/>
              </a:ext>
            </a:extLst>
          </p:cNvPr>
          <p:cNvSpPr>
            <a:spLocks noGrp="1"/>
          </p:cNvSpPr>
          <p:nvPr/>
        </p:nvSpPr>
        <p:spPr>
          <a:xfrm>
            <a:off x="685800" y="3695700"/>
            <a:ext cx="4000500" cy="1123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0000"/>
              </a:lnSpc>
              <a:buNone/>
              <a:defRPr sz="1650" b="0" i="0">
                <a:solidFill>
                  <a:srgbClr val="5C6478"/>
                </a:solidFill>
                <a:latin typeface="Aptos"/>
                <a:ea typeface="Aptos"/>
                <a:cs typeface="Aptos"/>
              </a:defRPr>
            </a:pPr>
            <a:r>
              <a:rPr sz="1600" b="0" i="0">
                <a:solidFill>
                  <a:srgbClr val="60687C"/>
                </a:solidFill>
                <a:latin typeface="Aptos"/>
                <a:ea typeface="Aptos"/>
                <a:cs typeface="Aptos"/>
              </a:rPr>
              <a:t>No es solo prompt engineering. Incluye recuperación, memoria, herramientas, estructura, compresión y ensamblaje dinámico.</a:t>
            </a:r>
          </a:p>
        </p:txBody>
      </p:sp>
      <p:sp>
        <p:nvSpPr>
          <p:cNvPr id="8" name="Rectángulo: esquinas redondeadas 7">
            <a:extLst>
              <a:ext uri="{FF2B5EF4-FFF2-40B4-BE49-F238E27FC236}">
                <a16:creationId xmlns:a16="http://schemas.microsoft.com/office/drawing/2014/main" id="{ECA70179-C404-452F-95FD-B1A56182065C}"/>
              </a:ext>
            </a:extLst>
          </p:cNvPr>
          <p:cNvSpPr>
            <a:spLocks noGrp="1"/>
          </p:cNvSpPr>
          <p:nvPr/>
        </p:nvSpPr>
        <p:spPr>
          <a:xfrm>
            <a:off x="5048250" y="1752600"/>
            <a:ext cx="6457950" cy="3695700"/>
          </a:xfrm>
          <a:prstGeom prst="roundRect">
            <a:avLst>
              <a:gd name="adj" fmla="val 6186"/>
            </a:avLst>
          </a:prstGeom>
          <a:solidFill>
            <a:srgbClr val="FFFFFF"/>
          </a:solidFill>
          <a:ln w="9525">
            <a:solidFill>
              <a:srgbClr val="D9DDEA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23" name="Imagen 20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257800" y="2590468"/>
            <a:ext cx="6038850" cy="2019964"/>
          </a:xfrm>
          <a:prstGeom prst="roundRect">
            <a:avLst>
              <a:gd name="adj" fmla="val 4167"/>
            </a:avLst>
          </a:prstGeom>
        </p:spPr>
      </p:pic>
      <p:sp>
        <p:nvSpPr>
          <p:cNvPr id="10" name="Rectángulo 9">
            <a:extLst>
              <a:ext uri="{FF2B5EF4-FFF2-40B4-BE49-F238E27FC236}">
                <a16:creationId xmlns:a16="http://schemas.microsoft.com/office/drawing/2014/main" id="{F1F53669-ADC3-4EC9-A1A4-30228F72560E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95362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750" b="0" i="0">
                <a:solidFill>
                  <a:srgbClr val="8792AA"/>
                </a:solidFill>
                <a:latin typeface="Aptos"/>
                <a:ea typeface="Aptos"/>
                <a:cs typeface="Aptos"/>
              </a:defRPr>
            </a:pPr>
            <a:r>
              <a:rPr sz="750" b="0" i="0">
                <a:solidFill>
                  <a:srgbClr val="8792AA"/>
                </a:solidFill>
                <a:latin typeface="Aptos"/>
                <a:ea typeface="Aptos"/>
                <a:cs typeface="Aptos"/>
              </a:rPr>
              <a:t>Mei et al. (2025) · survey_context.pdf · Fig. 3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9B03B65A-095B-4096-B0FA-9B0A65208B17}"/>
              </a:ext>
            </a:extLst>
          </p:cNvPr>
          <p:cNvSpPr>
            <a:spLocks noGrp="1"/>
          </p:cNvSpPr>
          <p:nvPr/>
        </p:nvSpPr>
        <p:spPr>
          <a:xfrm>
            <a:off x="11049000" y="6438900"/>
            <a:ext cx="4572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r">
              <a:lnSpc>
                <a:spcPct val="100000"/>
              </a:lnSpc>
              <a:buNone/>
              <a:defRPr sz="825" b="1" i="0">
                <a:solidFill>
                  <a:srgbClr val="7B879F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7B879F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3782229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A7F4F8F-C3FD-4225-B39E-088ECB01A879}"/>
              </a:ext>
            </a:extLst>
          </p:cNvPr>
          <p:cNvSpPr>
            <a:spLocks noGrp="1"/>
          </p:cNvSpPr>
          <p:nvPr/>
        </p:nvSpPr>
        <p:spPr>
          <a:xfrm>
            <a:off x="685800" y="365760"/>
            <a:ext cx="5943600" cy="219456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1050" b="1">
                <a:solidFill>
                  <a:srgbClr val="6C63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6C63FF"/>
                </a:solidFill>
                <a:latin typeface="Aptos"/>
                <a:ea typeface="Aptos"/>
                <a:cs typeface="Aptos"/>
              </a:rPr>
              <a:t>04 / QUÉ ES CONTEXT ENGINEERING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4C24F49-3AE1-4E71-856D-991AB47CBC41}"/>
              </a:ext>
            </a:extLst>
          </p:cNvPr>
          <p:cNvSpPr>
            <a:spLocks noGrp="1"/>
          </p:cNvSpPr>
          <p:nvPr/>
        </p:nvSpPr>
        <p:spPr>
          <a:xfrm>
            <a:off x="685800" y="694944"/>
            <a:ext cx="10835640" cy="585216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92000"/>
              </a:lnSpc>
              <a:buNone/>
              <a:defRPr sz="28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El contexto se compone de seis familias de información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274D261-EA89-45AC-A5AF-8C71FABA0DBC}"/>
              </a:ext>
            </a:extLst>
          </p:cNvPr>
          <p:cNvSpPr>
            <a:spLocks noGrp="1"/>
          </p:cNvSpPr>
          <p:nvPr/>
        </p:nvSpPr>
        <p:spPr>
          <a:xfrm>
            <a:off x="685800" y="1417320"/>
            <a:ext cx="10817352" cy="10972"/>
          </a:xfrm>
          <a:prstGeom prst="rect">
            <a:avLst/>
          </a:prstGeom>
          <a:solidFill>
            <a:srgbClr val="D9D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5" name="Rectángulo: esquinas redondeadas 4">
            <a:extLst>
              <a:ext uri="{FF2B5EF4-FFF2-40B4-BE49-F238E27FC236}">
                <a16:creationId xmlns:a16="http://schemas.microsoft.com/office/drawing/2014/main" id="{4E77F913-4028-462B-9922-A5E68F421917}"/>
              </a:ext>
            </a:extLst>
          </p:cNvPr>
          <p:cNvSpPr>
            <a:spLocks noGrp="1"/>
          </p:cNvSpPr>
          <p:nvPr/>
        </p:nvSpPr>
        <p:spPr>
          <a:xfrm>
            <a:off x="1571625" y="1771650"/>
            <a:ext cx="9048750" cy="6858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D7D2FF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pic>
        <p:nvPicPr>
          <p:cNvPr id="29" name="Imagen 28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2614502" y="1866900"/>
            <a:ext cx="6962997" cy="495300"/>
          </a:xfrm>
          <a:prstGeom prst="rect">
            <a:avLst/>
          </a:prstGeom>
        </p:spPr>
      </p:pic>
      <p:sp>
        <p:nvSpPr>
          <p:cNvPr id="7" name="Rectángulo: esquinas redondeadas 6">
            <a:extLst>
              <a:ext uri="{FF2B5EF4-FFF2-40B4-BE49-F238E27FC236}">
                <a16:creationId xmlns:a16="http://schemas.microsoft.com/office/drawing/2014/main" id="{F49BF015-EEFB-4756-8202-F3B7F70263AF}"/>
              </a:ext>
            </a:extLst>
          </p:cNvPr>
          <p:cNvSpPr>
            <a:spLocks noGrp="1"/>
          </p:cNvSpPr>
          <p:nvPr/>
        </p:nvSpPr>
        <p:spPr>
          <a:xfrm>
            <a:off x="685800" y="2876550"/>
            <a:ext cx="3333750" cy="1066800"/>
          </a:xfrm>
          <a:prstGeom prst="roundRect">
            <a:avLst>
              <a:gd name="adj" fmla="val 14286"/>
            </a:avLst>
          </a:prstGeom>
          <a:solidFill>
            <a:srgbClr val="EEECFF"/>
          </a:solidFill>
          <a:ln w="11430">
            <a:solidFill>
              <a:srgbClr val="6C63FF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74494584-9F78-48E3-B58D-53543A9F2707}"/>
              </a:ext>
            </a:extLst>
          </p:cNvPr>
          <p:cNvSpPr>
            <a:spLocks noGrp="1"/>
          </p:cNvSpPr>
          <p:nvPr/>
        </p:nvSpPr>
        <p:spPr>
          <a:xfrm>
            <a:off x="876300" y="3048000"/>
            <a:ext cx="2952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125" b="1">
                <a:solidFill>
                  <a:srgbClr val="6C63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6C63FF"/>
                </a:solidFill>
                <a:latin typeface="Aptos"/>
                <a:ea typeface="Aptos"/>
                <a:cs typeface="Aptos"/>
              </a:rPr>
              <a:t>INSTRUCCIONES</a:t>
            </a:r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24C2A747-82A3-4569-93A8-171BA7308069}"/>
              </a:ext>
            </a:extLst>
          </p:cNvPr>
          <p:cNvSpPr>
            <a:spLocks noGrp="1"/>
          </p:cNvSpPr>
          <p:nvPr/>
        </p:nvSpPr>
        <p:spPr>
          <a:xfrm>
            <a:off x="876300" y="3390900"/>
            <a:ext cx="29527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reglas y objetivos</a:t>
            </a:r>
          </a:p>
        </p:txBody>
      </p:sp>
      <p:sp>
        <p:nvSpPr>
          <p:cNvPr id="10" name="Rectángulo: esquinas redondeadas 9">
            <a:extLst>
              <a:ext uri="{FF2B5EF4-FFF2-40B4-BE49-F238E27FC236}">
                <a16:creationId xmlns:a16="http://schemas.microsoft.com/office/drawing/2014/main" id="{43F1724F-075E-48CC-A9ED-B525F1AB174F}"/>
              </a:ext>
            </a:extLst>
          </p:cNvPr>
          <p:cNvSpPr>
            <a:spLocks noGrp="1"/>
          </p:cNvSpPr>
          <p:nvPr/>
        </p:nvSpPr>
        <p:spPr>
          <a:xfrm>
            <a:off x="4324350" y="2876550"/>
            <a:ext cx="3333750" cy="1066800"/>
          </a:xfrm>
          <a:prstGeom prst="roundRect">
            <a:avLst>
              <a:gd name="adj" fmla="val 14286"/>
            </a:avLst>
          </a:prstGeom>
          <a:solidFill>
            <a:srgbClr val="E3F9F6"/>
          </a:solidFill>
          <a:ln w="11430">
            <a:solidFill>
              <a:srgbClr val="33D6C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0B2248F7-B22C-4335-890A-FF39695193AC}"/>
              </a:ext>
            </a:extLst>
          </p:cNvPr>
          <p:cNvSpPr>
            <a:spLocks noGrp="1"/>
          </p:cNvSpPr>
          <p:nvPr/>
        </p:nvSpPr>
        <p:spPr>
          <a:xfrm>
            <a:off x="4514850" y="3048000"/>
            <a:ext cx="2952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125" b="1">
                <a:solidFill>
                  <a:srgbClr val="33D6C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3D6C8"/>
                </a:solidFill>
                <a:latin typeface="Aptos"/>
                <a:ea typeface="Aptos"/>
                <a:cs typeface="Aptos"/>
              </a:rPr>
              <a:t>CONOCIMIENTO</a:t>
            </a:r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A68F37B0-8F4E-4292-A52A-DED79C0A26D6}"/>
              </a:ext>
            </a:extLst>
          </p:cNvPr>
          <p:cNvSpPr>
            <a:spLocks noGrp="1"/>
          </p:cNvSpPr>
          <p:nvPr/>
        </p:nvSpPr>
        <p:spPr>
          <a:xfrm>
            <a:off x="4514850" y="3390900"/>
            <a:ext cx="29527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evidencia recuperada</a:t>
            </a:r>
          </a:p>
        </p:txBody>
      </p:sp>
      <p:sp>
        <p:nvSpPr>
          <p:cNvPr id="13" name="Rectángulo: esquinas redondeadas 12">
            <a:extLst>
              <a:ext uri="{FF2B5EF4-FFF2-40B4-BE49-F238E27FC236}">
                <a16:creationId xmlns:a16="http://schemas.microsoft.com/office/drawing/2014/main" id="{5132F252-DCFC-411E-A805-A221C0996830}"/>
              </a:ext>
            </a:extLst>
          </p:cNvPr>
          <p:cNvSpPr>
            <a:spLocks noGrp="1"/>
          </p:cNvSpPr>
          <p:nvPr/>
        </p:nvSpPr>
        <p:spPr>
          <a:xfrm>
            <a:off x="7962900" y="2876550"/>
            <a:ext cx="3333750" cy="1066800"/>
          </a:xfrm>
          <a:prstGeom prst="roundRect">
            <a:avLst>
              <a:gd name="adj" fmla="val 14286"/>
            </a:avLst>
          </a:prstGeom>
          <a:solidFill>
            <a:srgbClr val="FFF3E6"/>
          </a:solidFill>
          <a:ln w="11430">
            <a:solidFill>
              <a:srgbClr val="F5A14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6D0A2AAE-ACB2-4201-942A-5D517BCBFD68}"/>
              </a:ext>
            </a:extLst>
          </p:cNvPr>
          <p:cNvSpPr>
            <a:spLocks noGrp="1"/>
          </p:cNvSpPr>
          <p:nvPr/>
        </p:nvSpPr>
        <p:spPr>
          <a:xfrm>
            <a:off x="8153400" y="3048000"/>
            <a:ext cx="2952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125" b="1">
                <a:solidFill>
                  <a:srgbClr val="F5A1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5A14A"/>
                </a:solidFill>
                <a:latin typeface="Aptos"/>
                <a:ea typeface="Aptos"/>
                <a:cs typeface="Aptos"/>
              </a:rPr>
              <a:t>HERRAMIENTAS</a:t>
            </a:r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9649F341-EADE-444D-91E6-5CA678DF1721}"/>
              </a:ext>
            </a:extLst>
          </p:cNvPr>
          <p:cNvSpPr>
            <a:spLocks noGrp="1"/>
          </p:cNvSpPr>
          <p:nvPr/>
        </p:nvSpPr>
        <p:spPr>
          <a:xfrm>
            <a:off x="8153400" y="3390900"/>
            <a:ext cx="29527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funciones disponibles</a:t>
            </a:r>
          </a:p>
        </p:txBody>
      </p:sp>
      <p:sp>
        <p:nvSpPr>
          <p:cNvPr id="16" name="Rectángulo: esquinas redondeadas 15">
            <a:extLst>
              <a:ext uri="{FF2B5EF4-FFF2-40B4-BE49-F238E27FC236}">
                <a16:creationId xmlns:a16="http://schemas.microsoft.com/office/drawing/2014/main" id="{9946E6A6-7F81-49FE-B70E-47567290B6F5}"/>
              </a:ext>
            </a:extLst>
          </p:cNvPr>
          <p:cNvSpPr>
            <a:spLocks noGrp="1"/>
          </p:cNvSpPr>
          <p:nvPr/>
        </p:nvSpPr>
        <p:spPr>
          <a:xfrm>
            <a:off x="685800" y="4229100"/>
            <a:ext cx="3333750" cy="1066800"/>
          </a:xfrm>
          <a:prstGeom prst="roundRect">
            <a:avLst>
              <a:gd name="adj" fmla="val 14286"/>
            </a:avLst>
          </a:prstGeom>
          <a:solidFill>
            <a:srgbClr val="E9F8F0"/>
          </a:solidFill>
          <a:ln w="11430">
            <a:solidFill>
              <a:srgbClr val="49C98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7" name="Rectángulo 16">
            <a:extLst>
              <a:ext uri="{FF2B5EF4-FFF2-40B4-BE49-F238E27FC236}">
                <a16:creationId xmlns:a16="http://schemas.microsoft.com/office/drawing/2014/main" id="{F3DE482C-B289-4032-8E9D-69F232AD2803}"/>
              </a:ext>
            </a:extLst>
          </p:cNvPr>
          <p:cNvSpPr>
            <a:spLocks noGrp="1"/>
          </p:cNvSpPr>
          <p:nvPr/>
        </p:nvSpPr>
        <p:spPr>
          <a:xfrm>
            <a:off x="876300" y="4400550"/>
            <a:ext cx="2952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125" b="1">
                <a:solidFill>
                  <a:srgbClr val="49C986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49C986"/>
                </a:solidFill>
                <a:latin typeface="Aptos"/>
                <a:ea typeface="Aptos"/>
                <a:cs typeface="Aptos"/>
              </a:rPr>
              <a:t>MEMORIA</a:t>
            </a:r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06402A6B-B276-459A-AE0E-99C739684246}"/>
              </a:ext>
            </a:extLst>
          </p:cNvPr>
          <p:cNvSpPr>
            <a:spLocks noGrp="1"/>
          </p:cNvSpPr>
          <p:nvPr/>
        </p:nvSpPr>
        <p:spPr>
          <a:xfrm>
            <a:off x="876300" y="4743450"/>
            <a:ext cx="29527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información persistente</a:t>
            </a:r>
          </a:p>
        </p:txBody>
      </p:sp>
      <p:sp>
        <p:nvSpPr>
          <p:cNvPr id="19" name="Rectángulo: esquinas redondeadas 18">
            <a:extLst>
              <a:ext uri="{FF2B5EF4-FFF2-40B4-BE49-F238E27FC236}">
                <a16:creationId xmlns:a16="http://schemas.microsoft.com/office/drawing/2014/main" id="{433A6D44-D5B3-4568-9291-AF3ECD298695}"/>
              </a:ext>
            </a:extLst>
          </p:cNvPr>
          <p:cNvSpPr>
            <a:spLocks noGrp="1"/>
          </p:cNvSpPr>
          <p:nvPr/>
        </p:nvSpPr>
        <p:spPr>
          <a:xfrm>
            <a:off x="4324350" y="4229100"/>
            <a:ext cx="3333750" cy="1066800"/>
          </a:xfrm>
          <a:prstGeom prst="roundRect">
            <a:avLst>
              <a:gd name="adj" fmla="val 14286"/>
            </a:avLst>
          </a:prstGeom>
          <a:solidFill>
            <a:srgbClr val="FFF0F3"/>
          </a:solidFill>
          <a:ln w="11430">
            <a:solidFill>
              <a:srgbClr val="FF647C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0" name="Rectángulo 19">
            <a:extLst>
              <a:ext uri="{FF2B5EF4-FFF2-40B4-BE49-F238E27FC236}">
                <a16:creationId xmlns:a16="http://schemas.microsoft.com/office/drawing/2014/main" id="{0631F37A-563D-43FA-B9B3-B4F7E5858365}"/>
              </a:ext>
            </a:extLst>
          </p:cNvPr>
          <p:cNvSpPr>
            <a:spLocks noGrp="1"/>
          </p:cNvSpPr>
          <p:nvPr/>
        </p:nvSpPr>
        <p:spPr>
          <a:xfrm>
            <a:off x="4514850" y="4400550"/>
            <a:ext cx="2952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125" b="1">
                <a:solidFill>
                  <a:srgbClr val="FF647C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F647C"/>
                </a:solidFill>
                <a:latin typeface="Aptos"/>
                <a:ea typeface="Aptos"/>
                <a:cs typeface="Aptos"/>
              </a:rPr>
              <a:t>ESTADO</a:t>
            </a:r>
          </a:p>
        </p:txBody>
      </p:sp>
      <p:sp>
        <p:nvSpPr>
          <p:cNvPr id="21" name="Rectángulo 20">
            <a:extLst>
              <a:ext uri="{FF2B5EF4-FFF2-40B4-BE49-F238E27FC236}">
                <a16:creationId xmlns:a16="http://schemas.microsoft.com/office/drawing/2014/main" id="{F77CAF79-D60D-4547-9CA5-47CDBEB92C91}"/>
              </a:ext>
            </a:extLst>
          </p:cNvPr>
          <p:cNvSpPr>
            <a:spLocks noGrp="1"/>
          </p:cNvSpPr>
          <p:nvPr/>
        </p:nvSpPr>
        <p:spPr>
          <a:xfrm>
            <a:off x="4514850" y="4743450"/>
            <a:ext cx="29527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usuario, mundo y agentes</a:t>
            </a:r>
          </a:p>
        </p:txBody>
      </p:sp>
      <p:sp>
        <p:nvSpPr>
          <p:cNvPr id="22" name="Rectángulo: esquinas redondeadas 21">
            <a:extLst>
              <a:ext uri="{FF2B5EF4-FFF2-40B4-BE49-F238E27FC236}">
                <a16:creationId xmlns:a16="http://schemas.microsoft.com/office/drawing/2014/main" id="{8F6C7D5A-9AE2-40BE-B9A8-B9E0C271626B}"/>
              </a:ext>
            </a:extLst>
          </p:cNvPr>
          <p:cNvSpPr>
            <a:spLocks noGrp="1"/>
          </p:cNvSpPr>
          <p:nvPr/>
        </p:nvSpPr>
        <p:spPr>
          <a:xfrm>
            <a:off x="7962900" y="4229100"/>
            <a:ext cx="3333750" cy="1066800"/>
          </a:xfrm>
          <a:prstGeom prst="roundRect">
            <a:avLst>
              <a:gd name="adj" fmla="val 14286"/>
            </a:avLst>
          </a:prstGeom>
          <a:solidFill>
            <a:srgbClr val="E8F4F6"/>
          </a:solidFill>
          <a:ln w="11430">
            <a:solidFill>
              <a:srgbClr val="4E96A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3" name="Rectángulo 22">
            <a:extLst>
              <a:ext uri="{FF2B5EF4-FFF2-40B4-BE49-F238E27FC236}">
                <a16:creationId xmlns:a16="http://schemas.microsoft.com/office/drawing/2014/main" id="{C26AE892-A426-4CDB-A0AD-C305EA81DB37}"/>
              </a:ext>
            </a:extLst>
          </p:cNvPr>
          <p:cNvSpPr>
            <a:spLocks noGrp="1"/>
          </p:cNvSpPr>
          <p:nvPr/>
        </p:nvSpPr>
        <p:spPr>
          <a:xfrm>
            <a:off x="8153400" y="4400550"/>
            <a:ext cx="2952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125" b="1">
                <a:solidFill>
                  <a:srgbClr val="4E96A3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4E96A3"/>
                </a:solidFill>
                <a:latin typeface="Aptos"/>
                <a:ea typeface="Aptos"/>
                <a:cs typeface="Aptos"/>
              </a:rPr>
              <a:t>CONSULTA</a:t>
            </a:r>
          </a:p>
        </p:txBody>
      </p:sp>
      <p:sp>
        <p:nvSpPr>
          <p:cNvPr id="24" name="Rectángulo 23">
            <a:extLst>
              <a:ext uri="{FF2B5EF4-FFF2-40B4-BE49-F238E27FC236}">
                <a16:creationId xmlns:a16="http://schemas.microsoft.com/office/drawing/2014/main" id="{39370EFB-86C4-475E-BAEF-25AB7A52C931}"/>
              </a:ext>
            </a:extLst>
          </p:cNvPr>
          <p:cNvSpPr>
            <a:spLocks noGrp="1"/>
          </p:cNvSpPr>
          <p:nvPr/>
        </p:nvSpPr>
        <p:spPr>
          <a:xfrm>
            <a:off x="8153400" y="4743450"/>
            <a:ext cx="29527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petición inmediata</a:t>
            </a:r>
          </a:p>
        </p:txBody>
      </p:sp>
    </p:spTree>
    <p:extLst>
      <p:ext uri="{BB962C8B-B14F-4D97-AF65-F5344CB8AC3E}">
        <p14:creationId xmlns:p14="http://schemas.microsoft.com/office/powerpoint/2010/main" val="9701808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0B1020"/>
            </a:gs>
            <a:gs pos="58000">
              <a:srgbClr val="151B33"/>
            </a:gs>
            <a:gs pos="100000">
              <a:srgbClr val="252A55"/>
            </a:gs>
          </a:gsLst>
          <a:lin ang="8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ángulo 22">
            <a:extLst>
              <a:ext uri="{FF2B5EF4-FFF2-40B4-BE49-F238E27FC236}">
                <a16:creationId xmlns:a16="http://schemas.microsoft.com/office/drawing/2014/main" id="{3D6EBFB4-F358-485A-B659-0A7E83D0E032}"/>
              </a:ext>
            </a:extLst>
          </p:cNvPr>
          <p:cNvSpPr>
            <a:spLocks noGrp="1"/>
          </p:cNvSpPr>
          <p:nvPr/>
        </p:nvSpPr>
        <p:spPr>
          <a:xfrm>
            <a:off x="685800" y="361950"/>
            <a:ext cx="4095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050" b="1" i="0">
                <a:solidFill>
                  <a:srgbClr val="33D6C8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33D6C8"/>
                </a:solidFill>
                <a:latin typeface="Aptos"/>
                <a:ea typeface="Aptos"/>
                <a:cs typeface="Aptos"/>
              </a:rPr>
              <a:t>05 / OBJETIVO FORMAL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F6BDB1AD-80A4-406B-B986-BA074C9A21F5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108204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92000"/>
              </a:lnSpc>
              <a:buNone/>
              <a:defRPr sz="2925" b="1" i="0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9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Maximizar calidad bajo un límite de contexto</a:t>
            </a:r>
          </a:p>
        </p:txBody>
      </p:sp>
      <p:sp>
        <p:nvSpPr>
          <p:cNvPr id="3" name="Conector recto 2">
            <a:extLst>
              <a:ext uri="{FF2B5EF4-FFF2-40B4-BE49-F238E27FC236}">
                <a16:creationId xmlns:a16="http://schemas.microsoft.com/office/drawing/2014/main" id="{B7410622-8EFD-4471-B95D-8350A8240034}"/>
              </a:ext>
            </a:extLst>
          </p:cNvPr>
          <p:cNvSpPr>
            <a:spLocks noGrp="1"/>
          </p:cNvSpPr>
          <p:nvPr/>
        </p:nvSpPr>
        <p:spPr>
          <a:xfrm>
            <a:off x="685800" y="1485900"/>
            <a:ext cx="10820400" cy="0"/>
          </a:xfrm>
          <a:prstGeom prst="line">
            <a:avLst/>
          </a:prstGeom>
          <a:noFill/>
          <a:ln w="9525">
            <a:solidFill>
              <a:srgbClr val="FFFFFF">
                <a:alpha val="18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867E85F3-53C0-46B7-96B0-87E4C8D41122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95362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750" b="0" i="0">
                <a:solidFill>
                  <a:srgbClr val="9AA6C4"/>
                </a:solidFill>
                <a:latin typeface="Aptos"/>
                <a:ea typeface="Aptos"/>
                <a:cs typeface="Aptos"/>
              </a:defRPr>
            </a:pPr>
            <a:r>
              <a:rPr sz="750" b="0" i="0">
                <a:solidFill>
                  <a:srgbClr val="9AA6C4"/>
                </a:solidFill>
                <a:latin typeface="Aptos"/>
                <a:ea typeface="Aptos"/>
                <a:cs typeface="Aptos"/>
              </a:rPr>
              <a:t>Mei et al. (2025) · Ec. 3 y restricción |C| ≤ Lmax</a:t>
            </a:r>
          </a:p>
        </p:txBody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DD0C79EE-3BEF-4FD4-A4AC-B1E48930DA3F}"/>
              </a:ext>
            </a:extLst>
          </p:cNvPr>
          <p:cNvSpPr>
            <a:spLocks noGrp="1"/>
          </p:cNvSpPr>
          <p:nvPr/>
        </p:nvSpPr>
        <p:spPr>
          <a:xfrm>
            <a:off x="11049000" y="6438900"/>
            <a:ext cx="4572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r">
              <a:lnSpc>
                <a:spcPct val="100000"/>
              </a:lnSpc>
              <a:buNone/>
              <a:defRPr sz="825" b="1" i="0">
                <a:solidFill>
                  <a:srgbClr val="C9D1E6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C9D1E6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24" name="Rectángulo 23">
            <a:extLst>
              <a:ext uri="{FF2B5EF4-FFF2-40B4-BE49-F238E27FC236}">
                <a16:creationId xmlns:a16="http://schemas.microsoft.com/office/drawing/2014/main" id="{4352CF1C-864E-4284-988C-A1F17254F28C}"/>
              </a:ext>
            </a:extLst>
          </p:cNvPr>
          <p:cNvSpPr>
            <a:spLocks noGrp="1"/>
          </p:cNvSpPr>
          <p:nvPr/>
        </p:nvSpPr>
        <p:spPr>
          <a:xfrm>
            <a:off x="685800" y="1952625"/>
            <a:ext cx="4000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125" b="1">
                <a:solidFill>
                  <a:srgbClr val="33D6C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3D6C8"/>
                </a:solidFill>
                <a:latin typeface="Aptos"/>
                <a:ea typeface="Aptos"/>
                <a:cs typeface="Aptos"/>
              </a:rPr>
              <a:t>OBJETIVO DEL SURVEY</a:t>
            </a:r>
          </a:p>
        </p:txBody>
      </p:sp>
      <p:sp>
        <p:nvSpPr>
          <p:cNvPr id="25" name="Rectángulo: esquinas redondeadas 24">
            <a:extLst>
              <a:ext uri="{FF2B5EF4-FFF2-40B4-BE49-F238E27FC236}">
                <a16:creationId xmlns:a16="http://schemas.microsoft.com/office/drawing/2014/main" id="{19775D3A-81B1-4BAE-9A4C-7B022D9FE4D9}"/>
              </a:ext>
            </a:extLst>
          </p:cNvPr>
          <p:cNvSpPr>
            <a:spLocks noGrp="1"/>
          </p:cNvSpPr>
          <p:nvPr/>
        </p:nvSpPr>
        <p:spPr>
          <a:xfrm>
            <a:off x="685800" y="2333625"/>
            <a:ext cx="5905500" cy="1466850"/>
          </a:xfrm>
          <a:prstGeom prst="roundRect">
            <a:avLst>
              <a:gd name="adj" fmla="val 7792"/>
            </a:avLst>
          </a:prstGeom>
          <a:solidFill>
            <a:srgbClr val="19213C"/>
          </a:solidFill>
          <a:ln w="9525">
            <a:solidFill>
              <a:srgbClr val="36405F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pic>
        <p:nvPicPr>
          <p:cNvPr id="51" name="Imagen 50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38200" y="2824147"/>
            <a:ext cx="5600700" cy="485805"/>
          </a:xfrm>
          <a:prstGeom prst="rect">
            <a:avLst/>
          </a:prstGeom>
        </p:spPr>
      </p:pic>
      <p:sp>
        <p:nvSpPr>
          <p:cNvPr id="27" name="Rectángulo: esquinas redondeadas 26">
            <a:extLst>
              <a:ext uri="{FF2B5EF4-FFF2-40B4-BE49-F238E27FC236}">
                <a16:creationId xmlns:a16="http://schemas.microsoft.com/office/drawing/2014/main" id="{DE8794FA-E119-4AB9-8275-CCA11C172C93}"/>
              </a:ext>
            </a:extLst>
          </p:cNvPr>
          <p:cNvSpPr>
            <a:spLocks noGrp="1"/>
          </p:cNvSpPr>
          <p:nvPr/>
        </p:nvSpPr>
        <p:spPr>
          <a:xfrm>
            <a:off x="685800" y="4048125"/>
            <a:ext cx="2857500" cy="704850"/>
          </a:xfrm>
          <a:prstGeom prst="roundRect">
            <a:avLst>
              <a:gd name="adj" fmla="val 16216"/>
            </a:avLst>
          </a:prstGeom>
          <a:solidFill>
            <a:srgbClr val="18263C"/>
          </a:solidFill>
          <a:ln w="9525">
            <a:solidFill>
              <a:srgbClr val="33D6C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pic>
        <p:nvPicPr>
          <p:cNvPr id="53" name="Imagen 52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1135036" y="4143375"/>
            <a:ext cx="1959027" cy="514350"/>
          </a:xfrm>
          <a:prstGeom prst="rect">
            <a:avLst/>
          </a:prstGeom>
        </p:spPr>
      </p:pic>
      <p:sp>
        <p:nvSpPr>
          <p:cNvPr id="29" name="Rectángulo 28">
            <a:extLst>
              <a:ext uri="{FF2B5EF4-FFF2-40B4-BE49-F238E27FC236}">
                <a16:creationId xmlns:a16="http://schemas.microsoft.com/office/drawing/2014/main" id="{C19585AB-E486-490C-8533-71778734F25F}"/>
              </a:ext>
            </a:extLst>
          </p:cNvPr>
          <p:cNvSpPr>
            <a:spLocks noGrp="1"/>
          </p:cNvSpPr>
          <p:nvPr/>
        </p:nvSpPr>
        <p:spPr>
          <a:xfrm>
            <a:off x="685800" y="4972050"/>
            <a:ext cx="59055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500" b="0">
                <a:solidFill>
                  <a:srgbClr val="C9D1E6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C9D1E6"/>
                </a:solidFill>
                <a:latin typeface="Aptos"/>
                <a:ea typeface="Aptos"/>
                <a:cs typeface="Aptos"/>
              </a:rPr>
              <a:t>Maximizar calidad esperada y tratar la longitud como una restricción explícita.</a:t>
            </a:r>
          </a:p>
        </p:txBody>
      </p:sp>
      <p:sp>
        <p:nvSpPr>
          <p:cNvPr id="30" name="Rectángulo 29">
            <a:extLst>
              <a:ext uri="{FF2B5EF4-FFF2-40B4-BE49-F238E27FC236}">
                <a16:creationId xmlns:a16="http://schemas.microsoft.com/office/drawing/2014/main" id="{C69CA713-1BF9-409C-AE12-58107908E5BD}"/>
              </a:ext>
            </a:extLst>
          </p:cNvPr>
          <p:cNvSpPr>
            <a:spLocks noGrp="1"/>
          </p:cNvSpPr>
          <p:nvPr/>
        </p:nvSpPr>
        <p:spPr>
          <a:xfrm>
            <a:off x="7200900" y="1952625"/>
            <a:ext cx="3905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125" b="1">
                <a:solidFill>
                  <a:srgbClr val="F5A1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5A14A"/>
                </a:solidFill>
                <a:latin typeface="Aptos"/>
                <a:ea typeface="Aptos"/>
                <a:cs typeface="Aptos"/>
              </a:rPr>
              <a:t>QUÉ OPTIMIZA F</a:t>
            </a:r>
          </a:p>
        </p:txBody>
      </p:sp>
      <p:sp>
        <p:nvSpPr>
          <p:cNvPr id="31" name="Rectángulo: esquinas redondeadas 30">
            <a:extLst>
              <a:ext uri="{FF2B5EF4-FFF2-40B4-BE49-F238E27FC236}">
                <a16:creationId xmlns:a16="http://schemas.microsoft.com/office/drawing/2014/main" id="{FECDC3CC-AE2E-4263-96E8-12A886AA5CB5}"/>
              </a:ext>
            </a:extLst>
          </p:cNvPr>
          <p:cNvSpPr>
            <a:spLocks noGrp="1"/>
          </p:cNvSpPr>
          <p:nvPr/>
        </p:nvSpPr>
        <p:spPr>
          <a:xfrm>
            <a:off x="7200900" y="2409825"/>
            <a:ext cx="4038600" cy="628650"/>
          </a:xfrm>
          <a:prstGeom prst="roundRect">
            <a:avLst>
              <a:gd name="adj" fmla="val 18182"/>
            </a:avLst>
          </a:prstGeom>
          <a:solidFill>
            <a:srgbClr val="242C49"/>
          </a:solidFill>
          <a:ln w="11430">
            <a:solidFill>
              <a:srgbClr val="6C63FF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2" name="Rectángulo 31">
            <a:extLst>
              <a:ext uri="{FF2B5EF4-FFF2-40B4-BE49-F238E27FC236}">
                <a16:creationId xmlns:a16="http://schemas.microsoft.com/office/drawing/2014/main" id="{E3432324-57D1-4B8B-BD10-6F853E981F60}"/>
              </a:ext>
            </a:extLst>
          </p:cNvPr>
          <p:cNvSpPr>
            <a:spLocks noGrp="1"/>
          </p:cNvSpPr>
          <p:nvPr/>
        </p:nvSpPr>
        <p:spPr>
          <a:xfrm>
            <a:off x="7391400" y="2524125"/>
            <a:ext cx="1238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125" b="1">
                <a:solidFill>
                  <a:srgbClr val="6C63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6C63FF"/>
                </a:solidFill>
                <a:latin typeface="Aptos"/>
                <a:ea typeface="Aptos"/>
                <a:cs typeface="Aptos"/>
              </a:rPr>
              <a:t>GENERAR</a:t>
            </a:r>
          </a:p>
        </p:txBody>
      </p:sp>
      <p:sp>
        <p:nvSpPr>
          <p:cNvPr id="33" name="Rectángulo 32">
            <a:extLst>
              <a:ext uri="{FF2B5EF4-FFF2-40B4-BE49-F238E27FC236}">
                <a16:creationId xmlns:a16="http://schemas.microsoft.com/office/drawing/2014/main" id="{F734CF38-A02A-4862-A91C-1C954B02222F}"/>
              </a:ext>
            </a:extLst>
          </p:cNvPr>
          <p:cNvSpPr>
            <a:spLocks noGrp="1"/>
          </p:cNvSpPr>
          <p:nvPr/>
        </p:nvSpPr>
        <p:spPr>
          <a:xfrm>
            <a:off x="8667750" y="2524125"/>
            <a:ext cx="23431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20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crear instrucciones o memoria</a:t>
            </a:r>
          </a:p>
        </p:txBody>
      </p:sp>
      <p:sp>
        <p:nvSpPr>
          <p:cNvPr id="34" name="Rectángulo: esquinas redondeadas 33">
            <a:extLst>
              <a:ext uri="{FF2B5EF4-FFF2-40B4-BE49-F238E27FC236}">
                <a16:creationId xmlns:a16="http://schemas.microsoft.com/office/drawing/2014/main" id="{20D0D906-EE66-4199-8B30-41AB8C6C8C26}"/>
              </a:ext>
            </a:extLst>
          </p:cNvPr>
          <p:cNvSpPr>
            <a:spLocks noGrp="1"/>
          </p:cNvSpPr>
          <p:nvPr/>
        </p:nvSpPr>
        <p:spPr>
          <a:xfrm>
            <a:off x="7200900" y="3219450"/>
            <a:ext cx="4038600" cy="628650"/>
          </a:xfrm>
          <a:prstGeom prst="roundRect">
            <a:avLst>
              <a:gd name="adj" fmla="val 18182"/>
            </a:avLst>
          </a:prstGeom>
          <a:solidFill>
            <a:srgbClr val="242C49"/>
          </a:solidFill>
          <a:ln w="11430">
            <a:solidFill>
              <a:srgbClr val="33D6C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5" name="Rectángulo 34">
            <a:extLst>
              <a:ext uri="{FF2B5EF4-FFF2-40B4-BE49-F238E27FC236}">
                <a16:creationId xmlns:a16="http://schemas.microsoft.com/office/drawing/2014/main" id="{3E1B3B99-26D1-46E0-A8E4-85A970F8447C}"/>
              </a:ext>
            </a:extLst>
          </p:cNvPr>
          <p:cNvSpPr>
            <a:spLocks noGrp="1"/>
          </p:cNvSpPr>
          <p:nvPr/>
        </p:nvSpPr>
        <p:spPr>
          <a:xfrm>
            <a:off x="7391400" y="3333750"/>
            <a:ext cx="1238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125" b="1">
                <a:solidFill>
                  <a:srgbClr val="33D6C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3D6C8"/>
                </a:solidFill>
                <a:latin typeface="Aptos"/>
                <a:ea typeface="Aptos"/>
                <a:cs typeface="Aptos"/>
              </a:rPr>
              <a:t>RECUPERAR</a:t>
            </a:r>
          </a:p>
        </p:txBody>
      </p:sp>
      <p:sp>
        <p:nvSpPr>
          <p:cNvPr id="36" name="Rectángulo 35">
            <a:extLst>
              <a:ext uri="{FF2B5EF4-FFF2-40B4-BE49-F238E27FC236}">
                <a16:creationId xmlns:a16="http://schemas.microsoft.com/office/drawing/2014/main" id="{B2C60267-DF0D-487D-885E-5B7BE6A5CDD8}"/>
              </a:ext>
            </a:extLst>
          </p:cNvPr>
          <p:cNvSpPr>
            <a:spLocks noGrp="1"/>
          </p:cNvSpPr>
          <p:nvPr/>
        </p:nvSpPr>
        <p:spPr>
          <a:xfrm>
            <a:off x="8667750" y="3333750"/>
            <a:ext cx="23431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20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buscar conocimiento</a:t>
            </a:r>
          </a:p>
        </p:txBody>
      </p:sp>
      <p:sp>
        <p:nvSpPr>
          <p:cNvPr id="37" name="Rectángulo: esquinas redondeadas 36">
            <a:extLst>
              <a:ext uri="{FF2B5EF4-FFF2-40B4-BE49-F238E27FC236}">
                <a16:creationId xmlns:a16="http://schemas.microsoft.com/office/drawing/2014/main" id="{99562E57-302B-49B5-B089-F2C78097F573}"/>
              </a:ext>
            </a:extLst>
          </p:cNvPr>
          <p:cNvSpPr>
            <a:spLocks noGrp="1"/>
          </p:cNvSpPr>
          <p:nvPr/>
        </p:nvSpPr>
        <p:spPr>
          <a:xfrm>
            <a:off x="7200900" y="4029075"/>
            <a:ext cx="4038600" cy="628650"/>
          </a:xfrm>
          <a:prstGeom prst="roundRect">
            <a:avLst>
              <a:gd name="adj" fmla="val 18182"/>
            </a:avLst>
          </a:prstGeom>
          <a:solidFill>
            <a:srgbClr val="242C49"/>
          </a:solidFill>
          <a:ln w="11430">
            <a:solidFill>
              <a:srgbClr val="49C98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8" name="Rectángulo 37">
            <a:extLst>
              <a:ext uri="{FF2B5EF4-FFF2-40B4-BE49-F238E27FC236}">
                <a16:creationId xmlns:a16="http://schemas.microsoft.com/office/drawing/2014/main" id="{2B80FAF6-22BE-469D-8822-D1EBEBF85C7B}"/>
              </a:ext>
            </a:extLst>
          </p:cNvPr>
          <p:cNvSpPr>
            <a:spLocks noGrp="1"/>
          </p:cNvSpPr>
          <p:nvPr/>
        </p:nvSpPr>
        <p:spPr>
          <a:xfrm>
            <a:off x="7391400" y="4143375"/>
            <a:ext cx="1238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125" b="1">
                <a:solidFill>
                  <a:srgbClr val="49C986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49C986"/>
                </a:solidFill>
                <a:latin typeface="Aptos"/>
                <a:ea typeface="Aptos"/>
                <a:cs typeface="Aptos"/>
              </a:rPr>
              <a:t>SELECCIONAR</a:t>
            </a:r>
          </a:p>
        </p:txBody>
      </p:sp>
      <p:sp>
        <p:nvSpPr>
          <p:cNvPr id="39" name="Rectángulo 38">
            <a:extLst>
              <a:ext uri="{FF2B5EF4-FFF2-40B4-BE49-F238E27FC236}">
                <a16:creationId xmlns:a16="http://schemas.microsoft.com/office/drawing/2014/main" id="{934474E7-0249-47B7-B1CE-766B21262471}"/>
              </a:ext>
            </a:extLst>
          </p:cNvPr>
          <p:cNvSpPr>
            <a:spLocks noGrp="1"/>
          </p:cNvSpPr>
          <p:nvPr/>
        </p:nvSpPr>
        <p:spPr>
          <a:xfrm>
            <a:off x="8667750" y="4143375"/>
            <a:ext cx="23431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20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conservar lo relevante</a:t>
            </a:r>
          </a:p>
        </p:txBody>
      </p:sp>
      <p:sp>
        <p:nvSpPr>
          <p:cNvPr id="40" name="Rectángulo: esquinas redondeadas 39">
            <a:extLst>
              <a:ext uri="{FF2B5EF4-FFF2-40B4-BE49-F238E27FC236}">
                <a16:creationId xmlns:a16="http://schemas.microsoft.com/office/drawing/2014/main" id="{D07D62D8-ECB4-417C-9098-C5D59EAF8BB7}"/>
              </a:ext>
            </a:extLst>
          </p:cNvPr>
          <p:cNvSpPr>
            <a:spLocks noGrp="1"/>
          </p:cNvSpPr>
          <p:nvPr/>
        </p:nvSpPr>
        <p:spPr>
          <a:xfrm>
            <a:off x="7200900" y="4838700"/>
            <a:ext cx="4038600" cy="628650"/>
          </a:xfrm>
          <a:prstGeom prst="roundRect">
            <a:avLst>
              <a:gd name="adj" fmla="val 18182"/>
            </a:avLst>
          </a:prstGeom>
          <a:solidFill>
            <a:srgbClr val="242C49"/>
          </a:solidFill>
          <a:ln w="11430">
            <a:solidFill>
              <a:srgbClr val="F5A14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1" name="Rectángulo 40">
            <a:extLst>
              <a:ext uri="{FF2B5EF4-FFF2-40B4-BE49-F238E27FC236}">
                <a16:creationId xmlns:a16="http://schemas.microsoft.com/office/drawing/2014/main" id="{8F9D6C11-DAEF-4D67-98C5-F78B7C26D4AE}"/>
              </a:ext>
            </a:extLst>
          </p:cNvPr>
          <p:cNvSpPr>
            <a:spLocks noGrp="1"/>
          </p:cNvSpPr>
          <p:nvPr/>
        </p:nvSpPr>
        <p:spPr>
          <a:xfrm>
            <a:off x="7391400" y="4953000"/>
            <a:ext cx="1238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125" b="1">
                <a:solidFill>
                  <a:srgbClr val="F5A1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5A14A"/>
                </a:solidFill>
                <a:latin typeface="Aptos"/>
                <a:ea typeface="Aptos"/>
                <a:cs typeface="Aptos"/>
              </a:rPr>
              <a:t>COMPRIMIR</a:t>
            </a:r>
          </a:p>
        </p:txBody>
      </p:sp>
      <p:sp>
        <p:nvSpPr>
          <p:cNvPr id="42" name="Rectángulo 41">
            <a:extLst>
              <a:ext uri="{FF2B5EF4-FFF2-40B4-BE49-F238E27FC236}">
                <a16:creationId xmlns:a16="http://schemas.microsoft.com/office/drawing/2014/main" id="{B3EC61D7-0069-44C4-882D-BDD6680F6AD0}"/>
              </a:ext>
            </a:extLst>
          </p:cNvPr>
          <p:cNvSpPr>
            <a:spLocks noGrp="1"/>
          </p:cNvSpPr>
          <p:nvPr/>
        </p:nvSpPr>
        <p:spPr>
          <a:xfrm>
            <a:off x="8667750" y="4953000"/>
            <a:ext cx="23431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20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reducir longitud con control</a:t>
            </a:r>
          </a:p>
        </p:txBody>
      </p:sp>
      <p:sp>
        <p:nvSpPr>
          <p:cNvPr id="43" name="Rectángulo 42">
            <a:extLst>
              <a:ext uri="{FF2B5EF4-FFF2-40B4-BE49-F238E27FC236}">
                <a16:creationId xmlns:a16="http://schemas.microsoft.com/office/drawing/2014/main" id="{BF27198A-A09D-43C7-9F3F-A71E00550B21}"/>
              </a:ext>
            </a:extLst>
          </p:cNvPr>
          <p:cNvSpPr>
            <a:spLocks noGrp="1"/>
          </p:cNvSpPr>
          <p:nvPr/>
        </p:nvSpPr>
        <p:spPr>
          <a:xfrm>
            <a:off x="7200900" y="5810250"/>
            <a:ext cx="4038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050" b="1">
                <a:solidFill>
                  <a:srgbClr val="FF647C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F647C"/>
                </a:solidFill>
                <a:latin typeface="Aptos"/>
                <a:ea typeface="Aptos"/>
                <a:cs typeface="Aptos"/>
              </a:rPr>
              <a:t>La razón información/tokens no es la ecuación del survey.</a:t>
            </a:r>
          </a:p>
        </p:txBody>
      </p:sp>
    </p:spTree>
    <p:extLst>
      <p:ext uri="{BB962C8B-B14F-4D97-AF65-F5344CB8AC3E}">
        <p14:creationId xmlns:p14="http://schemas.microsoft.com/office/powerpoint/2010/main" val="122488088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ectángulo 33">
            <a:extLst>
              <a:ext uri="{FF2B5EF4-FFF2-40B4-BE49-F238E27FC236}">
                <a16:creationId xmlns:a16="http://schemas.microsoft.com/office/drawing/2014/main" id="{8E20CD3A-5CF0-4613-8352-A1AED48A2654}"/>
              </a:ext>
            </a:extLst>
          </p:cNvPr>
          <p:cNvSpPr>
            <a:spLocks noGrp="1"/>
          </p:cNvSpPr>
          <p:nvPr/>
        </p:nvSpPr>
        <p:spPr>
          <a:xfrm>
            <a:off x="685800" y="361950"/>
            <a:ext cx="4095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050" b="1" i="0">
                <a:solidFill>
                  <a:srgbClr val="6C63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6C63FF"/>
                </a:solidFill>
                <a:latin typeface="Aptos"/>
                <a:ea typeface="Aptos"/>
                <a:cs typeface="Aptos"/>
              </a:rPr>
              <a:t>06 / MODELO PROBABILÍSTICO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4D0B8AA6-9A27-4079-B48F-1A4F4A79F027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10820400" cy="1104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l">
              <a:lnSpc>
                <a:spcPct val="92000"/>
              </a:lnSpc>
              <a:buNone/>
              <a:defRPr sz="2850" b="1" i="0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La probabilidad de una respuesta se construye token a token</a:t>
            </a:r>
          </a:p>
        </p:txBody>
      </p:sp>
      <p:sp>
        <p:nvSpPr>
          <p:cNvPr id="3" name="Conector recto 2">
            <a:extLst>
              <a:ext uri="{FF2B5EF4-FFF2-40B4-BE49-F238E27FC236}">
                <a16:creationId xmlns:a16="http://schemas.microsoft.com/office/drawing/2014/main" id="{BF86773F-7EBE-437C-8DB8-2BC90D6BEE66}"/>
              </a:ext>
            </a:extLst>
          </p:cNvPr>
          <p:cNvSpPr>
            <a:spLocks noGrp="1"/>
          </p:cNvSpPr>
          <p:nvPr/>
        </p:nvSpPr>
        <p:spPr>
          <a:xfrm>
            <a:off x="685800" y="1866900"/>
            <a:ext cx="10820400" cy="0"/>
          </a:xfrm>
          <a:prstGeom prst="line">
            <a:avLst/>
          </a:prstGeom>
          <a:noFill/>
          <a:ln w="9525">
            <a:solidFill>
              <a:srgbClr val="D9DD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20FFA801-F445-41AB-8958-A15FF7736739}"/>
              </a:ext>
            </a:extLst>
          </p:cNvPr>
          <p:cNvSpPr>
            <a:spLocks noGrp="1"/>
          </p:cNvSpPr>
          <p:nvPr/>
        </p:nvSpPr>
        <p:spPr>
          <a:xfrm>
            <a:off x="1714500" y="3619500"/>
            <a:ext cx="8763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350" b="1" i="0">
                <a:solidFill>
                  <a:srgbClr val="0E4A5A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0E4A5A"/>
                </a:solidFill>
                <a:latin typeface="Aptos"/>
                <a:ea typeface="Aptos"/>
                <a:cs typeface="Aptos"/>
              </a:rPr>
              <a:t>Conexión: la primera fórmula genera cada factor; la segunda combina esos factores para puntuar la respuesta Y.</a:t>
            </a:r>
          </a:p>
        </p:txBody>
      </p:sp>
      <p:sp>
        <p:nvSpPr>
          <p:cNvPr id="7" name="Rectángulo: esquinas redondeadas 6">
            <a:extLst>
              <a:ext uri="{FF2B5EF4-FFF2-40B4-BE49-F238E27FC236}">
                <a16:creationId xmlns:a16="http://schemas.microsoft.com/office/drawing/2014/main" id="{309CE881-95DC-403F-B27E-72E1BE63243B}"/>
              </a:ext>
            </a:extLst>
          </p:cNvPr>
          <p:cNvSpPr>
            <a:spLocks noGrp="1"/>
          </p:cNvSpPr>
          <p:nvPr/>
        </p:nvSpPr>
        <p:spPr>
          <a:xfrm>
            <a:off x="685800" y="4152900"/>
            <a:ext cx="10820400" cy="1581150"/>
          </a:xfrm>
          <a:prstGeom prst="roundRect">
            <a:avLst>
              <a:gd name="adj" fmla="val 7453"/>
            </a:avLst>
          </a:prstGeom>
          <a:solidFill>
            <a:srgbClr val="FFFFFF"/>
          </a:solidFill>
          <a:ln w="9525">
            <a:solidFill>
              <a:srgbClr val="D9DD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Rectángulo: esquinas redondeadas 7">
            <a:extLst>
              <a:ext uri="{FF2B5EF4-FFF2-40B4-BE49-F238E27FC236}">
                <a16:creationId xmlns:a16="http://schemas.microsoft.com/office/drawing/2014/main" id="{4B138318-E307-4F06-8FC3-E70029D7689B}"/>
              </a:ext>
            </a:extLst>
          </p:cNvPr>
          <p:cNvSpPr>
            <a:spLocks noGrp="1"/>
          </p:cNvSpPr>
          <p:nvPr/>
        </p:nvSpPr>
        <p:spPr>
          <a:xfrm>
            <a:off x="914400" y="4762500"/>
            <a:ext cx="952500" cy="285750"/>
          </a:xfrm>
          <a:prstGeom prst="roundRect">
            <a:avLst>
              <a:gd name="adj" fmla="val 50000"/>
            </a:avLst>
          </a:prstGeom>
          <a:solidFill>
            <a:srgbClr val="45E0D0">
              <a:alpha val="14000"/>
            </a:srgbClr>
          </a:solidFill>
          <a:ln w="9525">
            <a:solidFill>
              <a:srgbClr val="45E0D0">
                <a:alpha val="45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01BF6F70-52A2-4E04-852B-F8D7082AA3F3}"/>
              </a:ext>
            </a:extLst>
          </p:cNvPr>
          <p:cNvSpPr>
            <a:spLocks noGrp="1"/>
          </p:cNvSpPr>
          <p:nvPr/>
        </p:nvSpPr>
        <p:spPr>
          <a:xfrm>
            <a:off x="1028700" y="4800600"/>
            <a:ext cx="7239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900" b="1" i="0">
                <a:solidFill>
                  <a:srgbClr val="33D6C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33D6C8"/>
                </a:solidFill>
                <a:latin typeface="Aptos"/>
                <a:ea typeface="Aptos"/>
                <a:cs typeface="Aptos"/>
              </a:rPr>
              <a:t>EJEMPLO</a:t>
            </a: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DAD685CC-F2E2-4A29-90FE-27CD0B5715BA}"/>
              </a:ext>
            </a:extLst>
          </p:cNvPr>
          <p:cNvSpPr>
            <a:spLocks noGrp="1"/>
          </p:cNvSpPr>
          <p:nvPr/>
        </p:nvSpPr>
        <p:spPr>
          <a:xfrm>
            <a:off x="4762500" y="4305300"/>
            <a:ext cx="1619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200" b="1" i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667085"/>
                </a:solidFill>
                <a:latin typeface="Aptos"/>
                <a:ea typeface="Aptos"/>
                <a:cs typeface="Aptos"/>
              </a:rPr>
              <a:t>Sin contrato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80E9245C-0FAC-4767-B949-BD34A710BF6F}"/>
              </a:ext>
            </a:extLst>
          </p:cNvPr>
          <p:cNvSpPr>
            <a:spLocks noGrp="1"/>
          </p:cNvSpPr>
          <p:nvPr/>
        </p:nvSpPr>
        <p:spPr>
          <a:xfrm>
            <a:off x="4762500" y="4572000"/>
            <a:ext cx="16192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2025" b="1" i="0">
                <a:solidFill>
                  <a:srgbClr val="FF647C"/>
                </a:solidFill>
                <a:latin typeface="Aptos"/>
                <a:ea typeface="Aptos"/>
                <a:cs typeface="Aptos"/>
              </a:defRPr>
            </a:pPr>
            <a:r>
              <a:rPr sz="2025" b="1" i="0">
                <a:solidFill>
                  <a:srgbClr val="FF647C"/>
                </a:solidFill>
                <a:latin typeface="Aptos"/>
                <a:ea typeface="Aptos"/>
                <a:cs typeface="Aptos"/>
              </a:rPr>
              <a:t>“12 meses”</a:t>
            </a:r>
          </a:p>
        </p:txBody>
      </p:sp>
      <p:sp>
        <p:nvSpPr>
          <p:cNvPr id="12" name="Conector recto 11">
            <a:extLst>
              <a:ext uri="{FF2B5EF4-FFF2-40B4-BE49-F238E27FC236}">
                <a16:creationId xmlns:a16="http://schemas.microsoft.com/office/drawing/2014/main" id="{20461332-9B29-40C6-B934-2C32914253ED}"/>
              </a:ext>
            </a:extLst>
          </p:cNvPr>
          <p:cNvSpPr>
            <a:spLocks noGrp="1"/>
          </p:cNvSpPr>
          <p:nvPr/>
        </p:nvSpPr>
        <p:spPr>
          <a:xfrm>
            <a:off x="6591300" y="4810125"/>
            <a:ext cx="647700" cy="0"/>
          </a:xfrm>
          <a:prstGeom prst="line">
            <a:avLst/>
          </a:prstGeom>
          <a:noFill/>
          <a:ln w="28575">
            <a:solidFill>
              <a:srgbClr val="7769F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D28AF78C-AD19-488F-B98D-5D33CD7E8F48}"/>
              </a:ext>
            </a:extLst>
          </p:cNvPr>
          <p:cNvSpPr>
            <a:spLocks noGrp="1"/>
          </p:cNvSpPr>
          <p:nvPr/>
        </p:nvSpPr>
        <p:spPr>
          <a:xfrm>
            <a:off x="7524750" y="4305300"/>
            <a:ext cx="1619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200" b="1" i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667085"/>
                </a:solidFill>
                <a:latin typeface="Aptos"/>
                <a:ea typeface="Aptos"/>
                <a:cs typeface="Aptos"/>
              </a:rPr>
              <a:t>Con contrato</a:t>
            </a:r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32000D48-457B-463C-B62E-990E1564A376}"/>
              </a:ext>
            </a:extLst>
          </p:cNvPr>
          <p:cNvSpPr>
            <a:spLocks noGrp="1"/>
          </p:cNvSpPr>
          <p:nvPr/>
        </p:nvSpPr>
        <p:spPr>
          <a:xfrm>
            <a:off x="7524750" y="4572000"/>
            <a:ext cx="17145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2025" b="1" i="0">
                <a:solidFill>
                  <a:srgbClr val="49C986"/>
                </a:solidFill>
                <a:latin typeface="Aptos"/>
                <a:ea typeface="Aptos"/>
                <a:cs typeface="Aptos"/>
              </a:defRPr>
            </a:pPr>
            <a:r>
              <a:rPr sz="2025" b="1" i="0">
                <a:solidFill>
                  <a:srgbClr val="49C986"/>
                </a:solidFill>
                <a:latin typeface="Aptos"/>
                <a:ea typeface="Aptos"/>
                <a:cs typeface="Aptos"/>
              </a:rPr>
              <a:t>“24 meses”</a:t>
            </a:r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41858BDA-5CE8-4CAB-904C-6D53DA4488CC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95362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750" b="0" i="0">
                <a:solidFill>
                  <a:srgbClr val="8792AA"/>
                </a:solidFill>
                <a:latin typeface="Aptos"/>
                <a:ea typeface="Aptos"/>
                <a:cs typeface="Aptos"/>
              </a:defRPr>
            </a:pPr>
            <a:r>
              <a:rPr sz="750" b="0" i="0">
                <a:solidFill>
                  <a:srgbClr val="8792AA"/>
                </a:solidFill>
                <a:latin typeface="Aptos"/>
                <a:ea typeface="Aptos"/>
                <a:cs typeface="Aptos"/>
              </a:rPr>
              <a:t>Identidad autoregresiva · ejemplo hipotético de garantía</a:t>
            </a:r>
          </a:p>
        </p:txBody>
      </p:sp>
      <p:sp>
        <p:nvSpPr>
          <p:cNvPr id="17" name="Rectángulo 16">
            <a:extLst>
              <a:ext uri="{FF2B5EF4-FFF2-40B4-BE49-F238E27FC236}">
                <a16:creationId xmlns:a16="http://schemas.microsoft.com/office/drawing/2014/main" id="{2BE03278-1F75-4172-9C82-70EFA7054220}"/>
              </a:ext>
            </a:extLst>
          </p:cNvPr>
          <p:cNvSpPr>
            <a:spLocks noGrp="1"/>
          </p:cNvSpPr>
          <p:nvPr/>
        </p:nvSpPr>
        <p:spPr>
          <a:xfrm>
            <a:off x="11049000" y="6438900"/>
            <a:ext cx="4572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r">
              <a:lnSpc>
                <a:spcPct val="100000"/>
              </a:lnSpc>
              <a:buNone/>
              <a:defRPr sz="825" b="1" i="0">
                <a:solidFill>
                  <a:srgbClr val="7B879F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7B879F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  <p:pic>
        <p:nvPicPr>
          <p:cNvPr id="52" name="Ecuación s05_toke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400300"/>
            <a:ext cx="4572000" cy="723900"/>
          </a:xfrm>
          <a:prstGeom prst="rect">
            <a:avLst/>
          </a:prstGeom>
        </p:spPr>
      </p:pic>
      <p:pic>
        <p:nvPicPr>
          <p:cNvPr id="53" name="Ecuación s05_sequenc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7000" y="2438400"/>
            <a:ext cx="4000500" cy="666750"/>
          </a:xfrm>
          <a:prstGeom prst="rect">
            <a:avLst/>
          </a:prstGeom>
        </p:spPr>
      </p:pic>
      <p:pic>
        <p:nvPicPr>
          <p:cNvPr id="54" name="Ecuación s05_example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62500" y="5219700"/>
            <a:ext cx="4476750" cy="361950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8A47B936-39B5-4581-9D50-939345D757AB}"/>
              </a:ext>
            </a:extLst>
          </p:cNvPr>
          <p:cNvSpPr>
            <a:spLocks noGrp="1"/>
          </p:cNvSpPr>
          <p:nvPr/>
        </p:nvSpPr>
        <p:spPr>
          <a:xfrm>
            <a:off x="914400" y="4333875"/>
            <a:ext cx="3714750" cy="285750"/>
          </a:xfrm>
          <a:prstGeom prst="rect">
            <a:avLst/>
          </a:prstGeom>
          <a:noFill/>
        </p:spPr>
        <p:txBody>
          <a:bodyPr wrap="square" lIns="28575" tIns="19050" rIns="28575" bIns="1905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200" b="1">
                <a:solidFill>
                  <a:srgbClr val="0E4A5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E4A5A"/>
                </a:solidFill>
                <a:latin typeface="Aptos"/>
                <a:ea typeface="Aptos"/>
                <a:cs typeface="Aptos"/>
              </a:rPr>
              <a:t>Consulta: «¿Cuánto dura la garantía?»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13A729F-91BB-46D2-AA10-F172F2BE481E}"/>
              </a:ext>
            </a:extLst>
          </p:cNvPr>
          <p:cNvSpPr>
            <a:spLocks noGrp="1"/>
          </p:cNvSpPr>
          <p:nvPr/>
        </p:nvSpPr>
        <p:spPr>
          <a:xfrm>
            <a:off x="685800" y="5886450"/>
            <a:ext cx="10001250" cy="266700"/>
          </a:xfrm>
          <a:prstGeom prst="rect">
            <a:avLst/>
          </a:prstGeom>
          <a:noFill/>
        </p:spPr>
        <p:txBody>
          <a:bodyPr wrap="square" lIns="28575" tIns="19050" rIns="28575" bIns="1905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050" b="1">
                <a:solidFill>
                  <a:srgbClr val="6C63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6C63FF"/>
                </a:solidFill>
                <a:latin typeface="Aptos"/>
                <a:ea typeface="Aptos"/>
                <a:cs typeface="Aptos"/>
              </a:rPr>
              <a:t>Notación · θ parámetros · yₜ token actual · y&lt;ₜ prefijo · X consulta · C contrato · Y respuesta completa</a:t>
            </a:r>
          </a:p>
        </p:txBody>
      </p:sp>
      <p:sp>
        <p:nvSpPr>
          <p:cNvPr id="26" name="slide6-step1-surface">
            <a:extLst>
              <a:ext uri="{FF2B5EF4-FFF2-40B4-BE49-F238E27FC236}">
                <a16:creationId xmlns:a16="http://schemas.microsoft.com/office/drawing/2014/main" id="{326715AF-A22B-470B-8661-3854F5CF4D53}"/>
              </a:ext>
            </a:extLst>
          </p:cNvPr>
          <p:cNvSpPr>
            <a:spLocks noGrp="1"/>
          </p:cNvSpPr>
          <p:nvPr/>
        </p:nvSpPr>
        <p:spPr>
          <a:xfrm>
            <a:off x="685800" y="2038350"/>
            <a:ext cx="1600200" cy="266700"/>
          </a:xfrm>
          <a:prstGeom prst="roundRect">
            <a:avLst>
              <a:gd name="adj" fmla="val 50000"/>
            </a:avLst>
          </a:prstGeom>
          <a:solidFill>
            <a:srgbClr val="EEECFF"/>
          </a:solidFill>
          <a:ln w="9525">
            <a:solidFill>
              <a:srgbClr val="6C63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slide6-step1">
            <a:extLst>
              <a:ext uri="{FF2B5EF4-FFF2-40B4-BE49-F238E27FC236}">
                <a16:creationId xmlns:a16="http://schemas.microsoft.com/office/drawing/2014/main" id="{CC8E171D-C129-4EDA-A0E1-76E10FEE0DCD}"/>
              </a:ext>
            </a:extLst>
          </p:cNvPr>
          <p:cNvSpPr>
            <a:spLocks noGrp="1"/>
          </p:cNvSpPr>
          <p:nvPr/>
        </p:nvSpPr>
        <p:spPr>
          <a:xfrm>
            <a:off x="742950" y="2066925"/>
            <a:ext cx="14859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900" b="1">
                <a:solidFill>
                  <a:srgbClr val="6C63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C63FF"/>
                </a:solidFill>
                <a:latin typeface="Aptos"/>
                <a:ea typeface="Aptos"/>
                <a:cs typeface="Aptos"/>
              </a:rPr>
              <a:t>1 · SIGUIENTE TOKEN</a:t>
            </a:r>
          </a:p>
        </p:txBody>
      </p:sp>
      <p:sp>
        <p:nvSpPr>
          <p:cNvPr id="28" name="slide6-step2-surface">
            <a:extLst>
              <a:ext uri="{FF2B5EF4-FFF2-40B4-BE49-F238E27FC236}">
                <a16:creationId xmlns:a16="http://schemas.microsoft.com/office/drawing/2014/main" id="{92F1B860-0FE7-4F50-AA60-344B8CF3CE2F}"/>
              </a:ext>
            </a:extLst>
          </p:cNvPr>
          <p:cNvSpPr>
            <a:spLocks noGrp="1"/>
          </p:cNvSpPr>
          <p:nvPr/>
        </p:nvSpPr>
        <p:spPr>
          <a:xfrm>
            <a:off x="6477000" y="2038350"/>
            <a:ext cx="1943100" cy="266700"/>
          </a:xfrm>
          <a:prstGeom prst="roundRect">
            <a:avLst>
              <a:gd name="adj" fmla="val 50000"/>
            </a:avLst>
          </a:prstGeom>
          <a:solidFill>
            <a:srgbClr val="E3F9F6"/>
          </a:solidFill>
          <a:ln w="9525">
            <a:solidFill>
              <a:srgbClr val="168E8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slide6-step2">
            <a:extLst>
              <a:ext uri="{FF2B5EF4-FFF2-40B4-BE49-F238E27FC236}">
                <a16:creationId xmlns:a16="http://schemas.microsoft.com/office/drawing/2014/main" id="{A0E3CE88-A635-4E57-8D35-5108AB90AB40}"/>
              </a:ext>
            </a:extLst>
          </p:cNvPr>
          <p:cNvSpPr>
            <a:spLocks noGrp="1"/>
          </p:cNvSpPr>
          <p:nvPr/>
        </p:nvSpPr>
        <p:spPr>
          <a:xfrm>
            <a:off x="6534150" y="2066925"/>
            <a:ext cx="18288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900" b="1">
                <a:solidFill>
                  <a:srgbClr val="168E83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68E83"/>
                </a:solidFill>
                <a:latin typeface="Aptos"/>
                <a:ea typeface="Aptos"/>
                <a:cs typeface="Aptos"/>
              </a:rPr>
              <a:t>2 · RESPUESTA COMPLETA</a:t>
            </a:r>
          </a:p>
        </p:txBody>
      </p:sp>
      <p:sp>
        <p:nvSpPr>
          <p:cNvPr id="30" name="slide6-token-to-sequence">
            <a:extLst>
              <a:ext uri="{FF2B5EF4-FFF2-40B4-BE49-F238E27FC236}">
                <a16:creationId xmlns:a16="http://schemas.microsoft.com/office/drawing/2014/main" id="{6E0FFC64-F351-4628-A879-61D2B66520D3}"/>
              </a:ext>
            </a:extLst>
          </p:cNvPr>
          <p:cNvSpPr>
            <a:spLocks noGrp="1"/>
          </p:cNvSpPr>
          <p:nvPr/>
        </p:nvSpPr>
        <p:spPr>
          <a:xfrm>
            <a:off x="5514975" y="2590800"/>
            <a:ext cx="590550" cy="323850"/>
          </a:xfrm>
          <a:prstGeom prst="rightArrow">
            <a:avLst/>
          </a:prstGeom>
          <a:solidFill>
            <a:srgbClr val="B9C0D4"/>
          </a:solidFill>
          <a:ln w="9525">
            <a:solidFill>
              <a:srgbClr val="A5AEC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slide6-connector-label">
            <a:extLst>
              <a:ext uri="{FF2B5EF4-FFF2-40B4-BE49-F238E27FC236}">
                <a16:creationId xmlns:a16="http://schemas.microsoft.com/office/drawing/2014/main" id="{95F8FAE9-0BD0-4F54-BE0B-B649E4A9309E}"/>
              </a:ext>
            </a:extLst>
          </p:cNvPr>
          <p:cNvSpPr>
            <a:spLocks noGrp="1"/>
          </p:cNvSpPr>
          <p:nvPr/>
        </p:nvSpPr>
        <p:spPr>
          <a:xfrm>
            <a:off x="5219700" y="2924175"/>
            <a:ext cx="11811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90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repetir para t=1…T</a:t>
            </a:r>
          </a:p>
        </p:txBody>
      </p:sp>
      <p:sp>
        <p:nvSpPr>
          <p:cNvPr id="32" name="slide6-step1-explanation">
            <a:extLst>
              <a:ext uri="{FF2B5EF4-FFF2-40B4-BE49-F238E27FC236}">
                <a16:creationId xmlns:a16="http://schemas.microsoft.com/office/drawing/2014/main" id="{B18EF875-FF27-45D0-B3FC-A88433B9B7BB}"/>
              </a:ext>
            </a:extLst>
          </p:cNvPr>
          <p:cNvSpPr>
            <a:spLocks noGrp="1"/>
          </p:cNvSpPr>
          <p:nvPr/>
        </p:nvSpPr>
        <p:spPr>
          <a:xfrm>
            <a:off x="685800" y="3190875"/>
            <a:ext cx="47625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 fontScale="94444"/>
          </a:bodyPr>
          <a:lstStyle/>
          <a:p>
            <a:pPr algn="l">
              <a:lnSpc>
                <a:spcPct val="100000"/>
              </a:lnSpc>
              <a:buNone/>
              <a:defRPr sz="112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Calcula la probabilidad de yₜ usando la consulta X, el contexto C y los tokens anteriores y&lt;ₜ.</a:t>
            </a:r>
          </a:p>
        </p:txBody>
      </p:sp>
      <p:sp>
        <p:nvSpPr>
          <p:cNvPr id="33" name="slide6-step2-explanation">
            <a:extLst>
              <a:ext uri="{FF2B5EF4-FFF2-40B4-BE49-F238E27FC236}">
                <a16:creationId xmlns:a16="http://schemas.microsoft.com/office/drawing/2014/main" id="{383E6F8C-0B09-45C2-A623-0765C650F54A}"/>
              </a:ext>
            </a:extLst>
          </p:cNvPr>
          <p:cNvSpPr>
            <a:spLocks noGrp="1"/>
          </p:cNvSpPr>
          <p:nvPr/>
        </p:nvSpPr>
        <p:spPr>
          <a:xfrm>
            <a:off x="6477000" y="3190875"/>
            <a:ext cx="45720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12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Repite el mismo cálculo en cada posición y multiplica todos los factores.</a:t>
            </a:r>
          </a:p>
        </p:txBody>
      </p:sp>
    </p:spTree>
    <p:extLst>
      <p:ext uri="{BB962C8B-B14F-4D97-AF65-F5344CB8AC3E}">
        <p14:creationId xmlns:p14="http://schemas.microsoft.com/office/powerpoint/2010/main" val="8836076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ángulo 28">
            <a:extLst>
              <a:ext uri="{FF2B5EF4-FFF2-40B4-BE49-F238E27FC236}">
                <a16:creationId xmlns:a16="http://schemas.microsoft.com/office/drawing/2014/main" id="{2B992F4B-5646-4550-82BF-9B9E337AE3D0}"/>
              </a:ext>
            </a:extLst>
          </p:cNvPr>
          <p:cNvSpPr>
            <a:spLocks noGrp="1"/>
          </p:cNvSpPr>
          <p:nvPr/>
        </p:nvSpPr>
        <p:spPr>
          <a:xfrm>
            <a:off x="685800" y="361950"/>
            <a:ext cx="4095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050" b="1" i="0">
                <a:solidFill>
                  <a:srgbClr val="6C63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6C63FF"/>
                </a:solidFill>
                <a:latin typeface="Aptos"/>
                <a:ea typeface="Aptos"/>
                <a:cs typeface="Aptos"/>
              </a:rPr>
              <a:t>07 / VALOR DE LA INFORMACIÓN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D0FC85BE-F140-4FBA-8115-31D96FB6E257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108204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l">
              <a:lnSpc>
                <a:spcPct val="92000"/>
              </a:lnSpc>
              <a:buNone/>
              <a:defRPr sz="2850" b="1" i="0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La información mutua mide una reducción media de incertidumbre</a:t>
            </a:r>
          </a:p>
        </p:txBody>
      </p:sp>
      <p:sp>
        <p:nvSpPr>
          <p:cNvPr id="3" name="Conector recto 2">
            <a:extLst>
              <a:ext uri="{FF2B5EF4-FFF2-40B4-BE49-F238E27FC236}">
                <a16:creationId xmlns:a16="http://schemas.microsoft.com/office/drawing/2014/main" id="{35D23640-FBEC-4CB9-8FC3-8D7EDB2D149B}"/>
              </a:ext>
            </a:extLst>
          </p:cNvPr>
          <p:cNvSpPr>
            <a:spLocks noGrp="1"/>
          </p:cNvSpPr>
          <p:nvPr/>
        </p:nvSpPr>
        <p:spPr>
          <a:xfrm>
            <a:off x="685800" y="1485900"/>
            <a:ext cx="10820400" cy="0"/>
          </a:xfrm>
          <a:prstGeom prst="line">
            <a:avLst/>
          </a:prstGeom>
          <a:noFill/>
          <a:ln w="9525">
            <a:solidFill>
              <a:srgbClr val="D9DD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B2674795-2397-4702-AA20-8EA1E5A9C8CB}"/>
              </a:ext>
            </a:extLst>
          </p:cNvPr>
          <p:cNvSpPr>
            <a:spLocks noGrp="1"/>
          </p:cNvSpPr>
          <p:nvPr/>
        </p:nvSpPr>
        <p:spPr>
          <a:xfrm>
            <a:off x="685800" y="4333875"/>
            <a:ext cx="60960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350" b="1" i="0">
                <a:solidFill>
                  <a:srgbClr val="0E4A5A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0E4A5A"/>
                </a:solidFill>
                <a:latin typeface="Aptos"/>
                <a:ea typeface="Aptos"/>
                <a:cs typeface="Aptos"/>
              </a:rPr>
              <a:t>Se resta la entropía final a la inicial: esa diferencia es I(Y;C|X).</a:t>
            </a: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FFABAC80-7536-4BD7-AB51-6F10B9EB042D}"/>
              </a:ext>
            </a:extLst>
          </p:cNvPr>
          <p:cNvSpPr>
            <a:spLocks noGrp="1"/>
          </p:cNvSpPr>
          <p:nvPr/>
        </p:nvSpPr>
        <p:spPr>
          <a:xfrm>
            <a:off x="7429500" y="1885950"/>
            <a:ext cx="2095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425" b="1" i="0">
                <a:solidFill>
                  <a:srgbClr val="5C6478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60687C"/>
                </a:solidFill>
                <a:latin typeface="Aptos"/>
                <a:ea typeface="Aptos"/>
                <a:cs typeface="Aptos"/>
              </a:rPr>
              <a:t>Sin contexto</a:t>
            </a:r>
          </a:p>
        </p:txBody>
      </p:sp>
      <p:sp>
        <p:nvSpPr>
          <p:cNvPr id="8" name="Rectángulo: esquinas redondeadas 7">
            <a:extLst>
              <a:ext uri="{FF2B5EF4-FFF2-40B4-BE49-F238E27FC236}">
                <a16:creationId xmlns:a16="http://schemas.microsoft.com/office/drawing/2014/main" id="{2A7BA797-477A-468A-BB25-1B9EB806F310}"/>
              </a:ext>
            </a:extLst>
          </p:cNvPr>
          <p:cNvSpPr>
            <a:spLocks noGrp="1"/>
          </p:cNvSpPr>
          <p:nvPr/>
        </p:nvSpPr>
        <p:spPr>
          <a:xfrm>
            <a:off x="7429500" y="2266950"/>
            <a:ext cx="3238500" cy="552450"/>
          </a:xfrm>
          <a:prstGeom prst="roundRect">
            <a:avLst>
              <a:gd name="adj" fmla="val 50000"/>
            </a:avLst>
          </a:prstGeom>
          <a:solidFill>
            <a:srgbClr val="E4E7F1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Rectángulo: esquinas redondeadas 8">
            <a:extLst>
              <a:ext uri="{FF2B5EF4-FFF2-40B4-BE49-F238E27FC236}">
                <a16:creationId xmlns:a16="http://schemas.microsoft.com/office/drawing/2014/main" id="{8BB635BD-EFA4-47E7-9A3F-41DBE1E25FD4}"/>
              </a:ext>
            </a:extLst>
          </p:cNvPr>
          <p:cNvSpPr>
            <a:spLocks noGrp="1"/>
          </p:cNvSpPr>
          <p:nvPr/>
        </p:nvSpPr>
        <p:spPr>
          <a:xfrm>
            <a:off x="7429500" y="2266950"/>
            <a:ext cx="2905125" cy="552450"/>
          </a:xfrm>
          <a:prstGeom prst="roundRect">
            <a:avLst>
              <a:gd name="adj" fmla="val 50000"/>
            </a:avLst>
          </a:prstGeom>
          <a:solidFill>
            <a:srgbClr val="FF6F7D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40219886-0DA0-4294-AD75-22C3BF6A885C}"/>
              </a:ext>
            </a:extLst>
          </p:cNvPr>
          <p:cNvSpPr>
            <a:spLocks noGrp="1"/>
          </p:cNvSpPr>
          <p:nvPr/>
        </p:nvSpPr>
        <p:spPr>
          <a:xfrm>
            <a:off x="8858250" y="2409825"/>
            <a:ext cx="1143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H alta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913EFA8E-0F7C-450B-B9C6-699905D22BA0}"/>
              </a:ext>
            </a:extLst>
          </p:cNvPr>
          <p:cNvSpPr>
            <a:spLocks noGrp="1"/>
          </p:cNvSpPr>
          <p:nvPr/>
        </p:nvSpPr>
        <p:spPr>
          <a:xfrm>
            <a:off x="7429500" y="3105150"/>
            <a:ext cx="2571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425" b="1" i="0">
                <a:solidFill>
                  <a:srgbClr val="5C6478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60687C"/>
                </a:solidFill>
                <a:latin typeface="Aptos"/>
                <a:ea typeface="Aptos"/>
                <a:cs typeface="Aptos"/>
              </a:rPr>
              <a:t>Con contexto relevante</a:t>
            </a:r>
          </a:p>
        </p:txBody>
      </p:sp>
      <p:sp>
        <p:nvSpPr>
          <p:cNvPr id="12" name="Rectángulo: esquinas redondeadas 11">
            <a:extLst>
              <a:ext uri="{FF2B5EF4-FFF2-40B4-BE49-F238E27FC236}">
                <a16:creationId xmlns:a16="http://schemas.microsoft.com/office/drawing/2014/main" id="{94955D35-56BD-4832-8C11-846DCC20E80D}"/>
              </a:ext>
            </a:extLst>
          </p:cNvPr>
          <p:cNvSpPr>
            <a:spLocks noGrp="1"/>
          </p:cNvSpPr>
          <p:nvPr/>
        </p:nvSpPr>
        <p:spPr>
          <a:xfrm>
            <a:off x="7429500" y="3486150"/>
            <a:ext cx="3238500" cy="552450"/>
          </a:xfrm>
          <a:prstGeom prst="roundRect">
            <a:avLst>
              <a:gd name="adj" fmla="val 50000"/>
            </a:avLst>
          </a:prstGeom>
          <a:solidFill>
            <a:srgbClr val="E4E7F1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Rectángulo: esquinas redondeadas 12">
            <a:extLst>
              <a:ext uri="{FF2B5EF4-FFF2-40B4-BE49-F238E27FC236}">
                <a16:creationId xmlns:a16="http://schemas.microsoft.com/office/drawing/2014/main" id="{37E548C2-7B8D-45BF-B28E-2A56F5669F98}"/>
              </a:ext>
            </a:extLst>
          </p:cNvPr>
          <p:cNvSpPr>
            <a:spLocks noGrp="1"/>
          </p:cNvSpPr>
          <p:nvPr/>
        </p:nvSpPr>
        <p:spPr>
          <a:xfrm>
            <a:off x="7429500" y="3486150"/>
            <a:ext cx="1066800" cy="552450"/>
          </a:xfrm>
          <a:prstGeom prst="roundRect">
            <a:avLst>
              <a:gd name="adj" fmla="val 50000"/>
            </a:avLst>
          </a:prstGeom>
          <a:solidFill>
            <a:srgbClr val="45E0D0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E69FDF3A-2DF0-4643-B8A2-26FF9E992761}"/>
              </a:ext>
            </a:extLst>
          </p:cNvPr>
          <p:cNvSpPr>
            <a:spLocks noGrp="1"/>
          </p:cNvSpPr>
          <p:nvPr/>
        </p:nvSpPr>
        <p:spPr>
          <a:xfrm>
            <a:off x="7486650" y="3629025"/>
            <a:ext cx="952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500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101526"/>
                </a:solidFill>
                <a:latin typeface="Aptos"/>
                <a:ea typeface="Aptos"/>
                <a:cs typeface="Aptos"/>
              </a:rPr>
              <a:t>H baja</a:t>
            </a:r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991EB258-76C1-4643-9C5D-8EC2555F8BC3}"/>
              </a:ext>
            </a:extLst>
          </p:cNvPr>
          <p:cNvSpPr>
            <a:spLocks noGrp="1"/>
          </p:cNvSpPr>
          <p:nvPr/>
        </p:nvSpPr>
        <p:spPr>
          <a:xfrm>
            <a:off x="7429500" y="4343400"/>
            <a:ext cx="352425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425" b="1" i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1" i="0">
                <a:solidFill>
                  <a:srgbClr val="111827"/>
                </a:solidFill>
                <a:latin typeface="Aptos"/>
                <a:ea typeface="Aptos"/>
                <a:cs typeface="Aptos"/>
              </a:rPr>
              <a:t>La barra que desaparece representa la información que C aporta sobre Y.</a:t>
            </a:r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82F6287E-9DF8-4D96-B508-748BB63F06C9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95362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750" b="0" i="0">
                <a:solidFill>
                  <a:srgbClr val="8792AA"/>
                </a:solidFill>
                <a:latin typeface="Aptos"/>
                <a:ea typeface="Aptos"/>
                <a:cs typeface="Aptos"/>
              </a:defRPr>
            </a:pPr>
            <a:r>
              <a:rPr sz="750" b="0" i="0">
                <a:solidFill>
                  <a:srgbClr val="8792AA"/>
                </a:solidFill>
                <a:latin typeface="Aptos"/>
                <a:ea typeface="Aptos"/>
                <a:cs typeface="Aptos"/>
              </a:rPr>
              <a:t>Shannon (1948) · Cover &amp; Thomas (2006) · identidad matemática</a:t>
            </a:r>
          </a:p>
        </p:txBody>
      </p:sp>
      <p:sp>
        <p:nvSpPr>
          <p:cNvPr id="17" name="Rectángulo 16">
            <a:extLst>
              <a:ext uri="{FF2B5EF4-FFF2-40B4-BE49-F238E27FC236}">
                <a16:creationId xmlns:a16="http://schemas.microsoft.com/office/drawing/2014/main" id="{BAC9D1C2-F0FA-4485-9FD3-44A8AF2CC22D}"/>
              </a:ext>
            </a:extLst>
          </p:cNvPr>
          <p:cNvSpPr>
            <a:spLocks noGrp="1"/>
          </p:cNvSpPr>
          <p:nvPr/>
        </p:nvSpPr>
        <p:spPr>
          <a:xfrm>
            <a:off x="11049000" y="6438900"/>
            <a:ext cx="4572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r">
              <a:lnSpc>
                <a:spcPct val="100000"/>
              </a:lnSpc>
              <a:buNone/>
              <a:defRPr sz="825" b="1" i="0">
                <a:solidFill>
                  <a:srgbClr val="7B879F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7B879F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  <p:pic>
        <p:nvPicPr>
          <p:cNvPr id="47" name="Ecuación s06_entrop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190750"/>
            <a:ext cx="5871020" cy="704850"/>
          </a:xfrm>
          <a:prstGeom prst="rect">
            <a:avLst/>
          </a:prstGeom>
        </p:spPr>
      </p:pic>
      <p:pic>
        <p:nvPicPr>
          <p:cNvPr id="48" name="Ecuación s06_mutual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3752850"/>
            <a:ext cx="5623560" cy="440246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CC4FBBA8-29BF-4AE1-8F75-ED4E05B4A821}"/>
              </a:ext>
            </a:extLst>
          </p:cNvPr>
          <p:cNvSpPr>
            <a:spLocks noGrp="1"/>
          </p:cNvSpPr>
          <p:nvPr/>
        </p:nvSpPr>
        <p:spPr>
          <a:xfrm>
            <a:off x="685800" y="5048250"/>
            <a:ext cx="6096000" cy="666750"/>
          </a:xfrm>
          <a:prstGeom prst="rect">
            <a:avLst/>
          </a:prstGeom>
          <a:noFill/>
        </p:spPr>
        <p:txBody>
          <a:bodyPr wrap="square" lIns="28575" tIns="19050" rIns="28575" bIns="1905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05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6C63FF"/>
                </a:solidFill>
                <a:latin typeface="Aptos"/>
                <a:ea typeface="Aptos"/>
                <a:cs typeface="Aptos"/>
              </a:rPr>
              <a:t>Notación</a:t>
            </a:r>
            <a:r>
              <a:rPr sz="105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 · H incertidumbre · I información aportada · X consulta · C contexto · Y respuesta</a:t>
            </a:r>
          </a:p>
          <a:p>
            <a:pPr algn="l">
              <a:lnSpc>
                <a:spcPct val="105000"/>
              </a:lnSpc>
              <a:buNone/>
              <a:defRPr sz="105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Lectura: más reducción de H implica más información útil de C sobre Y.</a:t>
            </a:r>
          </a:p>
        </p:txBody>
      </p:sp>
      <p:sp>
        <p:nvSpPr>
          <p:cNvPr id="23" name="slide7-step1-surface">
            <a:extLst>
              <a:ext uri="{FF2B5EF4-FFF2-40B4-BE49-F238E27FC236}">
                <a16:creationId xmlns:a16="http://schemas.microsoft.com/office/drawing/2014/main" id="{125A443A-AEA3-4155-ABF4-EEB3BBA8E6FB}"/>
              </a:ext>
            </a:extLst>
          </p:cNvPr>
          <p:cNvSpPr>
            <a:spLocks noGrp="1"/>
          </p:cNvSpPr>
          <p:nvPr/>
        </p:nvSpPr>
        <p:spPr>
          <a:xfrm>
            <a:off x="685800" y="1790700"/>
            <a:ext cx="1885950" cy="266700"/>
          </a:xfrm>
          <a:prstGeom prst="roundRect">
            <a:avLst>
              <a:gd name="adj" fmla="val 50000"/>
            </a:avLst>
          </a:prstGeom>
          <a:solidFill>
            <a:srgbClr val="EEECFF"/>
          </a:solidFill>
          <a:ln w="9525">
            <a:solidFill>
              <a:srgbClr val="6C63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slide7-step1">
            <a:extLst>
              <a:ext uri="{FF2B5EF4-FFF2-40B4-BE49-F238E27FC236}">
                <a16:creationId xmlns:a16="http://schemas.microsoft.com/office/drawing/2014/main" id="{D311F35D-B8B7-48EC-AB83-FFDA96B13E66}"/>
              </a:ext>
            </a:extLst>
          </p:cNvPr>
          <p:cNvSpPr>
            <a:spLocks noGrp="1"/>
          </p:cNvSpPr>
          <p:nvPr/>
        </p:nvSpPr>
        <p:spPr>
          <a:xfrm>
            <a:off x="742950" y="1819275"/>
            <a:ext cx="17716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900" b="1">
                <a:solidFill>
                  <a:srgbClr val="6C63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C63FF"/>
                </a:solidFill>
                <a:latin typeface="Aptos"/>
                <a:ea typeface="Aptos"/>
                <a:cs typeface="Aptos"/>
              </a:rPr>
              <a:t>1 · EFECTO DE AÑADIR C</a:t>
            </a:r>
          </a:p>
        </p:txBody>
      </p:sp>
      <p:sp>
        <p:nvSpPr>
          <p:cNvPr id="25" name="slide7-step1-explanation">
            <a:extLst>
              <a:ext uri="{FF2B5EF4-FFF2-40B4-BE49-F238E27FC236}">
                <a16:creationId xmlns:a16="http://schemas.microsoft.com/office/drawing/2014/main" id="{E04DAE32-5896-4C08-A914-B5A155642FEC}"/>
              </a:ext>
            </a:extLst>
          </p:cNvPr>
          <p:cNvSpPr>
            <a:spLocks noGrp="1"/>
          </p:cNvSpPr>
          <p:nvPr/>
        </p:nvSpPr>
        <p:spPr>
          <a:xfrm>
            <a:off x="685800" y="2924175"/>
            <a:ext cx="5810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12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La incertidumbre restante con contexto es menor o igual que sin contexto.</a:t>
            </a:r>
          </a:p>
        </p:txBody>
      </p:sp>
      <p:sp>
        <p:nvSpPr>
          <p:cNvPr id="26" name="slide7-effect-to-measure">
            <a:extLst>
              <a:ext uri="{FF2B5EF4-FFF2-40B4-BE49-F238E27FC236}">
                <a16:creationId xmlns:a16="http://schemas.microsoft.com/office/drawing/2014/main" id="{4FFA5989-FFD1-4F23-A52E-B16238237144}"/>
              </a:ext>
            </a:extLst>
          </p:cNvPr>
          <p:cNvSpPr>
            <a:spLocks noGrp="1"/>
          </p:cNvSpPr>
          <p:nvPr/>
        </p:nvSpPr>
        <p:spPr>
          <a:xfrm>
            <a:off x="3324225" y="3209925"/>
            <a:ext cx="323850" cy="285750"/>
          </a:xfrm>
          <a:prstGeom prst="downArrow">
            <a:avLst/>
          </a:prstGeom>
          <a:solidFill>
            <a:srgbClr val="B9C0D4"/>
          </a:solidFill>
          <a:ln w="9525">
            <a:solidFill>
              <a:srgbClr val="A5AEC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slide7-step2-surface">
            <a:extLst>
              <a:ext uri="{FF2B5EF4-FFF2-40B4-BE49-F238E27FC236}">
                <a16:creationId xmlns:a16="http://schemas.microsoft.com/office/drawing/2014/main" id="{DBFE7CB8-0001-49C8-A4CB-90C095A92F74}"/>
              </a:ext>
            </a:extLst>
          </p:cNvPr>
          <p:cNvSpPr>
            <a:spLocks noGrp="1"/>
          </p:cNvSpPr>
          <p:nvPr/>
        </p:nvSpPr>
        <p:spPr>
          <a:xfrm>
            <a:off x="685800" y="3390900"/>
            <a:ext cx="1866900" cy="266700"/>
          </a:xfrm>
          <a:prstGeom prst="roundRect">
            <a:avLst>
              <a:gd name="adj" fmla="val 50000"/>
            </a:avLst>
          </a:prstGeom>
          <a:solidFill>
            <a:srgbClr val="E3F9F6"/>
          </a:solidFill>
          <a:ln w="9525">
            <a:solidFill>
              <a:srgbClr val="168E8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slide7-step2">
            <a:extLst>
              <a:ext uri="{FF2B5EF4-FFF2-40B4-BE49-F238E27FC236}">
                <a16:creationId xmlns:a16="http://schemas.microsoft.com/office/drawing/2014/main" id="{978011BF-A607-428E-943E-4C758378EFF8}"/>
              </a:ext>
            </a:extLst>
          </p:cNvPr>
          <p:cNvSpPr>
            <a:spLocks noGrp="1"/>
          </p:cNvSpPr>
          <p:nvPr/>
        </p:nvSpPr>
        <p:spPr>
          <a:xfrm>
            <a:off x="742950" y="3419475"/>
            <a:ext cx="17526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900" b="1">
                <a:solidFill>
                  <a:srgbClr val="168E83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68E83"/>
                </a:solidFill>
                <a:latin typeface="Aptos"/>
                <a:ea typeface="Aptos"/>
                <a:cs typeface="Aptos"/>
              </a:rPr>
              <a:t>2 · MEDIR LA REDUCCIÓN</a:t>
            </a:r>
          </a:p>
        </p:txBody>
      </p:sp>
    </p:spTree>
    <p:extLst>
      <p:ext uri="{BB962C8B-B14F-4D97-AF65-F5344CB8AC3E}">
        <p14:creationId xmlns:p14="http://schemas.microsoft.com/office/powerpoint/2010/main" val="76573664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Rectángulo 37">
            <a:extLst>
              <a:ext uri="{FF2B5EF4-FFF2-40B4-BE49-F238E27FC236}">
                <a16:creationId xmlns:a16="http://schemas.microsoft.com/office/drawing/2014/main" id="{A3EE3F50-A412-4278-B2DC-A10858CB6B1F}"/>
              </a:ext>
            </a:extLst>
          </p:cNvPr>
          <p:cNvSpPr>
            <a:spLocks noGrp="1"/>
          </p:cNvSpPr>
          <p:nvPr/>
        </p:nvSpPr>
        <p:spPr>
          <a:xfrm>
            <a:off x="685800" y="361950"/>
            <a:ext cx="4095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050" b="1" i="0">
                <a:solidFill>
                  <a:srgbClr val="6C63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6C63FF"/>
                </a:solidFill>
                <a:latin typeface="Aptos"/>
                <a:ea typeface="Aptos"/>
                <a:cs typeface="Aptos"/>
              </a:rPr>
              <a:t>08 / PRESUPUESTO DE TOKENS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D4766844-951C-40CC-8CD6-8E381AF0B6A3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10820400" cy="1104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92000"/>
              </a:lnSpc>
              <a:buNone/>
              <a:defRPr sz="2775" b="1" i="0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La longitud se modela como restricción o tasa–distorsión</a:t>
            </a:r>
          </a:p>
        </p:txBody>
      </p:sp>
      <p:sp>
        <p:nvSpPr>
          <p:cNvPr id="30" name="Rectángulo 29">
            <a:extLst>
              <a:ext uri="{FF2B5EF4-FFF2-40B4-BE49-F238E27FC236}">
                <a16:creationId xmlns:a16="http://schemas.microsoft.com/office/drawing/2014/main" id="{5FDF25FD-D6D1-481B-9B1E-6E44D1DACB70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95362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750" b="0" i="0">
                <a:solidFill>
                  <a:srgbClr val="8792AA"/>
                </a:solidFill>
                <a:latin typeface="Aptos"/>
                <a:ea typeface="Aptos"/>
                <a:cs typeface="Aptos"/>
              </a:defRPr>
            </a:pPr>
            <a:r>
              <a:rPr sz="750" b="0" i="0">
                <a:solidFill>
                  <a:srgbClr val="8792AA"/>
                </a:solidFill>
                <a:latin typeface="Aptos"/>
                <a:ea typeface="Aptos"/>
                <a:cs typeface="Aptos"/>
              </a:rPr>
              <a:t>Mei et al. (2025) · Nagle et al. (NeurIPS 2024)</a:t>
            </a:r>
          </a:p>
        </p:txBody>
      </p:sp>
      <p:sp>
        <p:nvSpPr>
          <p:cNvPr id="31" name="Rectángulo 30">
            <a:extLst>
              <a:ext uri="{FF2B5EF4-FFF2-40B4-BE49-F238E27FC236}">
                <a16:creationId xmlns:a16="http://schemas.microsoft.com/office/drawing/2014/main" id="{9D79C7B7-558E-4F86-B1DE-B0F63AC6EE3B}"/>
              </a:ext>
            </a:extLst>
          </p:cNvPr>
          <p:cNvSpPr>
            <a:spLocks noGrp="1"/>
          </p:cNvSpPr>
          <p:nvPr/>
        </p:nvSpPr>
        <p:spPr>
          <a:xfrm>
            <a:off x="11049000" y="6438900"/>
            <a:ext cx="4572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r">
              <a:lnSpc>
                <a:spcPct val="100000"/>
              </a:lnSpc>
              <a:buNone/>
              <a:defRPr sz="825" b="1" i="0">
                <a:solidFill>
                  <a:srgbClr val="7B879F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7B879F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  <p:sp>
        <p:nvSpPr>
          <p:cNvPr id="39" name="Rectángulo: esquinas redondeadas 38">
            <a:extLst>
              <a:ext uri="{FF2B5EF4-FFF2-40B4-BE49-F238E27FC236}">
                <a16:creationId xmlns:a16="http://schemas.microsoft.com/office/drawing/2014/main" id="{F412E55E-FC68-45A2-854D-5BF19DCA16B0}"/>
              </a:ext>
            </a:extLst>
          </p:cNvPr>
          <p:cNvSpPr>
            <a:spLocks noGrp="1"/>
          </p:cNvSpPr>
          <p:nvPr/>
        </p:nvSpPr>
        <p:spPr>
          <a:xfrm>
            <a:off x="685800" y="1866900"/>
            <a:ext cx="4953000" cy="3848100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0" name="Rectángulo: esquinas redondeadas 39">
            <a:extLst>
              <a:ext uri="{FF2B5EF4-FFF2-40B4-BE49-F238E27FC236}">
                <a16:creationId xmlns:a16="http://schemas.microsoft.com/office/drawing/2014/main" id="{F616B2EB-357A-4F49-A43E-FA819E501694}"/>
              </a:ext>
            </a:extLst>
          </p:cNvPr>
          <p:cNvSpPr>
            <a:spLocks noGrp="1"/>
          </p:cNvSpPr>
          <p:nvPr/>
        </p:nvSpPr>
        <p:spPr>
          <a:xfrm>
            <a:off x="914400" y="2076450"/>
            <a:ext cx="2133600" cy="285750"/>
          </a:xfrm>
          <a:prstGeom prst="roundRect">
            <a:avLst>
              <a:gd name="adj" fmla="val 50000"/>
            </a:avLst>
          </a:prstGeom>
          <a:solidFill>
            <a:srgbClr val="EEECFF"/>
          </a:solidFill>
          <a:ln w="9525">
            <a:solidFill>
              <a:srgbClr val="6C63FF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1" name="Rectángulo 40">
            <a:extLst>
              <a:ext uri="{FF2B5EF4-FFF2-40B4-BE49-F238E27FC236}">
                <a16:creationId xmlns:a16="http://schemas.microsoft.com/office/drawing/2014/main" id="{E2518AE4-1C42-4467-9D86-49FC2D7CA04B}"/>
              </a:ext>
            </a:extLst>
          </p:cNvPr>
          <p:cNvSpPr>
            <a:spLocks noGrp="1"/>
          </p:cNvSpPr>
          <p:nvPr/>
        </p:nvSpPr>
        <p:spPr>
          <a:xfrm>
            <a:off x="971550" y="2114550"/>
            <a:ext cx="20193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900" b="1">
                <a:solidFill>
                  <a:srgbClr val="6C63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C63FF"/>
                </a:solidFill>
                <a:latin typeface="Aptos"/>
                <a:ea typeface="Aptos"/>
                <a:cs typeface="Aptos"/>
              </a:rPr>
              <a:t>SURVEY · EC. 4 + LÍMITE</a:t>
            </a:r>
          </a:p>
        </p:txBody>
      </p:sp>
      <p:sp>
        <p:nvSpPr>
          <p:cNvPr id="42" name="Rectángulo: esquinas redondeadas 41">
            <a:extLst>
              <a:ext uri="{FF2B5EF4-FFF2-40B4-BE49-F238E27FC236}">
                <a16:creationId xmlns:a16="http://schemas.microsoft.com/office/drawing/2014/main" id="{1843F63C-EED7-4E11-B70F-D4E40954800E}"/>
              </a:ext>
            </a:extLst>
          </p:cNvPr>
          <p:cNvSpPr>
            <a:spLocks noGrp="1"/>
          </p:cNvSpPr>
          <p:nvPr/>
        </p:nvSpPr>
        <p:spPr>
          <a:xfrm>
            <a:off x="933450" y="2628900"/>
            <a:ext cx="4457700" cy="1466850"/>
          </a:xfrm>
          <a:prstGeom prst="roundRect">
            <a:avLst>
              <a:gd name="adj" fmla="val 7792"/>
            </a:avLst>
          </a:prstGeom>
          <a:solidFill>
            <a:srgbClr val="F8F7FF"/>
          </a:solidFill>
          <a:ln w="9525">
            <a:solidFill>
              <a:srgbClr val="D7D2FF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pic>
        <p:nvPicPr>
          <p:cNvPr id="60" name="Imagen 59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085850" y="2795270"/>
            <a:ext cx="4152900" cy="1134111"/>
          </a:xfrm>
          <a:prstGeom prst="rect">
            <a:avLst/>
          </a:prstGeom>
        </p:spPr>
      </p:pic>
      <p:sp>
        <p:nvSpPr>
          <p:cNvPr id="44" name="Rectángulo 43">
            <a:extLst>
              <a:ext uri="{FF2B5EF4-FFF2-40B4-BE49-F238E27FC236}">
                <a16:creationId xmlns:a16="http://schemas.microsoft.com/office/drawing/2014/main" id="{EC4C34A7-B135-46D7-ACC5-6566CE539F93}"/>
              </a:ext>
            </a:extLst>
          </p:cNvPr>
          <p:cNvSpPr>
            <a:spLocks noGrp="1"/>
          </p:cNvSpPr>
          <p:nvPr/>
        </p:nvSpPr>
        <p:spPr>
          <a:xfrm>
            <a:off x="1047750" y="4438650"/>
            <a:ext cx="421005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 fontScale="99941"/>
          </a:bodyPr>
          <a:lstStyle/>
          <a:p>
            <a:pPr algn="ctr">
              <a:lnSpc>
                <a:spcPct val="105000"/>
              </a:lnSpc>
              <a:buNone/>
              <a:defRPr sz="135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Pregunta que responde:</a:t>
            </a:r>
          </a:p>
          <a:p>
            <a:pPr algn="ctr">
              <a:lnSpc>
                <a:spcPct val="105000"/>
              </a:lnSpc>
              <a:buNone/>
              <a:defRPr sz="135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¿qué evidencia recuperada informa más sobre Y* sin desbordar C?</a:t>
            </a:r>
          </a:p>
        </p:txBody>
      </p:sp>
      <p:sp>
        <p:nvSpPr>
          <p:cNvPr id="45" name="Rectángulo: esquinas redondeadas 44">
            <a:extLst>
              <a:ext uri="{FF2B5EF4-FFF2-40B4-BE49-F238E27FC236}">
                <a16:creationId xmlns:a16="http://schemas.microsoft.com/office/drawing/2014/main" id="{329FB494-5A1F-4DE1-96A8-4361D758B88F}"/>
              </a:ext>
            </a:extLst>
          </p:cNvPr>
          <p:cNvSpPr>
            <a:spLocks noGrp="1"/>
          </p:cNvSpPr>
          <p:nvPr/>
        </p:nvSpPr>
        <p:spPr>
          <a:xfrm>
            <a:off x="5962650" y="1866900"/>
            <a:ext cx="5543550" cy="3848100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6" name="Rectángulo: esquinas redondeadas 45">
            <a:extLst>
              <a:ext uri="{FF2B5EF4-FFF2-40B4-BE49-F238E27FC236}">
                <a16:creationId xmlns:a16="http://schemas.microsoft.com/office/drawing/2014/main" id="{B44FD048-C190-4484-8710-DE615EE57571}"/>
              </a:ext>
            </a:extLst>
          </p:cNvPr>
          <p:cNvSpPr>
            <a:spLocks noGrp="1"/>
          </p:cNvSpPr>
          <p:nvPr/>
        </p:nvSpPr>
        <p:spPr>
          <a:xfrm>
            <a:off x="6191250" y="2076450"/>
            <a:ext cx="2419350" cy="285750"/>
          </a:xfrm>
          <a:prstGeom prst="roundRect">
            <a:avLst>
              <a:gd name="adj" fmla="val 50000"/>
            </a:avLst>
          </a:prstGeom>
          <a:solidFill>
            <a:srgbClr val="E3F9F6"/>
          </a:solidFill>
          <a:ln w="9525">
            <a:solidFill>
              <a:srgbClr val="33D6C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7" name="Rectángulo 46">
            <a:extLst>
              <a:ext uri="{FF2B5EF4-FFF2-40B4-BE49-F238E27FC236}">
                <a16:creationId xmlns:a16="http://schemas.microsoft.com/office/drawing/2014/main" id="{3B5868D4-770A-493F-A84A-15EEAF37CC6D}"/>
              </a:ext>
            </a:extLst>
          </p:cNvPr>
          <p:cNvSpPr>
            <a:spLocks noGrp="1"/>
          </p:cNvSpPr>
          <p:nvPr/>
        </p:nvSpPr>
        <p:spPr>
          <a:xfrm>
            <a:off x="6248400" y="2114550"/>
            <a:ext cx="23050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900" b="1">
                <a:solidFill>
                  <a:srgbClr val="168E83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68E83"/>
                </a:solidFill>
                <a:latin typeface="Aptos"/>
                <a:ea typeface="Aptos"/>
                <a:cs typeface="Aptos"/>
              </a:rPr>
              <a:t>NEURIPS 2024 · TASA–DISTORSIÓN</a:t>
            </a:r>
          </a:p>
        </p:txBody>
      </p:sp>
      <p:sp>
        <p:nvSpPr>
          <p:cNvPr id="48" name="Rectángulo: esquinas redondeadas 47">
            <a:extLst>
              <a:ext uri="{FF2B5EF4-FFF2-40B4-BE49-F238E27FC236}">
                <a16:creationId xmlns:a16="http://schemas.microsoft.com/office/drawing/2014/main" id="{7CF3DF73-361F-4ACA-ACB8-6342508A4318}"/>
              </a:ext>
            </a:extLst>
          </p:cNvPr>
          <p:cNvSpPr>
            <a:spLocks noGrp="1"/>
          </p:cNvSpPr>
          <p:nvPr/>
        </p:nvSpPr>
        <p:spPr>
          <a:xfrm>
            <a:off x="6191250" y="2628900"/>
            <a:ext cx="5086350" cy="1466850"/>
          </a:xfrm>
          <a:prstGeom prst="roundRect">
            <a:avLst>
              <a:gd name="adj" fmla="val 7792"/>
            </a:avLst>
          </a:prstGeom>
          <a:solidFill>
            <a:srgbClr val="E3F9F6"/>
          </a:solidFill>
          <a:ln w="9525">
            <a:solidFill>
              <a:srgbClr val="33D6C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pic>
        <p:nvPicPr>
          <p:cNvPr id="66" name="Imagen 65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7055454" y="2724150"/>
            <a:ext cx="3357942" cy="1276350"/>
          </a:xfrm>
          <a:prstGeom prst="rect">
            <a:avLst/>
          </a:prstGeom>
        </p:spPr>
      </p:pic>
      <p:sp>
        <p:nvSpPr>
          <p:cNvPr id="50" name="Rectángulo 49">
            <a:extLst>
              <a:ext uri="{FF2B5EF4-FFF2-40B4-BE49-F238E27FC236}">
                <a16:creationId xmlns:a16="http://schemas.microsoft.com/office/drawing/2014/main" id="{C8B8E3B7-75C1-446D-85A4-98C66B7F6896}"/>
              </a:ext>
            </a:extLst>
          </p:cNvPr>
          <p:cNvSpPr>
            <a:spLocks noGrp="1"/>
          </p:cNvSpPr>
          <p:nvPr/>
        </p:nvSpPr>
        <p:spPr>
          <a:xfrm>
            <a:off x="6305550" y="4438650"/>
            <a:ext cx="485775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35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Pregunta que responde:</a:t>
            </a:r>
          </a:p>
          <a:p>
            <a:pPr algn="ctr">
              <a:lnSpc>
                <a:spcPct val="105000"/>
              </a:lnSpc>
              <a:buNone/>
              <a:defRPr sz="135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¿qué degradación mínima es posible a cada longitud?</a:t>
            </a:r>
          </a:p>
        </p:txBody>
      </p:sp>
      <p:sp>
        <p:nvSpPr>
          <p:cNvPr id="51" name="Rectángulo 50">
            <a:extLst>
              <a:ext uri="{FF2B5EF4-FFF2-40B4-BE49-F238E27FC236}">
                <a16:creationId xmlns:a16="http://schemas.microsoft.com/office/drawing/2014/main" id="{81ACDCFF-1438-44AA-ADFF-469E72A8BCF8}"/>
              </a:ext>
            </a:extLst>
          </p:cNvPr>
          <p:cNvSpPr>
            <a:spLocks noGrp="1"/>
          </p:cNvSpPr>
          <p:nvPr/>
        </p:nvSpPr>
        <p:spPr>
          <a:xfrm>
            <a:off x="1809750" y="5905500"/>
            <a:ext cx="8572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350" b="1">
                <a:solidFill>
                  <a:srgbClr val="6C63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6C63FF"/>
                </a:solidFill>
                <a:latin typeface="Aptos"/>
                <a:ea typeface="Aptos"/>
                <a:cs typeface="Aptos"/>
              </a:rPr>
              <a:t>Ambos enfoques separan utilidad y costo; no necesitan convertirlos en un cociente.</a:t>
            </a:r>
          </a:p>
        </p:txBody>
      </p:sp>
    </p:spTree>
    <p:extLst>
      <p:ext uri="{BB962C8B-B14F-4D97-AF65-F5344CB8AC3E}">
        <p14:creationId xmlns:p14="http://schemas.microsoft.com/office/powerpoint/2010/main" val="10347222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ángulo 23">
            <a:extLst>
              <a:ext uri="{FF2B5EF4-FFF2-40B4-BE49-F238E27FC236}">
                <a16:creationId xmlns:a16="http://schemas.microsoft.com/office/drawing/2014/main" id="{91524DA1-53AA-4EC8-893B-A7B8A92E7AB7}"/>
              </a:ext>
            </a:extLst>
          </p:cNvPr>
          <p:cNvSpPr>
            <a:spLocks noGrp="1"/>
          </p:cNvSpPr>
          <p:nvPr/>
        </p:nvSpPr>
        <p:spPr>
          <a:xfrm>
            <a:off x="685800" y="361950"/>
            <a:ext cx="4095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050" b="1" i="0">
                <a:solidFill>
                  <a:srgbClr val="6C63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6C63FF"/>
                </a:solidFill>
                <a:latin typeface="Aptos"/>
                <a:ea typeface="Aptos"/>
                <a:cs typeface="Aptos"/>
              </a:rPr>
              <a:t>09 / RAG END-TO-END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6D78EA64-44E6-488A-854E-0904AD3F4B33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10820400" cy="1104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92000"/>
              </a:lnSpc>
              <a:buNone/>
              <a:defRPr sz="2700" b="1" i="0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RAG combina recuperación y generación mediante marginalización</a:t>
            </a:r>
          </a:p>
        </p:txBody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2613DADF-A81F-473E-9F96-82A8A802BD7D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95362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750" b="0" i="0">
                <a:solidFill>
                  <a:srgbClr val="8792AA"/>
                </a:solidFill>
                <a:latin typeface="Aptos"/>
                <a:ea typeface="Aptos"/>
                <a:cs typeface="Aptos"/>
              </a:defRPr>
            </a:pPr>
            <a:r>
              <a:rPr sz="750" b="0" i="0">
                <a:solidFill>
                  <a:srgbClr val="8792AA"/>
                </a:solidFill>
                <a:latin typeface="Aptos"/>
                <a:ea typeface="Aptos"/>
                <a:cs typeface="Aptos"/>
              </a:rPr>
              <a:t>Lewis et al. (2020) · identidad RAG</a:t>
            </a:r>
          </a:p>
        </p:txBody>
      </p:sp>
      <p:sp>
        <p:nvSpPr>
          <p:cNvPr id="20" name="Rectángulo 19">
            <a:extLst>
              <a:ext uri="{FF2B5EF4-FFF2-40B4-BE49-F238E27FC236}">
                <a16:creationId xmlns:a16="http://schemas.microsoft.com/office/drawing/2014/main" id="{0B233DD0-226A-49DB-97D7-680723ED98D3}"/>
              </a:ext>
            </a:extLst>
          </p:cNvPr>
          <p:cNvSpPr>
            <a:spLocks noGrp="1"/>
          </p:cNvSpPr>
          <p:nvPr/>
        </p:nvSpPr>
        <p:spPr>
          <a:xfrm>
            <a:off x="11049000" y="6438900"/>
            <a:ext cx="4572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r">
              <a:lnSpc>
                <a:spcPct val="100000"/>
              </a:lnSpc>
              <a:buNone/>
              <a:defRPr sz="825" b="1" i="0">
                <a:solidFill>
                  <a:srgbClr val="7B879F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7B879F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  <p:sp>
        <p:nvSpPr>
          <p:cNvPr id="25" name="Rectángulo: esquinas redondeadas 24">
            <a:extLst>
              <a:ext uri="{FF2B5EF4-FFF2-40B4-BE49-F238E27FC236}">
                <a16:creationId xmlns:a16="http://schemas.microsoft.com/office/drawing/2014/main" id="{9BE3511A-E5F8-4B65-8EA4-EE8A7C9552E1}"/>
              </a:ext>
            </a:extLst>
          </p:cNvPr>
          <p:cNvSpPr>
            <a:spLocks noGrp="1"/>
          </p:cNvSpPr>
          <p:nvPr/>
        </p:nvSpPr>
        <p:spPr>
          <a:xfrm>
            <a:off x="1066800" y="1828800"/>
            <a:ext cx="10058400" cy="87630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D7D2FF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pic>
        <p:nvPicPr>
          <p:cNvPr id="44" name="Imagen 43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3753461" y="1924050"/>
            <a:ext cx="4685078" cy="685800"/>
          </a:xfrm>
          <a:prstGeom prst="rect">
            <a:avLst/>
          </a:prstGeom>
        </p:spPr>
      </p:pic>
      <p:sp>
        <p:nvSpPr>
          <p:cNvPr id="27" name="Flecha: a la derecha 26">
            <a:extLst>
              <a:ext uri="{FF2B5EF4-FFF2-40B4-BE49-F238E27FC236}">
                <a16:creationId xmlns:a16="http://schemas.microsoft.com/office/drawing/2014/main" id="{2B598AAC-F0C7-4359-9922-C0366A0C082B}"/>
              </a:ext>
            </a:extLst>
          </p:cNvPr>
          <p:cNvSpPr>
            <a:spLocks noGrp="1"/>
          </p:cNvSpPr>
          <p:nvPr/>
        </p:nvSpPr>
        <p:spPr>
          <a:xfrm>
            <a:off x="3476625" y="3743325"/>
            <a:ext cx="514350" cy="266700"/>
          </a:xfrm>
          <a:prstGeom prst="rightArrow">
            <a:avLst/>
          </a:prstGeom>
          <a:solidFill>
            <a:srgbClr val="6C63FF"/>
          </a:solidFill>
          <a:ln w="9525">
            <a:solidFill>
              <a:srgbClr val="6C63FF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8" name="Flecha: a la derecha 27">
            <a:extLst>
              <a:ext uri="{FF2B5EF4-FFF2-40B4-BE49-F238E27FC236}">
                <a16:creationId xmlns:a16="http://schemas.microsoft.com/office/drawing/2014/main" id="{7BD8C6DC-226D-4C0C-84A6-39AE5F69346B}"/>
              </a:ext>
            </a:extLst>
          </p:cNvPr>
          <p:cNvSpPr>
            <a:spLocks noGrp="1"/>
          </p:cNvSpPr>
          <p:nvPr/>
        </p:nvSpPr>
        <p:spPr>
          <a:xfrm>
            <a:off x="7839075" y="3743325"/>
            <a:ext cx="514350" cy="266700"/>
          </a:xfrm>
          <a:prstGeom prst="rightArrow">
            <a:avLst/>
          </a:prstGeom>
          <a:solidFill>
            <a:srgbClr val="6C63FF"/>
          </a:solidFill>
          <a:ln w="9525">
            <a:solidFill>
              <a:srgbClr val="6C63FF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9" name="Rectángulo: esquinas redondeadas 28">
            <a:extLst>
              <a:ext uri="{FF2B5EF4-FFF2-40B4-BE49-F238E27FC236}">
                <a16:creationId xmlns:a16="http://schemas.microsoft.com/office/drawing/2014/main" id="{DAF797D2-58DC-40AC-A3A6-4F543A7424C9}"/>
              </a:ext>
            </a:extLst>
          </p:cNvPr>
          <p:cNvSpPr>
            <a:spLocks noGrp="1"/>
          </p:cNvSpPr>
          <p:nvPr/>
        </p:nvSpPr>
        <p:spPr>
          <a:xfrm>
            <a:off x="971550" y="3257550"/>
            <a:ext cx="2381250" cy="1200150"/>
          </a:xfrm>
          <a:prstGeom prst="roundRect">
            <a:avLst>
              <a:gd name="adj" fmla="val 12698"/>
            </a:avLst>
          </a:prstGeom>
          <a:solidFill>
            <a:srgbClr val="FFFFFF"/>
          </a:solidFill>
          <a:ln w="13335">
            <a:solidFill>
              <a:srgbClr val="33D6C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0" name="Rectángulo 29">
            <a:extLst>
              <a:ext uri="{FF2B5EF4-FFF2-40B4-BE49-F238E27FC236}">
                <a16:creationId xmlns:a16="http://schemas.microsoft.com/office/drawing/2014/main" id="{E3E306B1-69B0-4878-8F0A-2D6C5B09AB16}"/>
              </a:ext>
            </a:extLst>
          </p:cNvPr>
          <p:cNvSpPr>
            <a:spLocks noGrp="1"/>
          </p:cNvSpPr>
          <p:nvPr/>
        </p:nvSpPr>
        <p:spPr>
          <a:xfrm>
            <a:off x="1143000" y="3486150"/>
            <a:ext cx="2038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125" b="1">
                <a:solidFill>
                  <a:srgbClr val="33D6C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3D6C8"/>
                </a:solidFill>
                <a:latin typeface="Aptos"/>
                <a:ea typeface="Aptos"/>
                <a:cs typeface="Aptos"/>
              </a:rPr>
              <a:t>RETRIEVER</a:t>
            </a:r>
          </a:p>
        </p:txBody>
      </p:sp>
      <p:sp>
        <p:nvSpPr>
          <p:cNvPr id="31" name="Rectángulo 30">
            <a:extLst>
              <a:ext uri="{FF2B5EF4-FFF2-40B4-BE49-F238E27FC236}">
                <a16:creationId xmlns:a16="http://schemas.microsoft.com/office/drawing/2014/main" id="{C4350557-F1D8-47AC-91A9-2EC7A5DB08E7}"/>
              </a:ext>
            </a:extLst>
          </p:cNvPr>
          <p:cNvSpPr>
            <a:spLocks noGrp="1"/>
          </p:cNvSpPr>
          <p:nvPr/>
        </p:nvSpPr>
        <p:spPr>
          <a:xfrm>
            <a:off x="1143000" y="3867150"/>
            <a:ext cx="20383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asigna pη(d|X)</a:t>
            </a:r>
          </a:p>
        </p:txBody>
      </p:sp>
      <p:sp>
        <p:nvSpPr>
          <p:cNvPr id="32" name="Rectángulo: esquinas redondeadas 31">
            <a:extLst>
              <a:ext uri="{FF2B5EF4-FFF2-40B4-BE49-F238E27FC236}">
                <a16:creationId xmlns:a16="http://schemas.microsoft.com/office/drawing/2014/main" id="{53D1E19F-3AEC-41C8-8E78-5C64CE9B02F3}"/>
              </a:ext>
            </a:extLst>
          </p:cNvPr>
          <p:cNvSpPr>
            <a:spLocks noGrp="1"/>
          </p:cNvSpPr>
          <p:nvPr/>
        </p:nvSpPr>
        <p:spPr>
          <a:xfrm>
            <a:off x="4000500" y="3257550"/>
            <a:ext cx="3333750" cy="1200150"/>
          </a:xfrm>
          <a:prstGeom prst="roundRect">
            <a:avLst>
              <a:gd name="adj" fmla="val 12698"/>
            </a:avLst>
          </a:prstGeom>
          <a:solidFill>
            <a:srgbClr val="FFFFFF"/>
          </a:solidFill>
          <a:ln w="13335">
            <a:solidFill>
              <a:srgbClr val="6C63FF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3" name="Rectángulo 32">
            <a:extLst>
              <a:ext uri="{FF2B5EF4-FFF2-40B4-BE49-F238E27FC236}">
                <a16:creationId xmlns:a16="http://schemas.microsoft.com/office/drawing/2014/main" id="{AD47C53B-1C7D-4634-B939-AF53C9E7DFE7}"/>
              </a:ext>
            </a:extLst>
          </p:cNvPr>
          <p:cNvSpPr>
            <a:spLocks noGrp="1"/>
          </p:cNvSpPr>
          <p:nvPr/>
        </p:nvSpPr>
        <p:spPr>
          <a:xfrm>
            <a:off x="4171950" y="3486150"/>
            <a:ext cx="29908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125" b="1">
                <a:solidFill>
                  <a:srgbClr val="6C63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6C63FF"/>
                </a:solidFill>
                <a:latin typeface="Aptos"/>
                <a:ea typeface="Aptos"/>
                <a:cs typeface="Aptos"/>
              </a:rPr>
              <a:t>MARGINALIZACIÓN</a:t>
            </a:r>
          </a:p>
        </p:txBody>
      </p:sp>
      <p:sp>
        <p:nvSpPr>
          <p:cNvPr id="34" name="Rectángulo 33">
            <a:extLst>
              <a:ext uri="{FF2B5EF4-FFF2-40B4-BE49-F238E27FC236}">
                <a16:creationId xmlns:a16="http://schemas.microsoft.com/office/drawing/2014/main" id="{0CE9A3A0-65E7-49AE-B769-9317E93273A1}"/>
              </a:ext>
            </a:extLst>
          </p:cNvPr>
          <p:cNvSpPr>
            <a:spLocks noGrp="1"/>
          </p:cNvSpPr>
          <p:nvPr/>
        </p:nvSpPr>
        <p:spPr>
          <a:xfrm>
            <a:off x="4171950" y="3867150"/>
            <a:ext cx="29908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combina documentos</a:t>
            </a:r>
          </a:p>
        </p:txBody>
      </p:sp>
      <p:sp>
        <p:nvSpPr>
          <p:cNvPr id="35" name="Rectángulo: esquinas redondeadas 34">
            <a:extLst>
              <a:ext uri="{FF2B5EF4-FFF2-40B4-BE49-F238E27FC236}">
                <a16:creationId xmlns:a16="http://schemas.microsoft.com/office/drawing/2014/main" id="{6A147AC8-13CE-45D3-9534-766929CA8B23}"/>
              </a:ext>
            </a:extLst>
          </p:cNvPr>
          <p:cNvSpPr>
            <a:spLocks noGrp="1"/>
          </p:cNvSpPr>
          <p:nvPr/>
        </p:nvSpPr>
        <p:spPr>
          <a:xfrm>
            <a:off x="8362950" y="3257550"/>
            <a:ext cx="2381250" cy="1200150"/>
          </a:xfrm>
          <a:prstGeom prst="roundRect">
            <a:avLst>
              <a:gd name="adj" fmla="val 12698"/>
            </a:avLst>
          </a:prstGeom>
          <a:solidFill>
            <a:srgbClr val="FFFFFF"/>
          </a:solidFill>
          <a:ln w="13335">
            <a:solidFill>
              <a:srgbClr val="F5A14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6" name="Rectángulo 35">
            <a:extLst>
              <a:ext uri="{FF2B5EF4-FFF2-40B4-BE49-F238E27FC236}">
                <a16:creationId xmlns:a16="http://schemas.microsoft.com/office/drawing/2014/main" id="{4EF163F1-6956-458B-8FF6-72DA6A6C2D53}"/>
              </a:ext>
            </a:extLst>
          </p:cNvPr>
          <p:cNvSpPr>
            <a:spLocks noGrp="1"/>
          </p:cNvSpPr>
          <p:nvPr/>
        </p:nvSpPr>
        <p:spPr>
          <a:xfrm>
            <a:off x="8534400" y="3486150"/>
            <a:ext cx="2038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125" b="1">
                <a:solidFill>
                  <a:srgbClr val="F5A1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5A14A"/>
                </a:solidFill>
                <a:latin typeface="Aptos"/>
                <a:ea typeface="Aptos"/>
                <a:cs typeface="Aptos"/>
              </a:rPr>
              <a:t>GENERADOR</a:t>
            </a:r>
          </a:p>
        </p:txBody>
      </p:sp>
      <p:sp>
        <p:nvSpPr>
          <p:cNvPr id="37" name="Rectángulo 36">
            <a:extLst>
              <a:ext uri="{FF2B5EF4-FFF2-40B4-BE49-F238E27FC236}">
                <a16:creationId xmlns:a16="http://schemas.microsoft.com/office/drawing/2014/main" id="{50D9E64C-2E77-4F73-8F00-874EB31BD281}"/>
              </a:ext>
            </a:extLst>
          </p:cNvPr>
          <p:cNvSpPr>
            <a:spLocks noGrp="1"/>
          </p:cNvSpPr>
          <p:nvPr/>
        </p:nvSpPr>
        <p:spPr>
          <a:xfrm>
            <a:off x="8534400" y="3867150"/>
            <a:ext cx="20383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factoriza tokens</a:t>
            </a:r>
          </a:p>
        </p:txBody>
      </p:sp>
      <p:sp>
        <p:nvSpPr>
          <p:cNvPr id="38" name="Rectángulo 37">
            <a:extLst>
              <a:ext uri="{FF2B5EF4-FFF2-40B4-BE49-F238E27FC236}">
                <a16:creationId xmlns:a16="http://schemas.microsoft.com/office/drawing/2014/main" id="{C8B96D4C-15A2-449B-852E-EA05303EA394}"/>
              </a:ext>
            </a:extLst>
          </p:cNvPr>
          <p:cNvSpPr>
            <a:spLocks noGrp="1"/>
          </p:cNvSpPr>
          <p:nvPr/>
        </p:nvSpPr>
        <p:spPr>
          <a:xfrm>
            <a:off x="1619250" y="5010150"/>
            <a:ext cx="89535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500" b="1">
                <a:solidFill>
                  <a:srgbClr val="6C63F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6C63FF"/>
                </a:solidFill>
                <a:latin typeface="Aptos"/>
                <a:ea typeface="Aptos"/>
                <a:cs typeface="Aptos"/>
              </a:rPr>
              <a:t>Lewis et al. marginalizan evidencia recuperada; no multiplican dos porcentajes ilustrativos.</a:t>
            </a:r>
          </a:p>
        </p:txBody>
      </p:sp>
    </p:spTree>
    <p:extLst>
      <p:ext uri="{BB962C8B-B14F-4D97-AF65-F5344CB8AC3E}">
        <p14:creationId xmlns:p14="http://schemas.microsoft.com/office/powerpoint/2010/main" val="164720271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5CE0B65-E668-4E20-8B38-83A36B659D8E}"/>
              </a:ext>
            </a:extLst>
          </p:cNvPr>
          <p:cNvSpPr>
            <a:spLocks noGrp="1"/>
          </p:cNvSpPr>
          <p:nvPr/>
        </p:nvSpPr>
        <p:spPr>
          <a:xfrm>
            <a:off x="685800" y="365760"/>
            <a:ext cx="4114800" cy="219456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1050" b="1">
                <a:solidFill>
                  <a:srgbClr val="6C63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6C63FF"/>
                </a:solidFill>
                <a:latin typeface="Aptos"/>
                <a:ea typeface="Aptos"/>
                <a:cs typeface="Aptos"/>
              </a:rPr>
              <a:t>10 / MODELOS COMPARADOS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7C9E793-8A01-43BC-957C-C697C575CD3A}"/>
              </a:ext>
            </a:extLst>
          </p:cNvPr>
          <p:cNvSpPr>
            <a:spLocks noGrp="1"/>
          </p:cNvSpPr>
          <p:nvPr/>
        </p:nvSpPr>
        <p:spPr>
          <a:xfrm>
            <a:off x="685800" y="694944"/>
            <a:ext cx="10835640" cy="109728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92000"/>
              </a:lnSpc>
              <a:buNone/>
              <a:defRPr sz="2775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RAG recupera conocimiento; Context Engineering orquesta C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5DE304F-8E77-423D-BE1D-0FF8490D0A64}"/>
              </a:ext>
            </a:extLst>
          </p:cNvPr>
          <p:cNvSpPr>
            <a:spLocks noGrp="1"/>
          </p:cNvSpPr>
          <p:nvPr/>
        </p:nvSpPr>
        <p:spPr>
          <a:xfrm>
            <a:off x="685800" y="1463040"/>
            <a:ext cx="10817352" cy="10972"/>
          </a:xfrm>
          <a:prstGeom prst="rect">
            <a:avLst/>
          </a:prstGeom>
          <a:solidFill>
            <a:srgbClr val="D9D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AACFA69-9B20-44AF-9D99-6E334A8DBF0A}"/>
              </a:ext>
            </a:extLst>
          </p:cNvPr>
          <p:cNvSpPr>
            <a:spLocks noGrp="1"/>
          </p:cNvSpPr>
          <p:nvPr/>
        </p:nvSpPr>
        <p:spPr>
          <a:xfrm>
            <a:off x="685800" y="6437376"/>
            <a:ext cx="9966960" cy="18288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750">
                <a:solidFill>
                  <a:srgbClr val="8792AA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8792AA"/>
                </a:solidFill>
                <a:latin typeface="Aptos"/>
                <a:ea typeface="Aptos"/>
                <a:cs typeface="Aptos"/>
              </a:rPr>
              <a:t>Mei et al. (2025) · Lewis et al. (2020)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C9D0F81-5EBC-49A1-8F43-F482A3B68EAF}"/>
              </a:ext>
            </a:extLst>
          </p:cNvPr>
          <p:cNvSpPr>
            <a:spLocks noGrp="1"/>
          </p:cNvSpPr>
          <p:nvPr/>
        </p:nvSpPr>
        <p:spPr>
          <a:xfrm>
            <a:off x="11045952" y="6419088"/>
            <a:ext cx="45720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buNone/>
              <a:defRPr sz="825" b="1">
                <a:solidFill>
                  <a:srgbClr val="7B879F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7B879F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sp>
        <p:nvSpPr>
          <p:cNvPr id="21" name="Rectángulo: esquinas redondeadas 20">
            <a:extLst>
              <a:ext uri="{FF2B5EF4-FFF2-40B4-BE49-F238E27FC236}">
                <a16:creationId xmlns:a16="http://schemas.microsoft.com/office/drawing/2014/main" id="{AC9BDDD2-2B9F-487C-9323-03E60C3A81DC}"/>
              </a:ext>
            </a:extLst>
          </p:cNvPr>
          <p:cNvSpPr>
            <a:spLocks noGrp="1"/>
          </p:cNvSpPr>
          <p:nvPr/>
        </p:nvSpPr>
        <p:spPr>
          <a:xfrm>
            <a:off x="685800" y="1809750"/>
            <a:ext cx="5048250" cy="3676650"/>
          </a:xfrm>
          <a:prstGeom prst="roundRect">
            <a:avLst>
              <a:gd name="adj" fmla="val 4145"/>
            </a:avLst>
          </a:prstGeom>
          <a:solidFill>
            <a:srgbClr val="F3F5FA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2" name="Rectángulo 21">
            <a:extLst>
              <a:ext uri="{FF2B5EF4-FFF2-40B4-BE49-F238E27FC236}">
                <a16:creationId xmlns:a16="http://schemas.microsoft.com/office/drawing/2014/main" id="{2497FE92-D092-4B97-B657-C9B219CCADD3}"/>
              </a:ext>
            </a:extLst>
          </p:cNvPr>
          <p:cNvSpPr>
            <a:spLocks noGrp="1"/>
          </p:cNvSpPr>
          <p:nvPr/>
        </p:nvSpPr>
        <p:spPr>
          <a:xfrm>
            <a:off x="933450" y="2038350"/>
            <a:ext cx="1143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650" b="1">
                <a:solidFill>
                  <a:srgbClr val="6C63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6C63FF"/>
                </a:solidFill>
                <a:latin typeface="Aptos"/>
                <a:ea typeface="Aptos"/>
                <a:cs typeface="Aptos"/>
              </a:rPr>
              <a:t>RAG</a:t>
            </a:r>
          </a:p>
        </p:txBody>
      </p:sp>
      <p:sp>
        <p:nvSpPr>
          <p:cNvPr id="23" name="Rectángulo: esquinas redondeadas 22">
            <a:extLst>
              <a:ext uri="{FF2B5EF4-FFF2-40B4-BE49-F238E27FC236}">
                <a16:creationId xmlns:a16="http://schemas.microsoft.com/office/drawing/2014/main" id="{5E3F5123-655F-47DA-8882-9D6FB9A9405E}"/>
              </a:ext>
            </a:extLst>
          </p:cNvPr>
          <p:cNvSpPr>
            <a:spLocks noGrp="1"/>
          </p:cNvSpPr>
          <p:nvPr/>
        </p:nvSpPr>
        <p:spPr>
          <a:xfrm>
            <a:off x="933450" y="2571750"/>
            <a:ext cx="4552950" cy="704850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pic>
        <p:nvPicPr>
          <p:cNvPr id="40" name="Imagen 39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085850" y="2673263"/>
            <a:ext cx="4248150" cy="501825"/>
          </a:xfrm>
          <a:prstGeom prst="rect">
            <a:avLst/>
          </a:prstGeom>
        </p:spPr>
      </p:pic>
      <p:sp>
        <p:nvSpPr>
          <p:cNvPr id="25" name="Rectángulo 24">
            <a:extLst>
              <a:ext uri="{FF2B5EF4-FFF2-40B4-BE49-F238E27FC236}">
                <a16:creationId xmlns:a16="http://schemas.microsoft.com/office/drawing/2014/main" id="{0604AF62-F74F-4F0E-B59E-743FB644D7F3}"/>
              </a:ext>
            </a:extLst>
          </p:cNvPr>
          <p:cNvSpPr>
            <a:spLocks noGrp="1"/>
          </p:cNvSpPr>
          <p:nvPr/>
        </p:nvSpPr>
        <p:spPr>
          <a:xfrm>
            <a:off x="990600" y="3638550"/>
            <a:ext cx="443865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42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Su función principal es recuperar conocimiento externo relevante para la consulta.</a:t>
            </a:r>
          </a:p>
        </p:txBody>
      </p:sp>
      <p:sp>
        <p:nvSpPr>
          <p:cNvPr id="26" name="Rectángulo: esquinas redondeadas 25">
            <a:extLst>
              <a:ext uri="{FF2B5EF4-FFF2-40B4-BE49-F238E27FC236}">
                <a16:creationId xmlns:a16="http://schemas.microsoft.com/office/drawing/2014/main" id="{F9B22829-2347-4E58-9D9F-04B2D5202D24}"/>
              </a:ext>
            </a:extLst>
          </p:cNvPr>
          <p:cNvSpPr>
            <a:spLocks noGrp="1"/>
          </p:cNvSpPr>
          <p:nvPr/>
        </p:nvSpPr>
        <p:spPr>
          <a:xfrm>
            <a:off x="6153150" y="1809750"/>
            <a:ext cx="5353050" cy="3676650"/>
          </a:xfrm>
          <a:prstGeom prst="roundRect">
            <a:avLst>
              <a:gd name="adj" fmla="val 4145"/>
            </a:avLst>
          </a:prstGeom>
          <a:solidFill>
            <a:srgbClr val="EEECFF"/>
          </a:solidFill>
          <a:ln w="13335">
            <a:solidFill>
              <a:srgbClr val="6C63FF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7" name="Rectángulo 26">
            <a:extLst>
              <a:ext uri="{FF2B5EF4-FFF2-40B4-BE49-F238E27FC236}">
                <a16:creationId xmlns:a16="http://schemas.microsoft.com/office/drawing/2014/main" id="{05042666-5A28-4012-BF63-93E8F81B3525}"/>
              </a:ext>
            </a:extLst>
          </p:cNvPr>
          <p:cNvSpPr>
            <a:spLocks noGrp="1"/>
          </p:cNvSpPr>
          <p:nvPr/>
        </p:nvSpPr>
        <p:spPr>
          <a:xfrm>
            <a:off x="6400800" y="2038350"/>
            <a:ext cx="31432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650" b="1">
                <a:solidFill>
                  <a:srgbClr val="33D6C8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33D6C8"/>
                </a:solidFill>
                <a:latin typeface="Aptos"/>
                <a:ea typeface="Aptos"/>
                <a:cs typeface="Aptos"/>
              </a:rPr>
              <a:t>CONTEXT ENGINEERING</a:t>
            </a:r>
          </a:p>
        </p:txBody>
      </p:sp>
      <p:sp>
        <p:nvSpPr>
          <p:cNvPr id="28" name="Rectángulo: esquinas redondeadas 27">
            <a:extLst>
              <a:ext uri="{FF2B5EF4-FFF2-40B4-BE49-F238E27FC236}">
                <a16:creationId xmlns:a16="http://schemas.microsoft.com/office/drawing/2014/main" id="{456E6F29-995D-4A0A-9EF4-3DFD2757FF6C}"/>
              </a:ext>
            </a:extLst>
          </p:cNvPr>
          <p:cNvSpPr>
            <a:spLocks noGrp="1"/>
          </p:cNvSpPr>
          <p:nvPr/>
        </p:nvSpPr>
        <p:spPr>
          <a:xfrm>
            <a:off x="6400800" y="2571750"/>
            <a:ext cx="4857750" cy="97155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7D2FF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pic>
        <p:nvPicPr>
          <p:cNvPr id="45" name="Imagen 44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6553200" y="2892488"/>
            <a:ext cx="4552950" cy="330073"/>
          </a:xfrm>
          <a:prstGeom prst="rect">
            <a:avLst/>
          </a:prstGeom>
        </p:spPr>
      </p:pic>
      <p:sp>
        <p:nvSpPr>
          <p:cNvPr id="30" name="Rectángulo 29">
            <a:extLst>
              <a:ext uri="{FF2B5EF4-FFF2-40B4-BE49-F238E27FC236}">
                <a16:creationId xmlns:a16="http://schemas.microsoft.com/office/drawing/2014/main" id="{1A5A9BC4-A0AB-4597-89E6-44285B1F1899}"/>
              </a:ext>
            </a:extLst>
          </p:cNvPr>
          <p:cNvSpPr>
            <a:spLocks noGrp="1"/>
          </p:cNvSpPr>
          <p:nvPr/>
        </p:nvSpPr>
        <p:spPr>
          <a:xfrm>
            <a:off x="6457950" y="3867150"/>
            <a:ext cx="4743450" cy="990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Orquesta recuperación, instrucciones, herramientas, memoria, estado y consulta bajo una función objetivo.</a:t>
            </a:r>
          </a:p>
        </p:txBody>
      </p:sp>
      <p:sp>
        <p:nvSpPr>
          <p:cNvPr id="31" name="Rectángulo 30">
            <a:extLst>
              <a:ext uri="{FF2B5EF4-FFF2-40B4-BE49-F238E27FC236}">
                <a16:creationId xmlns:a16="http://schemas.microsoft.com/office/drawing/2014/main" id="{02888DA9-CE24-42AA-9E55-BD73BBDF2CA6}"/>
              </a:ext>
            </a:extLst>
          </p:cNvPr>
          <p:cNvSpPr>
            <a:spLocks noGrp="1"/>
          </p:cNvSpPr>
          <p:nvPr/>
        </p:nvSpPr>
        <p:spPr>
          <a:xfrm>
            <a:off x="1714500" y="5781675"/>
            <a:ext cx="8763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500" b="1">
                <a:solidFill>
                  <a:srgbClr val="6C63F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6C63FF"/>
                </a:solidFill>
                <a:latin typeface="Aptos"/>
                <a:ea typeface="Aptos"/>
                <a:cs typeface="Aptos"/>
              </a:rPr>
              <a:t>RAG llena una parte de C; Context Engineering gobierna el conjunto.</a:t>
            </a:r>
          </a:p>
        </p:txBody>
      </p:sp>
    </p:spTree>
    <p:extLst>
      <p:ext uri="{BB962C8B-B14F-4D97-AF65-F5344CB8AC3E}">
        <p14:creationId xmlns:p14="http://schemas.microsoft.com/office/powerpoint/2010/main" val="196502806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8815DBF-6641-44C5-98B7-08BA92B7BE02}"/>
              </a:ext>
            </a:extLst>
          </p:cNvPr>
          <p:cNvSpPr>
            <a:spLocks noGrp="1"/>
          </p:cNvSpPr>
          <p:nvPr/>
        </p:nvSpPr>
        <p:spPr>
          <a:xfrm>
            <a:off x="685800" y="365760"/>
            <a:ext cx="5943600" cy="219456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1050" b="1">
                <a:solidFill>
                  <a:srgbClr val="6C63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6C63FF"/>
                </a:solidFill>
                <a:latin typeface="Aptos"/>
                <a:ea typeface="Aptos"/>
                <a:cs typeface="Aptos"/>
              </a:rPr>
              <a:t>11 / RAG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2DBD10D-5177-4F7D-B264-D8D6D1D09D27}"/>
              </a:ext>
            </a:extLst>
          </p:cNvPr>
          <p:cNvSpPr>
            <a:spLocks noGrp="1"/>
          </p:cNvSpPr>
          <p:nvPr/>
        </p:nvSpPr>
        <p:spPr>
          <a:xfrm>
            <a:off x="685800" y="694944"/>
            <a:ext cx="10835640" cy="585216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92000"/>
              </a:lnSpc>
              <a:buNone/>
              <a:defRPr sz="28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RAG marginaliza documentos antes de generar la respuesta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01EF426-A7F8-4559-80D6-1D382081DA00}"/>
              </a:ext>
            </a:extLst>
          </p:cNvPr>
          <p:cNvSpPr>
            <a:spLocks noGrp="1"/>
          </p:cNvSpPr>
          <p:nvPr/>
        </p:nvSpPr>
        <p:spPr>
          <a:xfrm>
            <a:off x="685800" y="1417320"/>
            <a:ext cx="10817352" cy="10972"/>
          </a:xfrm>
          <a:prstGeom prst="rect">
            <a:avLst/>
          </a:prstGeom>
          <a:solidFill>
            <a:srgbClr val="D9D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pic>
        <p:nvPicPr>
          <p:cNvPr id="11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718843"/>
            <a:ext cx="10817352" cy="378607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565713B-1A16-4A34-B37B-317262802A29}"/>
              </a:ext>
            </a:extLst>
          </p:cNvPr>
          <p:cNvSpPr>
            <a:spLocks noGrp="1"/>
          </p:cNvSpPr>
          <p:nvPr/>
        </p:nvSpPr>
        <p:spPr>
          <a:xfrm>
            <a:off x="685800" y="5760720"/>
            <a:ext cx="10817352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buNone/>
            </a:pPr>
            <a:r>
              <a:rPr sz="1400" b="0">
                <a:solidFill>
                  <a:srgbClr val="60687C"/>
                </a:solidFill>
                <a:latin typeface="Aptos"/>
                <a:ea typeface="Aptos"/>
                <a:cs typeface="Aptos"/>
              </a:rPr>
              <a:t>El sistema marginaliza documentos recuperados y genera la respuesta condicionada a la evidencia.</a:t>
            </a:r>
          </a:p>
        </p:txBody>
      </p:sp>
    </p:spTree>
    <p:extLst>
      <p:ext uri="{BB962C8B-B14F-4D97-AF65-F5344CB8AC3E}">
        <p14:creationId xmlns:p14="http://schemas.microsoft.com/office/powerpoint/2010/main" val="168000801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0B1020"/>
            </a:gs>
            <a:gs pos="58000">
              <a:srgbClr val="151B33"/>
            </a:gs>
            <a:gs pos="100000">
              <a:srgbClr val="252A55"/>
            </a:gs>
          </a:gsLst>
          <a:lin ang="8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Rectángulo 42">
            <a:extLst>
              <a:ext uri="{FF2B5EF4-FFF2-40B4-BE49-F238E27FC236}">
                <a16:creationId xmlns:a16="http://schemas.microsoft.com/office/drawing/2014/main" id="{FCEFC5F0-3B9E-4D5D-927D-CCEFC57E01E5}"/>
              </a:ext>
            </a:extLst>
          </p:cNvPr>
          <p:cNvSpPr>
            <a:spLocks noGrp="1"/>
          </p:cNvSpPr>
          <p:nvPr/>
        </p:nvSpPr>
        <p:spPr>
          <a:xfrm>
            <a:off x="685800" y="361950"/>
            <a:ext cx="4095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050" b="1" i="0">
                <a:solidFill>
                  <a:srgbClr val="33D6C8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33D6C8"/>
                </a:solidFill>
                <a:latin typeface="Aptos"/>
                <a:ea typeface="Aptos"/>
                <a:cs typeface="Aptos"/>
              </a:rPr>
              <a:t>12 / RECUPERACIÓN Y ATENCIÓN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00FA2DB4-35E9-4F79-B8B9-713DFF34B23C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108204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92000"/>
              </a:lnSpc>
              <a:buNone/>
              <a:defRPr sz="2700" b="1" i="0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La atención pondera tokens; retrieval decide cuáles llegan</a:t>
            </a:r>
          </a:p>
        </p:txBody>
      </p:sp>
      <p:sp>
        <p:nvSpPr>
          <p:cNvPr id="3" name="Conector recto 2">
            <a:extLst>
              <a:ext uri="{FF2B5EF4-FFF2-40B4-BE49-F238E27FC236}">
                <a16:creationId xmlns:a16="http://schemas.microsoft.com/office/drawing/2014/main" id="{ADE4D0A8-97B5-4F83-9E7F-AA19EEB08FD5}"/>
              </a:ext>
            </a:extLst>
          </p:cNvPr>
          <p:cNvSpPr>
            <a:spLocks noGrp="1"/>
          </p:cNvSpPr>
          <p:nvPr/>
        </p:nvSpPr>
        <p:spPr>
          <a:xfrm>
            <a:off x="685800" y="1485900"/>
            <a:ext cx="10820400" cy="0"/>
          </a:xfrm>
          <a:prstGeom prst="line">
            <a:avLst/>
          </a:prstGeom>
          <a:noFill/>
          <a:ln w="9525">
            <a:solidFill>
              <a:srgbClr val="FFFFFF">
                <a:alpha val="18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8" name="Rectángulo 37">
            <a:extLst>
              <a:ext uri="{FF2B5EF4-FFF2-40B4-BE49-F238E27FC236}">
                <a16:creationId xmlns:a16="http://schemas.microsoft.com/office/drawing/2014/main" id="{4AE7049E-32AB-4563-98E6-0FD3EC9D1C14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95362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750" b="0" i="0">
                <a:solidFill>
                  <a:srgbClr val="9AA6C4"/>
                </a:solidFill>
                <a:latin typeface="Aptos"/>
                <a:ea typeface="Aptos"/>
                <a:cs typeface="Aptos"/>
              </a:defRPr>
            </a:pPr>
            <a:r>
              <a:rPr sz="750" b="0" i="0">
                <a:solidFill>
                  <a:srgbClr val="9AA6C4"/>
                </a:solidFill>
                <a:latin typeface="Aptos"/>
                <a:ea typeface="Aptos"/>
                <a:cs typeface="Aptos"/>
              </a:rPr>
              <a:t>Vaswani et al. (2017) · Mei et al. (2025)</a:t>
            </a:r>
          </a:p>
        </p:txBody>
      </p:sp>
      <p:sp>
        <p:nvSpPr>
          <p:cNvPr id="39" name="Rectángulo 38">
            <a:extLst>
              <a:ext uri="{FF2B5EF4-FFF2-40B4-BE49-F238E27FC236}">
                <a16:creationId xmlns:a16="http://schemas.microsoft.com/office/drawing/2014/main" id="{DE511DDA-F61C-4407-9CA9-245CFCF1C31D}"/>
              </a:ext>
            </a:extLst>
          </p:cNvPr>
          <p:cNvSpPr>
            <a:spLocks noGrp="1"/>
          </p:cNvSpPr>
          <p:nvPr/>
        </p:nvSpPr>
        <p:spPr>
          <a:xfrm>
            <a:off x="11049000" y="6438900"/>
            <a:ext cx="4572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r">
              <a:lnSpc>
                <a:spcPct val="100000"/>
              </a:lnSpc>
              <a:buNone/>
              <a:defRPr sz="825" b="1" i="0">
                <a:solidFill>
                  <a:srgbClr val="C9D1E6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C9D1E6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  <p:pic>
        <p:nvPicPr>
          <p:cNvPr id="66" name="Imagen 65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723900" y="1990725"/>
            <a:ext cx="5565905" cy="781050"/>
          </a:xfrm>
          <a:prstGeom prst="rect">
            <a:avLst/>
          </a:prstGeom>
        </p:spPr>
      </p:pic>
      <p:sp>
        <p:nvSpPr>
          <p:cNvPr id="45" name="Rectángulo 44">
            <a:extLst>
              <a:ext uri="{FF2B5EF4-FFF2-40B4-BE49-F238E27FC236}">
                <a16:creationId xmlns:a16="http://schemas.microsoft.com/office/drawing/2014/main" id="{2F8BA594-AD67-4420-9686-76B1A5A10AAE}"/>
              </a:ext>
            </a:extLst>
          </p:cNvPr>
          <p:cNvSpPr>
            <a:spLocks noGrp="1"/>
          </p:cNvSpPr>
          <p:nvPr/>
        </p:nvSpPr>
        <p:spPr>
          <a:xfrm>
            <a:off x="685800" y="3000375"/>
            <a:ext cx="57150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 fontScale="99964"/>
          </a:bodyPr>
          <a:lstStyle/>
          <a:p>
            <a:pPr algn="l">
              <a:lnSpc>
                <a:spcPct val="100000"/>
              </a:lnSpc>
              <a:buNone/>
              <a:defRPr sz="1575" b="0">
                <a:solidFill>
                  <a:srgbClr val="C9D1E6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C9D1E6"/>
                </a:solidFill>
                <a:latin typeface="Aptos"/>
                <a:ea typeface="Aptos"/>
                <a:cs typeface="Aptos"/>
              </a:rPr>
              <a:t>La atención pondera representaciones que ya están en la ventana.</a:t>
            </a:r>
          </a:p>
        </p:txBody>
      </p:sp>
      <p:sp>
        <p:nvSpPr>
          <p:cNvPr id="46" name="Rectángulo 45">
            <a:extLst>
              <a:ext uri="{FF2B5EF4-FFF2-40B4-BE49-F238E27FC236}">
                <a16:creationId xmlns:a16="http://schemas.microsoft.com/office/drawing/2014/main" id="{C896A2C4-FF78-436A-887C-50B7943E4583}"/>
              </a:ext>
            </a:extLst>
          </p:cNvPr>
          <p:cNvSpPr>
            <a:spLocks noGrp="1"/>
          </p:cNvSpPr>
          <p:nvPr/>
        </p:nvSpPr>
        <p:spPr>
          <a:xfrm>
            <a:off x="685800" y="3905250"/>
            <a:ext cx="2381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125" b="1">
                <a:solidFill>
                  <a:srgbClr val="33D6C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3D6C8"/>
                </a:solidFill>
                <a:latin typeface="Aptos"/>
                <a:ea typeface="Aptos"/>
                <a:cs typeface="Aptos"/>
              </a:rPr>
              <a:t>RECUPERACIÓN EXTERNA</a:t>
            </a:r>
          </a:p>
        </p:txBody>
      </p:sp>
      <p:sp>
        <p:nvSpPr>
          <p:cNvPr id="47" name="Rectángulo 46">
            <a:extLst>
              <a:ext uri="{FF2B5EF4-FFF2-40B4-BE49-F238E27FC236}">
                <a16:creationId xmlns:a16="http://schemas.microsoft.com/office/drawing/2014/main" id="{650A040E-BEA1-4734-BC59-AD7DE740FC0E}"/>
              </a:ext>
            </a:extLst>
          </p:cNvPr>
          <p:cNvSpPr>
            <a:spLocks noGrp="1"/>
          </p:cNvSpPr>
          <p:nvPr/>
        </p:nvSpPr>
        <p:spPr>
          <a:xfrm>
            <a:off x="685800" y="4276725"/>
            <a:ext cx="48577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decide qué documentos o memorias llegan a C</a:t>
            </a:r>
          </a:p>
        </p:txBody>
      </p:sp>
      <p:sp>
        <p:nvSpPr>
          <p:cNvPr id="48" name="Rectángulo 47">
            <a:extLst>
              <a:ext uri="{FF2B5EF4-FFF2-40B4-BE49-F238E27FC236}">
                <a16:creationId xmlns:a16="http://schemas.microsoft.com/office/drawing/2014/main" id="{8F2CF3DB-4A07-4719-9396-707861619449}"/>
              </a:ext>
            </a:extLst>
          </p:cNvPr>
          <p:cNvSpPr>
            <a:spLocks noGrp="1"/>
          </p:cNvSpPr>
          <p:nvPr/>
        </p:nvSpPr>
        <p:spPr>
          <a:xfrm>
            <a:off x="685800" y="5219700"/>
            <a:ext cx="1524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125" b="1">
                <a:solidFill>
                  <a:srgbClr val="F5A1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5A14A"/>
                </a:solidFill>
                <a:latin typeface="Aptos"/>
                <a:ea typeface="Aptos"/>
                <a:cs typeface="Aptos"/>
              </a:rPr>
              <a:t>ATENCIÓN</a:t>
            </a:r>
          </a:p>
        </p:txBody>
      </p:sp>
      <p:sp>
        <p:nvSpPr>
          <p:cNvPr id="49" name="Rectángulo 48">
            <a:extLst>
              <a:ext uri="{FF2B5EF4-FFF2-40B4-BE49-F238E27FC236}">
                <a16:creationId xmlns:a16="http://schemas.microsoft.com/office/drawing/2014/main" id="{506800C8-3D50-4521-8F2D-9A4C0065BE26}"/>
              </a:ext>
            </a:extLst>
          </p:cNvPr>
          <p:cNvSpPr>
            <a:spLocks noGrp="1"/>
          </p:cNvSpPr>
          <p:nvPr/>
        </p:nvSpPr>
        <p:spPr>
          <a:xfrm>
            <a:off x="685800" y="5562600"/>
            <a:ext cx="48577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decide cómo se combinan dentro del modelo</a:t>
            </a:r>
          </a:p>
        </p:txBody>
      </p:sp>
      <p:sp>
        <p:nvSpPr>
          <p:cNvPr id="50" name="Flecha: a la derecha 49">
            <a:extLst>
              <a:ext uri="{FF2B5EF4-FFF2-40B4-BE49-F238E27FC236}">
                <a16:creationId xmlns:a16="http://schemas.microsoft.com/office/drawing/2014/main" id="{6341B52E-2FE7-4CC3-8405-EE792C9D476A}"/>
              </a:ext>
            </a:extLst>
          </p:cNvPr>
          <p:cNvSpPr>
            <a:spLocks noGrp="1"/>
          </p:cNvSpPr>
          <p:nvPr/>
        </p:nvSpPr>
        <p:spPr>
          <a:xfrm>
            <a:off x="8048625" y="2552700"/>
            <a:ext cx="514350" cy="266700"/>
          </a:xfrm>
          <a:prstGeom prst="rightArrow">
            <a:avLst/>
          </a:prstGeom>
          <a:solidFill>
            <a:srgbClr val="59627E"/>
          </a:solidFill>
          <a:ln w="9525">
            <a:solidFill>
              <a:srgbClr val="59627E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1" name="Flecha: a la derecha 50">
            <a:extLst>
              <a:ext uri="{FF2B5EF4-FFF2-40B4-BE49-F238E27FC236}">
                <a16:creationId xmlns:a16="http://schemas.microsoft.com/office/drawing/2014/main" id="{E6F51DAF-2002-4E95-B798-CAE8853B1F7A}"/>
              </a:ext>
            </a:extLst>
          </p:cNvPr>
          <p:cNvSpPr>
            <a:spLocks noGrp="1"/>
          </p:cNvSpPr>
          <p:nvPr/>
        </p:nvSpPr>
        <p:spPr>
          <a:xfrm>
            <a:off x="8048625" y="3733800"/>
            <a:ext cx="514350" cy="266700"/>
          </a:xfrm>
          <a:prstGeom prst="rightArrow">
            <a:avLst/>
          </a:prstGeom>
          <a:solidFill>
            <a:srgbClr val="33D6C8"/>
          </a:solidFill>
          <a:ln w="9525">
            <a:solidFill>
              <a:srgbClr val="33D6C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2" name="Flecha: a la derecha 51">
            <a:extLst>
              <a:ext uri="{FF2B5EF4-FFF2-40B4-BE49-F238E27FC236}">
                <a16:creationId xmlns:a16="http://schemas.microsoft.com/office/drawing/2014/main" id="{B82E45D8-25BB-4637-8B52-13D64DD71CD3}"/>
              </a:ext>
            </a:extLst>
          </p:cNvPr>
          <p:cNvSpPr>
            <a:spLocks noGrp="1"/>
          </p:cNvSpPr>
          <p:nvPr/>
        </p:nvSpPr>
        <p:spPr>
          <a:xfrm>
            <a:off x="8048625" y="4914900"/>
            <a:ext cx="514350" cy="266700"/>
          </a:xfrm>
          <a:prstGeom prst="rightArrow">
            <a:avLst/>
          </a:prstGeom>
          <a:solidFill>
            <a:srgbClr val="F5A14A"/>
          </a:solidFill>
          <a:ln w="9525">
            <a:solidFill>
              <a:srgbClr val="F5A14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3" name="Rectángulo: esquinas redondeadas 52">
            <a:extLst>
              <a:ext uri="{FF2B5EF4-FFF2-40B4-BE49-F238E27FC236}">
                <a16:creationId xmlns:a16="http://schemas.microsoft.com/office/drawing/2014/main" id="{E6CC7C06-D5D7-4B2B-87F8-1FB83629170C}"/>
              </a:ext>
            </a:extLst>
          </p:cNvPr>
          <p:cNvSpPr>
            <a:spLocks noGrp="1"/>
          </p:cNvSpPr>
          <p:nvPr/>
        </p:nvSpPr>
        <p:spPr>
          <a:xfrm>
            <a:off x="6572250" y="2247900"/>
            <a:ext cx="2000250" cy="781050"/>
          </a:xfrm>
          <a:prstGeom prst="roundRect">
            <a:avLst>
              <a:gd name="adj" fmla="val 14634"/>
            </a:avLst>
          </a:prstGeom>
          <a:solidFill>
            <a:srgbClr val="242C49"/>
          </a:solidFill>
          <a:ln w="13335">
            <a:solidFill>
              <a:srgbClr val="33D6C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4" name="Rectángulo 53">
            <a:extLst>
              <a:ext uri="{FF2B5EF4-FFF2-40B4-BE49-F238E27FC236}">
                <a16:creationId xmlns:a16="http://schemas.microsoft.com/office/drawing/2014/main" id="{3D0F66BD-E7B2-4815-A617-F3C1AB369A13}"/>
              </a:ext>
            </a:extLst>
          </p:cNvPr>
          <p:cNvSpPr>
            <a:spLocks noGrp="1"/>
          </p:cNvSpPr>
          <p:nvPr/>
        </p:nvSpPr>
        <p:spPr>
          <a:xfrm>
            <a:off x="6686550" y="2476500"/>
            <a:ext cx="17716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275" b="1">
                <a:solidFill>
                  <a:srgbClr val="33D6C8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33D6C8"/>
                </a:solidFill>
                <a:latin typeface="Aptos"/>
                <a:ea typeface="Aptos"/>
                <a:cs typeface="Aptos"/>
              </a:rPr>
              <a:t>DOCUMENTOS</a:t>
            </a:r>
          </a:p>
        </p:txBody>
      </p:sp>
      <p:sp>
        <p:nvSpPr>
          <p:cNvPr id="55" name="Rectángulo: esquinas redondeadas 54">
            <a:extLst>
              <a:ext uri="{FF2B5EF4-FFF2-40B4-BE49-F238E27FC236}">
                <a16:creationId xmlns:a16="http://schemas.microsoft.com/office/drawing/2014/main" id="{A5E75D95-2DE5-4B9E-ACFB-E7F1BB50D37A}"/>
              </a:ext>
            </a:extLst>
          </p:cNvPr>
          <p:cNvSpPr>
            <a:spLocks noGrp="1"/>
          </p:cNvSpPr>
          <p:nvPr/>
        </p:nvSpPr>
        <p:spPr>
          <a:xfrm>
            <a:off x="8591550" y="3429000"/>
            <a:ext cx="2000250" cy="781050"/>
          </a:xfrm>
          <a:prstGeom prst="roundRect">
            <a:avLst>
              <a:gd name="adj" fmla="val 14634"/>
            </a:avLst>
          </a:prstGeom>
          <a:solidFill>
            <a:srgbClr val="242C49"/>
          </a:solidFill>
          <a:ln w="13335">
            <a:solidFill>
              <a:srgbClr val="6C63FF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6" name="Rectángulo 55">
            <a:extLst>
              <a:ext uri="{FF2B5EF4-FFF2-40B4-BE49-F238E27FC236}">
                <a16:creationId xmlns:a16="http://schemas.microsoft.com/office/drawing/2014/main" id="{28421EA4-A053-46DB-AE47-8AC32A2CD7D7}"/>
              </a:ext>
            </a:extLst>
          </p:cNvPr>
          <p:cNvSpPr>
            <a:spLocks noGrp="1"/>
          </p:cNvSpPr>
          <p:nvPr/>
        </p:nvSpPr>
        <p:spPr>
          <a:xfrm>
            <a:off x="8705850" y="3657600"/>
            <a:ext cx="17716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275" b="1">
                <a:solidFill>
                  <a:srgbClr val="6C63FF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6C63FF"/>
                </a:solidFill>
                <a:latin typeface="Aptos"/>
                <a:ea typeface="Aptos"/>
                <a:cs typeface="Aptos"/>
              </a:rPr>
              <a:t>CONTEXTO C</a:t>
            </a:r>
          </a:p>
        </p:txBody>
      </p:sp>
      <p:sp>
        <p:nvSpPr>
          <p:cNvPr id="57" name="Rectángulo: esquinas redondeadas 56">
            <a:extLst>
              <a:ext uri="{FF2B5EF4-FFF2-40B4-BE49-F238E27FC236}">
                <a16:creationId xmlns:a16="http://schemas.microsoft.com/office/drawing/2014/main" id="{078A7570-5EEA-4855-90D7-51BC2D186DE8}"/>
              </a:ext>
            </a:extLst>
          </p:cNvPr>
          <p:cNvSpPr>
            <a:spLocks noGrp="1"/>
          </p:cNvSpPr>
          <p:nvPr/>
        </p:nvSpPr>
        <p:spPr>
          <a:xfrm>
            <a:off x="6572250" y="4610100"/>
            <a:ext cx="2000250" cy="781050"/>
          </a:xfrm>
          <a:prstGeom prst="roundRect">
            <a:avLst>
              <a:gd name="adj" fmla="val 14634"/>
            </a:avLst>
          </a:prstGeom>
          <a:solidFill>
            <a:srgbClr val="242C49"/>
          </a:solidFill>
          <a:ln w="13335">
            <a:solidFill>
              <a:srgbClr val="F5A14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8" name="Rectángulo 57">
            <a:extLst>
              <a:ext uri="{FF2B5EF4-FFF2-40B4-BE49-F238E27FC236}">
                <a16:creationId xmlns:a16="http://schemas.microsoft.com/office/drawing/2014/main" id="{AD1F1723-644B-4BD4-8870-7D29CAE50C5F}"/>
              </a:ext>
            </a:extLst>
          </p:cNvPr>
          <p:cNvSpPr>
            <a:spLocks noGrp="1"/>
          </p:cNvSpPr>
          <p:nvPr/>
        </p:nvSpPr>
        <p:spPr>
          <a:xfrm>
            <a:off x="6686550" y="4838700"/>
            <a:ext cx="17716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275" b="1">
                <a:solidFill>
                  <a:srgbClr val="F5A14A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5A14A"/>
                </a:solidFill>
                <a:latin typeface="Aptos"/>
                <a:ea typeface="Aptos"/>
                <a:cs typeface="Aptos"/>
              </a:rPr>
              <a:t>ATENCIÓN</a:t>
            </a:r>
          </a:p>
        </p:txBody>
      </p:sp>
      <p:sp>
        <p:nvSpPr>
          <p:cNvPr id="59" name="Rectángulo: esquinas redondeadas 58">
            <a:extLst>
              <a:ext uri="{FF2B5EF4-FFF2-40B4-BE49-F238E27FC236}">
                <a16:creationId xmlns:a16="http://schemas.microsoft.com/office/drawing/2014/main" id="{E36B4B82-0DA0-49B2-A347-769D927E0FAF}"/>
              </a:ext>
            </a:extLst>
          </p:cNvPr>
          <p:cNvSpPr>
            <a:spLocks noGrp="1"/>
          </p:cNvSpPr>
          <p:nvPr/>
        </p:nvSpPr>
        <p:spPr>
          <a:xfrm>
            <a:off x="8591550" y="4610100"/>
            <a:ext cx="2000250" cy="781050"/>
          </a:xfrm>
          <a:prstGeom prst="roundRect">
            <a:avLst>
              <a:gd name="adj" fmla="val 14634"/>
            </a:avLst>
          </a:prstGeom>
          <a:solidFill>
            <a:srgbClr val="242C49"/>
          </a:solidFill>
          <a:ln w="13335">
            <a:solidFill>
              <a:srgbClr val="49C98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0" name="Rectángulo 59">
            <a:extLst>
              <a:ext uri="{FF2B5EF4-FFF2-40B4-BE49-F238E27FC236}">
                <a16:creationId xmlns:a16="http://schemas.microsoft.com/office/drawing/2014/main" id="{B838CB1E-DC28-4FA6-9550-6FE428C70037}"/>
              </a:ext>
            </a:extLst>
          </p:cNvPr>
          <p:cNvSpPr>
            <a:spLocks noGrp="1"/>
          </p:cNvSpPr>
          <p:nvPr/>
        </p:nvSpPr>
        <p:spPr>
          <a:xfrm>
            <a:off x="8705850" y="4838700"/>
            <a:ext cx="17716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275" b="1">
                <a:solidFill>
                  <a:srgbClr val="49C986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49C986"/>
                </a:solidFill>
                <a:latin typeface="Aptos"/>
                <a:ea typeface="Aptos"/>
                <a:cs typeface="Aptos"/>
              </a:rPr>
              <a:t>RESPUESTA</a:t>
            </a:r>
          </a:p>
        </p:txBody>
      </p:sp>
    </p:spTree>
    <p:extLst>
      <p:ext uri="{BB962C8B-B14F-4D97-AF65-F5344CB8AC3E}">
        <p14:creationId xmlns:p14="http://schemas.microsoft.com/office/powerpoint/2010/main" val="80350772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E5B2CEB-677A-44F5-8ED4-8A1727F12F78}"/>
              </a:ext>
            </a:extLst>
          </p:cNvPr>
          <p:cNvSpPr>
            <a:spLocks noGrp="1"/>
          </p:cNvSpPr>
          <p:nvPr/>
        </p:nvSpPr>
        <p:spPr>
          <a:xfrm>
            <a:off x="685800" y="365760"/>
            <a:ext cx="5943600" cy="219456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1050" b="1">
                <a:solidFill>
                  <a:srgbClr val="6C63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6C63FF"/>
                </a:solidFill>
                <a:latin typeface="Aptos"/>
                <a:ea typeface="Aptos"/>
                <a:cs typeface="Aptos"/>
              </a:rPr>
              <a:t>13 / CHAIN-OF-THOUGHT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6CB6419-8102-4AC0-9D13-D6AEF301DF19}"/>
              </a:ext>
            </a:extLst>
          </p:cNvPr>
          <p:cNvSpPr>
            <a:spLocks noGrp="1"/>
          </p:cNvSpPr>
          <p:nvPr/>
        </p:nvSpPr>
        <p:spPr>
          <a:xfrm>
            <a:off x="685800" y="694944"/>
            <a:ext cx="10835640" cy="585216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92000"/>
              </a:lnSpc>
              <a:buNone/>
              <a:defRPr sz="28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CoT añade cómputo; no garantiza menor error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E89A37D-BC2F-446D-9D04-5F2C1B87766F}"/>
              </a:ext>
            </a:extLst>
          </p:cNvPr>
          <p:cNvSpPr>
            <a:spLocks noGrp="1"/>
          </p:cNvSpPr>
          <p:nvPr/>
        </p:nvSpPr>
        <p:spPr>
          <a:xfrm>
            <a:off x="685800" y="1417320"/>
            <a:ext cx="10817352" cy="10972"/>
          </a:xfrm>
          <a:prstGeom prst="rect">
            <a:avLst/>
          </a:prstGeom>
          <a:solidFill>
            <a:srgbClr val="D9D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72AE46B-C7E1-4154-AA23-8DE95E969796}"/>
              </a:ext>
            </a:extLst>
          </p:cNvPr>
          <p:cNvSpPr>
            <a:spLocks noGrp="1"/>
          </p:cNvSpPr>
          <p:nvPr/>
        </p:nvSpPr>
        <p:spPr>
          <a:xfrm>
            <a:off x="685800" y="6437376"/>
            <a:ext cx="9966960" cy="18288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750">
                <a:solidFill>
                  <a:srgbClr val="8792AA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8792AA"/>
                </a:solidFill>
                <a:latin typeface="Aptos"/>
                <a:ea typeface="Aptos"/>
                <a:cs typeface="Aptos"/>
              </a:rPr>
              <a:t>Wei et al. (2022) · Cover &amp; Thomas (2006) · implicación derivada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A4920B5-687F-4916-8E08-1ADEAD73FB41}"/>
              </a:ext>
            </a:extLst>
          </p:cNvPr>
          <p:cNvSpPr>
            <a:spLocks noGrp="1"/>
          </p:cNvSpPr>
          <p:nvPr/>
        </p:nvSpPr>
        <p:spPr>
          <a:xfrm>
            <a:off x="11045952" y="6419088"/>
            <a:ext cx="45720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buNone/>
              <a:defRPr sz="825" b="1">
                <a:solidFill>
                  <a:srgbClr val="7B879F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7B879F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  <p:sp>
        <p:nvSpPr>
          <p:cNvPr id="20" name="Rectángulo: esquinas redondeadas 19">
            <a:extLst>
              <a:ext uri="{FF2B5EF4-FFF2-40B4-BE49-F238E27FC236}">
                <a16:creationId xmlns:a16="http://schemas.microsoft.com/office/drawing/2014/main" id="{CC54B2A3-75D9-494A-997B-BD85F4A102FC}"/>
              </a:ext>
            </a:extLst>
          </p:cNvPr>
          <p:cNvSpPr>
            <a:spLocks noGrp="1"/>
          </p:cNvSpPr>
          <p:nvPr/>
        </p:nvSpPr>
        <p:spPr>
          <a:xfrm>
            <a:off x="685800" y="1733550"/>
            <a:ext cx="5181600" cy="3714750"/>
          </a:xfrm>
          <a:prstGeom prst="roundRect">
            <a:avLst>
              <a:gd name="adj" fmla="val 4103"/>
            </a:avLst>
          </a:prstGeom>
          <a:solidFill>
            <a:srgbClr val="EEECFF"/>
          </a:solidFill>
          <a:ln w="11430">
            <a:solidFill>
              <a:srgbClr val="6C63FF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1" name="Rectángulo: esquinas redondeadas 20">
            <a:extLst>
              <a:ext uri="{FF2B5EF4-FFF2-40B4-BE49-F238E27FC236}">
                <a16:creationId xmlns:a16="http://schemas.microsoft.com/office/drawing/2014/main" id="{696CDAF9-EEE8-429F-B88C-C967A396BCD8}"/>
              </a:ext>
            </a:extLst>
          </p:cNvPr>
          <p:cNvSpPr>
            <a:spLocks noGrp="1"/>
          </p:cNvSpPr>
          <p:nvPr/>
        </p:nvSpPr>
        <p:spPr>
          <a:xfrm>
            <a:off x="914400" y="1943100"/>
            <a:ext cx="1581150" cy="2857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6C63FF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2" name="Rectángulo 21">
            <a:extLst>
              <a:ext uri="{FF2B5EF4-FFF2-40B4-BE49-F238E27FC236}">
                <a16:creationId xmlns:a16="http://schemas.microsoft.com/office/drawing/2014/main" id="{266B6116-830A-48BD-8364-6F9A3B43E390}"/>
              </a:ext>
            </a:extLst>
          </p:cNvPr>
          <p:cNvSpPr>
            <a:spLocks noGrp="1"/>
          </p:cNvSpPr>
          <p:nvPr/>
        </p:nvSpPr>
        <p:spPr>
          <a:xfrm>
            <a:off x="971550" y="1981200"/>
            <a:ext cx="14668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900" b="1">
                <a:solidFill>
                  <a:srgbClr val="6C63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C63FF"/>
                </a:solidFill>
                <a:latin typeface="Aptos"/>
                <a:ea typeface="Aptos"/>
                <a:cs typeface="Aptos"/>
              </a:rPr>
              <a:t>EVIDENCIA EMPÍRICA</a:t>
            </a:r>
          </a:p>
        </p:txBody>
      </p:sp>
      <p:sp>
        <p:nvSpPr>
          <p:cNvPr id="23" name="Rectángulo 22">
            <a:extLst>
              <a:ext uri="{FF2B5EF4-FFF2-40B4-BE49-F238E27FC236}">
                <a16:creationId xmlns:a16="http://schemas.microsoft.com/office/drawing/2014/main" id="{8CEA149A-E9B5-45D1-B64F-BF463D5EB7D2}"/>
              </a:ext>
            </a:extLst>
          </p:cNvPr>
          <p:cNvSpPr>
            <a:spLocks noGrp="1"/>
          </p:cNvSpPr>
          <p:nvPr/>
        </p:nvSpPr>
        <p:spPr>
          <a:xfrm>
            <a:off x="933450" y="2495550"/>
            <a:ext cx="4686300" cy="1066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Wei et al. muestran mejoras al solicitar cadenas de razonamiento en tareas aritméticas, simbólicas y de sentido común.</a:t>
            </a:r>
          </a:p>
        </p:txBody>
      </p:sp>
      <p:sp>
        <p:nvSpPr>
          <p:cNvPr id="24" name="Rectángulo: esquinas redondeadas 23">
            <a:extLst>
              <a:ext uri="{FF2B5EF4-FFF2-40B4-BE49-F238E27FC236}">
                <a16:creationId xmlns:a16="http://schemas.microsoft.com/office/drawing/2014/main" id="{5596F944-F27B-4870-A8E3-E0DBDA67BE8C}"/>
              </a:ext>
            </a:extLst>
          </p:cNvPr>
          <p:cNvSpPr>
            <a:spLocks noGrp="1"/>
          </p:cNvSpPr>
          <p:nvPr/>
        </p:nvSpPr>
        <p:spPr>
          <a:xfrm>
            <a:off x="933450" y="3905250"/>
            <a:ext cx="4686300" cy="74295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9525">
            <a:solidFill>
              <a:srgbClr val="D7D2FF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pic>
        <p:nvPicPr>
          <p:cNvPr id="45" name="Imagen 4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644577" y="4000500"/>
            <a:ext cx="3264046" cy="552450"/>
          </a:xfrm>
          <a:prstGeom prst="rect">
            <a:avLst/>
          </a:prstGeom>
        </p:spPr>
      </p:pic>
      <p:sp>
        <p:nvSpPr>
          <p:cNvPr id="26" name="Rectángulo 25">
            <a:extLst>
              <a:ext uri="{FF2B5EF4-FFF2-40B4-BE49-F238E27FC236}">
                <a16:creationId xmlns:a16="http://schemas.microsoft.com/office/drawing/2014/main" id="{6ACB15D7-5AAE-4D0C-8B54-46DB0D104537}"/>
              </a:ext>
            </a:extLst>
          </p:cNvPr>
          <p:cNvSpPr>
            <a:spLocks noGrp="1"/>
          </p:cNvSpPr>
          <p:nvPr/>
        </p:nvSpPr>
        <p:spPr>
          <a:xfrm>
            <a:off x="1028700" y="4857750"/>
            <a:ext cx="44958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20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R amplía el prefijo; no añade por sí mismo intención del usuario.</a:t>
            </a:r>
          </a:p>
        </p:txBody>
      </p:sp>
      <p:sp>
        <p:nvSpPr>
          <p:cNvPr id="27" name="Rectángulo: esquinas redondeadas 26">
            <a:extLst>
              <a:ext uri="{FF2B5EF4-FFF2-40B4-BE49-F238E27FC236}">
                <a16:creationId xmlns:a16="http://schemas.microsoft.com/office/drawing/2014/main" id="{00DF5A66-E9BD-453F-BCF4-8CFE70C3CF64}"/>
              </a:ext>
            </a:extLst>
          </p:cNvPr>
          <p:cNvSpPr>
            <a:spLocks noGrp="1"/>
          </p:cNvSpPr>
          <p:nvPr/>
        </p:nvSpPr>
        <p:spPr>
          <a:xfrm>
            <a:off x="6191250" y="1733550"/>
            <a:ext cx="5314950" cy="3714750"/>
          </a:xfrm>
          <a:prstGeom prst="roundRect">
            <a:avLst>
              <a:gd name="adj" fmla="val 4103"/>
            </a:avLst>
          </a:prstGeom>
          <a:solidFill>
            <a:srgbClr val="FFF0F3"/>
          </a:solidFill>
          <a:ln w="11430">
            <a:solidFill>
              <a:srgbClr val="FF647C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8" name="Rectángulo: esquinas redondeadas 27">
            <a:extLst>
              <a:ext uri="{FF2B5EF4-FFF2-40B4-BE49-F238E27FC236}">
                <a16:creationId xmlns:a16="http://schemas.microsoft.com/office/drawing/2014/main" id="{D2E10F31-FCC0-4209-B0DF-00DF8A71A4ED}"/>
              </a:ext>
            </a:extLst>
          </p:cNvPr>
          <p:cNvSpPr>
            <a:spLocks noGrp="1"/>
          </p:cNvSpPr>
          <p:nvPr/>
        </p:nvSpPr>
        <p:spPr>
          <a:xfrm>
            <a:off x="6419850" y="1943100"/>
            <a:ext cx="1695450" cy="2857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F647C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9" name="Rectángulo 28">
            <a:extLst>
              <a:ext uri="{FF2B5EF4-FFF2-40B4-BE49-F238E27FC236}">
                <a16:creationId xmlns:a16="http://schemas.microsoft.com/office/drawing/2014/main" id="{22990C7B-E326-4DA3-904A-8020CC0A3C28}"/>
              </a:ext>
            </a:extLst>
          </p:cNvPr>
          <p:cNvSpPr>
            <a:spLocks noGrp="1"/>
          </p:cNvSpPr>
          <p:nvPr/>
        </p:nvSpPr>
        <p:spPr>
          <a:xfrm>
            <a:off x="6477000" y="1981200"/>
            <a:ext cx="15811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900" b="1">
                <a:solidFill>
                  <a:srgbClr val="FF647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647C"/>
                </a:solidFill>
                <a:latin typeface="Aptos"/>
                <a:ea typeface="Aptos"/>
                <a:cs typeface="Aptos"/>
              </a:rPr>
              <a:t>LO QUE NO GARANTIZA</a:t>
            </a:r>
          </a:p>
        </p:txBody>
      </p:sp>
      <p:sp>
        <p:nvSpPr>
          <p:cNvPr id="30" name="Rectángulo: esquinas redondeadas 29">
            <a:extLst>
              <a:ext uri="{FF2B5EF4-FFF2-40B4-BE49-F238E27FC236}">
                <a16:creationId xmlns:a16="http://schemas.microsoft.com/office/drawing/2014/main" id="{9328CC1D-164D-4426-A6F0-0BA2CF305A99}"/>
              </a:ext>
            </a:extLst>
          </p:cNvPr>
          <p:cNvSpPr>
            <a:spLocks noGrp="1"/>
          </p:cNvSpPr>
          <p:nvPr/>
        </p:nvSpPr>
        <p:spPr>
          <a:xfrm>
            <a:off x="6419850" y="2524125"/>
            <a:ext cx="4857750" cy="74295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9525">
            <a:solidFill>
              <a:srgbClr val="FFC4CE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pic>
        <p:nvPicPr>
          <p:cNvPr id="51" name="Imagen 50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6572250" y="2667816"/>
            <a:ext cx="4552950" cy="455568"/>
          </a:xfrm>
          <a:prstGeom prst="rect">
            <a:avLst/>
          </a:prstGeom>
        </p:spPr>
      </p:pic>
      <p:sp>
        <p:nvSpPr>
          <p:cNvPr id="32" name="Rectángulo 31">
            <a:extLst>
              <a:ext uri="{FF2B5EF4-FFF2-40B4-BE49-F238E27FC236}">
                <a16:creationId xmlns:a16="http://schemas.microsoft.com/office/drawing/2014/main" id="{8CE5CB15-1302-46E9-A00A-55FCCB56234E}"/>
              </a:ext>
            </a:extLst>
          </p:cNvPr>
          <p:cNvSpPr>
            <a:spLocks noGrp="1"/>
          </p:cNvSpPr>
          <p:nvPr/>
        </p:nvSpPr>
        <p:spPr>
          <a:xfrm>
            <a:off x="6515100" y="3562350"/>
            <a:ext cx="4667250" cy="1104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Esta es una identidad sobre variables aleatorias en promedio. No implica que un LLM concreto sea más exacto, esté mejor calibrado o razone fielmente.</a:t>
            </a:r>
          </a:p>
        </p:txBody>
      </p:sp>
      <p:sp>
        <p:nvSpPr>
          <p:cNvPr id="33" name="Rectángulo 32">
            <a:extLst>
              <a:ext uri="{FF2B5EF4-FFF2-40B4-BE49-F238E27FC236}">
                <a16:creationId xmlns:a16="http://schemas.microsoft.com/office/drawing/2014/main" id="{5A1F621C-6E68-44B3-BC38-EE79C67A8DEE}"/>
              </a:ext>
            </a:extLst>
          </p:cNvPr>
          <p:cNvSpPr>
            <a:spLocks noGrp="1"/>
          </p:cNvSpPr>
          <p:nvPr/>
        </p:nvSpPr>
        <p:spPr>
          <a:xfrm>
            <a:off x="6515100" y="4895850"/>
            <a:ext cx="46672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 fontScale="93973"/>
          </a:bodyPr>
          <a:lstStyle/>
          <a:p>
            <a:pPr algn="ctr">
              <a:lnSpc>
                <a:spcPct val="100000"/>
              </a:lnSpc>
              <a:buNone/>
              <a:defRPr sz="1275" b="1">
                <a:solidFill>
                  <a:srgbClr val="FF647C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F647C"/>
                </a:solidFill>
                <a:latin typeface="Aptos"/>
                <a:ea typeface="Aptos"/>
                <a:cs typeface="Aptos"/>
              </a:rPr>
              <a:t>Implicación derivada: CoT no sustituye una pregunta de aclaración.</a:t>
            </a:r>
          </a:p>
        </p:txBody>
      </p:sp>
      <p:sp>
        <p:nvSpPr>
          <p:cNvPr id="34" name="Rectángulo 33">
            <a:extLst>
              <a:ext uri="{FF2B5EF4-FFF2-40B4-BE49-F238E27FC236}">
                <a16:creationId xmlns:a16="http://schemas.microsoft.com/office/drawing/2014/main" id="{86FA8DC4-9F0C-4DE6-BCC9-6D53EA509884}"/>
              </a:ext>
            </a:extLst>
          </p:cNvPr>
          <p:cNvSpPr>
            <a:spLocks noGrp="1"/>
          </p:cNvSpPr>
          <p:nvPr/>
        </p:nvSpPr>
        <p:spPr>
          <a:xfrm>
            <a:off x="1428750" y="5829300"/>
            <a:ext cx="9334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350" b="1">
                <a:solidFill>
                  <a:srgbClr val="6C63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6C63FF"/>
                </a:solidFill>
                <a:latin typeface="Aptos"/>
                <a:ea typeface="Aptos"/>
                <a:cs typeface="Aptos"/>
              </a:rPr>
              <a:t>Separar resultado empírico, identidad matemática e implicación evita atribuir a CoT una garantía inexistente.</a:t>
            </a:r>
          </a:p>
        </p:txBody>
      </p:sp>
    </p:spTree>
    <p:extLst>
      <p:ext uri="{BB962C8B-B14F-4D97-AF65-F5344CB8AC3E}">
        <p14:creationId xmlns:p14="http://schemas.microsoft.com/office/powerpoint/2010/main" val="79245170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B8F8B7F-BB6F-4FE7-BB76-3718405C97C0}"/>
              </a:ext>
            </a:extLst>
          </p:cNvPr>
          <p:cNvSpPr>
            <a:spLocks noGrp="1"/>
          </p:cNvSpPr>
          <p:nvPr/>
        </p:nvSpPr>
        <p:spPr>
          <a:xfrm>
            <a:off x="685800" y="365760"/>
            <a:ext cx="5029200" cy="219456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1050" b="1">
                <a:solidFill>
                  <a:srgbClr val="6C63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6C63FF"/>
                </a:solidFill>
                <a:latin typeface="Aptos"/>
                <a:ea typeface="Aptos"/>
                <a:cs typeface="Aptos"/>
              </a:rPr>
              <a:t>14 / AMBIGÜEDAD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FEF003F-B28E-4415-9896-FDF769993DAA}"/>
              </a:ext>
            </a:extLst>
          </p:cNvPr>
          <p:cNvSpPr>
            <a:spLocks noGrp="1"/>
          </p:cNvSpPr>
          <p:nvPr/>
        </p:nvSpPr>
        <p:spPr>
          <a:xfrm>
            <a:off x="685800" y="694944"/>
            <a:ext cx="10835640" cy="109728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92000"/>
              </a:lnSpc>
              <a:buNone/>
              <a:defRPr sz="2625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625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La ambigüedad puede venir de tiempo, identidad, versión o alcance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4CBCA4B-3123-42C9-8B9F-0AE079A99E8C}"/>
              </a:ext>
            </a:extLst>
          </p:cNvPr>
          <p:cNvSpPr>
            <a:spLocks noGrp="1"/>
          </p:cNvSpPr>
          <p:nvPr/>
        </p:nvSpPr>
        <p:spPr>
          <a:xfrm>
            <a:off x="685800" y="1463040"/>
            <a:ext cx="10817352" cy="10972"/>
          </a:xfrm>
          <a:prstGeom prst="rect">
            <a:avLst/>
          </a:prstGeom>
          <a:solidFill>
            <a:srgbClr val="D9D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15145C5-D36C-4F85-8D29-4F569FD08560}"/>
              </a:ext>
            </a:extLst>
          </p:cNvPr>
          <p:cNvSpPr>
            <a:spLocks noGrp="1"/>
          </p:cNvSpPr>
          <p:nvPr/>
        </p:nvSpPr>
        <p:spPr>
          <a:xfrm>
            <a:off x="685800" y="6437376"/>
            <a:ext cx="9966960" cy="18288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750">
                <a:solidFill>
                  <a:srgbClr val="8792AA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8792AA"/>
                </a:solidFill>
                <a:latin typeface="Aptos"/>
                <a:ea typeface="Aptos"/>
                <a:cs typeface="Aptos"/>
              </a:rPr>
              <a:t>Su &amp; Cardie (2026, preprint) · taxonomía abreviada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A6219A7-08B7-4BBB-9C52-1511105F2D4F}"/>
              </a:ext>
            </a:extLst>
          </p:cNvPr>
          <p:cNvSpPr>
            <a:spLocks noGrp="1"/>
          </p:cNvSpPr>
          <p:nvPr/>
        </p:nvSpPr>
        <p:spPr>
          <a:xfrm>
            <a:off x="11045952" y="6419088"/>
            <a:ext cx="45720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buNone/>
              <a:defRPr sz="825" b="1">
                <a:solidFill>
                  <a:srgbClr val="7B879F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7B879F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  <p:sp>
        <p:nvSpPr>
          <p:cNvPr id="17" name="Rectángulo: esquinas redondeadas 16">
            <a:extLst>
              <a:ext uri="{FF2B5EF4-FFF2-40B4-BE49-F238E27FC236}">
                <a16:creationId xmlns:a16="http://schemas.microsoft.com/office/drawing/2014/main" id="{92ECCADB-F364-4EC4-8E66-2467E1B36E1D}"/>
              </a:ext>
            </a:extLst>
          </p:cNvPr>
          <p:cNvSpPr>
            <a:spLocks noGrp="1"/>
          </p:cNvSpPr>
          <p:nvPr/>
        </p:nvSpPr>
        <p:spPr>
          <a:xfrm>
            <a:off x="685800" y="1809750"/>
            <a:ext cx="5238750" cy="1466850"/>
          </a:xfrm>
          <a:prstGeom prst="roundRect">
            <a:avLst>
              <a:gd name="adj" fmla="val 10390"/>
            </a:avLst>
          </a:prstGeom>
          <a:solidFill>
            <a:srgbClr val="FFF0F3"/>
          </a:solidFill>
          <a:ln w="11430">
            <a:solidFill>
              <a:srgbClr val="FF647C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9341A444-19E9-4938-9A8D-92E52C03BD13}"/>
              </a:ext>
            </a:extLst>
          </p:cNvPr>
          <p:cNvSpPr>
            <a:spLocks noGrp="1"/>
          </p:cNvSpPr>
          <p:nvPr/>
        </p:nvSpPr>
        <p:spPr>
          <a:xfrm>
            <a:off x="914400" y="2000250"/>
            <a:ext cx="1524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125" b="1">
                <a:solidFill>
                  <a:srgbClr val="FF647C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F647C"/>
                </a:solidFill>
                <a:latin typeface="Aptos"/>
                <a:ea typeface="Aptos"/>
                <a:cs typeface="Aptos"/>
              </a:rPr>
              <a:t>TIEMPO</a:t>
            </a:r>
          </a:p>
        </p:txBody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EC9706F1-6842-4D03-A63C-6CA23B557DA1}"/>
              </a:ext>
            </a:extLst>
          </p:cNvPr>
          <p:cNvSpPr>
            <a:spLocks noGrp="1"/>
          </p:cNvSpPr>
          <p:nvPr/>
        </p:nvSpPr>
        <p:spPr>
          <a:xfrm>
            <a:off x="914400" y="2362200"/>
            <a:ext cx="47625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4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«¿Quién era el presidente?»</a:t>
            </a:r>
          </a:p>
          <a:p>
            <a:pPr algn="l">
              <a:lnSpc>
                <a:spcPct val="105000"/>
              </a:lnSpc>
              <a:buNone/>
              <a:defRPr sz="14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Falta el año.</a:t>
            </a:r>
          </a:p>
        </p:txBody>
      </p:sp>
      <p:sp>
        <p:nvSpPr>
          <p:cNvPr id="20" name="Rectángulo: esquinas redondeadas 19">
            <a:extLst>
              <a:ext uri="{FF2B5EF4-FFF2-40B4-BE49-F238E27FC236}">
                <a16:creationId xmlns:a16="http://schemas.microsoft.com/office/drawing/2014/main" id="{0FC860C7-1A28-43A6-BB4E-91061C89694F}"/>
              </a:ext>
            </a:extLst>
          </p:cNvPr>
          <p:cNvSpPr>
            <a:spLocks noGrp="1"/>
          </p:cNvSpPr>
          <p:nvPr/>
        </p:nvSpPr>
        <p:spPr>
          <a:xfrm>
            <a:off x="6267450" y="1809750"/>
            <a:ext cx="5238750" cy="1466850"/>
          </a:xfrm>
          <a:prstGeom prst="roundRect">
            <a:avLst>
              <a:gd name="adj" fmla="val 10390"/>
            </a:avLst>
          </a:prstGeom>
          <a:solidFill>
            <a:srgbClr val="EEECFF"/>
          </a:solidFill>
          <a:ln w="11430">
            <a:solidFill>
              <a:srgbClr val="6C63FF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1" name="Rectángulo 20">
            <a:extLst>
              <a:ext uri="{FF2B5EF4-FFF2-40B4-BE49-F238E27FC236}">
                <a16:creationId xmlns:a16="http://schemas.microsoft.com/office/drawing/2014/main" id="{1D1EC84C-36A0-4C75-9CA3-A30C237DA074}"/>
              </a:ext>
            </a:extLst>
          </p:cNvPr>
          <p:cNvSpPr>
            <a:spLocks noGrp="1"/>
          </p:cNvSpPr>
          <p:nvPr/>
        </p:nvSpPr>
        <p:spPr>
          <a:xfrm>
            <a:off x="6496050" y="2000250"/>
            <a:ext cx="1524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125" b="1">
                <a:solidFill>
                  <a:srgbClr val="6C63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6C63FF"/>
                </a:solidFill>
                <a:latin typeface="Aptos"/>
                <a:ea typeface="Aptos"/>
                <a:cs typeface="Aptos"/>
              </a:rPr>
              <a:t>IDENTIDAD</a:t>
            </a:r>
          </a:p>
        </p:txBody>
      </p:sp>
      <p:sp>
        <p:nvSpPr>
          <p:cNvPr id="22" name="Rectángulo 21">
            <a:extLst>
              <a:ext uri="{FF2B5EF4-FFF2-40B4-BE49-F238E27FC236}">
                <a16:creationId xmlns:a16="http://schemas.microsoft.com/office/drawing/2014/main" id="{D879C478-C8B7-4AB4-8172-0B3537F2DB85}"/>
              </a:ext>
            </a:extLst>
          </p:cNvPr>
          <p:cNvSpPr>
            <a:spLocks noGrp="1"/>
          </p:cNvSpPr>
          <p:nvPr/>
        </p:nvSpPr>
        <p:spPr>
          <a:xfrm>
            <a:off x="6496050" y="2362200"/>
            <a:ext cx="47625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4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«¿Quién es Ben Stone?»</a:t>
            </a:r>
          </a:p>
          <a:p>
            <a:pPr algn="l">
              <a:lnSpc>
                <a:spcPct val="105000"/>
              </a:lnSpc>
              <a:buNone/>
              <a:defRPr sz="14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Hay varias entidades.</a:t>
            </a:r>
          </a:p>
        </p:txBody>
      </p:sp>
      <p:sp>
        <p:nvSpPr>
          <p:cNvPr id="23" name="Rectángulo: esquinas redondeadas 22">
            <a:extLst>
              <a:ext uri="{FF2B5EF4-FFF2-40B4-BE49-F238E27FC236}">
                <a16:creationId xmlns:a16="http://schemas.microsoft.com/office/drawing/2014/main" id="{E3EDC48E-87B1-42AE-9BAC-DCD72DFECEE9}"/>
              </a:ext>
            </a:extLst>
          </p:cNvPr>
          <p:cNvSpPr>
            <a:spLocks noGrp="1"/>
          </p:cNvSpPr>
          <p:nvPr/>
        </p:nvSpPr>
        <p:spPr>
          <a:xfrm>
            <a:off x="685800" y="3562350"/>
            <a:ext cx="5238750" cy="1466850"/>
          </a:xfrm>
          <a:prstGeom prst="roundRect">
            <a:avLst>
              <a:gd name="adj" fmla="val 10390"/>
            </a:avLst>
          </a:prstGeom>
          <a:solidFill>
            <a:srgbClr val="E3F9F6"/>
          </a:solidFill>
          <a:ln w="11430">
            <a:solidFill>
              <a:srgbClr val="33D6C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4" name="Rectángulo 23">
            <a:extLst>
              <a:ext uri="{FF2B5EF4-FFF2-40B4-BE49-F238E27FC236}">
                <a16:creationId xmlns:a16="http://schemas.microsoft.com/office/drawing/2014/main" id="{278F53BD-B0D7-4F4D-985A-A1B1EBC905D6}"/>
              </a:ext>
            </a:extLst>
          </p:cNvPr>
          <p:cNvSpPr>
            <a:spLocks noGrp="1"/>
          </p:cNvSpPr>
          <p:nvPr/>
        </p:nvSpPr>
        <p:spPr>
          <a:xfrm>
            <a:off x="914400" y="3752850"/>
            <a:ext cx="1524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125" b="1">
                <a:solidFill>
                  <a:srgbClr val="33D6C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3D6C8"/>
                </a:solidFill>
                <a:latin typeface="Aptos"/>
                <a:ea typeface="Aptos"/>
                <a:cs typeface="Aptos"/>
              </a:rPr>
              <a:t>VERSIÓN</a:t>
            </a:r>
          </a:p>
        </p:txBody>
      </p:sp>
      <p:sp>
        <p:nvSpPr>
          <p:cNvPr id="25" name="Rectángulo 24">
            <a:extLst>
              <a:ext uri="{FF2B5EF4-FFF2-40B4-BE49-F238E27FC236}">
                <a16:creationId xmlns:a16="http://schemas.microsoft.com/office/drawing/2014/main" id="{D1A8F0B0-0C5A-4F1D-9C00-5D4D361936F8}"/>
              </a:ext>
            </a:extLst>
          </p:cNvPr>
          <p:cNvSpPr>
            <a:spLocks noGrp="1"/>
          </p:cNvSpPr>
          <p:nvPr/>
        </p:nvSpPr>
        <p:spPr>
          <a:xfrm>
            <a:off x="914400" y="4114800"/>
            <a:ext cx="47625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4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«¿Quién interpretó a Annie?»</a:t>
            </a:r>
          </a:p>
          <a:p>
            <a:pPr algn="l">
              <a:lnSpc>
                <a:spcPct val="105000"/>
              </a:lnSpc>
              <a:buNone/>
              <a:defRPr sz="14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Depende de la versión.</a:t>
            </a:r>
          </a:p>
        </p:txBody>
      </p:sp>
      <p:sp>
        <p:nvSpPr>
          <p:cNvPr id="26" name="Rectángulo: esquinas redondeadas 25">
            <a:extLst>
              <a:ext uri="{FF2B5EF4-FFF2-40B4-BE49-F238E27FC236}">
                <a16:creationId xmlns:a16="http://schemas.microsoft.com/office/drawing/2014/main" id="{907B33F7-1F7C-48A8-8837-2A09DDD6C369}"/>
              </a:ext>
            </a:extLst>
          </p:cNvPr>
          <p:cNvSpPr>
            <a:spLocks noGrp="1"/>
          </p:cNvSpPr>
          <p:nvPr/>
        </p:nvSpPr>
        <p:spPr>
          <a:xfrm>
            <a:off x="6267450" y="3562350"/>
            <a:ext cx="5238750" cy="1466850"/>
          </a:xfrm>
          <a:prstGeom prst="roundRect">
            <a:avLst>
              <a:gd name="adj" fmla="val 10390"/>
            </a:avLst>
          </a:prstGeom>
          <a:solidFill>
            <a:srgbClr val="FFF3E6"/>
          </a:solidFill>
          <a:ln w="11430">
            <a:solidFill>
              <a:srgbClr val="F5A14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7" name="Rectángulo 26">
            <a:extLst>
              <a:ext uri="{FF2B5EF4-FFF2-40B4-BE49-F238E27FC236}">
                <a16:creationId xmlns:a16="http://schemas.microsoft.com/office/drawing/2014/main" id="{E5F4425B-1567-494B-8D3B-16DD99A36682}"/>
              </a:ext>
            </a:extLst>
          </p:cNvPr>
          <p:cNvSpPr>
            <a:spLocks noGrp="1"/>
          </p:cNvSpPr>
          <p:nvPr/>
        </p:nvSpPr>
        <p:spPr>
          <a:xfrm>
            <a:off x="6496050" y="3752850"/>
            <a:ext cx="1524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125" b="1">
                <a:solidFill>
                  <a:srgbClr val="F5A1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5A14A"/>
                </a:solidFill>
                <a:latin typeface="Aptos"/>
                <a:ea typeface="Aptos"/>
                <a:cs typeface="Aptos"/>
              </a:rPr>
              <a:t>ALCANCE</a:t>
            </a:r>
          </a:p>
        </p:txBody>
      </p:sp>
      <p:sp>
        <p:nvSpPr>
          <p:cNvPr id="28" name="Rectángulo 27">
            <a:extLst>
              <a:ext uri="{FF2B5EF4-FFF2-40B4-BE49-F238E27FC236}">
                <a16:creationId xmlns:a16="http://schemas.microsoft.com/office/drawing/2014/main" id="{24214CE3-8DB2-44B2-AA32-A72F6D4CB968}"/>
              </a:ext>
            </a:extLst>
          </p:cNvPr>
          <p:cNvSpPr>
            <a:spLocks noGrp="1"/>
          </p:cNvSpPr>
          <p:nvPr/>
        </p:nvSpPr>
        <p:spPr>
          <a:xfrm>
            <a:off x="6496050" y="4114800"/>
            <a:ext cx="47625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4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«¿Dónde ocurrió la batalla?»</a:t>
            </a:r>
          </a:p>
          <a:p>
            <a:pPr algn="l">
              <a:lnSpc>
                <a:spcPct val="105000"/>
              </a:lnSpc>
              <a:buNone/>
              <a:defRPr sz="14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Falta granularidad.</a:t>
            </a:r>
          </a:p>
        </p:txBody>
      </p:sp>
      <p:sp>
        <p:nvSpPr>
          <p:cNvPr id="29" name="Rectángulo 28">
            <a:extLst>
              <a:ext uri="{FF2B5EF4-FFF2-40B4-BE49-F238E27FC236}">
                <a16:creationId xmlns:a16="http://schemas.microsoft.com/office/drawing/2014/main" id="{805E0D9C-E587-4F49-A5C3-BAFFF7C0F818}"/>
              </a:ext>
            </a:extLst>
          </p:cNvPr>
          <p:cNvSpPr>
            <a:spLocks noGrp="1"/>
          </p:cNvSpPr>
          <p:nvPr/>
        </p:nvSpPr>
        <p:spPr>
          <a:xfrm>
            <a:off x="1524000" y="5562600"/>
            <a:ext cx="91440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350" b="0">
                <a:solidFill>
                  <a:srgbClr val="6C63FF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C63FF"/>
                </a:solidFill>
                <a:latin typeface="Aptos"/>
                <a:ea typeface="Aptos"/>
                <a:cs typeface="Aptos"/>
              </a:rPr>
              <a:t>Taxonomía abreviada del preprint; también incluye ambigüedad semántica y de localidad.</a:t>
            </a:r>
          </a:p>
        </p:txBody>
      </p:sp>
    </p:spTree>
    <p:extLst>
      <p:ext uri="{BB962C8B-B14F-4D97-AF65-F5344CB8AC3E}">
        <p14:creationId xmlns:p14="http://schemas.microsoft.com/office/powerpoint/2010/main" val="56346645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0B1020"/>
            </a:gs>
            <a:gs pos="58000">
              <a:srgbClr val="151B33"/>
            </a:gs>
            <a:gs pos="100000">
              <a:srgbClr val="252A55"/>
            </a:gs>
          </a:gsLst>
          <a:lin ang="8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ángulo: esquinas redondeadas 8">
            <a:extLst>
              <a:ext uri="{FF2B5EF4-FFF2-40B4-BE49-F238E27FC236}">
                <a16:creationId xmlns:a16="http://schemas.microsoft.com/office/drawing/2014/main" id="{CC85EC37-6336-44E8-9CA6-FC4DBF98FB60}"/>
              </a:ext>
            </a:extLst>
          </p:cNvPr>
          <p:cNvSpPr>
            <a:spLocks noGrp="1"/>
          </p:cNvSpPr>
          <p:nvPr/>
        </p:nvSpPr>
        <p:spPr>
          <a:xfrm>
            <a:off x="685800" y="666750"/>
            <a:ext cx="1714500" cy="285750"/>
          </a:xfrm>
          <a:prstGeom prst="roundRect">
            <a:avLst>
              <a:gd name="adj" fmla="val 50000"/>
            </a:avLst>
          </a:prstGeom>
          <a:solidFill>
            <a:srgbClr val="FFB66E">
              <a:alpha val="22000"/>
            </a:srgbClr>
          </a:solidFill>
          <a:ln w="9525">
            <a:solidFill>
              <a:srgbClr val="FFB66E">
                <a:alpha val="45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298A59D1-4359-4BA7-BD91-455AB8753499}"/>
              </a:ext>
            </a:extLst>
          </p:cNvPr>
          <p:cNvSpPr>
            <a:spLocks noGrp="1"/>
          </p:cNvSpPr>
          <p:nvPr/>
        </p:nvSpPr>
        <p:spPr>
          <a:xfrm>
            <a:off x="800100" y="704850"/>
            <a:ext cx="14859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DD6C6"/>
                </a:solidFill>
                <a:latin typeface="Aptos"/>
                <a:ea typeface="Aptos"/>
                <a:cs typeface="Aptos"/>
              </a:rPr>
              <a:t>PARTE II · AMBIGÜEDAD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02C8F93B-CA81-4818-958A-B348F534460D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9906000" cy="1066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92684"/>
          </a:bodyPr>
          <a:lstStyle/>
          <a:p>
            <a:pPr algn="l">
              <a:lnSpc>
                <a:spcPct val="95000"/>
              </a:lnSpc>
              <a:buNone/>
              <a:defRPr sz="397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F7F8FC"/>
                </a:solidFill>
                <a:latin typeface="Aptos Display"/>
                <a:ea typeface="Aptos Display"/>
                <a:cs typeface="Aptos Display"/>
              </a:rPr>
              <a:t>La ambigüedad cambia el problema.</a:t>
            </a:r>
          </a:p>
        </p:txBody>
      </p:sp>
      <p:sp>
        <p:nvSpPr>
          <p:cNvPr id="4" name="Conector recto 3">
            <a:extLst>
              <a:ext uri="{FF2B5EF4-FFF2-40B4-BE49-F238E27FC236}">
                <a16:creationId xmlns:a16="http://schemas.microsoft.com/office/drawing/2014/main" id="{F0E80335-8C08-46AA-B85E-EB18F9E2871D}"/>
              </a:ext>
            </a:extLst>
          </p:cNvPr>
          <p:cNvSpPr>
            <a:spLocks noGrp="1"/>
          </p:cNvSpPr>
          <p:nvPr/>
        </p:nvSpPr>
        <p:spPr>
          <a:xfrm>
            <a:off x="685800" y="3238500"/>
            <a:ext cx="4648200" cy="0"/>
          </a:xfrm>
          <a:prstGeom prst="line">
            <a:avLst/>
          </a:prstGeom>
          <a:noFill/>
          <a:ln w="47625">
            <a:solidFill>
              <a:srgbClr val="45E0D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EED006E6-DFF8-4A7E-BB11-CE4790B6A061}"/>
              </a:ext>
            </a:extLst>
          </p:cNvPr>
          <p:cNvSpPr>
            <a:spLocks noGrp="1"/>
          </p:cNvSpPr>
          <p:nvPr/>
        </p:nvSpPr>
        <p:spPr>
          <a:xfrm>
            <a:off x="685800" y="3714750"/>
            <a:ext cx="9906000" cy="1104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2850" b="1" i="0">
                <a:solidFill>
                  <a:srgbClr val="45E0D0"/>
                </a:solidFill>
                <a:latin typeface="Aptos"/>
                <a:ea typeface="Aptos"/>
                <a:cs typeface="Aptos"/>
              </a:defRPr>
            </a:pPr>
            <a:r>
              <a:rPr sz="3000" b="1">
                <a:solidFill>
                  <a:srgbClr val="3DD6C6"/>
                </a:solidFill>
                <a:latin typeface="Aptos Display"/>
                <a:ea typeface="Aptos Display"/>
                <a:cs typeface="Aptos Display"/>
              </a:rPr>
              <a:t>X ya no determina una única intención Z.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74DEAA44-F439-475F-A8DA-2F576C0D6535}"/>
              </a:ext>
            </a:extLst>
          </p:cNvPr>
          <p:cNvSpPr>
            <a:spLocks noGrp="1"/>
          </p:cNvSpPr>
          <p:nvPr/>
        </p:nvSpPr>
        <p:spPr>
          <a:xfrm>
            <a:off x="685800" y="5334000"/>
            <a:ext cx="72390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2100" b="0" i="0">
                <a:solidFill>
                  <a:srgbClr val="C8CFE1"/>
                </a:solidFill>
                <a:latin typeface="Aptos"/>
                <a:ea typeface="Aptos"/>
                <a:cs typeface="Aptos"/>
              </a:defRPr>
            </a:pPr>
            <a:r>
              <a:rPr sz="2000">
                <a:solidFill>
                  <a:srgbClr val="C7CEDF"/>
                </a:solidFill>
                <a:latin typeface="Aptos"/>
                <a:ea typeface="Aptos"/>
                <a:cs typeface="Aptos"/>
              </a:rPr>
              <a:t>Recuperar mejor no basta: primero hay que desambiguar.</a:t>
            </a: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4ABDFCA0-725A-418C-A80A-20F8E5A0D0B2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95362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50" b="0" i="0">
                <a:solidFill>
                  <a:srgbClr val="AEB7CE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AAB3C8"/>
                </a:solidFill>
                <a:latin typeface="Aptos"/>
                <a:ea typeface="Aptos"/>
                <a:cs typeface="Aptos"/>
              </a:rPr>
              <a:t>Fuente: context.md — transición al modelamiento con intención latente</a:t>
            </a: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98F8234E-056D-4752-B174-BBDB58BF6C35}"/>
              </a:ext>
            </a:extLst>
          </p:cNvPr>
          <p:cNvSpPr>
            <a:spLocks noGrp="1"/>
          </p:cNvSpPr>
          <p:nvPr/>
        </p:nvSpPr>
        <p:spPr>
          <a:xfrm>
            <a:off x="11049000" y="6438900"/>
            <a:ext cx="4572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r">
              <a:lnSpc>
                <a:spcPct val="100000"/>
              </a:lnSpc>
              <a:buNone/>
              <a:defRPr sz="1125" b="1" i="0">
                <a:solidFill>
                  <a:srgbClr val="AEB7CE"/>
                </a:solidFill>
                <a:latin typeface="Aptos"/>
                <a:ea typeface="Aptos"/>
                <a:cs typeface="Aptos"/>
              </a:defRPr>
            </a:pPr>
            <a:r>
              <a:rPr sz="1100" b="1">
                <a:solidFill>
                  <a:srgbClr val="AAB3C8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11219291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ángulo 25">
            <a:extLst>
              <a:ext uri="{FF2B5EF4-FFF2-40B4-BE49-F238E27FC236}">
                <a16:creationId xmlns:a16="http://schemas.microsoft.com/office/drawing/2014/main" id="{55110B24-C458-4AE1-BE87-72712409BB40}"/>
              </a:ext>
            </a:extLst>
          </p:cNvPr>
          <p:cNvSpPr>
            <a:spLocks noGrp="1"/>
          </p:cNvSpPr>
          <p:nvPr/>
        </p:nvSpPr>
        <p:spPr>
          <a:xfrm>
            <a:off x="685800" y="361950"/>
            <a:ext cx="4095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050" b="1" i="0">
                <a:solidFill>
                  <a:srgbClr val="6C63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6C63FF"/>
                </a:solidFill>
                <a:latin typeface="Aptos"/>
                <a:ea typeface="Aptos"/>
                <a:cs typeface="Aptos"/>
              </a:rPr>
              <a:t>16 / INTENCIÓN LATENTE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88C4C526-2DE3-423C-87E9-8C6FB4CB1DD8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10820400" cy="1104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92000"/>
              </a:lnSpc>
              <a:buNone/>
              <a:defRPr sz="2925" b="1" i="0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925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La respuesta se vuelve una mezcla de interpretaciones</a:t>
            </a:r>
          </a:p>
        </p:txBody>
      </p:sp>
      <p:sp>
        <p:nvSpPr>
          <p:cNvPr id="21" name="Rectángulo 20">
            <a:extLst>
              <a:ext uri="{FF2B5EF4-FFF2-40B4-BE49-F238E27FC236}">
                <a16:creationId xmlns:a16="http://schemas.microsoft.com/office/drawing/2014/main" id="{F5084B5C-034C-47C3-88A2-282C608E9F91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95362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750" b="0" i="0">
                <a:solidFill>
                  <a:srgbClr val="8792AA"/>
                </a:solidFill>
                <a:latin typeface="Aptos"/>
                <a:ea typeface="Aptos"/>
                <a:cs typeface="Aptos"/>
              </a:defRPr>
            </a:pPr>
            <a:r>
              <a:rPr sz="750" b="0" i="0">
                <a:solidFill>
                  <a:srgbClr val="8792AA"/>
                </a:solidFill>
                <a:latin typeface="Aptos"/>
                <a:ea typeface="Aptos"/>
                <a:cs typeface="Aptos"/>
              </a:rPr>
              <a:t>Ley de probabilidad total · ejemplo ilustrativo</a:t>
            </a:r>
          </a:p>
        </p:txBody>
      </p:sp>
      <p:sp>
        <p:nvSpPr>
          <p:cNvPr id="22" name="Rectángulo 21">
            <a:extLst>
              <a:ext uri="{FF2B5EF4-FFF2-40B4-BE49-F238E27FC236}">
                <a16:creationId xmlns:a16="http://schemas.microsoft.com/office/drawing/2014/main" id="{65A24B61-E02A-4AB6-8C56-B6819F5F6309}"/>
              </a:ext>
            </a:extLst>
          </p:cNvPr>
          <p:cNvSpPr>
            <a:spLocks noGrp="1"/>
          </p:cNvSpPr>
          <p:nvPr/>
        </p:nvSpPr>
        <p:spPr>
          <a:xfrm>
            <a:off x="11049000" y="6438900"/>
            <a:ext cx="4572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r">
              <a:lnSpc>
                <a:spcPct val="100000"/>
              </a:lnSpc>
              <a:buNone/>
              <a:defRPr sz="825" b="1" i="0">
                <a:solidFill>
                  <a:srgbClr val="7B879F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7B879F"/>
                </a:solidFill>
                <a:latin typeface="Aptos"/>
                <a:ea typeface="Aptos"/>
                <a:cs typeface="Aptos"/>
              </a:rPr>
              <a:t>16</a:t>
            </a:r>
          </a:p>
        </p:txBody>
      </p:sp>
      <p:sp>
        <p:nvSpPr>
          <p:cNvPr id="27" name="Rectángulo: esquinas redondeadas 26">
            <a:extLst>
              <a:ext uri="{FF2B5EF4-FFF2-40B4-BE49-F238E27FC236}">
                <a16:creationId xmlns:a16="http://schemas.microsoft.com/office/drawing/2014/main" id="{67C12C39-F9D3-41CC-9748-DDC4285D6E75}"/>
              </a:ext>
            </a:extLst>
          </p:cNvPr>
          <p:cNvSpPr>
            <a:spLocks noGrp="1"/>
          </p:cNvSpPr>
          <p:nvPr/>
        </p:nvSpPr>
        <p:spPr>
          <a:xfrm>
            <a:off x="1381125" y="1819275"/>
            <a:ext cx="9429750" cy="819150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 w="9525">
            <a:solidFill>
              <a:srgbClr val="D7D2FF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pic>
        <p:nvPicPr>
          <p:cNvPr id="48" name="Imagen 47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2914505" y="1914525"/>
            <a:ext cx="6362990" cy="628650"/>
          </a:xfrm>
          <a:prstGeom prst="rect">
            <a:avLst/>
          </a:prstGeom>
        </p:spPr>
      </p:pic>
      <p:sp>
        <p:nvSpPr>
          <p:cNvPr id="29" name="Rectángulo 28">
            <a:extLst>
              <a:ext uri="{FF2B5EF4-FFF2-40B4-BE49-F238E27FC236}">
                <a16:creationId xmlns:a16="http://schemas.microsoft.com/office/drawing/2014/main" id="{4F5EC4F0-197B-40D6-9CE9-20B023BCF8A2}"/>
              </a:ext>
            </a:extLst>
          </p:cNvPr>
          <p:cNvSpPr>
            <a:spLocks noGrp="1"/>
          </p:cNvSpPr>
          <p:nvPr/>
        </p:nvSpPr>
        <p:spPr>
          <a:xfrm>
            <a:off x="685800" y="3086100"/>
            <a:ext cx="4286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 fontScale="96372"/>
          </a:bodyPr>
          <a:lstStyle/>
          <a:p>
            <a:pPr algn="l">
              <a:lnSpc>
                <a:spcPct val="100000"/>
              </a:lnSpc>
              <a:buNone/>
              <a:defRPr sz="15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Ejemplo ilustrativo: «¿Cómo funciona la memoria?»</a:t>
            </a:r>
          </a:p>
        </p:txBody>
      </p:sp>
      <p:sp>
        <p:nvSpPr>
          <p:cNvPr id="30" name="Rectángulo: esquinas redondeadas 29">
            <a:extLst>
              <a:ext uri="{FF2B5EF4-FFF2-40B4-BE49-F238E27FC236}">
                <a16:creationId xmlns:a16="http://schemas.microsoft.com/office/drawing/2014/main" id="{009B6641-6103-4DA2-8E2A-67300D1F2C09}"/>
              </a:ext>
            </a:extLst>
          </p:cNvPr>
          <p:cNvSpPr>
            <a:spLocks noGrp="1"/>
          </p:cNvSpPr>
          <p:nvPr/>
        </p:nvSpPr>
        <p:spPr>
          <a:xfrm>
            <a:off x="685800" y="3695700"/>
            <a:ext cx="2476500" cy="1200150"/>
          </a:xfrm>
          <a:prstGeom prst="roundRect">
            <a:avLst>
              <a:gd name="adj" fmla="val 12698"/>
            </a:avLst>
          </a:prstGeom>
          <a:solidFill>
            <a:srgbClr val="E3F9F6"/>
          </a:solidFill>
          <a:ln w="11430">
            <a:solidFill>
              <a:srgbClr val="33D6C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1" name="Rectángulo 30">
            <a:extLst>
              <a:ext uri="{FF2B5EF4-FFF2-40B4-BE49-F238E27FC236}">
                <a16:creationId xmlns:a16="http://schemas.microsoft.com/office/drawing/2014/main" id="{652DD314-A35C-40F4-86E9-663B87E27880}"/>
              </a:ext>
            </a:extLst>
          </p:cNvPr>
          <p:cNvSpPr>
            <a:spLocks noGrp="1"/>
          </p:cNvSpPr>
          <p:nvPr/>
        </p:nvSpPr>
        <p:spPr>
          <a:xfrm>
            <a:off x="857250" y="3886200"/>
            <a:ext cx="4191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350" b="1">
                <a:solidFill>
                  <a:srgbClr val="33D6C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33D6C8"/>
                </a:solidFill>
                <a:latin typeface="Aptos"/>
                <a:ea typeface="Aptos"/>
                <a:cs typeface="Aptos"/>
              </a:rPr>
              <a:t>Z₁</a:t>
            </a:r>
          </a:p>
        </p:txBody>
      </p:sp>
      <p:sp>
        <p:nvSpPr>
          <p:cNvPr id="32" name="Rectángulo 31">
            <a:extLst>
              <a:ext uri="{FF2B5EF4-FFF2-40B4-BE49-F238E27FC236}">
                <a16:creationId xmlns:a16="http://schemas.microsoft.com/office/drawing/2014/main" id="{068FBD4B-4DA8-4769-BFEE-2F574B70870C}"/>
              </a:ext>
            </a:extLst>
          </p:cNvPr>
          <p:cNvSpPr>
            <a:spLocks noGrp="1"/>
          </p:cNvSpPr>
          <p:nvPr/>
        </p:nvSpPr>
        <p:spPr>
          <a:xfrm>
            <a:off x="857250" y="4267200"/>
            <a:ext cx="21336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memoria conversacional</a:t>
            </a:r>
          </a:p>
        </p:txBody>
      </p:sp>
      <p:sp>
        <p:nvSpPr>
          <p:cNvPr id="33" name="Rectángulo: esquinas redondeadas 32">
            <a:extLst>
              <a:ext uri="{FF2B5EF4-FFF2-40B4-BE49-F238E27FC236}">
                <a16:creationId xmlns:a16="http://schemas.microsoft.com/office/drawing/2014/main" id="{0A6BF008-0D92-41D4-94F7-1B7E032BEA5D}"/>
              </a:ext>
            </a:extLst>
          </p:cNvPr>
          <p:cNvSpPr>
            <a:spLocks noGrp="1"/>
          </p:cNvSpPr>
          <p:nvPr/>
        </p:nvSpPr>
        <p:spPr>
          <a:xfrm>
            <a:off x="3409950" y="3695700"/>
            <a:ext cx="2476500" cy="1200150"/>
          </a:xfrm>
          <a:prstGeom prst="roundRect">
            <a:avLst>
              <a:gd name="adj" fmla="val 12698"/>
            </a:avLst>
          </a:prstGeom>
          <a:solidFill>
            <a:srgbClr val="EEECFF"/>
          </a:solidFill>
          <a:ln w="11430">
            <a:solidFill>
              <a:srgbClr val="6C63FF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4" name="Rectángulo 33">
            <a:extLst>
              <a:ext uri="{FF2B5EF4-FFF2-40B4-BE49-F238E27FC236}">
                <a16:creationId xmlns:a16="http://schemas.microsoft.com/office/drawing/2014/main" id="{0DDB7D7D-13F9-41BD-8CEF-83F34927EC52}"/>
              </a:ext>
            </a:extLst>
          </p:cNvPr>
          <p:cNvSpPr>
            <a:spLocks noGrp="1"/>
          </p:cNvSpPr>
          <p:nvPr/>
        </p:nvSpPr>
        <p:spPr>
          <a:xfrm>
            <a:off x="3581400" y="3886200"/>
            <a:ext cx="4191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350" b="1">
                <a:solidFill>
                  <a:srgbClr val="6C63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6C63FF"/>
                </a:solidFill>
                <a:latin typeface="Aptos"/>
                <a:ea typeface="Aptos"/>
                <a:cs typeface="Aptos"/>
              </a:rPr>
              <a:t>Z₂</a:t>
            </a:r>
          </a:p>
        </p:txBody>
      </p:sp>
      <p:sp>
        <p:nvSpPr>
          <p:cNvPr id="35" name="Rectángulo 34">
            <a:extLst>
              <a:ext uri="{FF2B5EF4-FFF2-40B4-BE49-F238E27FC236}">
                <a16:creationId xmlns:a16="http://schemas.microsoft.com/office/drawing/2014/main" id="{1FCFB946-0ADC-42DD-B776-A25FDCB0A55A}"/>
              </a:ext>
            </a:extLst>
          </p:cNvPr>
          <p:cNvSpPr>
            <a:spLocks noGrp="1"/>
          </p:cNvSpPr>
          <p:nvPr/>
        </p:nvSpPr>
        <p:spPr>
          <a:xfrm>
            <a:off x="3581400" y="4267200"/>
            <a:ext cx="21336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memoria persistente</a:t>
            </a:r>
          </a:p>
        </p:txBody>
      </p:sp>
      <p:sp>
        <p:nvSpPr>
          <p:cNvPr id="36" name="Rectángulo: esquinas redondeadas 35">
            <a:extLst>
              <a:ext uri="{FF2B5EF4-FFF2-40B4-BE49-F238E27FC236}">
                <a16:creationId xmlns:a16="http://schemas.microsoft.com/office/drawing/2014/main" id="{C8532532-3846-44B1-9C5A-9C3CDA4B7A26}"/>
              </a:ext>
            </a:extLst>
          </p:cNvPr>
          <p:cNvSpPr>
            <a:spLocks noGrp="1"/>
          </p:cNvSpPr>
          <p:nvPr/>
        </p:nvSpPr>
        <p:spPr>
          <a:xfrm>
            <a:off x="6134100" y="3695700"/>
            <a:ext cx="2476500" cy="1200150"/>
          </a:xfrm>
          <a:prstGeom prst="roundRect">
            <a:avLst>
              <a:gd name="adj" fmla="val 12698"/>
            </a:avLst>
          </a:prstGeom>
          <a:solidFill>
            <a:srgbClr val="FFF3E6"/>
          </a:solidFill>
          <a:ln w="11430">
            <a:solidFill>
              <a:srgbClr val="F5A14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7" name="Rectángulo 36">
            <a:extLst>
              <a:ext uri="{FF2B5EF4-FFF2-40B4-BE49-F238E27FC236}">
                <a16:creationId xmlns:a16="http://schemas.microsoft.com/office/drawing/2014/main" id="{B0521AE7-A461-4337-BDAA-E5A711F0378C}"/>
              </a:ext>
            </a:extLst>
          </p:cNvPr>
          <p:cNvSpPr>
            <a:spLocks noGrp="1"/>
          </p:cNvSpPr>
          <p:nvPr/>
        </p:nvSpPr>
        <p:spPr>
          <a:xfrm>
            <a:off x="6305550" y="3886200"/>
            <a:ext cx="4191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350" b="1">
                <a:solidFill>
                  <a:srgbClr val="F5A14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5A14A"/>
                </a:solidFill>
                <a:latin typeface="Aptos"/>
                <a:ea typeface="Aptos"/>
                <a:cs typeface="Aptos"/>
              </a:rPr>
              <a:t>Z₃</a:t>
            </a:r>
          </a:p>
        </p:txBody>
      </p:sp>
      <p:sp>
        <p:nvSpPr>
          <p:cNvPr id="38" name="Rectángulo 37">
            <a:extLst>
              <a:ext uri="{FF2B5EF4-FFF2-40B4-BE49-F238E27FC236}">
                <a16:creationId xmlns:a16="http://schemas.microsoft.com/office/drawing/2014/main" id="{1882AE42-1E20-4A1E-8EE2-3716C7FA3B6E}"/>
              </a:ext>
            </a:extLst>
          </p:cNvPr>
          <p:cNvSpPr>
            <a:spLocks noGrp="1"/>
          </p:cNvSpPr>
          <p:nvPr/>
        </p:nvSpPr>
        <p:spPr>
          <a:xfrm>
            <a:off x="6305550" y="4267200"/>
            <a:ext cx="21336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ventana de contexto</a:t>
            </a:r>
          </a:p>
        </p:txBody>
      </p:sp>
      <p:sp>
        <p:nvSpPr>
          <p:cNvPr id="39" name="Rectángulo: esquinas redondeadas 38">
            <a:extLst>
              <a:ext uri="{FF2B5EF4-FFF2-40B4-BE49-F238E27FC236}">
                <a16:creationId xmlns:a16="http://schemas.microsoft.com/office/drawing/2014/main" id="{9E4E9C94-7059-4AE7-8963-B88558BC07DA}"/>
              </a:ext>
            </a:extLst>
          </p:cNvPr>
          <p:cNvSpPr>
            <a:spLocks noGrp="1"/>
          </p:cNvSpPr>
          <p:nvPr/>
        </p:nvSpPr>
        <p:spPr>
          <a:xfrm>
            <a:off x="8858250" y="3695700"/>
            <a:ext cx="2476500" cy="1200150"/>
          </a:xfrm>
          <a:prstGeom prst="roundRect">
            <a:avLst>
              <a:gd name="adj" fmla="val 12698"/>
            </a:avLst>
          </a:prstGeom>
          <a:solidFill>
            <a:srgbClr val="FFF0F3"/>
          </a:solidFill>
          <a:ln w="11430">
            <a:solidFill>
              <a:srgbClr val="FF647C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0" name="Rectángulo 39">
            <a:extLst>
              <a:ext uri="{FF2B5EF4-FFF2-40B4-BE49-F238E27FC236}">
                <a16:creationId xmlns:a16="http://schemas.microsoft.com/office/drawing/2014/main" id="{7C3FED74-8829-4263-B5A6-6C4FD9260924}"/>
              </a:ext>
            </a:extLst>
          </p:cNvPr>
          <p:cNvSpPr>
            <a:spLocks noGrp="1"/>
          </p:cNvSpPr>
          <p:nvPr/>
        </p:nvSpPr>
        <p:spPr>
          <a:xfrm>
            <a:off x="9029700" y="3886200"/>
            <a:ext cx="4191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350" b="1">
                <a:solidFill>
                  <a:srgbClr val="FF647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F647C"/>
                </a:solidFill>
                <a:latin typeface="Aptos"/>
                <a:ea typeface="Aptos"/>
                <a:cs typeface="Aptos"/>
              </a:rPr>
              <a:t>Z₄</a:t>
            </a:r>
          </a:p>
        </p:txBody>
      </p:sp>
      <p:sp>
        <p:nvSpPr>
          <p:cNvPr id="41" name="Rectángulo 40">
            <a:extLst>
              <a:ext uri="{FF2B5EF4-FFF2-40B4-BE49-F238E27FC236}">
                <a16:creationId xmlns:a16="http://schemas.microsoft.com/office/drawing/2014/main" id="{A5CC9FA0-B272-4A4C-A265-66936F52E397}"/>
              </a:ext>
            </a:extLst>
          </p:cNvPr>
          <p:cNvSpPr>
            <a:spLocks noGrp="1"/>
          </p:cNvSpPr>
          <p:nvPr/>
        </p:nvSpPr>
        <p:spPr>
          <a:xfrm>
            <a:off x="9029700" y="4267200"/>
            <a:ext cx="21336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framework específico</a:t>
            </a:r>
          </a:p>
        </p:txBody>
      </p:sp>
      <p:sp>
        <p:nvSpPr>
          <p:cNvPr id="42" name="Rectángulo 41">
            <a:extLst>
              <a:ext uri="{FF2B5EF4-FFF2-40B4-BE49-F238E27FC236}">
                <a16:creationId xmlns:a16="http://schemas.microsoft.com/office/drawing/2014/main" id="{9D062CD1-DC4B-4A0B-9756-F44C78010291}"/>
              </a:ext>
            </a:extLst>
          </p:cNvPr>
          <p:cNvSpPr>
            <a:spLocks noGrp="1"/>
          </p:cNvSpPr>
          <p:nvPr/>
        </p:nvSpPr>
        <p:spPr>
          <a:xfrm>
            <a:off x="1524000" y="5429250"/>
            <a:ext cx="9144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350" b="1">
                <a:solidFill>
                  <a:srgbClr val="6C63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6C63FF"/>
                </a:solidFill>
                <a:latin typeface="Aptos"/>
                <a:ea typeface="Aptos"/>
                <a:cs typeface="Aptos"/>
              </a:rPr>
              <a:t>Los pesos p(Z=z|X,C) son probabilidades a estimar; no porcentajes inventados para la lámina.</a:t>
            </a:r>
          </a:p>
        </p:txBody>
      </p:sp>
    </p:spTree>
    <p:extLst>
      <p:ext uri="{BB962C8B-B14F-4D97-AF65-F5344CB8AC3E}">
        <p14:creationId xmlns:p14="http://schemas.microsoft.com/office/powerpoint/2010/main" val="208435614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0B1020"/>
            </a:gs>
            <a:gs pos="58000">
              <a:srgbClr val="151B33"/>
            </a:gs>
            <a:gs pos="100000">
              <a:srgbClr val="252A55"/>
            </a:gs>
          </a:gsLst>
          <a:lin ang="8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ángulo 25">
            <a:extLst>
              <a:ext uri="{FF2B5EF4-FFF2-40B4-BE49-F238E27FC236}">
                <a16:creationId xmlns:a16="http://schemas.microsoft.com/office/drawing/2014/main" id="{F2E878A9-3EB1-4521-8032-104C2C7E2432}"/>
              </a:ext>
            </a:extLst>
          </p:cNvPr>
          <p:cNvSpPr>
            <a:spLocks noGrp="1"/>
          </p:cNvSpPr>
          <p:nvPr/>
        </p:nvSpPr>
        <p:spPr>
          <a:xfrm>
            <a:off x="685800" y="361950"/>
            <a:ext cx="4095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050" b="1" i="0">
                <a:solidFill>
                  <a:srgbClr val="33D6C8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33D6C8"/>
                </a:solidFill>
                <a:latin typeface="Aptos"/>
                <a:ea typeface="Aptos"/>
                <a:cs typeface="Aptos"/>
              </a:rPr>
              <a:t>17 / DESCOMPOSICIÓN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169051C5-616D-4B0B-AFCC-CCA41ECC8F3C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108204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92000"/>
              </a:lnSpc>
              <a:buNone/>
              <a:defRPr sz="2925" b="1" i="0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9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La incertidumbre separa intención y respuesta</a:t>
            </a:r>
          </a:p>
        </p:txBody>
      </p:sp>
      <p:sp>
        <p:nvSpPr>
          <p:cNvPr id="3" name="Conector recto 2">
            <a:extLst>
              <a:ext uri="{FF2B5EF4-FFF2-40B4-BE49-F238E27FC236}">
                <a16:creationId xmlns:a16="http://schemas.microsoft.com/office/drawing/2014/main" id="{4CE4CE31-5AC3-4EB8-80CF-FC07ED4CA47B}"/>
              </a:ext>
            </a:extLst>
          </p:cNvPr>
          <p:cNvSpPr>
            <a:spLocks noGrp="1"/>
          </p:cNvSpPr>
          <p:nvPr/>
        </p:nvSpPr>
        <p:spPr>
          <a:xfrm>
            <a:off x="685800" y="1485900"/>
            <a:ext cx="10820400" cy="0"/>
          </a:xfrm>
          <a:prstGeom prst="line">
            <a:avLst/>
          </a:prstGeom>
          <a:noFill/>
          <a:ln w="9525">
            <a:solidFill>
              <a:srgbClr val="FFFFFF">
                <a:alpha val="18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Rectángulo 19">
            <a:extLst>
              <a:ext uri="{FF2B5EF4-FFF2-40B4-BE49-F238E27FC236}">
                <a16:creationId xmlns:a16="http://schemas.microsoft.com/office/drawing/2014/main" id="{4C481A4F-C904-488D-92FF-8B8C8A574ABE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95362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750" b="0" i="0">
                <a:solidFill>
                  <a:srgbClr val="9AA6C4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9AA6C4"/>
                </a:solidFill>
                <a:latin typeface="Aptos"/>
                <a:ea typeface="Aptos"/>
                <a:cs typeface="Aptos"/>
              </a:rPr>
              <a:t>Regla de la cadena de entropía · derivación</a:t>
            </a:r>
          </a:p>
        </p:txBody>
      </p:sp>
      <p:sp>
        <p:nvSpPr>
          <p:cNvPr id="21" name="Rectángulo 20">
            <a:extLst>
              <a:ext uri="{FF2B5EF4-FFF2-40B4-BE49-F238E27FC236}">
                <a16:creationId xmlns:a16="http://schemas.microsoft.com/office/drawing/2014/main" id="{7C6FB55B-BB09-4B04-946A-A497233B7E9E}"/>
              </a:ext>
            </a:extLst>
          </p:cNvPr>
          <p:cNvSpPr>
            <a:spLocks noGrp="1"/>
          </p:cNvSpPr>
          <p:nvPr/>
        </p:nvSpPr>
        <p:spPr>
          <a:xfrm>
            <a:off x="11049000" y="6438900"/>
            <a:ext cx="4572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r">
              <a:lnSpc>
                <a:spcPct val="100000"/>
              </a:lnSpc>
              <a:buNone/>
              <a:defRPr sz="825" b="1" i="0">
                <a:solidFill>
                  <a:srgbClr val="C9D1E6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C9D1E6"/>
                </a:solidFill>
                <a:latin typeface="Aptos"/>
                <a:ea typeface="Aptos"/>
                <a:cs typeface="Aptos"/>
              </a:rPr>
              <a:t>17</a:t>
            </a:r>
          </a:p>
        </p:txBody>
      </p:sp>
      <p:sp>
        <p:nvSpPr>
          <p:cNvPr id="27" name="Rectángulo: esquinas redondeadas 26">
            <a:extLst>
              <a:ext uri="{FF2B5EF4-FFF2-40B4-BE49-F238E27FC236}">
                <a16:creationId xmlns:a16="http://schemas.microsoft.com/office/drawing/2014/main" id="{326D6ED9-A8E7-45F1-8F4B-3192113BE529}"/>
              </a:ext>
            </a:extLst>
          </p:cNvPr>
          <p:cNvSpPr>
            <a:spLocks noGrp="1"/>
          </p:cNvSpPr>
          <p:nvPr/>
        </p:nvSpPr>
        <p:spPr>
          <a:xfrm>
            <a:off x="1428750" y="1971675"/>
            <a:ext cx="9334500" cy="914400"/>
          </a:xfrm>
          <a:prstGeom prst="roundRect">
            <a:avLst>
              <a:gd name="adj" fmla="val 12500"/>
            </a:avLst>
          </a:prstGeom>
          <a:solidFill>
            <a:srgbClr val="171E37"/>
          </a:solidFill>
          <a:ln w="9525">
            <a:solidFill>
              <a:srgbClr val="36405F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pic>
        <p:nvPicPr>
          <p:cNvPr id="42" name="Imagen 41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581150" y="2144769"/>
            <a:ext cx="9029700" cy="568212"/>
          </a:xfrm>
          <a:prstGeom prst="rect">
            <a:avLst/>
          </a:prstGeom>
        </p:spPr>
      </p:pic>
      <p:sp>
        <p:nvSpPr>
          <p:cNvPr id="29" name="Rectángulo: esquinas redondeadas 28">
            <a:extLst>
              <a:ext uri="{FF2B5EF4-FFF2-40B4-BE49-F238E27FC236}">
                <a16:creationId xmlns:a16="http://schemas.microsoft.com/office/drawing/2014/main" id="{4DED4ABA-2496-40C2-87B2-E43DF06ADDB9}"/>
              </a:ext>
            </a:extLst>
          </p:cNvPr>
          <p:cNvSpPr>
            <a:spLocks noGrp="1"/>
          </p:cNvSpPr>
          <p:nvPr/>
        </p:nvSpPr>
        <p:spPr>
          <a:xfrm>
            <a:off x="952500" y="3429000"/>
            <a:ext cx="4762500" cy="1809750"/>
          </a:xfrm>
          <a:prstGeom prst="roundRect">
            <a:avLst>
              <a:gd name="adj" fmla="val 8421"/>
            </a:avLst>
          </a:prstGeom>
          <a:solidFill>
            <a:srgbClr val="202846"/>
          </a:solidFill>
          <a:ln w="12383">
            <a:solidFill>
              <a:srgbClr val="33D6C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0" name="Rectángulo 29">
            <a:extLst>
              <a:ext uri="{FF2B5EF4-FFF2-40B4-BE49-F238E27FC236}">
                <a16:creationId xmlns:a16="http://schemas.microsoft.com/office/drawing/2014/main" id="{49237BAF-F88F-4044-B449-0CB54C713B03}"/>
              </a:ext>
            </a:extLst>
          </p:cNvPr>
          <p:cNvSpPr>
            <a:spLocks noGrp="1"/>
          </p:cNvSpPr>
          <p:nvPr/>
        </p:nvSpPr>
        <p:spPr>
          <a:xfrm>
            <a:off x="1200150" y="3676650"/>
            <a:ext cx="42672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125" b="1">
                <a:solidFill>
                  <a:srgbClr val="33D6C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3D6C8"/>
                </a:solidFill>
                <a:latin typeface="Aptos"/>
                <a:ea typeface="Aptos"/>
                <a:cs typeface="Aptos"/>
              </a:rPr>
              <a:t>INCERTIDUMBRE DE INTENCIÓN</a:t>
            </a:r>
          </a:p>
        </p:txBody>
      </p:sp>
      <p:pic>
        <p:nvPicPr>
          <p:cNvPr id="45" name="Imagen 44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2189605" y="4191000"/>
            <a:ext cx="2288290" cy="552450"/>
          </a:xfrm>
          <a:prstGeom prst="rect">
            <a:avLst/>
          </a:prstGeom>
        </p:spPr>
      </p:pic>
      <p:sp>
        <p:nvSpPr>
          <p:cNvPr id="32" name="Rectángulo: esquinas redondeadas 31">
            <a:extLst>
              <a:ext uri="{FF2B5EF4-FFF2-40B4-BE49-F238E27FC236}">
                <a16:creationId xmlns:a16="http://schemas.microsoft.com/office/drawing/2014/main" id="{E07C86FE-63EB-4205-9BC3-881AC2BCD374}"/>
              </a:ext>
            </a:extLst>
          </p:cNvPr>
          <p:cNvSpPr>
            <a:spLocks noGrp="1"/>
          </p:cNvSpPr>
          <p:nvPr/>
        </p:nvSpPr>
        <p:spPr>
          <a:xfrm>
            <a:off x="6477000" y="3429000"/>
            <a:ext cx="4762500" cy="1809750"/>
          </a:xfrm>
          <a:prstGeom prst="roundRect">
            <a:avLst>
              <a:gd name="adj" fmla="val 8421"/>
            </a:avLst>
          </a:prstGeom>
          <a:solidFill>
            <a:srgbClr val="202846"/>
          </a:solidFill>
          <a:ln w="12383">
            <a:solidFill>
              <a:srgbClr val="6C63FF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3" name="Rectángulo 32">
            <a:extLst>
              <a:ext uri="{FF2B5EF4-FFF2-40B4-BE49-F238E27FC236}">
                <a16:creationId xmlns:a16="http://schemas.microsoft.com/office/drawing/2014/main" id="{C81F6B7F-EFB4-4AE5-AF04-930747F062B9}"/>
              </a:ext>
            </a:extLst>
          </p:cNvPr>
          <p:cNvSpPr>
            <a:spLocks noGrp="1"/>
          </p:cNvSpPr>
          <p:nvPr/>
        </p:nvSpPr>
        <p:spPr>
          <a:xfrm>
            <a:off x="6724650" y="3676650"/>
            <a:ext cx="42672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125" b="1">
                <a:solidFill>
                  <a:srgbClr val="6C63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6C63FF"/>
                </a:solidFill>
                <a:latin typeface="Aptos"/>
                <a:ea typeface="Aptos"/>
                <a:cs typeface="Aptos"/>
              </a:rPr>
              <a:t>INCERTIDUMBRE DE RESPUESTA DADA Z</a:t>
            </a:r>
          </a:p>
        </p:txBody>
      </p:sp>
      <p:pic>
        <p:nvPicPr>
          <p:cNvPr id="48" name="Imagen 47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7459012" y="4191000"/>
            <a:ext cx="2798476" cy="552450"/>
          </a:xfrm>
          <a:prstGeom prst="rect">
            <a:avLst/>
          </a:prstGeom>
        </p:spPr>
      </p:pic>
      <p:sp>
        <p:nvSpPr>
          <p:cNvPr id="35" name="Rectángulo 34">
            <a:extLst>
              <a:ext uri="{FF2B5EF4-FFF2-40B4-BE49-F238E27FC236}">
                <a16:creationId xmlns:a16="http://schemas.microsoft.com/office/drawing/2014/main" id="{D3AC1351-E62D-4F38-BA5A-4AB3689FEEE7}"/>
              </a:ext>
            </a:extLst>
          </p:cNvPr>
          <p:cNvSpPr>
            <a:spLocks noGrp="1"/>
          </p:cNvSpPr>
          <p:nvPr/>
        </p:nvSpPr>
        <p:spPr>
          <a:xfrm>
            <a:off x="1524000" y="5657850"/>
            <a:ext cx="9144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425" b="1">
                <a:solidFill>
                  <a:srgbClr val="33D6C8"/>
                </a:solidFill>
                <a:latin typeface="Aptos"/>
                <a:ea typeface="Aptos"/>
                <a:cs typeface="Aptos"/>
              </a:defRPr>
            </a:pPr>
            <a:r>
              <a:rPr sz="1425" b="1" dirty="0" err="1">
                <a:solidFill>
                  <a:srgbClr val="33D6C8"/>
                </a:solidFill>
                <a:latin typeface="Aptos"/>
                <a:ea typeface="Aptos"/>
                <a:cs typeface="Aptos"/>
              </a:rPr>
              <a:t>Derivación</a:t>
            </a:r>
            <a:r>
              <a:rPr sz="1425" b="1" dirty="0">
                <a:solidFill>
                  <a:srgbClr val="33D6C8"/>
                </a:solidFill>
                <a:latin typeface="Aptos"/>
                <a:ea typeface="Aptos"/>
                <a:cs typeface="Aptos"/>
              </a:rPr>
              <a:t>: </a:t>
            </a:r>
            <a:r>
              <a:rPr sz="1425" b="1" dirty="0" err="1">
                <a:solidFill>
                  <a:srgbClr val="33D6C8"/>
                </a:solidFill>
                <a:latin typeface="Aptos"/>
                <a:ea typeface="Aptos"/>
                <a:cs typeface="Aptos"/>
              </a:rPr>
              <a:t>mejorar</a:t>
            </a:r>
            <a:r>
              <a:rPr sz="1425" b="1" dirty="0">
                <a:solidFill>
                  <a:srgbClr val="33D6C8"/>
                </a:solidFill>
                <a:latin typeface="Aptos"/>
                <a:ea typeface="Aptos"/>
                <a:cs typeface="Aptos"/>
              </a:rPr>
              <a:t> el </a:t>
            </a:r>
            <a:r>
              <a:rPr sz="1425" b="1" dirty="0" err="1">
                <a:solidFill>
                  <a:srgbClr val="33D6C8"/>
                </a:solidFill>
                <a:latin typeface="Aptos"/>
                <a:ea typeface="Aptos"/>
                <a:cs typeface="Aptos"/>
              </a:rPr>
              <a:t>generador</a:t>
            </a:r>
            <a:r>
              <a:rPr sz="1425" b="1" dirty="0">
                <a:solidFill>
                  <a:srgbClr val="33D6C8"/>
                </a:solidFill>
                <a:latin typeface="Aptos"/>
                <a:ea typeface="Aptos"/>
                <a:cs typeface="Aptos"/>
              </a:rPr>
              <a:t> reduce el </a:t>
            </a:r>
            <a:r>
              <a:rPr sz="1425" b="1" dirty="0" err="1">
                <a:solidFill>
                  <a:srgbClr val="33D6C8"/>
                </a:solidFill>
                <a:latin typeface="Aptos"/>
                <a:ea typeface="Aptos"/>
                <a:cs typeface="Aptos"/>
              </a:rPr>
              <a:t>segundo</a:t>
            </a:r>
            <a:r>
              <a:rPr sz="1425" b="1" dirty="0">
                <a:solidFill>
                  <a:srgbClr val="33D6C8"/>
                </a:solidFill>
                <a:latin typeface="Aptos"/>
                <a:ea typeface="Aptos"/>
                <a:cs typeface="Aptos"/>
              </a:rPr>
              <a:t> </a:t>
            </a:r>
            <a:r>
              <a:rPr sz="1425" b="1" dirty="0" err="1">
                <a:solidFill>
                  <a:srgbClr val="33D6C8"/>
                </a:solidFill>
                <a:latin typeface="Aptos"/>
                <a:ea typeface="Aptos"/>
                <a:cs typeface="Aptos"/>
              </a:rPr>
              <a:t>término</a:t>
            </a:r>
            <a:r>
              <a:rPr sz="1425" b="1" dirty="0">
                <a:solidFill>
                  <a:srgbClr val="33D6C8"/>
                </a:solidFill>
                <a:latin typeface="Aptos"/>
                <a:ea typeface="Aptos"/>
                <a:cs typeface="Aptos"/>
              </a:rPr>
              <a:t>; </a:t>
            </a:r>
            <a:r>
              <a:rPr sz="1425" b="1" dirty="0" err="1">
                <a:solidFill>
                  <a:srgbClr val="33D6C8"/>
                </a:solidFill>
                <a:latin typeface="Aptos"/>
                <a:ea typeface="Aptos"/>
                <a:cs typeface="Aptos"/>
              </a:rPr>
              <a:t>aclarar</a:t>
            </a:r>
            <a:r>
              <a:rPr sz="1425" b="1" dirty="0">
                <a:solidFill>
                  <a:srgbClr val="33D6C8"/>
                </a:solidFill>
                <a:latin typeface="Aptos"/>
                <a:ea typeface="Aptos"/>
                <a:cs typeface="Aptos"/>
              </a:rPr>
              <a:t> </a:t>
            </a:r>
            <a:r>
              <a:rPr sz="1425" b="1" dirty="0" err="1">
                <a:solidFill>
                  <a:srgbClr val="33D6C8"/>
                </a:solidFill>
                <a:latin typeface="Aptos"/>
                <a:ea typeface="Aptos"/>
                <a:cs typeface="Aptos"/>
              </a:rPr>
              <a:t>apunta</a:t>
            </a:r>
            <a:r>
              <a:rPr sz="1425" b="1" dirty="0">
                <a:solidFill>
                  <a:srgbClr val="33D6C8"/>
                </a:solidFill>
                <a:latin typeface="Aptos"/>
                <a:ea typeface="Aptos"/>
                <a:cs typeface="Aptos"/>
              </a:rPr>
              <a:t> al primero.</a:t>
            </a:r>
          </a:p>
        </p:txBody>
      </p:sp>
    </p:spTree>
    <p:extLst>
      <p:ext uri="{BB962C8B-B14F-4D97-AF65-F5344CB8AC3E}">
        <p14:creationId xmlns:p14="http://schemas.microsoft.com/office/powerpoint/2010/main" val="170250604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ectángulo 33">
            <a:extLst>
              <a:ext uri="{FF2B5EF4-FFF2-40B4-BE49-F238E27FC236}">
                <a16:creationId xmlns:a16="http://schemas.microsoft.com/office/drawing/2014/main" id="{DC515855-C79D-401F-B722-E87D3CF3BC6B}"/>
              </a:ext>
            </a:extLst>
          </p:cNvPr>
          <p:cNvSpPr>
            <a:spLocks noGrp="1"/>
          </p:cNvSpPr>
          <p:nvPr/>
        </p:nvSpPr>
        <p:spPr>
          <a:xfrm>
            <a:off x="685800" y="361950"/>
            <a:ext cx="4095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050" b="1" i="0">
                <a:solidFill>
                  <a:srgbClr val="6C63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6C63FF"/>
                </a:solidFill>
                <a:latin typeface="Aptos"/>
                <a:ea typeface="Aptos"/>
                <a:cs typeface="Aptos"/>
              </a:rPr>
              <a:t>18 / RETRIEVAL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33CDA542-150B-4B55-93A8-AADBF6498784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108204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92000"/>
              </a:lnSpc>
              <a:buNone/>
              <a:defRPr sz="2700" b="1" i="0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Un retriever puede devolver evidencia para varias intenciones</a:t>
            </a:r>
          </a:p>
        </p:txBody>
      </p:sp>
      <p:sp>
        <p:nvSpPr>
          <p:cNvPr id="3" name="Conector recto 2">
            <a:extLst>
              <a:ext uri="{FF2B5EF4-FFF2-40B4-BE49-F238E27FC236}">
                <a16:creationId xmlns:a16="http://schemas.microsoft.com/office/drawing/2014/main" id="{4E74CD45-0533-43C2-AAC7-F6A603AE0BAB}"/>
              </a:ext>
            </a:extLst>
          </p:cNvPr>
          <p:cNvSpPr>
            <a:spLocks noGrp="1"/>
          </p:cNvSpPr>
          <p:nvPr/>
        </p:nvSpPr>
        <p:spPr>
          <a:xfrm>
            <a:off x="685800" y="1485900"/>
            <a:ext cx="10820400" cy="0"/>
          </a:xfrm>
          <a:prstGeom prst="line">
            <a:avLst/>
          </a:prstGeom>
          <a:noFill/>
          <a:ln w="9525">
            <a:solidFill>
              <a:srgbClr val="D9DD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Rectángulo 25">
            <a:extLst>
              <a:ext uri="{FF2B5EF4-FFF2-40B4-BE49-F238E27FC236}">
                <a16:creationId xmlns:a16="http://schemas.microsoft.com/office/drawing/2014/main" id="{95A80470-A3E2-4127-A214-FCED00CDBAAB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95362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750" b="0" i="0">
                <a:solidFill>
                  <a:srgbClr val="8792AA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8792AA"/>
                </a:solidFill>
                <a:latin typeface="Aptos"/>
                <a:ea typeface="Aptos"/>
                <a:cs typeface="Aptos"/>
              </a:rPr>
              <a:t>Lewis et al. (2020) · Zhang &amp; Choi (2025) · esquema conceptual</a:t>
            </a:r>
          </a:p>
        </p:txBody>
      </p:sp>
      <p:sp>
        <p:nvSpPr>
          <p:cNvPr id="27" name="Rectángulo 26">
            <a:extLst>
              <a:ext uri="{FF2B5EF4-FFF2-40B4-BE49-F238E27FC236}">
                <a16:creationId xmlns:a16="http://schemas.microsoft.com/office/drawing/2014/main" id="{1A803C1C-EE91-4AAE-A424-7B7D63546DF1}"/>
              </a:ext>
            </a:extLst>
          </p:cNvPr>
          <p:cNvSpPr>
            <a:spLocks noGrp="1"/>
          </p:cNvSpPr>
          <p:nvPr/>
        </p:nvSpPr>
        <p:spPr>
          <a:xfrm>
            <a:off x="11049000" y="6438900"/>
            <a:ext cx="4572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r">
              <a:lnSpc>
                <a:spcPct val="100000"/>
              </a:lnSpc>
              <a:buNone/>
              <a:defRPr sz="825" b="1" i="0">
                <a:solidFill>
                  <a:srgbClr val="7B879F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7B879F"/>
                </a:solidFill>
                <a:latin typeface="Aptos"/>
                <a:ea typeface="Aptos"/>
                <a:cs typeface="Aptos"/>
              </a:rPr>
              <a:t>18</a:t>
            </a:r>
          </a:p>
        </p:txBody>
      </p:sp>
      <p:sp>
        <p:nvSpPr>
          <p:cNvPr id="35" name="Flecha: a la derecha 34">
            <a:extLst>
              <a:ext uri="{FF2B5EF4-FFF2-40B4-BE49-F238E27FC236}">
                <a16:creationId xmlns:a16="http://schemas.microsoft.com/office/drawing/2014/main" id="{8A4E2685-AF3C-48E3-9FB0-533034FFCB07}"/>
              </a:ext>
            </a:extLst>
          </p:cNvPr>
          <p:cNvSpPr>
            <a:spLocks noGrp="1"/>
          </p:cNvSpPr>
          <p:nvPr/>
        </p:nvSpPr>
        <p:spPr>
          <a:xfrm>
            <a:off x="3486150" y="3476625"/>
            <a:ext cx="628650" cy="285750"/>
          </a:xfrm>
          <a:prstGeom prst="rightArrow">
            <a:avLst/>
          </a:prstGeom>
          <a:solidFill>
            <a:srgbClr val="8A96B2"/>
          </a:solidFill>
          <a:ln w="9525">
            <a:solidFill>
              <a:srgbClr val="8A96B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6" name="Flecha: a la derecha 35">
            <a:extLst>
              <a:ext uri="{FF2B5EF4-FFF2-40B4-BE49-F238E27FC236}">
                <a16:creationId xmlns:a16="http://schemas.microsoft.com/office/drawing/2014/main" id="{1ABF0D29-C853-4CCE-BAB9-59D9AF623EF0}"/>
              </a:ext>
            </a:extLst>
          </p:cNvPr>
          <p:cNvSpPr>
            <a:spLocks noGrp="1"/>
          </p:cNvSpPr>
          <p:nvPr/>
        </p:nvSpPr>
        <p:spPr>
          <a:xfrm>
            <a:off x="8077200" y="2857500"/>
            <a:ext cx="628650" cy="285750"/>
          </a:xfrm>
          <a:prstGeom prst="rightArrow">
            <a:avLst/>
          </a:prstGeom>
          <a:solidFill>
            <a:srgbClr val="33D6C8"/>
          </a:solidFill>
          <a:ln w="9525">
            <a:solidFill>
              <a:srgbClr val="33D6C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7" name="Flecha: a la derecha 36">
            <a:extLst>
              <a:ext uri="{FF2B5EF4-FFF2-40B4-BE49-F238E27FC236}">
                <a16:creationId xmlns:a16="http://schemas.microsoft.com/office/drawing/2014/main" id="{0D2F53F0-72C4-42ED-993A-DAF8C2785F1E}"/>
              </a:ext>
            </a:extLst>
          </p:cNvPr>
          <p:cNvSpPr>
            <a:spLocks noGrp="1"/>
          </p:cNvSpPr>
          <p:nvPr/>
        </p:nvSpPr>
        <p:spPr>
          <a:xfrm>
            <a:off x="8077200" y="4324350"/>
            <a:ext cx="628650" cy="285750"/>
          </a:xfrm>
          <a:prstGeom prst="rightArrow">
            <a:avLst/>
          </a:prstGeom>
          <a:solidFill>
            <a:srgbClr val="6C63FF"/>
          </a:solidFill>
          <a:ln w="9525">
            <a:solidFill>
              <a:srgbClr val="6C63FF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8" name="Rectángulo: esquinas redondeadas 37">
            <a:extLst>
              <a:ext uri="{FF2B5EF4-FFF2-40B4-BE49-F238E27FC236}">
                <a16:creationId xmlns:a16="http://schemas.microsoft.com/office/drawing/2014/main" id="{53C8DEB6-2911-464A-8AFB-8E6C99A76282}"/>
              </a:ext>
            </a:extLst>
          </p:cNvPr>
          <p:cNvSpPr>
            <a:spLocks noGrp="1"/>
          </p:cNvSpPr>
          <p:nvPr/>
        </p:nvSpPr>
        <p:spPr>
          <a:xfrm>
            <a:off x="685800" y="2762250"/>
            <a:ext cx="2800350" cy="16764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3335">
            <a:solidFill>
              <a:srgbClr val="F5A14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9" name="Rectángulo 38">
            <a:extLst>
              <a:ext uri="{FF2B5EF4-FFF2-40B4-BE49-F238E27FC236}">
                <a16:creationId xmlns:a16="http://schemas.microsoft.com/office/drawing/2014/main" id="{3A6FC695-38C7-4DE2-9C79-E809F9D91CDB}"/>
              </a:ext>
            </a:extLst>
          </p:cNvPr>
          <p:cNvSpPr>
            <a:spLocks noGrp="1"/>
          </p:cNvSpPr>
          <p:nvPr/>
        </p:nvSpPr>
        <p:spPr>
          <a:xfrm>
            <a:off x="914400" y="3000375"/>
            <a:ext cx="23431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125" b="1">
                <a:solidFill>
                  <a:srgbClr val="F5A1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5A14A"/>
                </a:solidFill>
                <a:latin typeface="Aptos"/>
                <a:ea typeface="Aptos"/>
                <a:cs typeface="Aptos"/>
              </a:rPr>
              <a:t>QUERY AMBIGUA</a:t>
            </a:r>
          </a:p>
        </p:txBody>
      </p:sp>
      <p:sp>
        <p:nvSpPr>
          <p:cNvPr id="40" name="Rectángulo 39">
            <a:extLst>
              <a:ext uri="{FF2B5EF4-FFF2-40B4-BE49-F238E27FC236}">
                <a16:creationId xmlns:a16="http://schemas.microsoft.com/office/drawing/2014/main" id="{49B22063-EEDB-4E6F-AA04-6163DEBB44E7}"/>
              </a:ext>
            </a:extLst>
          </p:cNvPr>
          <p:cNvSpPr>
            <a:spLocks noGrp="1"/>
          </p:cNvSpPr>
          <p:nvPr/>
        </p:nvSpPr>
        <p:spPr>
          <a:xfrm>
            <a:off x="914400" y="3419475"/>
            <a:ext cx="234315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7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«¿Cómo funciona</a:t>
            </a:r>
          </a:p>
          <a:p>
            <a:pPr algn="ctr">
              <a:lnSpc>
                <a:spcPct val="100000"/>
              </a:lnSpc>
              <a:buNone/>
              <a:defRPr sz="17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la memoria?»</a:t>
            </a:r>
          </a:p>
        </p:txBody>
      </p:sp>
      <p:sp>
        <p:nvSpPr>
          <p:cNvPr id="41" name="Rectángulo: esquinas redondeadas 40">
            <a:extLst>
              <a:ext uri="{FF2B5EF4-FFF2-40B4-BE49-F238E27FC236}">
                <a16:creationId xmlns:a16="http://schemas.microsoft.com/office/drawing/2014/main" id="{62DC1601-33A6-4910-BC3F-A6F034A020E8}"/>
              </a:ext>
            </a:extLst>
          </p:cNvPr>
          <p:cNvSpPr>
            <a:spLocks noGrp="1"/>
          </p:cNvSpPr>
          <p:nvPr/>
        </p:nvSpPr>
        <p:spPr>
          <a:xfrm>
            <a:off x="4114800" y="2714625"/>
            <a:ext cx="3962400" cy="1809750"/>
          </a:xfrm>
          <a:prstGeom prst="roundRect">
            <a:avLst>
              <a:gd name="adj" fmla="val 8421"/>
            </a:avLst>
          </a:prstGeom>
          <a:solidFill>
            <a:srgbClr val="EEECFF"/>
          </a:solidFill>
          <a:ln w="12383">
            <a:solidFill>
              <a:srgbClr val="6C63FF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2" name="Rectángulo 41">
            <a:extLst>
              <a:ext uri="{FF2B5EF4-FFF2-40B4-BE49-F238E27FC236}">
                <a16:creationId xmlns:a16="http://schemas.microsoft.com/office/drawing/2014/main" id="{BEB80C60-07DB-4D6B-9CC6-9016CCCF9037}"/>
              </a:ext>
            </a:extLst>
          </p:cNvPr>
          <p:cNvSpPr>
            <a:spLocks noGrp="1"/>
          </p:cNvSpPr>
          <p:nvPr/>
        </p:nvSpPr>
        <p:spPr>
          <a:xfrm>
            <a:off x="4362450" y="3000375"/>
            <a:ext cx="34671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125" b="1">
                <a:solidFill>
                  <a:srgbClr val="6C63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6C63FF"/>
                </a:solidFill>
                <a:latin typeface="Aptos"/>
                <a:ea typeface="Aptos"/>
                <a:cs typeface="Aptos"/>
              </a:rPr>
              <a:t>RETRIEVER</a:t>
            </a:r>
          </a:p>
        </p:txBody>
      </p:sp>
      <p:pic>
        <p:nvPicPr>
          <p:cNvPr id="62" name="Imagen 61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4514850" y="3590714"/>
            <a:ext cx="3162300" cy="343322"/>
          </a:xfrm>
          <a:prstGeom prst="rect">
            <a:avLst/>
          </a:prstGeom>
        </p:spPr>
      </p:pic>
      <p:sp>
        <p:nvSpPr>
          <p:cNvPr id="44" name="Rectángulo: esquinas redondeadas 43">
            <a:extLst>
              <a:ext uri="{FF2B5EF4-FFF2-40B4-BE49-F238E27FC236}">
                <a16:creationId xmlns:a16="http://schemas.microsoft.com/office/drawing/2014/main" id="{7928BE51-DA6C-4F4B-9D82-40F6F4CEEDFC}"/>
              </a:ext>
            </a:extLst>
          </p:cNvPr>
          <p:cNvSpPr>
            <a:spLocks noGrp="1"/>
          </p:cNvSpPr>
          <p:nvPr/>
        </p:nvSpPr>
        <p:spPr>
          <a:xfrm>
            <a:off x="8705850" y="2228850"/>
            <a:ext cx="2800350" cy="1276350"/>
          </a:xfrm>
          <a:prstGeom prst="roundRect">
            <a:avLst>
              <a:gd name="adj" fmla="val 11940"/>
            </a:avLst>
          </a:prstGeom>
          <a:solidFill>
            <a:srgbClr val="E3F9F6"/>
          </a:solidFill>
          <a:ln w="12383">
            <a:solidFill>
              <a:srgbClr val="33D6C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5" name="Rectángulo 44">
            <a:extLst>
              <a:ext uri="{FF2B5EF4-FFF2-40B4-BE49-F238E27FC236}">
                <a16:creationId xmlns:a16="http://schemas.microsoft.com/office/drawing/2014/main" id="{7CFA4DC8-95D5-4D89-BBA2-994670BDC3E0}"/>
              </a:ext>
            </a:extLst>
          </p:cNvPr>
          <p:cNvSpPr>
            <a:spLocks noGrp="1"/>
          </p:cNvSpPr>
          <p:nvPr/>
        </p:nvSpPr>
        <p:spPr>
          <a:xfrm>
            <a:off x="8915400" y="2676525"/>
            <a:ext cx="23812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500" b="1">
                <a:solidFill>
                  <a:srgbClr val="33D6C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33D6C8"/>
                </a:solidFill>
                <a:latin typeface="Aptos"/>
                <a:ea typeface="Aptos"/>
                <a:cs typeface="Aptos"/>
              </a:rPr>
              <a:t>memoria del agente</a:t>
            </a:r>
          </a:p>
        </p:txBody>
      </p:sp>
      <p:sp>
        <p:nvSpPr>
          <p:cNvPr id="46" name="Rectángulo: esquinas redondeadas 45">
            <a:extLst>
              <a:ext uri="{FF2B5EF4-FFF2-40B4-BE49-F238E27FC236}">
                <a16:creationId xmlns:a16="http://schemas.microsoft.com/office/drawing/2014/main" id="{D3F89492-68E7-4E7C-8254-BB47BCF51636}"/>
              </a:ext>
            </a:extLst>
          </p:cNvPr>
          <p:cNvSpPr>
            <a:spLocks noGrp="1"/>
          </p:cNvSpPr>
          <p:nvPr/>
        </p:nvSpPr>
        <p:spPr>
          <a:xfrm>
            <a:off x="8705850" y="4171950"/>
            <a:ext cx="2800350" cy="1276350"/>
          </a:xfrm>
          <a:prstGeom prst="roundRect">
            <a:avLst>
              <a:gd name="adj" fmla="val 11940"/>
            </a:avLst>
          </a:prstGeom>
          <a:solidFill>
            <a:srgbClr val="EEECFF"/>
          </a:solidFill>
          <a:ln w="12383">
            <a:solidFill>
              <a:srgbClr val="6C63FF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7" name="Rectángulo 46">
            <a:extLst>
              <a:ext uri="{FF2B5EF4-FFF2-40B4-BE49-F238E27FC236}">
                <a16:creationId xmlns:a16="http://schemas.microsoft.com/office/drawing/2014/main" id="{8EDB89EA-905A-458D-BDD1-D61FCE700907}"/>
              </a:ext>
            </a:extLst>
          </p:cNvPr>
          <p:cNvSpPr>
            <a:spLocks noGrp="1"/>
          </p:cNvSpPr>
          <p:nvPr/>
        </p:nvSpPr>
        <p:spPr>
          <a:xfrm>
            <a:off x="8915400" y="4619625"/>
            <a:ext cx="23812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500" b="1">
                <a:solidFill>
                  <a:srgbClr val="6C63F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6C63FF"/>
                </a:solidFill>
                <a:latin typeface="Aptos"/>
                <a:ea typeface="Aptos"/>
                <a:cs typeface="Aptos"/>
              </a:rPr>
              <a:t>memoria informática</a:t>
            </a:r>
          </a:p>
        </p:txBody>
      </p:sp>
      <p:sp>
        <p:nvSpPr>
          <p:cNvPr id="48" name="Rectángulo 47">
            <a:extLst>
              <a:ext uri="{FF2B5EF4-FFF2-40B4-BE49-F238E27FC236}">
                <a16:creationId xmlns:a16="http://schemas.microsoft.com/office/drawing/2014/main" id="{632D08C1-34A4-4A35-81DE-8BE932616A07}"/>
              </a:ext>
            </a:extLst>
          </p:cNvPr>
          <p:cNvSpPr>
            <a:spLocks noGrp="1"/>
          </p:cNvSpPr>
          <p:nvPr/>
        </p:nvSpPr>
        <p:spPr>
          <a:xfrm>
            <a:off x="1238250" y="5505450"/>
            <a:ext cx="97155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425" b="1">
                <a:solidFill>
                  <a:srgbClr val="6C63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6C63FF"/>
                </a:solidFill>
                <a:latin typeface="Aptos"/>
                <a:ea typeface="Aptos"/>
                <a:cs typeface="Aptos"/>
              </a:rPr>
              <a:t>La similitud puede recuperar evidencia válida para varias interpretaciones; no identifica por sí sola Z.</a:t>
            </a:r>
          </a:p>
        </p:txBody>
      </p:sp>
    </p:spTree>
    <p:extLst>
      <p:ext uri="{BB962C8B-B14F-4D97-AF65-F5344CB8AC3E}">
        <p14:creationId xmlns:p14="http://schemas.microsoft.com/office/powerpoint/2010/main" val="187712996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ángulo 21">
            <a:extLst>
              <a:ext uri="{FF2B5EF4-FFF2-40B4-BE49-F238E27FC236}">
                <a16:creationId xmlns:a16="http://schemas.microsoft.com/office/drawing/2014/main" id="{7F32BA90-800C-4185-A609-4269A45B39BE}"/>
              </a:ext>
            </a:extLst>
          </p:cNvPr>
          <p:cNvSpPr>
            <a:spLocks noGrp="1"/>
          </p:cNvSpPr>
          <p:nvPr/>
        </p:nvSpPr>
        <p:spPr>
          <a:xfrm>
            <a:off x="685800" y="361950"/>
            <a:ext cx="4095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050" b="1" i="0">
                <a:solidFill>
                  <a:srgbClr val="6C63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6C63FF"/>
                </a:solidFill>
                <a:latin typeface="Aptos"/>
                <a:ea typeface="Aptos"/>
                <a:cs typeface="Aptos"/>
              </a:rPr>
              <a:t>19 / RERANKING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8C500DB8-91DA-42CC-9AB7-704CF7E9B892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108204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92000"/>
              </a:lnSpc>
              <a:buNone/>
              <a:defRPr sz="2925" b="1" i="0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925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Un margen bajo no identifica la intención</a:t>
            </a:r>
          </a:p>
        </p:txBody>
      </p:sp>
      <p:sp>
        <p:nvSpPr>
          <p:cNvPr id="3" name="Conector recto 2">
            <a:extLst>
              <a:ext uri="{FF2B5EF4-FFF2-40B4-BE49-F238E27FC236}">
                <a16:creationId xmlns:a16="http://schemas.microsoft.com/office/drawing/2014/main" id="{828E8323-0842-4E55-B428-78F4A1C8E55D}"/>
              </a:ext>
            </a:extLst>
          </p:cNvPr>
          <p:cNvSpPr>
            <a:spLocks noGrp="1"/>
          </p:cNvSpPr>
          <p:nvPr/>
        </p:nvSpPr>
        <p:spPr>
          <a:xfrm>
            <a:off x="685800" y="1485900"/>
            <a:ext cx="10820400" cy="0"/>
          </a:xfrm>
          <a:prstGeom prst="line">
            <a:avLst/>
          </a:prstGeom>
          <a:noFill/>
          <a:ln w="9525">
            <a:solidFill>
              <a:srgbClr val="D9DD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51E6E318-467C-46AA-AE63-D3A53A27D646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95362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750" b="0" i="0">
                <a:solidFill>
                  <a:srgbClr val="8792AA"/>
                </a:solidFill>
                <a:latin typeface="Aptos"/>
                <a:ea typeface="Aptos"/>
                <a:cs typeface="Aptos"/>
              </a:defRPr>
            </a:pPr>
            <a:r>
              <a:rPr sz="750" b="0" i="0">
                <a:solidFill>
                  <a:srgbClr val="8792AA"/>
                </a:solidFill>
                <a:latin typeface="Aptos"/>
                <a:ea typeface="Aptos"/>
                <a:cs typeface="Aptos"/>
              </a:rPr>
              <a:t>Marginalización sobre Z · derivación simbólica</a:t>
            </a:r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2024C26C-CE7B-465C-A060-BE2A4D1FA94D}"/>
              </a:ext>
            </a:extLst>
          </p:cNvPr>
          <p:cNvSpPr>
            <a:spLocks noGrp="1"/>
          </p:cNvSpPr>
          <p:nvPr/>
        </p:nvSpPr>
        <p:spPr>
          <a:xfrm>
            <a:off x="11049000" y="6438900"/>
            <a:ext cx="4572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r">
              <a:lnSpc>
                <a:spcPct val="100000"/>
              </a:lnSpc>
              <a:buNone/>
              <a:defRPr sz="825" b="1" i="0">
                <a:solidFill>
                  <a:srgbClr val="7B879F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7B879F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  <p:pic>
        <p:nvPicPr>
          <p:cNvPr id="39" name="Imagen 38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2806700" y="1828800"/>
            <a:ext cx="6578600" cy="704850"/>
          </a:xfrm>
          <a:prstGeom prst="rect">
            <a:avLst/>
          </a:prstGeom>
        </p:spPr>
      </p:pic>
      <p:sp>
        <p:nvSpPr>
          <p:cNvPr id="24" name="Rectángulo: esquinas redondeadas 23">
            <a:extLst>
              <a:ext uri="{FF2B5EF4-FFF2-40B4-BE49-F238E27FC236}">
                <a16:creationId xmlns:a16="http://schemas.microsoft.com/office/drawing/2014/main" id="{4F7D960E-0FFD-44A4-B58C-E22B523BA9A7}"/>
              </a:ext>
            </a:extLst>
          </p:cNvPr>
          <p:cNvSpPr>
            <a:spLocks noGrp="1"/>
          </p:cNvSpPr>
          <p:nvPr/>
        </p:nvSpPr>
        <p:spPr>
          <a:xfrm>
            <a:off x="1000125" y="3048000"/>
            <a:ext cx="4381500" cy="1885950"/>
          </a:xfrm>
          <a:prstGeom prst="roundRect">
            <a:avLst>
              <a:gd name="adj" fmla="val 8081"/>
            </a:avLst>
          </a:prstGeom>
          <a:solidFill>
            <a:srgbClr val="E3F9F6"/>
          </a:solidFill>
          <a:ln w="13335">
            <a:solidFill>
              <a:srgbClr val="33D6C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5" name="Rectángulo 24">
            <a:extLst>
              <a:ext uri="{FF2B5EF4-FFF2-40B4-BE49-F238E27FC236}">
                <a16:creationId xmlns:a16="http://schemas.microsoft.com/office/drawing/2014/main" id="{F8099058-4321-443A-954C-0013F2AA131A}"/>
              </a:ext>
            </a:extLst>
          </p:cNvPr>
          <p:cNvSpPr>
            <a:spLocks noGrp="1"/>
          </p:cNvSpPr>
          <p:nvPr/>
        </p:nvSpPr>
        <p:spPr>
          <a:xfrm>
            <a:off x="1285875" y="3314700"/>
            <a:ext cx="952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 fontScale="93137"/>
          </a:bodyPr>
          <a:lstStyle/>
          <a:p>
            <a:pPr algn="l">
              <a:lnSpc>
                <a:spcPct val="100000"/>
              </a:lnSpc>
              <a:buNone/>
              <a:defRPr sz="2550" b="1">
                <a:solidFill>
                  <a:srgbClr val="33D6C8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33D6C8"/>
                </a:solidFill>
                <a:latin typeface="Aptos"/>
                <a:ea typeface="Aptos"/>
                <a:cs typeface="Aptos"/>
              </a:rPr>
              <a:t>C₁</a:t>
            </a:r>
          </a:p>
        </p:txBody>
      </p:sp>
      <p:sp>
        <p:nvSpPr>
          <p:cNvPr id="26" name="Rectángulo 25">
            <a:extLst>
              <a:ext uri="{FF2B5EF4-FFF2-40B4-BE49-F238E27FC236}">
                <a16:creationId xmlns:a16="http://schemas.microsoft.com/office/drawing/2014/main" id="{E1DFC1CF-A3BB-480C-A8A8-8FD8A8045C46}"/>
              </a:ext>
            </a:extLst>
          </p:cNvPr>
          <p:cNvSpPr>
            <a:spLocks noGrp="1"/>
          </p:cNvSpPr>
          <p:nvPr/>
        </p:nvSpPr>
        <p:spPr>
          <a:xfrm>
            <a:off x="1285875" y="3924300"/>
            <a:ext cx="3810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6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evidencia para Z₁</a:t>
            </a:r>
          </a:p>
        </p:txBody>
      </p:sp>
      <p:pic>
        <p:nvPicPr>
          <p:cNvPr id="43" name="Imagen 42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3057291" y="4419600"/>
            <a:ext cx="267167" cy="342900"/>
          </a:xfrm>
          <a:prstGeom prst="rect">
            <a:avLst/>
          </a:prstGeom>
        </p:spPr>
      </p:pic>
      <p:sp>
        <p:nvSpPr>
          <p:cNvPr id="28" name="Rectángulo: esquinas redondeadas 27">
            <a:extLst>
              <a:ext uri="{FF2B5EF4-FFF2-40B4-BE49-F238E27FC236}">
                <a16:creationId xmlns:a16="http://schemas.microsoft.com/office/drawing/2014/main" id="{BA44813A-E2E6-4069-A4D5-323CE1AD8CD8}"/>
              </a:ext>
            </a:extLst>
          </p:cNvPr>
          <p:cNvSpPr>
            <a:spLocks noGrp="1"/>
          </p:cNvSpPr>
          <p:nvPr/>
        </p:nvSpPr>
        <p:spPr>
          <a:xfrm>
            <a:off x="6810375" y="3048000"/>
            <a:ext cx="4381500" cy="1885950"/>
          </a:xfrm>
          <a:prstGeom prst="roundRect">
            <a:avLst>
              <a:gd name="adj" fmla="val 8081"/>
            </a:avLst>
          </a:prstGeom>
          <a:solidFill>
            <a:srgbClr val="EEECFF"/>
          </a:solidFill>
          <a:ln w="13335">
            <a:solidFill>
              <a:srgbClr val="6C63FF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9" name="Rectángulo 28">
            <a:extLst>
              <a:ext uri="{FF2B5EF4-FFF2-40B4-BE49-F238E27FC236}">
                <a16:creationId xmlns:a16="http://schemas.microsoft.com/office/drawing/2014/main" id="{9781E9AD-1327-4F83-874D-537AF1D9D654}"/>
              </a:ext>
            </a:extLst>
          </p:cNvPr>
          <p:cNvSpPr>
            <a:spLocks noGrp="1"/>
          </p:cNvSpPr>
          <p:nvPr/>
        </p:nvSpPr>
        <p:spPr>
          <a:xfrm>
            <a:off x="7096125" y="3314700"/>
            <a:ext cx="952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 fontScale="93137"/>
          </a:bodyPr>
          <a:lstStyle/>
          <a:p>
            <a:pPr algn="l">
              <a:lnSpc>
                <a:spcPct val="100000"/>
              </a:lnSpc>
              <a:buNone/>
              <a:defRPr sz="2550" b="1">
                <a:solidFill>
                  <a:srgbClr val="6C63F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6C63FF"/>
                </a:solidFill>
                <a:latin typeface="Aptos"/>
                <a:ea typeface="Aptos"/>
                <a:cs typeface="Aptos"/>
              </a:rPr>
              <a:t>C₂</a:t>
            </a:r>
          </a:p>
        </p:txBody>
      </p:sp>
      <p:sp>
        <p:nvSpPr>
          <p:cNvPr id="30" name="Rectángulo 29">
            <a:extLst>
              <a:ext uri="{FF2B5EF4-FFF2-40B4-BE49-F238E27FC236}">
                <a16:creationId xmlns:a16="http://schemas.microsoft.com/office/drawing/2014/main" id="{C1C56241-26C0-46B1-873A-FBE306B25657}"/>
              </a:ext>
            </a:extLst>
          </p:cNvPr>
          <p:cNvSpPr>
            <a:spLocks noGrp="1"/>
          </p:cNvSpPr>
          <p:nvPr/>
        </p:nvSpPr>
        <p:spPr>
          <a:xfrm>
            <a:off x="7096125" y="3924300"/>
            <a:ext cx="3810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6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evidencia para Z₂</a:t>
            </a:r>
          </a:p>
        </p:txBody>
      </p:sp>
      <p:pic>
        <p:nvPicPr>
          <p:cNvPr id="47" name="Imagen 46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8858075" y="4419600"/>
            <a:ext cx="286101" cy="342900"/>
          </a:xfrm>
          <a:prstGeom prst="rect">
            <a:avLst/>
          </a:prstGeom>
        </p:spPr>
      </p:pic>
      <p:pic>
        <p:nvPicPr>
          <p:cNvPr id="48" name="Imagen 47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5425257" y="5238750"/>
            <a:ext cx="1341485" cy="533400"/>
          </a:xfrm>
          <a:prstGeom prst="rect">
            <a:avLst/>
          </a:prstGeom>
        </p:spPr>
      </p:pic>
      <p:sp>
        <p:nvSpPr>
          <p:cNvPr id="33" name="Rectángulo 32">
            <a:extLst>
              <a:ext uri="{FF2B5EF4-FFF2-40B4-BE49-F238E27FC236}">
                <a16:creationId xmlns:a16="http://schemas.microsoft.com/office/drawing/2014/main" id="{87B31AEA-7817-476D-9424-62B9B8102F98}"/>
              </a:ext>
            </a:extLst>
          </p:cNvPr>
          <p:cNvSpPr>
            <a:spLocks noGrp="1"/>
          </p:cNvSpPr>
          <p:nvPr/>
        </p:nvSpPr>
        <p:spPr>
          <a:xfrm>
            <a:off x="2190750" y="5810250"/>
            <a:ext cx="7810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425" b="1">
                <a:solidFill>
                  <a:srgbClr val="6C63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6C63FF"/>
                </a:solidFill>
                <a:latin typeface="Aptos"/>
                <a:ea typeface="Aptos"/>
                <a:cs typeface="Aptos"/>
              </a:rPr>
              <a:t>Un margen bajo es una señal para estimar intención o preguntar.</a:t>
            </a:r>
          </a:p>
        </p:txBody>
      </p:sp>
    </p:spTree>
    <p:extLst>
      <p:ext uri="{BB962C8B-B14F-4D97-AF65-F5344CB8AC3E}">
        <p14:creationId xmlns:p14="http://schemas.microsoft.com/office/powerpoint/2010/main" val="13581542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0B1020"/>
            </a:gs>
            <a:gs pos="58000">
              <a:srgbClr val="151B33"/>
            </a:gs>
            <a:gs pos="100000">
              <a:srgbClr val="252A55"/>
            </a:gs>
          </a:gsLst>
          <a:lin ang="8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ángulo 20">
            <a:extLst>
              <a:ext uri="{FF2B5EF4-FFF2-40B4-BE49-F238E27FC236}">
                <a16:creationId xmlns:a16="http://schemas.microsoft.com/office/drawing/2014/main" id="{38CA4958-93D5-44DF-89CA-1A523F272B33}"/>
              </a:ext>
            </a:extLst>
          </p:cNvPr>
          <p:cNvSpPr>
            <a:spLocks noGrp="1"/>
          </p:cNvSpPr>
          <p:nvPr/>
        </p:nvSpPr>
        <p:spPr>
          <a:xfrm>
            <a:off x="685800" y="361950"/>
            <a:ext cx="4095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050" b="1" i="0">
                <a:solidFill>
                  <a:srgbClr val="33D6C8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33D6C8"/>
                </a:solidFill>
                <a:latin typeface="Aptos"/>
                <a:ea typeface="Aptos"/>
                <a:cs typeface="Aptos"/>
              </a:rPr>
              <a:t>20 / GENERACIÓN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DAAF0424-DF37-42A4-95D4-64B2E48E365D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108204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92000"/>
              </a:lnSpc>
              <a:buNone/>
              <a:defRPr sz="2850" b="1" i="0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Contexto correcto no equivale a intención correcta</a:t>
            </a:r>
          </a:p>
        </p:txBody>
      </p:sp>
      <p:sp>
        <p:nvSpPr>
          <p:cNvPr id="3" name="Conector recto 2">
            <a:extLst>
              <a:ext uri="{FF2B5EF4-FFF2-40B4-BE49-F238E27FC236}">
                <a16:creationId xmlns:a16="http://schemas.microsoft.com/office/drawing/2014/main" id="{D56E71DE-3FE3-48F8-9224-668AD4B414FA}"/>
              </a:ext>
            </a:extLst>
          </p:cNvPr>
          <p:cNvSpPr>
            <a:spLocks noGrp="1"/>
          </p:cNvSpPr>
          <p:nvPr/>
        </p:nvSpPr>
        <p:spPr>
          <a:xfrm>
            <a:off x="685800" y="1485900"/>
            <a:ext cx="10820400" cy="0"/>
          </a:xfrm>
          <a:prstGeom prst="line">
            <a:avLst/>
          </a:prstGeom>
          <a:noFill/>
          <a:ln w="9525">
            <a:solidFill>
              <a:srgbClr val="FFFFFF">
                <a:alpha val="18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BF6D8ACA-E12C-4D17-A5DF-52F77CC44FBE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95362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750" b="0" i="0">
                <a:solidFill>
                  <a:srgbClr val="9AA6C4"/>
                </a:solidFill>
                <a:latin typeface="Aptos"/>
                <a:ea typeface="Aptos"/>
                <a:cs typeface="Aptos"/>
              </a:defRPr>
            </a:pPr>
            <a:r>
              <a:rPr sz="750" b="0" i="0">
                <a:solidFill>
                  <a:srgbClr val="9AA6C4"/>
                </a:solidFill>
                <a:latin typeface="Aptos"/>
                <a:ea typeface="Aptos"/>
                <a:cs typeface="Aptos"/>
              </a:rPr>
              <a:t>Derivación conceptual a partir del modelo con Z</a:t>
            </a:r>
          </a:p>
        </p:txBody>
      </p:sp>
      <p:sp>
        <p:nvSpPr>
          <p:cNvPr id="20" name="Rectángulo 19">
            <a:extLst>
              <a:ext uri="{FF2B5EF4-FFF2-40B4-BE49-F238E27FC236}">
                <a16:creationId xmlns:a16="http://schemas.microsoft.com/office/drawing/2014/main" id="{9209E975-2599-4B70-9AFD-DD95FB9D0230}"/>
              </a:ext>
            </a:extLst>
          </p:cNvPr>
          <p:cNvSpPr>
            <a:spLocks noGrp="1"/>
          </p:cNvSpPr>
          <p:nvPr/>
        </p:nvSpPr>
        <p:spPr>
          <a:xfrm>
            <a:off x="11049000" y="6438900"/>
            <a:ext cx="4572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r">
              <a:lnSpc>
                <a:spcPct val="100000"/>
              </a:lnSpc>
              <a:buNone/>
              <a:defRPr sz="825" b="1" i="0">
                <a:solidFill>
                  <a:srgbClr val="C9D1E6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C9D1E6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  <p:sp>
        <p:nvSpPr>
          <p:cNvPr id="22" name="Flecha: a la derecha 21">
            <a:extLst>
              <a:ext uri="{FF2B5EF4-FFF2-40B4-BE49-F238E27FC236}">
                <a16:creationId xmlns:a16="http://schemas.microsoft.com/office/drawing/2014/main" id="{0D5CFF8D-5E20-4CA8-AD74-CE1E5DA14023}"/>
              </a:ext>
            </a:extLst>
          </p:cNvPr>
          <p:cNvSpPr>
            <a:spLocks noGrp="1"/>
          </p:cNvSpPr>
          <p:nvPr/>
        </p:nvSpPr>
        <p:spPr>
          <a:xfrm>
            <a:off x="3476625" y="2857500"/>
            <a:ext cx="971550" cy="266700"/>
          </a:xfrm>
          <a:prstGeom prst="rightArrow">
            <a:avLst/>
          </a:prstGeom>
          <a:solidFill>
            <a:srgbClr val="33D6C8"/>
          </a:solidFill>
          <a:ln w="9525">
            <a:solidFill>
              <a:srgbClr val="33D6C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3" name="Flecha: a la derecha 22">
            <a:extLst>
              <a:ext uri="{FF2B5EF4-FFF2-40B4-BE49-F238E27FC236}">
                <a16:creationId xmlns:a16="http://schemas.microsoft.com/office/drawing/2014/main" id="{3779F07F-A0A6-4C42-BD2E-47313CA12656}"/>
              </a:ext>
            </a:extLst>
          </p:cNvPr>
          <p:cNvSpPr>
            <a:spLocks noGrp="1"/>
          </p:cNvSpPr>
          <p:nvPr/>
        </p:nvSpPr>
        <p:spPr>
          <a:xfrm>
            <a:off x="3476625" y="4476750"/>
            <a:ext cx="971550" cy="266700"/>
          </a:xfrm>
          <a:prstGeom prst="rightArrow">
            <a:avLst/>
          </a:prstGeom>
          <a:solidFill>
            <a:srgbClr val="6C63FF"/>
          </a:solidFill>
          <a:ln w="9525">
            <a:solidFill>
              <a:srgbClr val="6C63FF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4" name="Flecha: a la derecha 23">
            <a:extLst>
              <a:ext uri="{FF2B5EF4-FFF2-40B4-BE49-F238E27FC236}">
                <a16:creationId xmlns:a16="http://schemas.microsoft.com/office/drawing/2014/main" id="{0B30EF47-3D64-4D28-8317-30552A240DE3}"/>
              </a:ext>
            </a:extLst>
          </p:cNvPr>
          <p:cNvSpPr>
            <a:spLocks noGrp="1"/>
          </p:cNvSpPr>
          <p:nvPr/>
        </p:nvSpPr>
        <p:spPr>
          <a:xfrm>
            <a:off x="7753350" y="3676650"/>
            <a:ext cx="1104900" cy="266700"/>
          </a:xfrm>
          <a:prstGeom prst="rightArrow">
            <a:avLst/>
          </a:prstGeom>
          <a:solidFill>
            <a:srgbClr val="F5A14A"/>
          </a:solidFill>
          <a:ln w="9525">
            <a:solidFill>
              <a:srgbClr val="F5A14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5" name="Rectángulo: esquinas redondeadas 24">
            <a:extLst>
              <a:ext uri="{FF2B5EF4-FFF2-40B4-BE49-F238E27FC236}">
                <a16:creationId xmlns:a16="http://schemas.microsoft.com/office/drawing/2014/main" id="{6D4EA842-27A6-40C0-BA3F-15CE90BA3E7C}"/>
              </a:ext>
            </a:extLst>
          </p:cNvPr>
          <p:cNvSpPr>
            <a:spLocks noGrp="1"/>
          </p:cNvSpPr>
          <p:nvPr/>
        </p:nvSpPr>
        <p:spPr>
          <a:xfrm>
            <a:off x="685800" y="2362200"/>
            <a:ext cx="2800350" cy="1162050"/>
          </a:xfrm>
          <a:prstGeom prst="roundRect">
            <a:avLst>
              <a:gd name="adj" fmla="val 13115"/>
            </a:avLst>
          </a:prstGeom>
          <a:solidFill>
            <a:srgbClr val="242C49"/>
          </a:solidFill>
          <a:ln w="12383">
            <a:solidFill>
              <a:srgbClr val="33D6C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6" name="Rectángulo 25">
            <a:extLst>
              <a:ext uri="{FF2B5EF4-FFF2-40B4-BE49-F238E27FC236}">
                <a16:creationId xmlns:a16="http://schemas.microsoft.com/office/drawing/2014/main" id="{4EBD094C-DEAF-497D-9DF6-A34BE3D7E925}"/>
              </a:ext>
            </a:extLst>
          </p:cNvPr>
          <p:cNvSpPr>
            <a:spLocks noGrp="1"/>
          </p:cNvSpPr>
          <p:nvPr/>
        </p:nvSpPr>
        <p:spPr>
          <a:xfrm>
            <a:off x="895350" y="2533650"/>
            <a:ext cx="5524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500" b="1">
                <a:solidFill>
                  <a:srgbClr val="33D6C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33D6C8"/>
                </a:solidFill>
                <a:latin typeface="Aptos"/>
                <a:ea typeface="Aptos"/>
                <a:cs typeface="Aptos"/>
              </a:rPr>
              <a:t>C₁</a:t>
            </a:r>
          </a:p>
        </p:txBody>
      </p:sp>
      <p:sp>
        <p:nvSpPr>
          <p:cNvPr id="27" name="Rectángulo 26">
            <a:extLst>
              <a:ext uri="{FF2B5EF4-FFF2-40B4-BE49-F238E27FC236}">
                <a16:creationId xmlns:a16="http://schemas.microsoft.com/office/drawing/2014/main" id="{F2EA8FBB-5EC1-4D1A-9431-8B01009E2634}"/>
              </a:ext>
            </a:extLst>
          </p:cNvPr>
          <p:cNvSpPr>
            <a:spLocks noGrp="1"/>
          </p:cNvSpPr>
          <p:nvPr/>
        </p:nvSpPr>
        <p:spPr>
          <a:xfrm>
            <a:off x="895350" y="2914650"/>
            <a:ext cx="2381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27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evidencia válida para Z₁</a:t>
            </a:r>
          </a:p>
        </p:txBody>
      </p:sp>
      <p:sp>
        <p:nvSpPr>
          <p:cNvPr id="28" name="Rectángulo: esquinas redondeadas 27">
            <a:extLst>
              <a:ext uri="{FF2B5EF4-FFF2-40B4-BE49-F238E27FC236}">
                <a16:creationId xmlns:a16="http://schemas.microsoft.com/office/drawing/2014/main" id="{D6C93F37-2FE5-45D8-8BD9-C59426799CF2}"/>
              </a:ext>
            </a:extLst>
          </p:cNvPr>
          <p:cNvSpPr>
            <a:spLocks noGrp="1"/>
          </p:cNvSpPr>
          <p:nvPr/>
        </p:nvSpPr>
        <p:spPr>
          <a:xfrm>
            <a:off x="685800" y="3981450"/>
            <a:ext cx="2800350" cy="1162050"/>
          </a:xfrm>
          <a:prstGeom prst="roundRect">
            <a:avLst>
              <a:gd name="adj" fmla="val 13115"/>
            </a:avLst>
          </a:prstGeom>
          <a:solidFill>
            <a:srgbClr val="242C49"/>
          </a:solidFill>
          <a:ln w="12383">
            <a:solidFill>
              <a:srgbClr val="6C63FF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9" name="Rectángulo 28">
            <a:extLst>
              <a:ext uri="{FF2B5EF4-FFF2-40B4-BE49-F238E27FC236}">
                <a16:creationId xmlns:a16="http://schemas.microsoft.com/office/drawing/2014/main" id="{7004FD35-7756-4DE1-A1DC-E4BACD9E7F45}"/>
              </a:ext>
            </a:extLst>
          </p:cNvPr>
          <p:cNvSpPr>
            <a:spLocks noGrp="1"/>
          </p:cNvSpPr>
          <p:nvPr/>
        </p:nvSpPr>
        <p:spPr>
          <a:xfrm>
            <a:off x="895350" y="4152900"/>
            <a:ext cx="5524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500" b="1">
                <a:solidFill>
                  <a:srgbClr val="6C63F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6C63FF"/>
                </a:solidFill>
                <a:latin typeface="Aptos"/>
                <a:ea typeface="Aptos"/>
                <a:cs typeface="Aptos"/>
              </a:rPr>
              <a:t>C₂</a:t>
            </a:r>
          </a:p>
        </p:txBody>
      </p:sp>
      <p:sp>
        <p:nvSpPr>
          <p:cNvPr id="30" name="Rectángulo 29">
            <a:extLst>
              <a:ext uri="{FF2B5EF4-FFF2-40B4-BE49-F238E27FC236}">
                <a16:creationId xmlns:a16="http://schemas.microsoft.com/office/drawing/2014/main" id="{20E9BD35-1FB6-49EB-AFA2-1E5980EE7C8B}"/>
              </a:ext>
            </a:extLst>
          </p:cNvPr>
          <p:cNvSpPr>
            <a:spLocks noGrp="1"/>
          </p:cNvSpPr>
          <p:nvPr/>
        </p:nvSpPr>
        <p:spPr>
          <a:xfrm>
            <a:off x="895350" y="4533900"/>
            <a:ext cx="2381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27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evidencia válida para Z₂</a:t>
            </a:r>
          </a:p>
        </p:txBody>
      </p:sp>
      <p:sp>
        <p:nvSpPr>
          <p:cNvPr id="31" name="Rectángulo: esquinas redondeadas 30">
            <a:extLst>
              <a:ext uri="{FF2B5EF4-FFF2-40B4-BE49-F238E27FC236}">
                <a16:creationId xmlns:a16="http://schemas.microsoft.com/office/drawing/2014/main" id="{0BBAAB9E-3A34-43CE-97E9-5DBA9D724974}"/>
              </a:ext>
            </a:extLst>
          </p:cNvPr>
          <p:cNvSpPr>
            <a:spLocks noGrp="1"/>
          </p:cNvSpPr>
          <p:nvPr/>
        </p:nvSpPr>
        <p:spPr>
          <a:xfrm>
            <a:off x="4457700" y="2886075"/>
            <a:ext cx="3295650" cy="180975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383">
            <a:solidFill>
              <a:srgbClr val="6C63FF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2" name="Rectángulo 31">
            <a:extLst>
              <a:ext uri="{FF2B5EF4-FFF2-40B4-BE49-F238E27FC236}">
                <a16:creationId xmlns:a16="http://schemas.microsoft.com/office/drawing/2014/main" id="{653C3F52-BA91-4791-BE3A-6AE4019F22E8}"/>
              </a:ext>
            </a:extLst>
          </p:cNvPr>
          <p:cNvSpPr>
            <a:spLocks noGrp="1"/>
          </p:cNvSpPr>
          <p:nvPr/>
        </p:nvSpPr>
        <p:spPr>
          <a:xfrm>
            <a:off x="4743450" y="3143250"/>
            <a:ext cx="27241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350" b="1">
                <a:solidFill>
                  <a:srgbClr val="6C63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6C63FF"/>
                </a:solidFill>
                <a:latin typeface="Aptos"/>
                <a:ea typeface="Aptos"/>
                <a:cs typeface="Aptos"/>
              </a:rPr>
              <a:t>LLM</a:t>
            </a:r>
          </a:p>
        </p:txBody>
      </p:sp>
      <p:sp>
        <p:nvSpPr>
          <p:cNvPr id="33" name="Rectángulo 32">
            <a:extLst>
              <a:ext uri="{FF2B5EF4-FFF2-40B4-BE49-F238E27FC236}">
                <a16:creationId xmlns:a16="http://schemas.microsoft.com/office/drawing/2014/main" id="{37702CBC-8813-4B13-B8AD-5BB68FBDBD16}"/>
              </a:ext>
            </a:extLst>
          </p:cNvPr>
          <p:cNvSpPr>
            <a:spLocks noGrp="1"/>
          </p:cNvSpPr>
          <p:nvPr/>
        </p:nvSpPr>
        <p:spPr>
          <a:xfrm>
            <a:off x="4743450" y="3657600"/>
            <a:ext cx="272415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7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Genera una respuesta</a:t>
            </a:r>
          </a:p>
          <a:p>
            <a:pPr algn="ctr">
              <a:lnSpc>
                <a:spcPct val="100000"/>
              </a:lnSpc>
              <a:buNone/>
              <a:defRPr sz="17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condicionada al contexto</a:t>
            </a:r>
          </a:p>
        </p:txBody>
      </p:sp>
      <p:sp>
        <p:nvSpPr>
          <p:cNvPr id="34" name="Rectángulo: esquinas redondeadas 33">
            <a:extLst>
              <a:ext uri="{FF2B5EF4-FFF2-40B4-BE49-F238E27FC236}">
                <a16:creationId xmlns:a16="http://schemas.microsoft.com/office/drawing/2014/main" id="{1BE53E1F-F0D0-44DF-BCDB-A6944A9678A3}"/>
              </a:ext>
            </a:extLst>
          </p:cNvPr>
          <p:cNvSpPr>
            <a:spLocks noGrp="1"/>
          </p:cNvSpPr>
          <p:nvPr/>
        </p:nvSpPr>
        <p:spPr>
          <a:xfrm>
            <a:off x="8858250" y="3076575"/>
            <a:ext cx="2647950" cy="1466850"/>
          </a:xfrm>
          <a:prstGeom prst="roundRect">
            <a:avLst>
              <a:gd name="adj" fmla="val 10390"/>
            </a:avLst>
          </a:prstGeom>
          <a:solidFill>
            <a:srgbClr val="3B3038"/>
          </a:solidFill>
          <a:ln w="13335">
            <a:solidFill>
              <a:srgbClr val="F5A14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5" name="Rectángulo 34">
            <a:extLst>
              <a:ext uri="{FF2B5EF4-FFF2-40B4-BE49-F238E27FC236}">
                <a16:creationId xmlns:a16="http://schemas.microsoft.com/office/drawing/2014/main" id="{2A252187-E323-4D7F-8006-416CE55FED4C}"/>
              </a:ext>
            </a:extLst>
          </p:cNvPr>
          <p:cNvSpPr>
            <a:spLocks noGrp="1"/>
          </p:cNvSpPr>
          <p:nvPr/>
        </p:nvSpPr>
        <p:spPr>
          <a:xfrm>
            <a:off x="9067800" y="3457575"/>
            <a:ext cx="222885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650" b="1">
                <a:solidFill>
                  <a:srgbClr val="F5A14A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5A14A"/>
                </a:solidFill>
                <a:latin typeface="Aptos"/>
                <a:ea typeface="Aptos"/>
                <a:cs typeface="Aptos"/>
              </a:rPr>
              <a:t>¿QUÉ Z QUERÍA</a:t>
            </a:r>
          </a:p>
          <a:p>
            <a:pPr algn="ctr">
              <a:lnSpc>
                <a:spcPct val="100000"/>
              </a:lnSpc>
              <a:buNone/>
              <a:defRPr sz="1650" b="1">
                <a:solidFill>
                  <a:srgbClr val="F5A14A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5A14A"/>
                </a:solidFill>
                <a:latin typeface="Aptos"/>
                <a:ea typeface="Aptos"/>
                <a:cs typeface="Aptos"/>
              </a:rPr>
              <a:t>EL USUARIO?</a:t>
            </a:r>
          </a:p>
        </p:txBody>
      </p:sp>
      <p:sp>
        <p:nvSpPr>
          <p:cNvPr id="36" name="Rectángulo 35">
            <a:extLst>
              <a:ext uri="{FF2B5EF4-FFF2-40B4-BE49-F238E27FC236}">
                <a16:creationId xmlns:a16="http://schemas.microsoft.com/office/drawing/2014/main" id="{81C0CFCA-4341-48E6-A3F8-449761FE42CA}"/>
              </a:ext>
            </a:extLst>
          </p:cNvPr>
          <p:cNvSpPr>
            <a:spLocks noGrp="1"/>
          </p:cNvSpPr>
          <p:nvPr/>
        </p:nvSpPr>
        <p:spPr>
          <a:xfrm>
            <a:off x="1619250" y="5467350"/>
            <a:ext cx="89535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500" b="1">
                <a:solidFill>
                  <a:srgbClr val="33D6C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33D6C8"/>
                </a:solidFill>
                <a:latin typeface="Aptos"/>
                <a:ea typeface="Aptos"/>
                <a:cs typeface="Aptos"/>
              </a:rPr>
              <a:t>Recuperar evidencia para dos intenciones no decide cuál de ellas era la intención real.</a:t>
            </a:r>
          </a:p>
        </p:txBody>
      </p:sp>
    </p:spTree>
    <p:extLst>
      <p:ext uri="{BB962C8B-B14F-4D97-AF65-F5344CB8AC3E}">
        <p14:creationId xmlns:p14="http://schemas.microsoft.com/office/powerpoint/2010/main" val="200785334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ángulo 21">
            <a:extLst>
              <a:ext uri="{FF2B5EF4-FFF2-40B4-BE49-F238E27FC236}">
                <a16:creationId xmlns:a16="http://schemas.microsoft.com/office/drawing/2014/main" id="{A950FC12-ACFF-4A32-92ED-C304023CFAC8}"/>
              </a:ext>
            </a:extLst>
          </p:cNvPr>
          <p:cNvSpPr>
            <a:spLocks noGrp="1"/>
          </p:cNvSpPr>
          <p:nvPr/>
        </p:nvSpPr>
        <p:spPr>
          <a:xfrm>
            <a:off x="685800" y="361950"/>
            <a:ext cx="4095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050" b="1" i="0">
                <a:solidFill>
                  <a:srgbClr val="6C63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6C63FF"/>
                </a:solidFill>
                <a:latin typeface="Aptos"/>
                <a:ea typeface="Aptos"/>
                <a:cs typeface="Aptos"/>
              </a:rPr>
              <a:t>21 / LÍMITE TEÓRICO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98B904C6-6ACD-4057-BD4E-0894AF81D29B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108204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92000"/>
              </a:lnSpc>
              <a:buNone/>
              <a:defRPr sz="2850" b="1" i="0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Sin nueva información, persiste un error irreducible</a:t>
            </a:r>
          </a:p>
        </p:txBody>
      </p:sp>
      <p:sp>
        <p:nvSpPr>
          <p:cNvPr id="3" name="Conector recto 2">
            <a:extLst>
              <a:ext uri="{FF2B5EF4-FFF2-40B4-BE49-F238E27FC236}">
                <a16:creationId xmlns:a16="http://schemas.microsoft.com/office/drawing/2014/main" id="{F3E03E5B-BC48-427D-AD3B-079FF906B764}"/>
              </a:ext>
            </a:extLst>
          </p:cNvPr>
          <p:cNvSpPr>
            <a:spLocks noGrp="1"/>
          </p:cNvSpPr>
          <p:nvPr/>
        </p:nvSpPr>
        <p:spPr>
          <a:xfrm>
            <a:off x="685800" y="1485900"/>
            <a:ext cx="10820400" cy="0"/>
          </a:xfrm>
          <a:prstGeom prst="line">
            <a:avLst/>
          </a:prstGeom>
          <a:noFill/>
          <a:ln w="9525">
            <a:solidFill>
              <a:srgbClr val="D9DD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4DB39685-9B92-4FC7-AC98-74EDFC77A90D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95362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750" b="0" i="0">
                <a:solidFill>
                  <a:srgbClr val="8792AA"/>
                </a:solidFill>
                <a:latin typeface="Aptos"/>
                <a:ea typeface="Aptos"/>
                <a:cs typeface="Aptos"/>
              </a:defRPr>
            </a:pPr>
            <a:r>
              <a:rPr sz="750" b="0" i="0">
                <a:solidFill>
                  <a:srgbClr val="8792AA"/>
                </a:solidFill>
                <a:latin typeface="Aptos"/>
                <a:ea typeface="Aptos"/>
                <a:cs typeface="Aptos"/>
              </a:rPr>
              <a:t>Riesgo Bayesiano con pérdida 0–1 · derivación</a:t>
            </a:r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C8BCB7A0-9201-4084-8653-BE8D186B2CC4}"/>
              </a:ext>
            </a:extLst>
          </p:cNvPr>
          <p:cNvSpPr>
            <a:spLocks noGrp="1"/>
          </p:cNvSpPr>
          <p:nvPr/>
        </p:nvSpPr>
        <p:spPr>
          <a:xfrm>
            <a:off x="11049000" y="6438900"/>
            <a:ext cx="4572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r">
              <a:lnSpc>
                <a:spcPct val="100000"/>
              </a:lnSpc>
              <a:buNone/>
              <a:defRPr sz="825" b="1" i="0">
                <a:solidFill>
                  <a:srgbClr val="7B879F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7B879F"/>
                </a:solidFill>
                <a:latin typeface="Aptos"/>
                <a:ea typeface="Aptos"/>
                <a:cs typeface="Aptos"/>
              </a:rPr>
              <a:t>21</a:t>
            </a:r>
          </a:p>
        </p:txBody>
      </p:sp>
      <p:sp>
        <p:nvSpPr>
          <p:cNvPr id="23" name="Rectángulo 22">
            <a:extLst>
              <a:ext uri="{FF2B5EF4-FFF2-40B4-BE49-F238E27FC236}">
                <a16:creationId xmlns:a16="http://schemas.microsoft.com/office/drawing/2014/main" id="{A2840A1D-8430-4527-B45B-4BE0DB5A6A45}"/>
              </a:ext>
            </a:extLst>
          </p:cNvPr>
          <p:cNvSpPr>
            <a:spLocks noGrp="1"/>
          </p:cNvSpPr>
          <p:nvPr/>
        </p:nvSpPr>
        <p:spPr>
          <a:xfrm>
            <a:off x="685800" y="1952625"/>
            <a:ext cx="2095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125" b="1">
                <a:solidFill>
                  <a:srgbClr val="6C63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6C63FF"/>
                </a:solidFill>
                <a:latin typeface="Aptos"/>
                <a:ea typeface="Aptos"/>
                <a:cs typeface="Aptos"/>
              </a:rPr>
              <a:t>PÉRDIDA 0–1</a:t>
            </a:r>
          </a:p>
        </p:txBody>
      </p:sp>
      <p:sp>
        <p:nvSpPr>
          <p:cNvPr id="24" name="Rectángulo: esquinas redondeadas 23">
            <a:extLst>
              <a:ext uri="{FF2B5EF4-FFF2-40B4-BE49-F238E27FC236}">
                <a16:creationId xmlns:a16="http://schemas.microsoft.com/office/drawing/2014/main" id="{4F973D1C-F263-4C9A-9C2E-E9E41BF11C8E}"/>
              </a:ext>
            </a:extLst>
          </p:cNvPr>
          <p:cNvSpPr>
            <a:spLocks noGrp="1"/>
          </p:cNvSpPr>
          <p:nvPr/>
        </p:nvSpPr>
        <p:spPr>
          <a:xfrm>
            <a:off x="1581150" y="2505075"/>
            <a:ext cx="9029700" cy="1066800"/>
          </a:xfrm>
          <a:prstGeom prst="roundRect">
            <a:avLst>
              <a:gd name="adj" fmla="val 14286"/>
            </a:avLst>
          </a:prstGeom>
          <a:solidFill>
            <a:srgbClr val="11182E"/>
          </a:solidFill>
          <a:ln w="9525">
            <a:solidFill>
              <a:srgbClr val="11182E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pic>
        <p:nvPicPr>
          <p:cNvPr id="37" name="Imagen 3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2596928" y="2600325"/>
            <a:ext cx="6998144" cy="876300"/>
          </a:xfrm>
          <a:prstGeom prst="rect">
            <a:avLst/>
          </a:prstGeom>
        </p:spPr>
      </p:pic>
      <p:sp>
        <p:nvSpPr>
          <p:cNvPr id="26" name="Rectángulo 25">
            <a:extLst>
              <a:ext uri="{FF2B5EF4-FFF2-40B4-BE49-F238E27FC236}">
                <a16:creationId xmlns:a16="http://schemas.microsoft.com/office/drawing/2014/main" id="{C73A4573-07FE-4C82-9815-869E5D40C287}"/>
              </a:ext>
            </a:extLst>
          </p:cNvPr>
          <p:cNvSpPr>
            <a:spLocks noGrp="1"/>
          </p:cNvSpPr>
          <p:nvPr/>
        </p:nvSpPr>
        <p:spPr>
          <a:xfrm>
            <a:off x="1809750" y="3971925"/>
            <a:ext cx="85725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6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Si ninguna intención concentra toda la probabilidad posterior, el riesgo mínimo sigue siendo positivo.</a:t>
            </a:r>
          </a:p>
        </p:txBody>
      </p:sp>
      <p:sp>
        <p:nvSpPr>
          <p:cNvPr id="27" name="Rectángulo: esquinas redondeadas 26">
            <a:extLst>
              <a:ext uri="{FF2B5EF4-FFF2-40B4-BE49-F238E27FC236}">
                <a16:creationId xmlns:a16="http://schemas.microsoft.com/office/drawing/2014/main" id="{A2DCC2F6-D7CE-48CD-BC2C-03DF5AD99A05}"/>
              </a:ext>
            </a:extLst>
          </p:cNvPr>
          <p:cNvSpPr>
            <a:spLocks noGrp="1"/>
          </p:cNvSpPr>
          <p:nvPr/>
        </p:nvSpPr>
        <p:spPr>
          <a:xfrm>
            <a:off x="2533650" y="4848225"/>
            <a:ext cx="7124700" cy="685800"/>
          </a:xfrm>
          <a:prstGeom prst="roundRect">
            <a:avLst>
              <a:gd name="adj" fmla="val 16667"/>
            </a:avLst>
          </a:prstGeom>
          <a:solidFill>
            <a:srgbClr val="FFF0F3"/>
          </a:solidFill>
          <a:ln w="9525">
            <a:solidFill>
              <a:srgbClr val="FF647C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pic>
        <p:nvPicPr>
          <p:cNvPr id="40" name="Imagen 39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3820350" y="4943475"/>
            <a:ext cx="4551300" cy="495300"/>
          </a:xfrm>
          <a:prstGeom prst="rect">
            <a:avLst/>
          </a:prstGeom>
        </p:spPr>
      </p:pic>
      <p:sp>
        <p:nvSpPr>
          <p:cNvPr id="29" name="Rectángulo 28">
            <a:extLst>
              <a:ext uri="{FF2B5EF4-FFF2-40B4-BE49-F238E27FC236}">
                <a16:creationId xmlns:a16="http://schemas.microsoft.com/office/drawing/2014/main" id="{A1ADFCFA-701D-43F3-83BD-ECB19F2E2CA1}"/>
              </a:ext>
            </a:extLst>
          </p:cNvPr>
          <p:cNvSpPr>
            <a:spLocks noGrp="1"/>
          </p:cNvSpPr>
          <p:nvPr/>
        </p:nvSpPr>
        <p:spPr>
          <a:xfrm>
            <a:off x="1428750" y="5810250"/>
            <a:ext cx="9334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350" b="0">
                <a:solidFill>
                  <a:srgbClr val="6C63FF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C63FF"/>
                </a:solidFill>
                <a:latin typeface="Aptos"/>
                <a:ea typeface="Aptos"/>
                <a:cs typeface="Aptos"/>
              </a:rPr>
              <a:t>Derivación: el error puede provenir de información de intención ausente, no de falta de capacidad generativa.</a:t>
            </a:r>
          </a:p>
        </p:txBody>
      </p:sp>
    </p:spTree>
    <p:extLst>
      <p:ext uri="{BB962C8B-B14F-4D97-AF65-F5344CB8AC3E}">
        <p14:creationId xmlns:p14="http://schemas.microsoft.com/office/powerpoint/2010/main" val="155899335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ángulo 29">
            <a:extLst>
              <a:ext uri="{FF2B5EF4-FFF2-40B4-BE49-F238E27FC236}">
                <a16:creationId xmlns:a16="http://schemas.microsoft.com/office/drawing/2014/main" id="{8CCBCCB8-47F0-492D-8B88-7A8656D98673}"/>
              </a:ext>
            </a:extLst>
          </p:cNvPr>
          <p:cNvSpPr>
            <a:spLocks noGrp="1"/>
          </p:cNvSpPr>
          <p:nvPr/>
        </p:nvSpPr>
        <p:spPr>
          <a:xfrm>
            <a:off x="685800" y="361950"/>
            <a:ext cx="4095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050" b="1" i="0">
                <a:solidFill>
                  <a:srgbClr val="6C63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6C63FF"/>
                </a:solidFill>
                <a:latin typeface="Aptos"/>
                <a:ea typeface="Aptos"/>
                <a:cs typeface="Aptos"/>
              </a:rPr>
              <a:t>22 / CLARIFICACIÓN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31744311-BCA1-4EC9-AC3A-51D177A0F30B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10820400" cy="1104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92000"/>
              </a:lnSpc>
              <a:buNone/>
              <a:defRPr sz="2850" b="1" i="0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Aclarar adquiere información sobre la intención</a:t>
            </a: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AB6CC3A2-C214-49D0-AAEA-95A7B7E9F5D8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95362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750" b="0" i="0">
                <a:solidFill>
                  <a:srgbClr val="8792AA"/>
                </a:solidFill>
                <a:latin typeface="Aptos"/>
                <a:ea typeface="Aptos"/>
                <a:cs typeface="Aptos"/>
              </a:defRPr>
            </a:pPr>
            <a:r>
              <a:rPr sz="750" b="0" i="0">
                <a:solidFill>
                  <a:srgbClr val="8792AA"/>
                </a:solidFill>
                <a:latin typeface="Aptos"/>
                <a:ea typeface="Aptos"/>
                <a:cs typeface="Aptos"/>
              </a:rPr>
              <a:t>Deits et al. (2013) · Zhang &amp; Choi (2025)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DE8A3DE5-E259-4750-9FB6-4032720C5C37}"/>
              </a:ext>
            </a:extLst>
          </p:cNvPr>
          <p:cNvSpPr>
            <a:spLocks noGrp="1"/>
          </p:cNvSpPr>
          <p:nvPr/>
        </p:nvSpPr>
        <p:spPr>
          <a:xfrm>
            <a:off x="11049000" y="6438900"/>
            <a:ext cx="4572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r">
              <a:lnSpc>
                <a:spcPct val="100000"/>
              </a:lnSpc>
              <a:buNone/>
              <a:defRPr sz="825" b="1" i="0">
                <a:solidFill>
                  <a:srgbClr val="7B879F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7B879F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  <p:sp>
        <p:nvSpPr>
          <p:cNvPr id="31" name="Flecha: a la derecha 30">
            <a:extLst>
              <a:ext uri="{FF2B5EF4-FFF2-40B4-BE49-F238E27FC236}">
                <a16:creationId xmlns:a16="http://schemas.microsoft.com/office/drawing/2014/main" id="{0D26CAD0-5BC9-4F7F-8B70-1E84119BEE81}"/>
              </a:ext>
            </a:extLst>
          </p:cNvPr>
          <p:cNvSpPr>
            <a:spLocks noGrp="1"/>
          </p:cNvSpPr>
          <p:nvPr/>
        </p:nvSpPr>
        <p:spPr>
          <a:xfrm>
            <a:off x="2362200" y="3429000"/>
            <a:ext cx="304800" cy="228600"/>
          </a:xfrm>
          <a:prstGeom prst="rightArrow">
            <a:avLst/>
          </a:prstGeom>
          <a:solidFill>
            <a:srgbClr val="6E7C98"/>
          </a:solidFill>
          <a:ln w="9525">
            <a:solidFill>
              <a:srgbClr val="6E7C9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2" name="Flecha: a la derecha 31">
            <a:extLst>
              <a:ext uri="{FF2B5EF4-FFF2-40B4-BE49-F238E27FC236}">
                <a16:creationId xmlns:a16="http://schemas.microsoft.com/office/drawing/2014/main" id="{2AE0ED4E-8FC1-4ECF-BC23-E575095D4541}"/>
              </a:ext>
            </a:extLst>
          </p:cNvPr>
          <p:cNvSpPr>
            <a:spLocks noGrp="1"/>
          </p:cNvSpPr>
          <p:nvPr/>
        </p:nvSpPr>
        <p:spPr>
          <a:xfrm>
            <a:off x="4724400" y="3429000"/>
            <a:ext cx="304800" cy="228600"/>
          </a:xfrm>
          <a:prstGeom prst="rightArrow">
            <a:avLst/>
          </a:prstGeom>
          <a:solidFill>
            <a:srgbClr val="6E7C98"/>
          </a:solidFill>
          <a:ln w="9525">
            <a:solidFill>
              <a:srgbClr val="6E7C9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3" name="Flecha: a la derecha 32">
            <a:extLst>
              <a:ext uri="{FF2B5EF4-FFF2-40B4-BE49-F238E27FC236}">
                <a16:creationId xmlns:a16="http://schemas.microsoft.com/office/drawing/2014/main" id="{BD054D9F-51A1-4462-ABBC-9B7E558AEA8A}"/>
              </a:ext>
            </a:extLst>
          </p:cNvPr>
          <p:cNvSpPr>
            <a:spLocks noGrp="1"/>
          </p:cNvSpPr>
          <p:nvPr/>
        </p:nvSpPr>
        <p:spPr>
          <a:xfrm>
            <a:off x="7086600" y="3429000"/>
            <a:ext cx="304800" cy="228600"/>
          </a:xfrm>
          <a:prstGeom prst="rightArrow">
            <a:avLst/>
          </a:prstGeom>
          <a:solidFill>
            <a:srgbClr val="6E7C98"/>
          </a:solidFill>
          <a:ln w="9525">
            <a:solidFill>
              <a:srgbClr val="6E7C9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4" name="Rectángulo: esquinas redondeadas 33">
            <a:extLst>
              <a:ext uri="{FF2B5EF4-FFF2-40B4-BE49-F238E27FC236}">
                <a16:creationId xmlns:a16="http://schemas.microsoft.com/office/drawing/2014/main" id="{59D6D28A-35FF-4442-906B-116147D5C736}"/>
              </a:ext>
            </a:extLst>
          </p:cNvPr>
          <p:cNvSpPr>
            <a:spLocks noGrp="1"/>
          </p:cNvSpPr>
          <p:nvPr/>
        </p:nvSpPr>
        <p:spPr>
          <a:xfrm>
            <a:off x="685800" y="3048000"/>
            <a:ext cx="1905000" cy="990600"/>
          </a:xfrm>
          <a:prstGeom prst="roundRect">
            <a:avLst>
              <a:gd name="adj" fmla="val 11538"/>
            </a:avLst>
          </a:prstGeom>
          <a:solidFill>
            <a:srgbClr val="E3F9F6"/>
          </a:solidFill>
          <a:ln w="12383">
            <a:solidFill>
              <a:srgbClr val="33D6C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5" name="Rectángulo 34">
            <a:extLst>
              <a:ext uri="{FF2B5EF4-FFF2-40B4-BE49-F238E27FC236}">
                <a16:creationId xmlns:a16="http://schemas.microsoft.com/office/drawing/2014/main" id="{81F78980-784D-4C13-B6BB-7EFF52BB579C}"/>
              </a:ext>
            </a:extLst>
          </p:cNvPr>
          <p:cNvSpPr>
            <a:spLocks noGrp="1"/>
          </p:cNvSpPr>
          <p:nvPr/>
        </p:nvSpPr>
        <p:spPr>
          <a:xfrm>
            <a:off x="819150" y="3343275"/>
            <a:ext cx="16383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2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CONSULTA X</a:t>
            </a:r>
          </a:p>
        </p:txBody>
      </p:sp>
      <p:sp>
        <p:nvSpPr>
          <p:cNvPr id="36" name="Rectángulo: esquinas redondeadas 35">
            <a:extLst>
              <a:ext uri="{FF2B5EF4-FFF2-40B4-BE49-F238E27FC236}">
                <a16:creationId xmlns:a16="http://schemas.microsoft.com/office/drawing/2014/main" id="{EA431D88-A41D-429D-9AE5-283EE7D72C1F}"/>
              </a:ext>
            </a:extLst>
          </p:cNvPr>
          <p:cNvSpPr>
            <a:spLocks noGrp="1"/>
          </p:cNvSpPr>
          <p:nvPr/>
        </p:nvSpPr>
        <p:spPr>
          <a:xfrm>
            <a:off x="2667000" y="3048000"/>
            <a:ext cx="1905000" cy="990600"/>
          </a:xfrm>
          <a:prstGeom prst="roundRect">
            <a:avLst>
              <a:gd name="adj" fmla="val 11538"/>
            </a:avLst>
          </a:prstGeom>
          <a:solidFill>
            <a:srgbClr val="FFF3E6"/>
          </a:solidFill>
          <a:ln w="12383">
            <a:solidFill>
              <a:srgbClr val="F5A14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7" name="Rectángulo 36">
            <a:extLst>
              <a:ext uri="{FF2B5EF4-FFF2-40B4-BE49-F238E27FC236}">
                <a16:creationId xmlns:a16="http://schemas.microsoft.com/office/drawing/2014/main" id="{77521076-7263-45E0-A2A5-7D98013BC173}"/>
              </a:ext>
            </a:extLst>
          </p:cNvPr>
          <p:cNvSpPr>
            <a:spLocks noGrp="1"/>
          </p:cNvSpPr>
          <p:nvPr/>
        </p:nvSpPr>
        <p:spPr>
          <a:xfrm>
            <a:off x="2800350" y="3343275"/>
            <a:ext cx="16383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2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INTENCIÓN Z</a:t>
            </a:r>
          </a:p>
        </p:txBody>
      </p:sp>
      <p:sp>
        <p:nvSpPr>
          <p:cNvPr id="38" name="Rectángulo: esquinas redondeadas 37">
            <a:extLst>
              <a:ext uri="{FF2B5EF4-FFF2-40B4-BE49-F238E27FC236}">
                <a16:creationId xmlns:a16="http://schemas.microsoft.com/office/drawing/2014/main" id="{F7CEA3D3-FE46-45BB-86B3-E0E811D25E8D}"/>
              </a:ext>
            </a:extLst>
          </p:cNvPr>
          <p:cNvSpPr>
            <a:spLocks noGrp="1"/>
          </p:cNvSpPr>
          <p:nvPr/>
        </p:nvSpPr>
        <p:spPr>
          <a:xfrm>
            <a:off x="5029200" y="3048000"/>
            <a:ext cx="1905000" cy="990600"/>
          </a:xfrm>
          <a:prstGeom prst="roundRect">
            <a:avLst>
              <a:gd name="adj" fmla="val 11538"/>
            </a:avLst>
          </a:prstGeom>
          <a:solidFill>
            <a:srgbClr val="E9F8F0"/>
          </a:solidFill>
          <a:ln w="12383">
            <a:solidFill>
              <a:srgbClr val="49C98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9" name="Rectángulo 38">
            <a:extLst>
              <a:ext uri="{FF2B5EF4-FFF2-40B4-BE49-F238E27FC236}">
                <a16:creationId xmlns:a16="http://schemas.microsoft.com/office/drawing/2014/main" id="{7598889B-6F86-4D77-891A-E26DF4144E19}"/>
              </a:ext>
            </a:extLst>
          </p:cNvPr>
          <p:cNvSpPr>
            <a:spLocks noGrp="1"/>
          </p:cNvSpPr>
          <p:nvPr/>
        </p:nvSpPr>
        <p:spPr>
          <a:xfrm>
            <a:off x="5162550" y="3343275"/>
            <a:ext cx="16383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2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PREGUNTA q</a:t>
            </a:r>
          </a:p>
        </p:txBody>
      </p:sp>
      <p:sp>
        <p:nvSpPr>
          <p:cNvPr id="40" name="Rectángulo: esquinas redondeadas 39">
            <a:extLst>
              <a:ext uri="{FF2B5EF4-FFF2-40B4-BE49-F238E27FC236}">
                <a16:creationId xmlns:a16="http://schemas.microsoft.com/office/drawing/2014/main" id="{4583A5EF-F894-4562-90C7-E02FA034B8A1}"/>
              </a:ext>
            </a:extLst>
          </p:cNvPr>
          <p:cNvSpPr>
            <a:spLocks noGrp="1"/>
          </p:cNvSpPr>
          <p:nvPr/>
        </p:nvSpPr>
        <p:spPr>
          <a:xfrm>
            <a:off x="7391400" y="3048000"/>
            <a:ext cx="1905000" cy="990600"/>
          </a:xfrm>
          <a:prstGeom prst="roundRect">
            <a:avLst>
              <a:gd name="adj" fmla="val 11538"/>
            </a:avLst>
          </a:prstGeom>
          <a:solidFill>
            <a:srgbClr val="0E4A5A"/>
          </a:solidFill>
          <a:ln w="12383">
            <a:solidFill>
              <a:srgbClr val="0E4A5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1" name="Rectángulo 40">
            <a:extLst>
              <a:ext uri="{FF2B5EF4-FFF2-40B4-BE49-F238E27FC236}">
                <a16:creationId xmlns:a16="http://schemas.microsoft.com/office/drawing/2014/main" id="{4A262AD4-BA8E-4E4C-8EBD-67095BCB210E}"/>
              </a:ext>
            </a:extLst>
          </p:cNvPr>
          <p:cNvSpPr>
            <a:spLocks noGrp="1"/>
          </p:cNvSpPr>
          <p:nvPr/>
        </p:nvSpPr>
        <p:spPr>
          <a:xfrm>
            <a:off x="7524750" y="3343275"/>
            <a:ext cx="16383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RESPUESTA A(q)</a:t>
            </a:r>
          </a:p>
        </p:txBody>
      </p:sp>
      <p:pic>
        <p:nvPicPr>
          <p:cNvPr id="61" name="Imagen 60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943725" y="2137930"/>
            <a:ext cx="4524375" cy="372341"/>
          </a:xfrm>
          <a:prstGeom prst="rect">
            <a:avLst/>
          </a:prstGeom>
        </p:spPr>
      </p:pic>
      <p:sp>
        <p:nvSpPr>
          <p:cNvPr id="43" name="Rectángulo: esquinas redondeadas 42">
            <a:extLst>
              <a:ext uri="{FF2B5EF4-FFF2-40B4-BE49-F238E27FC236}">
                <a16:creationId xmlns:a16="http://schemas.microsoft.com/office/drawing/2014/main" id="{89605131-9CBD-4593-A19C-679A3FD0D886}"/>
              </a:ext>
            </a:extLst>
          </p:cNvPr>
          <p:cNvSpPr>
            <a:spLocks noGrp="1"/>
          </p:cNvSpPr>
          <p:nvPr/>
        </p:nvSpPr>
        <p:spPr>
          <a:xfrm>
            <a:off x="6905625" y="4429125"/>
            <a:ext cx="4600575" cy="704850"/>
          </a:xfrm>
          <a:prstGeom prst="roundRect">
            <a:avLst>
              <a:gd name="adj" fmla="val 16216"/>
            </a:avLst>
          </a:prstGeom>
          <a:solidFill>
            <a:srgbClr val="E3F9F6"/>
          </a:solidFill>
          <a:ln w="9525">
            <a:solidFill>
              <a:srgbClr val="33D6C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pic>
        <p:nvPicPr>
          <p:cNvPr id="63" name="Imagen 62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7813122" y="4524375"/>
            <a:ext cx="2785581" cy="514350"/>
          </a:xfrm>
          <a:prstGeom prst="rect">
            <a:avLst/>
          </a:prstGeom>
        </p:spPr>
      </p:pic>
      <p:sp>
        <p:nvSpPr>
          <p:cNvPr id="45" name="Rectángulo 44">
            <a:extLst>
              <a:ext uri="{FF2B5EF4-FFF2-40B4-BE49-F238E27FC236}">
                <a16:creationId xmlns:a16="http://schemas.microsoft.com/office/drawing/2014/main" id="{3140B93E-BEE8-4984-A205-E5D1F72D0D44}"/>
              </a:ext>
            </a:extLst>
          </p:cNvPr>
          <p:cNvSpPr>
            <a:spLocks noGrp="1"/>
          </p:cNvSpPr>
          <p:nvPr/>
        </p:nvSpPr>
        <p:spPr>
          <a:xfrm>
            <a:off x="685800" y="4772025"/>
            <a:ext cx="5810250" cy="971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35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Deits et al. seleccionan preguntas para maximizar la reducción de entropía; Zhang y Choi modelan cuándo aclarar mediante entropía sobre intenciones.</a:t>
            </a:r>
          </a:p>
        </p:txBody>
      </p:sp>
    </p:spTree>
    <p:extLst>
      <p:ext uri="{BB962C8B-B14F-4D97-AF65-F5344CB8AC3E}">
        <p14:creationId xmlns:p14="http://schemas.microsoft.com/office/powerpoint/2010/main" val="199008045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0B1020"/>
            </a:gs>
            <a:gs pos="58000">
              <a:srgbClr val="151B33"/>
            </a:gs>
            <a:gs pos="100000">
              <a:srgbClr val="252A55"/>
            </a:gs>
          </a:gsLst>
          <a:lin ang="8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ángulo 20">
            <a:extLst>
              <a:ext uri="{FF2B5EF4-FFF2-40B4-BE49-F238E27FC236}">
                <a16:creationId xmlns:a16="http://schemas.microsoft.com/office/drawing/2014/main" id="{AC4ECBD8-472B-4085-A083-5A7B9D993225}"/>
              </a:ext>
            </a:extLst>
          </p:cNvPr>
          <p:cNvSpPr>
            <a:spLocks noGrp="1"/>
          </p:cNvSpPr>
          <p:nvPr/>
        </p:nvSpPr>
        <p:spPr>
          <a:xfrm>
            <a:off x="685800" y="361950"/>
            <a:ext cx="4095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050" b="1" i="0">
                <a:solidFill>
                  <a:srgbClr val="33D6C8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33D6C8"/>
                </a:solidFill>
                <a:latin typeface="Aptos"/>
                <a:ea typeface="Aptos"/>
                <a:cs typeface="Aptos"/>
              </a:rPr>
              <a:t>23 / POLÍTICA DE INTERACCIÓN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49B6B045-8346-41BA-A2CF-BAC9FC519617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108204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92000"/>
              </a:lnSpc>
              <a:buNone/>
              <a:defRPr sz="2700" b="1" i="0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Preguntar conviene cuando reduce la pérdida más que su costo</a:t>
            </a:r>
          </a:p>
        </p:txBody>
      </p:sp>
      <p:sp>
        <p:nvSpPr>
          <p:cNvPr id="3" name="Conector recto 2">
            <a:extLst>
              <a:ext uri="{FF2B5EF4-FFF2-40B4-BE49-F238E27FC236}">
                <a16:creationId xmlns:a16="http://schemas.microsoft.com/office/drawing/2014/main" id="{F0E66491-C917-458B-8F87-F66B19211E59}"/>
              </a:ext>
            </a:extLst>
          </p:cNvPr>
          <p:cNvSpPr>
            <a:spLocks noGrp="1"/>
          </p:cNvSpPr>
          <p:nvPr/>
        </p:nvSpPr>
        <p:spPr>
          <a:xfrm>
            <a:off x="685800" y="1485900"/>
            <a:ext cx="10820400" cy="0"/>
          </a:xfrm>
          <a:prstGeom prst="line">
            <a:avLst/>
          </a:prstGeom>
          <a:noFill/>
          <a:ln w="9525">
            <a:solidFill>
              <a:srgbClr val="FFFFFF">
                <a:alpha val="18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AD746F23-325F-418A-A8A7-E1BBA4ABCC6E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95362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750" b="0" i="0">
                <a:solidFill>
                  <a:srgbClr val="9AA6C4"/>
                </a:solidFill>
                <a:latin typeface="Aptos"/>
                <a:ea typeface="Aptos"/>
                <a:cs typeface="Aptos"/>
              </a:defRPr>
            </a:pPr>
            <a:r>
              <a:rPr sz="750" b="0" i="0">
                <a:solidFill>
                  <a:srgbClr val="9AA6C4"/>
                </a:solidFill>
                <a:latin typeface="Aptos"/>
                <a:ea typeface="Aptos"/>
                <a:cs typeface="Aptos"/>
              </a:rPr>
              <a:t>Decisión Bayesiana · Berger (1985) · derivación</a:t>
            </a:r>
          </a:p>
        </p:txBody>
      </p:sp>
      <p:sp>
        <p:nvSpPr>
          <p:cNvPr id="17" name="Rectángulo 16">
            <a:extLst>
              <a:ext uri="{FF2B5EF4-FFF2-40B4-BE49-F238E27FC236}">
                <a16:creationId xmlns:a16="http://schemas.microsoft.com/office/drawing/2014/main" id="{D8D336B7-6E40-4728-80C8-8634E0542F59}"/>
              </a:ext>
            </a:extLst>
          </p:cNvPr>
          <p:cNvSpPr>
            <a:spLocks noGrp="1"/>
          </p:cNvSpPr>
          <p:nvPr/>
        </p:nvSpPr>
        <p:spPr>
          <a:xfrm>
            <a:off x="11049000" y="6438900"/>
            <a:ext cx="4572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r">
              <a:lnSpc>
                <a:spcPct val="100000"/>
              </a:lnSpc>
              <a:buNone/>
              <a:defRPr sz="825" b="1" i="0">
                <a:solidFill>
                  <a:srgbClr val="C9D1E6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C9D1E6"/>
                </a:solidFill>
                <a:latin typeface="Aptos"/>
                <a:ea typeface="Aptos"/>
                <a:cs typeface="Aptos"/>
              </a:rPr>
              <a:t>23</a:t>
            </a:r>
          </a:p>
        </p:txBody>
      </p:sp>
      <p:pic>
        <p:nvPicPr>
          <p:cNvPr id="38" name="Imagen 37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589231" y="1828800"/>
            <a:ext cx="3355688" cy="590550"/>
          </a:xfrm>
          <a:prstGeom prst="rect">
            <a:avLst/>
          </a:prstGeom>
        </p:spPr>
      </p:pic>
      <p:pic>
        <p:nvPicPr>
          <p:cNvPr id="39" name="Imagen 38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6191250" y="1905965"/>
            <a:ext cx="5276850" cy="436220"/>
          </a:xfrm>
          <a:prstGeom prst="rect">
            <a:avLst/>
          </a:prstGeom>
        </p:spPr>
      </p:pic>
      <p:sp>
        <p:nvSpPr>
          <p:cNvPr id="24" name="Rectángulo: esquinas redondeadas 23">
            <a:extLst>
              <a:ext uri="{FF2B5EF4-FFF2-40B4-BE49-F238E27FC236}">
                <a16:creationId xmlns:a16="http://schemas.microsoft.com/office/drawing/2014/main" id="{FEF91D85-D98E-4FBD-A47A-6C52016D16CF}"/>
              </a:ext>
            </a:extLst>
          </p:cNvPr>
          <p:cNvSpPr>
            <a:spLocks noGrp="1"/>
          </p:cNvSpPr>
          <p:nvPr/>
        </p:nvSpPr>
        <p:spPr>
          <a:xfrm>
            <a:off x="685800" y="2857500"/>
            <a:ext cx="4914900" cy="2152650"/>
          </a:xfrm>
          <a:prstGeom prst="roundRect">
            <a:avLst>
              <a:gd name="adj" fmla="val 7080"/>
            </a:avLst>
          </a:prstGeom>
          <a:solidFill>
            <a:srgbClr val="242C49"/>
          </a:solidFill>
          <a:ln w="11430">
            <a:solidFill>
              <a:srgbClr val="F5A14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5" name="Rectángulo: esquinas redondeadas 24">
            <a:extLst>
              <a:ext uri="{FF2B5EF4-FFF2-40B4-BE49-F238E27FC236}">
                <a16:creationId xmlns:a16="http://schemas.microsoft.com/office/drawing/2014/main" id="{29643769-947E-4A78-9419-DE4791FF81D9}"/>
              </a:ext>
            </a:extLst>
          </p:cNvPr>
          <p:cNvSpPr>
            <a:spLocks noGrp="1"/>
          </p:cNvSpPr>
          <p:nvPr/>
        </p:nvSpPr>
        <p:spPr>
          <a:xfrm>
            <a:off x="971550" y="3105150"/>
            <a:ext cx="1257300" cy="285750"/>
          </a:xfrm>
          <a:prstGeom prst="roundRect">
            <a:avLst>
              <a:gd name="adj" fmla="val 50000"/>
            </a:avLst>
          </a:prstGeom>
          <a:solidFill>
            <a:srgbClr val="3A3340"/>
          </a:solidFill>
          <a:ln w="9525">
            <a:solidFill>
              <a:srgbClr val="F5A14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6" name="Rectángulo 25">
            <a:extLst>
              <a:ext uri="{FF2B5EF4-FFF2-40B4-BE49-F238E27FC236}">
                <a16:creationId xmlns:a16="http://schemas.microsoft.com/office/drawing/2014/main" id="{B8B3341F-6CBF-40BE-8475-FD347B773956}"/>
              </a:ext>
            </a:extLst>
          </p:cNvPr>
          <p:cNvSpPr>
            <a:spLocks noGrp="1"/>
          </p:cNvSpPr>
          <p:nvPr/>
        </p:nvSpPr>
        <p:spPr>
          <a:xfrm>
            <a:off x="1028700" y="3143250"/>
            <a:ext cx="1143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RESPONDER</a:t>
            </a:r>
          </a:p>
        </p:txBody>
      </p:sp>
      <p:sp>
        <p:nvSpPr>
          <p:cNvPr id="27" name="Rectángulo 26">
            <a:extLst>
              <a:ext uri="{FF2B5EF4-FFF2-40B4-BE49-F238E27FC236}">
                <a16:creationId xmlns:a16="http://schemas.microsoft.com/office/drawing/2014/main" id="{A79F5385-91B3-4C9D-AEA5-DF393324126A}"/>
              </a:ext>
            </a:extLst>
          </p:cNvPr>
          <p:cNvSpPr>
            <a:spLocks noGrp="1"/>
          </p:cNvSpPr>
          <p:nvPr/>
        </p:nvSpPr>
        <p:spPr>
          <a:xfrm>
            <a:off x="1104900" y="3714750"/>
            <a:ext cx="4076700" cy="800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8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cuando el riesgo residual</a:t>
            </a:r>
          </a:p>
          <a:p>
            <a:pPr algn="ctr">
              <a:lnSpc>
                <a:spcPct val="100000"/>
              </a:lnSpc>
              <a:buNone/>
              <a:defRPr sz="18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es menor que preguntar</a:t>
            </a:r>
          </a:p>
        </p:txBody>
      </p:sp>
      <p:sp>
        <p:nvSpPr>
          <p:cNvPr id="28" name="Rectángulo: esquinas redondeadas 27">
            <a:extLst>
              <a:ext uri="{FF2B5EF4-FFF2-40B4-BE49-F238E27FC236}">
                <a16:creationId xmlns:a16="http://schemas.microsoft.com/office/drawing/2014/main" id="{BB44D943-EBA1-4965-995B-4A8F3349F933}"/>
              </a:ext>
            </a:extLst>
          </p:cNvPr>
          <p:cNvSpPr>
            <a:spLocks noGrp="1"/>
          </p:cNvSpPr>
          <p:nvPr/>
        </p:nvSpPr>
        <p:spPr>
          <a:xfrm>
            <a:off x="6591300" y="2857500"/>
            <a:ext cx="4914900" cy="2152650"/>
          </a:xfrm>
          <a:prstGeom prst="roundRect">
            <a:avLst>
              <a:gd name="adj" fmla="val 7080"/>
            </a:avLst>
          </a:prstGeom>
          <a:solidFill>
            <a:srgbClr val="242C49"/>
          </a:solidFill>
          <a:ln w="11430">
            <a:solidFill>
              <a:srgbClr val="33D6C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9" name="Rectángulo: esquinas redondeadas 28">
            <a:extLst>
              <a:ext uri="{FF2B5EF4-FFF2-40B4-BE49-F238E27FC236}">
                <a16:creationId xmlns:a16="http://schemas.microsoft.com/office/drawing/2014/main" id="{1C50A197-0D3B-4D98-8570-5517239FA34E}"/>
              </a:ext>
            </a:extLst>
          </p:cNvPr>
          <p:cNvSpPr>
            <a:spLocks noGrp="1"/>
          </p:cNvSpPr>
          <p:nvPr/>
        </p:nvSpPr>
        <p:spPr>
          <a:xfrm>
            <a:off x="6877050" y="3105150"/>
            <a:ext cx="1257300" cy="285750"/>
          </a:xfrm>
          <a:prstGeom prst="roundRect">
            <a:avLst>
              <a:gd name="adj" fmla="val 50000"/>
            </a:avLst>
          </a:prstGeom>
          <a:solidFill>
            <a:srgbClr val="263E4A"/>
          </a:solidFill>
          <a:ln w="9525">
            <a:solidFill>
              <a:srgbClr val="33D6C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0" name="Rectángulo 29">
            <a:extLst>
              <a:ext uri="{FF2B5EF4-FFF2-40B4-BE49-F238E27FC236}">
                <a16:creationId xmlns:a16="http://schemas.microsoft.com/office/drawing/2014/main" id="{5740B0D2-ED5D-48FF-A7C8-9FD650502B14}"/>
              </a:ext>
            </a:extLst>
          </p:cNvPr>
          <p:cNvSpPr>
            <a:spLocks noGrp="1"/>
          </p:cNvSpPr>
          <p:nvPr/>
        </p:nvSpPr>
        <p:spPr>
          <a:xfrm>
            <a:off x="6934200" y="3143250"/>
            <a:ext cx="1143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ACLARAR</a:t>
            </a:r>
          </a:p>
        </p:txBody>
      </p:sp>
      <p:sp>
        <p:nvSpPr>
          <p:cNvPr id="31" name="Rectángulo 30">
            <a:extLst>
              <a:ext uri="{FF2B5EF4-FFF2-40B4-BE49-F238E27FC236}">
                <a16:creationId xmlns:a16="http://schemas.microsoft.com/office/drawing/2014/main" id="{6B1D2F13-7357-418B-A04E-B082C03781E2}"/>
              </a:ext>
            </a:extLst>
          </p:cNvPr>
          <p:cNvSpPr>
            <a:spLocks noGrp="1"/>
          </p:cNvSpPr>
          <p:nvPr/>
        </p:nvSpPr>
        <p:spPr>
          <a:xfrm>
            <a:off x="7010400" y="3714750"/>
            <a:ext cx="4076700" cy="800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8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cuando la reducción esperada</a:t>
            </a:r>
          </a:p>
          <a:p>
            <a:pPr algn="ctr">
              <a:lnSpc>
                <a:spcPct val="100000"/>
              </a:lnSpc>
              <a:buNone/>
              <a:defRPr sz="18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de pérdida supera c(q)</a:t>
            </a:r>
          </a:p>
        </p:txBody>
      </p:sp>
      <p:pic>
        <p:nvPicPr>
          <p:cNvPr id="48" name="Imagen 47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4571531" y="5448300"/>
            <a:ext cx="3048938" cy="552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97471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ángulo 19">
            <a:extLst>
              <a:ext uri="{FF2B5EF4-FFF2-40B4-BE49-F238E27FC236}">
                <a16:creationId xmlns:a16="http://schemas.microsoft.com/office/drawing/2014/main" id="{281BC5DE-0C3D-4543-AB23-A87672E76DD2}"/>
              </a:ext>
            </a:extLst>
          </p:cNvPr>
          <p:cNvSpPr>
            <a:spLocks noGrp="1"/>
          </p:cNvSpPr>
          <p:nvPr/>
        </p:nvSpPr>
        <p:spPr>
          <a:xfrm>
            <a:off x="685800" y="361950"/>
            <a:ext cx="4095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050" b="1" i="0">
                <a:solidFill>
                  <a:srgbClr val="6C63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6C63FF"/>
                </a:solidFill>
                <a:latin typeface="Aptos"/>
                <a:ea typeface="Aptos"/>
                <a:cs typeface="Aptos"/>
              </a:rPr>
              <a:t>24 / EVIDENCIA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36C5EF37-681E-4E86-AE33-2BC5ADD3AF83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10820400" cy="1104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92000"/>
              </a:lnSpc>
              <a:buNone/>
              <a:defRPr sz="2775" b="1" i="0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El contexto mejora QA, pero puede suprimir la aclaración</a:t>
            </a:r>
          </a:p>
        </p:txBody>
      </p:sp>
      <p:sp>
        <p:nvSpPr>
          <p:cNvPr id="17" name="Rectángulo 16">
            <a:extLst>
              <a:ext uri="{FF2B5EF4-FFF2-40B4-BE49-F238E27FC236}">
                <a16:creationId xmlns:a16="http://schemas.microsoft.com/office/drawing/2014/main" id="{FD969B46-FB75-4770-A9AC-8FD6CFA280CC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95362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750" b="0" i="0">
                <a:solidFill>
                  <a:srgbClr val="8792AA"/>
                </a:solidFill>
                <a:latin typeface="Aptos"/>
                <a:ea typeface="Aptos"/>
                <a:cs typeface="Aptos"/>
              </a:defRPr>
            </a:pPr>
            <a:r>
              <a:rPr sz="750" b="0" i="0">
                <a:solidFill>
                  <a:srgbClr val="8792AA"/>
                </a:solidFill>
                <a:latin typeface="Aptos"/>
                <a:ea typeface="Aptos"/>
                <a:cs typeface="Aptos"/>
              </a:rPr>
              <a:t>Su &amp; Cardie (2026, preprint) · Fig. 1 y 5 · muestra de 1,000</a:t>
            </a:r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388466D4-5B21-4246-8A22-8296D502BA60}"/>
              </a:ext>
            </a:extLst>
          </p:cNvPr>
          <p:cNvSpPr>
            <a:spLocks noGrp="1"/>
          </p:cNvSpPr>
          <p:nvPr/>
        </p:nvSpPr>
        <p:spPr>
          <a:xfrm>
            <a:off x="11049000" y="6438900"/>
            <a:ext cx="4572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r">
              <a:lnSpc>
                <a:spcPct val="100000"/>
              </a:lnSpc>
              <a:buNone/>
              <a:defRPr sz="825" b="1" i="0">
                <a:solidFill>
                  <a:srgbClr val="7B879F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7B879F"/>
                </a:solidFill>
                <a:latin typeface="Aptos"/>
                <a:ea typeface="Aptos"/>
                <a:cs typeface="Aptos"/>
              </a:rPr>
              <a:t>24</a:t>
            </a:r>
          </a:p>
        </p:txBody>
      </p:sp>
      <p:graphicFrame>
        <p:nvGraphicFramePr>
          <p:cNvPr id="37" name="Chart"/>
          <p:cNvGraphicFramePr/>
          <p:nvPr/>
        </p:nvGraphicFramePr>
        <p:xfrm>
          <a:off x="1143000" y="2238375"/>
          <a:ext cx="5715000" cy="31432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2" name="Rectángulo: esquinas redondeadas 21">
            <a:extLst>
              <a:ext uri="{FF2B5EF4-FFF2-40B4-BE49-F238E27FC236}">
                <a16:creationId xmlns:a16="http://schemas.microsoft.com/office/drawing/2014/main" id="{F0EA515C-3CC0-4405-9794-991D5FD30582}"/>
              </a:ext>
            </a:extLst>
          </p:cNvPr>
          <p:cNvSpPr>
            <a:spLocks noGrp="1"/>
          </p:cNvSpPr>
          <p:nvPr/>
        </p:nvSpPr>
        <p:spPr>
          <a:xfrm>
            <a:off x="7429500" y="2076450"/>
            <a:ext cx="1809750" cy="285750"/>
          </a:xfrm>
          <a:prstGeom prst="roundRect">
            <a:avLst>
              <a:gd name="adj" fmla="val 50000"/>
            </a:avLst>
          </a:prstGeom>
          <a:solidFill>
            <a:srgbClr val="EEECFF"/>
          </a:solidFill>
          <a:ln w="9525">
            <a:solidFill>
              <a:srgbClr val="6C63FF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3" name="Rectángulo 22">
            <a:extLst>
              <a:ext uri="{FF2B5EF4-FFF2-40B4-BE49-F238E27FC236}">
                <a16:creationId xmlns:a16="http://schemas.microsoft.com/office/drawing/2014/main" id="{9D62CB99-586E-4F45-9772-9495B175E29E}"/>
              </a:ext>
            </a:extLst>
          </p:cNvPr>
          <p:cNvSpPr>
            <a:spLocks noGrp="1"/>
          </p:cNvSpPr>
          <p:nvPr/>
        </p:nvSpPr>
        <p:spPr>
          <a:xfrm>
            <a:off x="7486650" y="2114550"/>
            <a:ext cx="16954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900" b="1">
                <a:solidFill>
                  <a:srgbClr val="6C63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C63FF"/>
                </a:solidFill>
                <a:latin typeface="Aptos"/>
                <a:ea typeface="Aptos"/>
                <a:cs typeface="Aptos"/>
              </a:rPr>
              <a:t>PREPRINT · MAYO 2026</a:t>
            </a:r>
          </a:p>
        </p:txBody>
      </p:sp>
      <p:sp>
        <p:nvSpPr>
          <p:cNvPr id="24" name="Rectángulo 23">
            <a:extLst>
              <a:ext uri="{FF2B5EF4-FFF2-40B4-BE49-F238E27FC236}">
                <a16:creationId xmlns:a16="http://schemas.microsoft.com/office/drawing/2014/main" id="{C986ED1B-20D4-41F5-A88E-489EA62983A9}"/>
              </a:ext>
            </a:extLst>
          </p:cNvPr>
          <p:cNvSpPr>
            <a:spLocks noGrp="1"/>
          </p:cNvSpPr>
          <p:nvPr/>
        </p:nvSpPr>
        <p:spPr>
          <a:xfrm>
            <a:off x="7429500" y="2609850"/>
            <a:ext cx="2476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350" b="1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667085"/>
                </a:solidFill>
                <a:latin typeface="Aptos"/>
                <a:ea typeface="Aptos"/>
                <a:cs typeface="Aptos"/>
              </a:rPr>
              <a:t>QA promedio</a:t>
            </a:r>
          </a:p>
        </p:txBody>
      </p:sp>
      <p:sp>
        <p:nvSpPr>
          <p:cNvPr id="25" name="Rectángulo 24">
            <a:extLst>
              <a:ext uri="{FF2B5EF4-FFF2-40B4-BE49-F238E27FC236}">
                <a16:creationId xmlns:a16="http://schemas.microsoft.com/office/drawing/2014/main" id="{5E7E53D2-6217-402B-B01D-826E78D6776B}"/>
              </a:ext>
            </a:extLst>
          </p:cNvPr>
          <p:cNvSpPr>
            <a:spLocks noGrp="1"/>
          </p:cNvSpPr>
          <p:nvPr/>
        </p:nvSpPr>
        <p:spPr>
          <a:xfrm>
            <a:off x="7429500" y="3048000"/>
            <a:ext cx="34290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lnSpc>
                <a:spcPct val="100000"/>
              </a:lnSpc>
              <a:buNone/>
              <a:defRPr sz="2400" b="1">
                <a:solidFill>
                  <a:srgbClr val="49C986"/>
                </a:solidFill>
                <a:latin typeface="Aptos"/>
                <a:ea typeface="Aptos"/>
                <a:cs typeface="Aptos"/>
              </a:defRPr>
            </a:pPr>
            <a:r>
              <a:rPr sz="2400" b="1">
                <a:solidFill>
                  <a:srgbClr val="49C986"/>
                </a:solidFill>
                <a:latin typeface="Aptos"/>
                <a:ea typeface="Aptos"/>
                <a:cs typeface="Aptos"/>
              </a:rPr>
              <a:t>54% → 67%</a:t>
            </a:r>
          </a:p>
        </p:txBody>
      </p:sp>
      <p:sp>
        <p:nvSpPr>
          <p:cNvPr id="26" name="Rectángulo 25">
            <a:extLst>
              <a:ext uri="{FF2B5EF4-FFF2-40B4-BE49-F238E27FC236}">
                <a16:creationId xmlns:a16="http://schemas.microsoft.com/office/drawing/2014/main" id="{7755E816-4309-44FF-9A86-67B84C44EEDF}"/>
              </a:ext>
            </a:extLst>
          </p:cNvPr>
          <p:cNvSpPr>
            <a:spLocks noGrp="1"/>
          </p:cNvSpPr>
          <p:nvPr/>
        </p:nvSpPr>
        <p:spPr>
          <a:xfrm>
            <a:off x="7429500" y="3524250"/>
            <a:ext cx="3429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27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preguntas no ambiguas</a:t>
            </a:r>
          </a:p>
        </p:txBody>
      </p:sp>
      <p:sp>
        <p:nvSpPr>
          <p:cNvPr id="27" name="Rectángulo 26">
            <a:extLst>
              <a:ext uri="{FF2B5EF4-FFF2-40B4-BE49-F238E27FC236}">
                <a16:creationId xmlns:a16="http://schemas.microsoft.com/office/drawing/2014/main" id="{9A4C9176-EB53-4B77-9E60-53D8C7F20EB0}"/>
              </a:ext>
            </a:extLst>
          </p:cNvPr>
          <p:cNvSpPr>
            <a:spLocks noGrp="1"/>
          </p:cNvSpPr>
          <p:nvPr/>
        </p:nvSpPr>
        <p:spPr>
          <a:xfrm>
            <a:off x="7429500" y="3962400"/>
            <a:ext cx="34290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lnSpc>
                <a:spcPct val="100000"/>
              </a:lnSpc>
              <a:buNone/>
              <a:defRPr sz="2400" b="1">
                <a:solidFill>
                  <a:srgbClr val="F5A14A"/>
                </a:solidFill>
                <a:latin typeface="Aptos"/>
                <a:ea typeface="Aptos"/>
                <a:cs typeface="Aptos"/>
              </a:defRPr>
            </a:pPr>
            <a:r>
              <a:rPr sz="2400" b="1">
                <a:solidFill>
                  <a:srgbClr val="F5A14A"/>
                </a:solidFill>
                <a:latin typeface="Aptos"/>
                <a:ea typeface="Aptos"/>
                <a:cs typeface="Aptos"/>
              </a:rPr>
              <a:t>46% → 55%</a:t>
            </a:r>
          </a:p>
        </p:txBody>
      </p:sp>
      <p:sp>
        <p:nvSpPr>
          <p:cNvPr id="28" name="Rectángulo 27">
            <a:extLst>
              <a:ext uri="{FF2B5EF4-FFF2-40B4-BE49-F238E27FC236}">
                <a16:creationId xmlns:a16="http://schemas.microsoft.com/office/drawing/2014/main" id="{A9600B14-7478-4346-946C-8566808D45C4}"/>
              </a:ext>
            </a:extLst>
          </p:cNvPr>
          <p:cNvSpPr>
            <a:spLocks noGrp="1"/>
          </p:cNvSpPr>
          <p:nvPr/>
        </p:nvSpPr>
        <p:spPr>
          <a:xfrm>
            <a:off x="7429500" y="4438650"/>
            <a:ext cx="3429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27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preguntas ambiguas</a:t>
            </a:r>
          </a:p>
        </p:txBody>
      </p:sp>
      <p:sp>
        <p:nvSpPr>
          <p:cNvPr id="29" name="Rectángulo 28">
            <a:extLst>
              <a:ext uri="{FF2B5EF4-FFF2-40B4-BE49-F238E27FC236}">
                <a16:creationId xmlns:a16="http://schemas.microsoft.com/office/drawing/2014/main" id="{C5C405C8-937A-4A48-952D-5C7496365A52}"/>
              </a:ext>
            </a:extLst>
          </p:cNvPr>
          <p:cNvSpPr>
            <a:spLocks noGrp="1"/>
          </p:cNvSpPr>
          <p:nvPr/>
        </p:nvSpPr>
        <p:spPr>
          <a:xfrm>
            <a:off x="7429500" y="4933950"/>
            <a:ext cx="3714750" cy="9525"/>
          </a:xfrm>
          <a:prstGeom prst="rect">
            <a:avLst/>
          </a:prstGeom>
          <a:solidFill>
            <a:srgbClr val="D9DEEA"/>
          </a:solidFill>
          <a:ln w="0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0" name="Rectángulo 29">
            <a:extLst>
              <a:ext uri="{FF2B5EF4-FFF2-40B4-BE49-F238E27FC236}">
                <a16:creationId xmlns:a16="http://schemas.microsoft.com/office/drawing/2014/main" id="{A04B978D-5564-4D5E-9C68-B71485219A48}"/>
              </a:ext>
            </a:extLst>
          </p:cNvPr>
          <p:cNvSpPr>
            <a:spLocks noGrp="1"/>
          </p:cNvSpPr>
          <p:nvPr/>
        </p:nvSpPr>
        <p:spPr>
          <a:xfrm>
            <a:off x="7429500" y="5162550"/>
            <a:ext cx="2095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350" b="1">
                <a:solidFill>
                  <a:srgbClr val="FF647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F647C"/>
                </a:solidFill>
                <a:latin typeface="Aptos"/>
                <a:ea typeface="Aptos"/>
                <a:cs typeface="Aptos"/>
              </a:rPr>
              <a:t>Aclaración: rara</a:t>
            </a:r>
          </a:p>
        </p:txBody>
      </p:sp>
      <p:sp>
        <p:nvSpPr>
          <p:cNvPr id="31" name="Rectángulo 30">
            <a:extLst>
              <a:ext uri="{FF2B5EF4-FFF2-40B4-BE49-F238E27FC236}">
                <a16:creationId xmlns:a16="http://schemas.microsoft.com/office/drawing/2014/main" id="{80558BF7-2ACA-4CC0-BD73-8CB257CD289F}"/>
              </a:ext>
            </a:extLst>
          </p:cNvPr>
          <p:cNvSpPr>
            <a:spLocks noGrp="1"/>
          </p:cNvSpPr>
          <p:nvPr/>
        </p:nvSpPr>
        <p:spPr>
          <a:xfrm>
            <a:off x="7429500" y="5505450"/>
            <a:ext cx="37147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20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máximo ≈5% en preguntas ambiguas sin contexto; añadir contexto la reduce</a:t>
            </a:r>
          </a:p>
        </p:txBody>
      </p:sp>
      <p:sp>
        <p:nvSpPr>
          <p:cNvPr id="32" name="Rectángulo 31">
            <a:extLst>
              <a:ext uri="{FF2B5EF4-FFF2-40B4-BE49-F238E27FC236}">
                <a16:creationId xmlns:a16="http://schemas.microsoft.com/office/drawing/2014/main" id="{FC054D04-5EBF-4C99-B18B-70AA42809DF1}"/>
              </a:ext>
            </a:extLst>
          </p:cNvPr>
          <p:cNvSpPr>
            <a:spLocks noGrp="1"/>
          </p:cNvSpPr>
          <p:nvPr/>
        </p:nvSpPr>
        <p:spPr>
          <a:xfrm>
            <a:off x="1200150" y="5753100"/>
            <a:ext cx="56578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90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Método: 10 modelos · muestra de 1,000 ítems de AmbigQA (425 no ambiguos, 575 ambiguos).</a:t>
            </a:r>
          </a:p>
        </p:txBody>
      </p:sp>
    </p:spTree>
    <p:extLst>
      <p:ext uri="{BB962C8B-B14F-4D97-AF65-F5344CB8AC3E}">
        <p14:creationId xmlns:p14="http://schemas.microsoft.com/office/powerpoint/2010/main" val="66128192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0B1020"/>
            </a:gs>
            <a:gs pos="58000">
              <a:srgbClr val="151B33"/>
            </a:gs>
            <a:gs pos="100000">
              <a:srgbClr val="252A55"/>
            </a:gs>
          </a:gsLst>
          <a:lin ang="8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Rectángulo 34">
            <a:extLst>
              <a:ext uri="{FF2B5EF4-FFF2-40B4-BE49-F238E27FC236}">
                <a16:creationId xmlns:a16="http://schemas.microsoft.com/office/drawing/2014/main" id="{71AE5709-42AC-4DFC-A84F-827CCDB41D3A}"/>
              </a:ext>
            </a:extLst>
          </p:cNvPr>
          <p:cNvSpPr>
            <a:spLocks noGrp="1"/>
          </p:cNvSpPr>
          <p:nvPr/>
        </p:nvSpPr>
        <p:spPr>
          <a:xfrm>
            <a:off x="685800" y="361950"/>
            <a:ext cx="4095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050" b="1" i="0">
                <a:solidFill>
                  <a:srgbClr val="33D6C8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33D6C8"/>
                </a:solidFill>
                <a:latin typeface="Aptos"/>
                <a:ea typeface="Aptos"/>
                <a:cs typeface="Aptos"/>
              </a:rPr>
              <a:t>25 / DISEÑO OPERATIVO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9FF79EB8-9C9F-483A-B1F1-643B8FBDA6D0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108204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92000"/>
              </a:lnSpc>
              <a:buNone/>
              <a:defRPr sz="2850" b="1" i="0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Diseña el sistema alrededor de la incertidumbre</a:t>
            </a:r>
          </a:p>
        </p:txBody>
      </p:sp>
      <p:sp>
        <p:nvSpPr>
          <p:cNvPr id="3" name="Conector recto 2">
            <a:extLst>
              <a:ext uri="{FF2B5EF4-FFF2-40B4-BE49-F238E27FC236}">
                <a16:creationId xmlns:a16="http://schemas.microsoft.com/office/drawing/2014/main" id="{91620042-D36E-4E8A-9C61-2E0452870D67}"/>
              </a:ext>
            </a:extLst>
          </p:cNvPr>
          <p:cNvSpPr>
            <a:spLocks noGrp="1"/>
          </p:cNvSpPr>
          <p:nvPr/>
        </p:nvSpPr>
        <p:spPr>
          <a:xfrm>
            <a:off x="685800" y="1485900"/>
            <a:ext cx="10820400" cy="0"/>
          </a:xfrm>
          <a:prstGeom prst="line">
            <a:avLst/>
          </a:prstGeom>
          <a:noFill/>
          <a:ln w="9525">
            <a:solidFill>
              <a:srgbClr val="FFFFFF">
                <a:alpha val="18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Rectángulo 29">
            <a:extLst>
              <a:ext uri="{FF2B5EF4-FFF2-40B4-BE49-F238E27FC236}">
                <a16:creationId xmlns:a16="http://schemas.microsoft.com/office/drawing/2014/main" id="{888A5BC7-5175-4565-9FD5-EA3BD9A31498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95362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750" b="0" i="0">
                <a:solidFill>
                  <a:srgbClr val="9AA6C4"/>
                </a:solidFill>
                <a:latin typeface="Aptos"/>
                <a:ea typeface="Aptos"/>
                <a:cs typeface="Aptos"/>
              </a:defRPr>
            </a:pPr>
            <a:r>
              <a:rPr sz="750" b="0" i="0">
                <a:solidFill>
                  <a:srgbClr val="9AA6C4"/>
                </a:solidFill>
                <a:latin typeface="Aptos"/>
                <a:ea typeface="Aptos"/>
                <a:cs typeface="Aptos"/>
              </a:rPr>
              <a:t>Síntesis · survey · Zhang &amp; Choi (2025) · Su &amp; Cardie (2026)</a:t>
            </a:r>
          </a:p>
        </p:txBody>
      </p:sp>
      <p:sp>
        <p:nvSpPr>
          <p:cNvPr id="31" name="Rectángulo 30">
            <a:extLst>
              <a:ext uri="{FF2B5EF4-FFF2-40B4-BE49-F238E27FC236}">
                <a16:creationId xmlns:a16="http://schemas.microsoft.com/office/drawing/2014/main" id="{36356272-0711-4EA4-9FFC-D3FFE9D30FB9}"/>
              </a:ext>
            </a:extLst>
          </p:cNvPr>
          <p:cNvSpPr>
            <a:spLocks noGrp="1"/>
          </p:cNvSpPr>
          <p:nvPr/>
        </p:nvSpPr>
        <p:spPr>
          <a:xfrm>
            <a:off x="11049000" y="6438900"/>
            <a:ext cx="4572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r">
              <a:lnSpc>
                <a:spcPct val="100000"/>
              </a:lnSpc>
              <a:buNone/>
              <a:defRPr sz="825" b="1" i="0">
                <a:solidFill>
                  <a:srgbClr val="C9D1E6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C9D1E6"/>
                </a:solidFill>
                <a:latin typeface="Aptos"/>
                <a:ea typeface="Aptos"/>
                <a:cs typeface="Aptos"/>
              </a:rPr>
              <a:t>25</a:t>
            </a:r>
          </a:p>
        </p:txBody>
      </p:sp>
      <p:sp>
        <p:nvSpPr>
          <p:cNvPr id="36" name="Flecha: a la derecha 35">
            <a:extLst>
              <a:ext uri="{FF2B5EF4-FFF2-40B4-BE49-F238E27FC236}">
                <a16:creationId xmlns:a16="http://schemas.microsoft.com/office/drawing/2014/main" id="{27196139-F364-4211-8D8E-02DEFE432770}"/>
              </a:ext>
            </a:extLst>
          </p:cNvPr>
          <p:cNvSpPr>
            <a:spLocks noGrp="1"/>
          </p:cNvSpPr>
          <p:nvPr/>
        </p:nvSpPr>
        <p:spPr>
          <a:xfrm>
            <a:off x="2409825" y="3667125"/>
            <a:ext cx="438150" cy="228600"/>
          </a:xfrm>
          <a:prstGeom prst="rightArrow">
            <a:avLst/>
          </a:prstGeom>
          <a:solidFill>
            <a:srgbClr val="59627E"/>
          </a:solidFill>
          <a:ln w="9525">
            <a:solidFill>
              <a:srgbClr val="59627E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7" name="Flecha: a la derecha 36">
            <a:extLst>
              <a:ext uri="{FF2B5EF4-FFF2-40B4-BE49-F238E27FC236}">
                <a16:creationId xmlns:a16="http://schemas.microsoft.com/office/drawing/2014/main" id="{40523F34-11A0-4000-AD8C-08B5E27B2D16}"/>
              </a:ext>
            </a:extLst>
          </p:cNvPr>
          <p:cNvSpPr>
            <a:spLocks noGrp="1"/>
          </p:cNvSpPr>
          <p:nvPr/>
        </p:nvSpPr>
        <p:spPr>
          <a:xfrm>
            <a:off x="4619625" y="3667125"/>
            <a:ext cx="438150" cy="228600"/>
          </a:xfrm>
          <a:prstGeom prst="rightArrow">
            <a:avLst/>
          </a:prstGeom>
          <a:solidFill>
            <a:srgbClr val="59627E"/>
          </a:solidFill>
          <a:ln w="9525">
            <a:solidFill>
              <a:srgbClr val="59627E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8" name="Flecha: a la derecha 37">
            <a:extLst>
              <a:ext uri="{FF2B5EF4-FFF2-40B4-BE49-F238E27FC236}">
                <a16:creationId xmlns:a16="http://schemas.microsoft.com/office/drawing/2014/main" id="{7AE486B5-0339-4A0E-AA36-7BF7914E74E5}"/>
              </a:ext>
            </a:extLst>
          </p:cNvPr>
          <p:cNvSpPr>
            <a:spLocks noGrp="1"/>
          </p:cNvSpPr>
          <p:nvPr/>
        </p:nvSpPr>
        <p:spPr>
          <a:xfrm>
            <a:off x="6829425" y="3667125"/>
            <a:ext cx="438150" cy="228600"/>
          </a:xfrm>
          <a:prstGeom prst="rightArrow">
            <a:avLst/>
          </a:prstGeom>
          <a:solidFill>
            <a:srgbClr val="59627E"/>
          </a:solidFill>
          <a:ln w="9525">
            <a:solidFill>
              <a:srgbClr val="59627E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9" name="Flecha: a la derecha 38">
            <a:extLst>
              <a:ext uri="{FF2B5EF4-FFF2-40B4-BE49-F238E27FC236}">
                <a16:creationId xmlns:a16="http://schemas.microsoft.com/office/drawing/2014/main" id="{E8044648-83EE-4BA5-8776-C2A25BC641DB}"/>
              </a:ext>
            </a:extLst>
          </p:cNvPr>
          <p:cNvSpPr>
            <a:spLocks noGrp="1"/>
          </p:cNvSpPr>
          <p:nvPr/>
        </p:nvSpPr>
        <p:spPr>
          <a:xfrm>
            <a:off x="9039225" y="3667125"/>
            <a:ext cx="438150" cy="228600"/>
          </a:xfrm>
          <a:prstGeom prst="rightArrow">
            <a:avLst/>
          </a:prstGeom>
          <a:solidFill>
            <a:srgbClr val="59627E"/>
          </a:solidFill>
          <a:ln w="9525">
            <a:solidFill>
              <a:srgbClr val="59627E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0" name="Rectángulo: esquinas redondeadas 39">
            <a:extLst>
              <a:ext uri="{FF2B5EF4-FFF2-40B4-BE49-F238E27FC236}">
                <a16:creationId xmlns:a16="http://schemas.microsoft.com/office/drawing/2014/main" id="{6BC0555F-AC50-4CC9-B1A9-82363D059DFC}"/>
              </a:ext>
            </a:extLst>
          </p:cNvPr>
          <p:cNvSpPr>
            <a:spLocks noGrp="1"/>
          </p:cNvSpPr>
          <p:nvPr/>
        </p:nvSpPr>
        <p:spPr>
          <a:xfrm>
            <a:off x="685800" y="2914650"/>
            <a:ext cx="1809750" cy="1733550"/>
          </a:xfrm>
          <a:prstGeom prst="roundRect">
            <a:avLst>
              <a:gd name="adj" fmla="val 8791"/>
            </a:avLst>
          </a:prstGeom>
          <a:solidFill>
            <a:srgbClr val="242C49"/>
          </a:solidFill>
          <a:ln w="12383">
            <a:solidFill>
              <a:srgbClr val="F5A14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1" name="Rectángulo 40">
            <a:extLst>
              <a:ext uri="{FF2B5EF4-FFF2-40B4-BE49-F238E27FC236}">
                <a16:creationId xmlns:a16="http://schemas.microsoft.com/office/drawing/2014/main" id="{AA451D81-1341-499E-A6C2-3139E12BDAAF}"/>
              </a:ext>
            </a:extLst>
          </p:cNvPr>
          <p:cNvSpPr>
            <a:spLocks noGrp="1"/>
          </p:cNvSpPr>
          <p:nvPr/>
        </p:nvSpPr>
        <p:spPr>
          <a:xfrm>
            <a:off x="838200" y="3105150"/>
            <a:ext cx="285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125" b="1">
                <a:solidFill>
                  <a:srgbClr val="F5A1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5A14A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42" name="Rectángulo 41">
            <a:extLst>
              <a:ext uri="{FF2B5EF4-FFF2-40B4-BE49-F238E27FC236}">
                <a16:creationId xmlns:a16="http://schemas.microsoft.com/office/drawing/2014/main" id="{8B5BB9D0-7ECB-4CE9-B4A4-7ED679C45519}"/>
              </a:ext>
            </a:extLst>
          </p:cNvPr>
          <p:cNvSpPr>
            <a:spLocks noGrp="1"/>
          </p:cNvSpPr>
          <p:nvPr/>
        </p:nvSpPr>
        <p:spPr>
          <a:xfrm>
            <a:off x="838200" y="3533775"/>
            <a:ext cx="15049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DETECTAR</a:t>
            </a:r>
          </a:p>
        </p:txBody>
      </p:sp>
      <p:sp>
        <p:nvSpPr>
          <p:cNvPr id="43" name="Rectángulo 42">
            <a:extLst>
              <a:ext uri="{FF2B5EF4-FFF2-40B4-BE49-F238E27FC236}">
                <a16:creationId xmlns:a16="http://schemas.microsoft.com/office/drawing/2014/main" id="{4CFEDFC2-A3D2-41CB-A8F2-04E7CFCD514F}"/>
              </a:ext>
            </a:extLst>
          </p:cNvPr>
          <p:cNvSpPr>
            <a:spLocks noGrp="1"/>
          </p:cNvSpPr>
          <p:nvPr/>
        </p:nvSpPr>
        <p:spPr>
          <a:xfrm>
            <a:off x="838200" y="3981450"/>
            <a:ext cx="15049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125" b="0">
                <a:solidFill>
                  <a:srgbClr val="C9D1E6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C9D1E6"/>
                </a:solidFill>
                <a:latin typeface="Aptos"/>
                <a:ea typeface="Aptos"/>
                <a:cs typeface="Aptos"/>
              </a:rPr>
              <a:t>estimar p(Z|X,C)</a:t>
            </a:r>
          </a:p>
        </p:txBody>
      </p:sp>
      <p:sp>
        <p:nvSpPr>
          <p:cNvPr id="44" name="Rectángulo: esquinas redondeadas 43">
            <a:extLst>
              <a:ext uri="{FF2B5EF4-FFF2-40B4-BE49-F238E27FC236}">
                <a16:creationId xmlns:a16="http://schemas.microsoft.com/office/drawing/2014/main" id="{137EC51E-4A96-4A99-842D-B2D63DC7CBA1}"/>
              </a:ext>
            </a:extLst>
          </p:cNvPr>
          <p:cNvSpPr>
            <a:spLocks noGrp="1"/>
          </p:cNvSpPr>
          <p:nvPr/>
        </p:nvSpPr>
        <p:spPr>
          <a:xfrm>
            <a:off x="2895600" y="2914650"/>
            <a:ext cx="1809750" cy="1733550"/>
          </a:xfrm>
          <a:prstGeom prst="roundRect">
            <a:avLst>
              <a:gd name="adj" fmla="val 8791"/>
            </a:avLst>
          </a:prstGeom>
          <a:solidFill>
            <a:srgbClr val="242C49"/>
          </a:solidFill>
          <a:ln w="12383">
            <a:solidFill>
              <a:srgbClr val="33D6C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5" name="Rectángulo 44">
            <a:extLst>
              <a:ext uri="{FF2B5EF4-FFF2-40B4-BE49-F238E27FC236}">
                <a16:creationId xmlns:a16="http://schemas.microsoft.com/office/drawing/2014/main" id="{8FD22139-7E5E-4400-A82C-9949C3904330}"/>
              </a:ext>
            </a:extLst>
          </p:cNvPr>
          <p:cNvSpPr>
            <a:spLocks noGrp="1"/>
          </p:cNvSpPr>
          <p:nvPr/>
        </p:nvSpPr>
        <p:spPr>
          <a:xfrm>
            <a:off x="3048000" y="3105150"/>
            <a:ext cx="285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125" b="1">
                <a:solidFill>
                  <a:srgbClr val="33D6C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3D6C8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46" name="Rectángulo 45">
            <a:extLst>
              <a:ext uri="{FF2B5EF4-FFF2-40B4-BE49-F238E27FC236}">
                <a16:creationId xmlns:a16="http://schemas.microsoft.com/office/drawing/2014/main" id="{77C3868C-A951-48F3-9B54-E4ABD06CA1A9}"/>
              </a:ext>
            </a:extLst>
          </p:cNvPr>
          <p:cNvSpPr>
            <a:spLocks noGrp="1"/>
          </p:cNvSpPr>
          <p:nvPr/>
        </p:nvSpPr>
        <p:spPr>
          <a:xfrm>
            <a:off x="3048000" y="3533775"/>
            <a:ext cx="15049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DECIDIR</a:t>
            </a:r>
          </a:p>
        </p:txBody>
      </p:sp>
      <p:sp>
        <p:nvSpPr>
          <p:cNvPr id="47" name="Rectángulo 46">
            <a:extLst>
              <a:ext uri="{FF2B5EF4-FFF2-40B4-BE49-F238E27FC236}">
                <a16:creationId xmlns:a16="http://schemas.microsoft.com/office/drawing/2014/main" id="{FFF663C2-50FE-4826-9419-C8B28E8B1C76}"/>
              </a:ext>
            </a:extLst>
          </p:cNvPr>
          <p:cNvSpPr>
            <a:spLocks noGrp="1"/>
          </p:cNvSpPr>
          <p:nvPr/>
        </p:nvSpPr>
        <p:spPr>
          <a:xfrm>
            <a:off x="3048000" y="3981450"/>
            <a:ext cx="15049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125" b="0">
                <a:solidFill>
                  <a:srgbClr val="C9D1E6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C9D1E6"/>
                </a:solidFill>
                <a:latin typeface="Aptos"/>
                <a:ea typeface="Aptos"/>
                <a:cs typeface="Aptos"/>
              </a:rPr>
              <a:t>responder o preguntar</a:t>
            </a:r>
          </a:p>
        </p:txBody>
      </p:sp>
      <p:sp>
        <p:nvSpPr>
          <p:cNvPr id="48" name="Rectángulo: esquinas redondeadas 47">
            <a:extLst>
              <a:ext uri="{FF2B5EF4-FFF2-40B4-BE49-F238E27FC236}">
                <a16:creationId xmlns:a16="http://schemas.microsoft.com/office/drawing/2014/main" id="{7259DB0C-1843-41EB-B544-6E5EC8E5AEDC}"/>
              </a:ext>
            </a:extLst>
          </p:cNvPr>
          <p:cNvSpPr>
            <a:spLocks noGrp="1"/>
          </p:cNvSpPr>
          <p:nvPr/>
        </p:nvSpPr>
        <p:spPr>
          <a:xfrm>
            <a:off x="5105400" y="2914650"/>
            <a:ext cx="1809750" cy="1733550"/>
          </a:xfrm>
          <a:prstGeom prst="roundRect">
            <a:avLst>
              <a:gd name="adj" fmla="val 8791"/>
            </a:avLst>
          </a:prstGeom>
          <a:solidFill>
            <a:srgbClr val="242C49"/>
          </a:solidFill>
          <a:ln w="12383">
            <a:solidFill>
              <a:srgbClr val="6C63FF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9" name="Rectángulo 48">
            <a:extLst>
              <a:ext uri="{FF2B5EF4-FFF2-40B4-BE49-F238E27FC236}">
                <a16:creationId xmlns:a16="http://schemas.microsoft.com/office/drawing/2014/main" id="{285E4E63-5700-488B-82D0-A5D1DB7AB348}"/>
              </a:ext>
            </a:extLst>
          </p:cNvPr>
          <p:cNvSpPr>
            <a:spLocks noGrp="1"/>
          </p:cNvSpPr>
          <p:nvPr/>
        </p:nvSpPr>
        <p:spPr>
          <a:xfrm>
            <a:off x="5257800" y="3105150"/>
            <a:ext cx="285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125" b="1">
                <a:solidFill>
                  <a:srgbClr val="6C63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6C63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50" name="Rectángulo 49">
            <a:extLst>
              <a:ext uri="{FF2B5EF4-FFF2-40B4-BE49-F238E27FC236}">
                <a16:creationId xmlns:a16="http://schemas.microsoft.com/office/drawing/2014/main" id="{0FA4BE04-1F72-4251-BEF2-8EEDB03D6D33}"/>
              </a:ext>
            </a:extLst>
          </p:cNvPr>
          <p:cNvSpPr>
            <a:spLocks noGrp="1"/>
          </p:cNvSpPr>
          <p:nvPr/>
        </p:nvSpPr>
        <p:spPr>
          <a:xfrm>
            <a:off x="5257800" y="3533775"/>
            <a:ext cx="15049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RECUPERAR</a:t>
            </a:r>
          </a:p>
        </p:txBody>
      </p:sp>
      <p:sp>
        <p:nvSpPr>
          <p:cNvPr id="51" name="Rectángulo 50">
            <a:extLst>
              <a:ext uri="{FF2B5EF4-FFF2-40B4-BE49-F238E27FC236}">
                <a16:creationId xmlns:a16="http://schemas.microsoft.com/office/drawing/2014/main" id="{ACCF1D2B-43A8-4708-8748-82F3074F4A6D}"/>
              </a:ext>
            </a:extLst>
          </p:cNvPr>
          <p:cNvSpPr>
            <a:spLocks noGrp="1"/>
          </p:cNvSpPr>
          <p:nvPr/>
        </p:nvSpPr>
        <p:spPr>
          <a:xfrm>
            <a:off x="5257800" y="3981450"/>
            <a:ext cx="15049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125" b="0">
                <a:solidFill>
                  <a:srgbClr val="C9D1E6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C9D1E6"/>
                </a:solidFill>
                <a:latin typeface="Aptos"/>
                <a:ea typeface="Aptos"/>
                <a:cs typeface="Aptos"/>
              </a:rPr>
              <a:t>condicionar por intención</a:t>
            </a:r>
          </a:p>
        </p:txBody>
      </p:sp>
      <p:sp>
        <p:nvSpPr>
          <p:cNvPr id="52" name="Rectángulo: esquinas redondeadas 51">
            <a:extLst>
              <a:ext uri="{FF2B5EF4-FFF2-40B4-BE49-F238E27FC236}">
                <a16:creationId xmlns:a16="http://schemas.microsoft.com/office/drawing/2014/main" id="{B3A55327-8202-4002-8FC0-3CE350F65E21}"/>
              </a:ext>
            </a:extLst>
          </p:cNvPr>
          <p:cNvSpPr>
            <a:spLocks noGrp="1"/>
          </p:cNvSpPr>
          <p:nvPr/>
        </p:nvSpPr>
        <p:spPr>
          <a:xfrm>
            <a:off x="7315200" y="2914650"/>
            <a:ext cx="1809750" cy="1733550"/>
          </a:xfrm>
          <a:prstGeom prst="roundRect">
            <a:avLst>
              <a:gd name="adj" fmla="val 8791"/>
            </a:avLst>
          </a:prstGeom>
          <a:solidFill>
            <a:srgbClr val="242C49"/>
          </a:solidFill>
          <a:ln w="12383">
            <a:solidFill>
              <a:srgbClr val="49C98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3" name="Rectángulo 52">
            <a:extLst>
              <a:ext uri="{FF2B5EF4-FFF2-40B4-BE49-F238E27FC236}">
                <a16:creationId xmlns:a16="http://schemas.microsoft.com/office/drawing/2014/main" id="{DC2188E4-32EC-42FF-B930-4DCA27FA54F7}"/>
              </a:ext>
            </a:extLst>
          </p:cNvPr>
          <p:cNvSpPr>
            <a:spLocks noGrp="1"/>
          </p:cNvSpPr>
          <p:nvPr/>
        </p:nvSpPr>
        <p:spPr>
          <a:xfrm>
            <a:off x="7467600" y="3105150"/>
            <a:ext cx="285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125" b="1">
                <a:solidFill>
                  <a:srgbClr val="49C986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49C986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54" name="Rectángulo 53">
            <a:extLst>
              <a:ext uri="{FF2B5EF4-FFF2-40B4-BE49-F238E27FC236}">
                <a16:creationId xmlns:a16="http://schemas.microsoft.com/office/drawing/2014/main" id="{8E466787-E2BD-4486-B9E4-7D3C5A3535C8}"/>
              </a:ext>
            </a:extLst>
          </p:cNvPr>
          <p:cNvSpPr>
            <a:spLocks noGrp="1"/>
          </p:cNvSpPr>
          <p:nvPr/>
        </p:nvSpPr>
        <p:spPr>
          <a:xfrm>
            <a:off x="7467600" y="3533775"/>
            <a:ext cx="15049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RESPONDER</a:t>
            </a:r>
          </a:p>
        </p:txBody>
      </p:sp>
      <p:sp>
        <p:nvSpPr>
          <p:cNvPr id="55" name="Rectángulo 54">
            <a:extLst>
              <a:ext uri="{FF2B5EF4-FFF2-40B4-BE49-F238E27FC236}">
                <a16:creationId xmlns:a16="http://schemas.microsoft.com/office/drawing/2014/main" id="{E099EC0A-C37F-4CC9-9459-3AEDB25E5C82}"/>
              </a:ext>
            </a:extLst>
          </p:cNvPr>
          <p:cNvSpPr>
            <a:spLocks noGrp="1"/>
          </p:cNvSpPr>
          <p:nvPr/>
        </p:nvSpPr>
        <p:spPr>
          <a:xfrm>
            <a:off x="7467600" y="3981450"/>
            <a:ext cx="15049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125" b="0">
                <a:solidFill>
                  <a:srgbClr val="C9D1E6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C9D1E6"/>
                </a:solidFill>
                <a:latin typeface="Aptos"/>
                <a:ea typeface="Aptos"/>
                <a:cs typeface="Aptos"/>
              </a:rPr>
              <a:t>usar evidencia trazable</a:t>
            </a:r>
          </a:p>
        </p:txBody>
      </p:sp>
      <p:sp>
        <p:nvSpPr>
          <p:cNvPr id="56" name="Rectángulo: esquinas redondeadas 55">
            <a:extLst>
              <a:ext uri="{FF2B5EF4-FFF2-40B4-BE49-F238E27FC236}">
                <a16:creationId xmlns:a16="http://schemas.microsoft.com/office/drawing/2014/main" id="{21883BEC-DE4E-45A1-8190-72913EF3FCA1}"/>
              </a:ext>
            </a:extLst>
          </p:cNvPr>
          <p:cNvSpPr>
            <a:spLocks noGrp="1"/>
          </p:cNvSpPr>
          <p:nvPr/>
        </p:nvSpPr>
        <p:spPr>
          <a:xfrm>
            <a:off x="9525000" y="2914650"/>
            <a:ext cx="1809750" cy="1733550"/>
          </a:xfrm>
          <a:prstGeom prst="roundRect">
            <a:avLst>
              <a:gd name="adj" fmla="val 8791"/>
            </a:avLst>
          </a:prstGeom>
          <a:solidFill>
            <a:srgbClr val="242C49"/>
          </a:solidFill>
          <a:ln w="12383">
            <a:solidFill>
              <a:srgbClr val="FF647C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7" name="Rectángulo 56">
            <a:extLst>
              <a:ext uri="{FF2B5EF4-FFF2-40B4-BE49-F238E27FC236}">
                <a16:creationId xmlns:a16="http://schemas.microsoft.com/office/drawing/2014/main" id="{54F1EAC9-D1BB-46F2-AC88-EAC4F3FE6171}"/>
              </a:ext>
            </a:extLst>
          </p:cNvPr>
          <p:cNvSpPr>
            <a:spLocks noGrp="1"/>
          </p:cNvSpPr>
          <p:nvPr/>
        </p:nvSpPr>
        <p:spPr>
          <a:xfrm>
            <a:off x="9677400" y="3105150"/>
            <a:ext cx="285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125" b="1">
                <a:solidFill>
                  <a:srgbClr val="FF647C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F647C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58" name="Rectángulo 57">
            <a:extLst>
              <a:ext uri="{FF2B5EF4-FFF2-40B4-BE49-F238E27FC236}">
                <a16:creationId xmlns:a16="http://schemas.microsoft.com/office/drawing/2014/main" id="{488F4355-8DEB-4BD8-984D-F13F536A6042}"/>
              </a:ext>
            </a:extLst>
          </p:cNvPr>
          <p:cNvSpPr>
            <a:spLocks noGrp="1"/>
          </p:cNvSpPr>
          <p:nvPr/>
        </p:nvSpPr>
        <p:spPr>
          <a:xfrm>
            <a:off x="9677400" y="3533775"/>
            <a:ext cx="15049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MEDIR</a:t>
            </a:r>
          </a:p>
        </p:txBody>
      </p:sp>
      <p:sp>
        <p:nvSpPr>
          <p:cNvPr id="59" name="Rectángulo 58">
            <a:extLst>
              <a:ext uri="{FF2B5EF4-FFF2-40B4-BE49-F238E27FC236}">
                <a16:creationId xmlns:a16="http://schemas.microsoft.com/office/drawing/2014/main" id="{2FA60D0B-2D24-47FD-8C0E-955D123CCA95}"/>
              </a:ext>
            </a:extLst>
          </p:cNvPr>
          <p:cNvSpPr>
            <a:spLocks noGrp="1"/>
          </p:cNvSpPr>
          <p:nvPr/>
        </p:nvSpPr>
        <p:spPr>
          <a:xfrm>
            <a:off x="9677400" y="3981450"/>
            <a:ext cx="15049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125" b="0">
                <a:solidFill>
                  <a:srgbClr val="C9D1E6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C9D1E6"/>
                </a:solidFill>
                <a:latin typeface="Aptos"/>
                <a:ea typeface="Aptos"/>
                <a:cs typeface="Aptos"/>
              </a:rPr>
              <a:t>calidad, costo y riesgo</a:t>
            </a:r>
          </a:p>
        </p:txBody>
      </p:sp>
      <p:sp>
        <p:nvSpPr>
          <p:cNvPr id="60" name="Rectángulo 59">
            <a:extLst>
              <a:ext uri="{FF2B5EF4-FFF2-40B4-BE49-F238E27FC236}">
                <a16:creationId xmlns:a16="http://schemas.microsoft.com/office/drawing/2014/main" id="{67D8EB06-C0D4-4D63-8683-1122C008F86E}"/>
              </a:ext>
            </a:extLst>
          </p:cNvPr>
          <p:cNvSpPr>
            <a:spLocks noGrp="1"/>
          </p:cNvSpPr>
          <p:nvPr/>
        </p:nvSpPr>
        <p:spPr>
          <a:xfrm>
            <a:off x="1714500" y="5381625"/>
            <a:ext cx="8763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725" b="1">
                <a:solidFill>
                  <a:srgbClr val="33D6C8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33D6C8"/>
                </a:solidFill>
                <a:latin typeface="Aptos"/>
                <a:ea typeface="Aptos"/>
                <a:cs typeface="Aptos"/>
              </a:rPr>
              <a:t>La política de interacción forma parte de la ingeniería del contexto.</a:t>
            </a:r>
          </a:p>
        </p:txBody>
      </p:sp>
    </p:spTree>
    <p:extLst>
      <p:ext uri="{BB962C8B-B14F-4D97-AF65-F5344CB8AC3E}">
        <p14:creationId xmlns:p14="http://schemas.microsoft.com/office/powerpoint/2010/main" val="1735537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0B1020"/>
            </a:gs>
            <a:gs pos="58000">
              <a:srgbClr val="151B33"/>
            </a:gs>
            <a:gs pos="100000">
              <a:srgbClr val="252A55"/>
            </a:gs>
          </a:gsLst>
          <a:lin ang="8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Rectángulo 34">
            <a:extLst>
              <a:ext uri="{FF2B5EF4-FFF2-40B4-BE49-F238E27FC236}">
                <a16:creationId xmlns:a16="http://schemas.microsoft.com/office/drawing/2014/main" id="{71AE5709-42AC-4DFC-A84F-827CCDB41D3A}"/>
              </a:ext>
            </a:extLst>
          </p:cNvPr>
          <p:cNvSpPr>
            <a:spLocks noGrp="1"/>
          </p:cNvSpPr>
          <p:nvPr/>
        </p:nvSpPr>
        <p:spPr>
          <a:xfrm>
            <a:off x="685800" y="361950"/>
            <a:ext cx="4095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050" b="1" i="0">
                <a:solidFill>
                  <a:srgbClr val="33D6C8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33D6C8"/>
                </a:solidFill>
                <a:latin typeface="Aptos"/>
                <a:ea typeface="Aptos"/>
                <a:cs typeface="Aptos"/>
              </a:rPr>
              <a:t>26 / DEMO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9FF79EB8-9C9F-483A-B1F1-643B8FBDA6D0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108204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92000"/>
              </a:lnSpc>
              <a:buNone/>
              <a:defRPr sz="2700" b="1" i="0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Una pregunta breve convierte ambigüedad en retrieval dirigido</a:t>
            </a:r>
          </a:p>
        </p:txBody>
      </p:sp>
      <p:sp>
        <p:nvSpPr>
          <p:cNvPr id="3" name="Conector recto 2">
            <a:extLst>
              <a:ext uri="{FF2B5EF4-FFF2-40B4-BE49-F238E27FC236}">
                <a16:creationId xmlns:a16="http://schemas.microsoft.com/office/drawing/2014/main" id="{91620042-D36E-4E8A-9C61-2E0452870D67}"/>
              </a:ext>
            </a:extLst>
          </p:cNvPr>
          <p:cNvSpPr>
            <a:spLocks noGrp="1"/>
          </p:cNvSpPr>
          <p:nvPr/>
        </p:nvSpPr>
        <p:spPr>
          <a:xfrm>
            <a:off x="685800" y="1485900"/>
            <a:ext cx="10820400" cy="0"/>
          </a:xfrm>
          <a:prstGeom prst="line">
            <a:avLst/>
          </a:prstGeom>
          <a:noFill/>
          <a:ln w="9525">
            <a:solidFill>
              <a:srgbClr val="FFFFFF">
                <a:alpha val="18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Rectángulo 29">
            <a:extLst>
              <a:ext uri="{FF2B5EF4-FFF2-40B4-BE49-F238E27FC236}">
                <a16:creationId xmlns:a16="http://schemas.microsoft.com/office/drawing/2014/main" id="{888A5BC7-5175-4565-9FD5-EA3BD9A31498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95362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750" b="0" i="0">
                <a:solidFill>
                  <a:srgbClr val="9AA6C4"/>
                </a:solidFill>
                <a:latin typeface="Aptos"/>
                <a:ea typeface="Aptos"/>
                <a:cs typeface="Aptos"/>
              </a:defRPr>
            </a:pPr>
            <a:r>
              <a:rPr sz="750" b="0" i="0">
                <a:solidFill>
                  <a:srgbClr val="9AA6C4"/>
                </a:solidFill>
                <a:latin typeface="Aptos"/>
                <a:ea typeface="Aptos"/>
                <a:cs typeface="Aptos"/>
              </a:rPr>
              <a:t>Demo conceptual · sin métricas ni resultados empíricos</a:t>
            </a:r>
          </a:p>
        </p:txBody>
      </p:sp>
      <p:sp>
        <p:nvSpPr>
          <p:cNvPr id="31" name="Rectángulo 30">
            <a:extLst>
              <a:ext uri="{FF2B5EF4-FFF2-40B4-BE49-F238E27FC236}">
                <a16:creationId xmlns:a16="http://schemas.microsoft.com/office/drawing/2014/main" id="{36356272-0711-4EA4-9FFC-D3FFE9D30FB9}"/>
              </a:ext>
            </a:extLst>
          </p:cNvPr>
          <p:cNvSpPr>
            <a:spLocks noGrp="1"/>
          </p:cNvSpPr>
          <p:nvPr/>
        </p:nvSpPr>
        <p:spPr>
          <a:xfrm>
            <a:off x="11049000" y="6438900"/>
            <a:ext cx="4572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r">
              <a:lnSpc>
                <a:spcPct val="100000"/>
              </a:lnSpc>
              <a:buNone/>
              <a:defRPr sz="825" b="1" i="0">
                <a:solidFill>
                  <a:srgbClr val="C9D1E6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C9D1E6"/>
                </a:solidFill>
                <a:latin typeface="Aptos"/>
                <a:ea typeface="Aptos"/>
                <a:cs typeface="Aptos"/>
              </a:rPr>
              <a:t>26</a:t>
            </a:r>
          </a:p>
        </p:txBody>
      </p:sp>
      <p:sp>
        <p:nvSpPr>
          <p:cNvPr id="36" name="Rectángulo: esquinas redondeadas 35">
            <a:extLst>
              <a:ext uri="{FF2B5EF4-FFF2-40B4-BE49-F238E27FC236}">
                <a16:creationId xmlns:a16="http://schemas.microsoft.com/office/drawing/2014/main" id="{0934433B-F17E-4E53-B15A-86843A216CBE}"/>
              </a:ext>
            </a:extLst>
          </p:cNvPr>
          <p:cNvSpPr>
            <a:spLocks noGrp="1"/>
          </p:cNvSpPr>
          <p:nvPr/>
        </p:nvSpPr>
        <p:spPr>
          <a:xfrm>
            <a:off x="685800" y="1790700"/>
            <a:ext cx="2152650" cy="285750"/>
          </a:xfrm>
          <a:prstGeom prst="roundRect">
            <a:avLst>
              <a:gd name="adj" fmla="val 50000"/>
            </a:avLst>
          </a:prstGeom>
          <a:solidFill>
            <a:srgbClr val="3A3340"/>
          </a:solidFill>
          <a:ln w="9525">
            <a:solidFill>
              <a:srgbClr val="F5A14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7" name="Rectángulo 36">
            <a:extLst>
              <a:ext uri="{FF2B5EF4-FFF2-40B4-BE49-F238E27FC236}">
                <a16:creationId xmlns:a16="http://schemas.microsoft.com/office/drawing/2014/main" id="{245806DE-D0F1-48A3-B36A-307F9B97AF16}"/>
              </a:ext>
            </a:extLst>
          </p:cNvPr>
          <p:cNvSpPr>
            <a:spLocks noGrp="1"/>
          </p:cNvSpPr>
          <p:nvPr/>
        </p:nvSpPr>
        <p:spPr>
          <a:xfrm>
            <a:off x="742950" y="1828800"/>
            <a:ext cx="2038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900" b="1">
                <a:solidFill>
                  <a:srgbClr val="33D6C8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33D6C8"/>
                </a:solidFill>
                <a:latin typeface="Aptos"/>
                <a:ea typeface="Aptos"/>
                <a:cs typeface="Aptos"/>
              </a:rPr>
              <a:t>DEMO CONCEPTUAL · NO EMPÍRICA</a:t>
            </a:r>
          </a:p>
        </p:txBody>
      </p:sp>
      <p:sp>
        <p:nvSpPr>
          <p:cNvPr id="38" name="Rectángulo 37">
            <a:extLst>
              <a:ext uri="{FF2B5EF4-FFF2-40B4-BE49-F238E27FC236}">
                <a16:creationId xmlns:a16="http://schemas.microsoft.com/office/drawing/2014/main" id="{E1F60DFE-5277-4DD0-B130-F4EC7B5A38D1}"/>
              </a:ext>
            </a:extLst>
          </p:cNvPr>
          <p:cNvSpPr>
            <a:spLocks noGrp="1"/>
          </p:cNvSpPr>
          <p:nvPr/>
        </p:nvSpPr>
        <p:spPr>
          <a:xfrm>
            <a:off x="685800" y="2419350"/>
            <a:ext cx="1428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125" b="1">
                <a:solidFill>
                  <a:srgbClr val="F5A1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5A14A"/>
                </a:solidFill>
                <a:latin typeface="Aptos"/>
                <a:ea typeface="Aptos"/>
                <a:cs typeface="Aptos"/>
              </a:rPr>
              <a:t>Usuario</a:t>
            </a:r>
          </a:p>
        </p:txBody>
      </p:sp>
      <p:sp>
        <p:nvSpPr>
          <p:cNvPr id="39" name="Rectángulo 38">
            <a:extLst>
              <a:ext uri="{FF2B5EF4-FFF2-40B4-BE49-F238E27FC236}">
                <a16:creationId xmlns:a16="http://schemas.microsoft.com/office/drawing/2014/main" id="{9D70D71F-6795-4082-83A4-B8B2027A5EDA}"/>
              </a:ext>
            </a:extLst>
          </p:cNvPr>
          <p:cNvSpPr>
            <a:spLocks noGrp="1"/>
          </p:cNvSpPr>
          <p:nvPr/>
        </p:nvSpPr>
        <p:spPr>
          <a:xfrm>
            <a:off x="685800" y="2771775"/>
            <a:ext cx="42862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8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«¿Cómo funciona la memoria?»</a:t>
            </a:r>
          </a:p>
        </p:txBody>
      </p:sp>
      <p:pic>
        <p:nvPicPr>
          <p:cNvPr id="60" name="Imagen 59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723900" y="3547199"/>
            <a:ext cx="4210050" cy="449401"/>
          </a:xfrm>
          <a:prstGeom prst="rect">
            <a:avLst/>
          </a:prstGeom>
        </p:spPr>
      </p:pic>
      <p:sp>
        <p:nvSpPr>
          <p:cNvPr id="41" name="Rectángulo 40">
            <a:extLst>
              <a:ext uri="{FF2B5EF4-FFF2-40B4-BE49-F238E27FC236}">
                <a16:creationId xmlns:a16="http://schemas.microsoft.com/office/drawing/2014/main" id="{FAC8AF20-EAFD-4432-85E9-65375E6A0ACC}"/>
              </a:ext>
            </a:extLst>
          </p:cNvPr>
          <p:cNvSpPr>
            <a:spLocks noGrp="1"/>
          </p:cNvSpPr>
          <p:nvPr/>
        </p:nvSpPr>
        <p:spPr>
          <a:xfrm>
            <a:off x="685800" y="4305300"/>
            <a:ext cx="4286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350" b="0">
                <a:solidFill>
                  <a:srgbClr val="C9D1E6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C9D1E6"/>
                </a:solidFill>
                <a:latin typeface="Aptos"/>
                <a:ea typeface="Aptos"/>
                <a:cs typeface="Aptos"/>
              </a:rPr>
              <a:t>El sistema no fuerza una interpretación.</a:t>
            </a:r>
          </a:p>
        </p:txBody>
      </p:sp>
      <p:sp>
        <p:nvSpPr>
          <p:cNvPr id="42" name="Flecha: a la derecha 41">
            <a:extLst>
              <a:ext uri="{FF2B5EF4-FFF2-40B4-BE49-F238E27FC236}">
                <a16:creationId xmlns:a16="http://schemas.microsoft.com/office/drawing/2014/main" id="{81FBCE8A-F4F4-436D-B51A-80EB5BF99A12}"/>
              </a:ext>
            </a:extLst>
          </p:cNvPr>
          <p:cNvSpPr>
            <a:spLocks noGrp="1"/>
          </p:cNvSpPr>
          <p:nvPr/>
        </p:nvSpPr>
        <p:spPr>
          <a:xfrm>
            <a:off x="5143500" y="3562350"/>
            <a:ext cx="514350" cy="266700"/>
          </a:xfrm>
          <a:prstGeom prst="rightArrow">
            <a:avLst/>
          </a:prstGeom>
          <a:solidFill>
            <a:srgbClr val="33D6C8"/>
          </a:solidFill>
          <a:ln w="9525">
            <a:solidFill>
              <a:srgbClr val="33D6C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3" name="Flecha: a la derecha 42">
            <a:extLst>
              <a:ext uri="{FF2B5EF4-FFF2-40B4-BE49-F238E27FC236}">
                <a16:creationId xmlns:a16="http://schemas.microsoft.com/office/drawing/2014/main" id="{2171C767-78C9-4BD3-AF95-27338E418363}"/>
              </a:ext>
            </a:extLst>
          </p:cNvPr>
          <p:cNvSpPr>
            <a:spLocks noGrp="1"/>
          </p:cNvSpPr>
          <p:nvPr/>
        </p:nvSpPr>
        <p:spPr>
          <a:xfrm>
            <a:off x="8420100" y="3562350"/>
            <a:ext cx="514350" cy="266700"/>
          </a:xfrm>
          <a:prstGeom prst="rightArrow">
            <a:avLst/>
          </a:prstGeom>
          <a:solidFill>
            <a:srgbClr val="49C986"/>
          </a:solidFill>
          <a:ln w="9525">
            <a:solidFill>
              <a:srgbClr val="49C98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4" name="Rectángulo: esquinas redondeadas 43">
            <a:extLst>
              <a:ext uri="{FF2B5EF4-FFF2-40B4-BE49-F238E27FC236}">
                <a16:creationId xmlns:a16="http://schemas.microsoft.com/office/drawing/2014/main" id="{00FA8793-26A3-4974-964F-12A3399D7088}"/>
              </a:ext>
            </a:extLst>
          </p:cNvPr>
          <p:cNvSpPr>
            <a:spLocks noGrp="1"/>
          </p:cNvSpPr>
          <p:nvPr/>
        </p:nvSpPr>
        <p:spPr>
          <a:xfrm>
            <a:off x="5657850" y="2781300"/>
            <a:ext cx="2762250" cy="1771650"/>
          </a:xfrm>
          <a:prstGeom prst="roundRect">
            <a:avLst>
              <a:gd name="adj" fmla="val 8602"/>
            </a:avLst>
          </a:prstGeom>
          <a:solidFill>
            <a:srgbClr val="242C49"/>
          </a:solidFill>
          <a:ln w="13335">
            <a:solidFill>
              <a:srgbClr val="33D6C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5" name="Rectángulo 44">
            <a:extLst>
              <a:ext uri="{FF2B5EF4-FFF2-40B4-BE49-F238E27FC236}">
                <a16:creationId xmlns:a16="http://schemas.microsoft.com/office/drawing/2014/main" id="{1E3437FC-F83B-466B-90CC-62572C89EE5F}"/>
              </a:ext>
            </a:extLst>
          </p:cNvPr>
          <p:cNvSpPr>
            <a:spLocks noGrp="1"/>
          </p:cNvSpPr>
          <p:nvPr/>
        </p:nvSpPr>
        <p:spPr>
          <a:xfrm>
            <a:off x="5886450" y="3028950"/>
            <a:ext cx="2305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125" b="1">
                <a:solidFill>
                  <a:srgbClr val="33D6C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3D6C8"/>
                </a:solidFill>
                <a:latin typeface="Aptos"/>
                <a:ea typeface="Aptos"/>
                <a:cs typeface="Aptos"/>
              </a:rPr>
              <a:t>ACLARAR</a:t>
            </a:r>
          </a:p>
        </p:txBody>
      </p:sp>
      <p:sp>
        <p:nvSpPr>
          <p:cNvPr id="46" name="Rectángulo 45">
            <a:extLst>
              <a:ext uri="{FF2B5EF4-FFF2-40B4-BE49-F238E27FC236}">
                <a16:creationId xmlns:a16="http://schemas.microsoft.com/office/drawing/2014/main" id="{8D144657-4BDF-4809-A303-F93D3FC0AF0C}"/>
              </a:ext>
            </a:extLst>
          </p:cNvPr>
          <p:cNvSpPr>
            <a:spLocks noGrp="1"/>
          </p:cNvSpPr>
          <p:nvPr/>
        </p:nvSpPr>
        <p:spPr>
          <a:xfrm>
            <a:off x="5886450" y="3505200"/>
            <a:ext cx="2305050" cy="800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4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«¿Memoria de la conversación o memoria persistente del agente?»</a:t>
            </a:r>
          </a:p>
        </p:txBody>
      </p:sp>
      <p:sp>
        <p:nvSpPr>
          <p:cNvPr id="47" name="Rectángulo: esquinas redondeadas 46">
            <a:extLst>
              <a:ext uri="{FF2B5EF4-FFF2-40B4-BE49-F238E27FC236}">
                <a16:creationId xmlns:a16="http://schemas.microsoft.com/office/drawing/2014/main" id="{EDAE4140-7036-43A5-9840-605C26959AF3}"/>
              </a:ext>
            </a:extLst>
          </p:cNvPr>
          <p:cNvSpPr>
            <a:spLocks noGrp="1"/>
          </p:cNvSpPr>
          <p:nvPr/>
        </p:nvSpPr>
        <p:spPr>
          <a:xfrm>
            <a:off x="8934450" y="2781300"/>
            <a:ext cx="2571750" cy="1771650"/>
          </a:xfrm>
          <a:prstGeom prst="roundRect">
            <a:avLst>
              <a:gd name="adj" fmla="val 8602"/>
            </a:avLst>
          </a:prstGeom>
          <a:solidFill>
            <a:srgbClr val="203B39"/>
          </a:solidFill>
          <a:ln w="13335">
            <a:solidFill>
              <a:srgbClr val="49C98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8" name="Rectángulo 47">
            <a:extLst>
              <a:ext uri="{FF2B5EF4-FFF2-40B4-BE49-F238E27FC236}">
                <a16:creationId xmlns:a16="http://schemas.microsoft.com/office/drawing/2014/main" id="{65212899-0E74-4E3F-B2AA-F9F6218B04D6}"/>
              </a:ext>
            </a:extLst>
          </p:cNvPr>
          <p:cNvSpPr>
            <a:spLocks noGrp="1"/>
          </p:cNvSpPr>
          <p:nvPr/>
        </p:nvSpPr>
        <p:spPr>
          <a:xfrm>
            <a:off x="9144000" y="3028950"/>
            <a:ext cx="21526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125" b="1">
                <a:solidFill>
                  <a:srgbClr val="49C986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49C986"/>
                </a:solidFill>
                <a:latin typeface="Aptos"/>
                <a:ea typeface="Aptos"/>
                <a:cs typeface="Aptos"/>
              </a:rPr>
              <a:t>DESPUÉS</a:t>
            </a:r>
          </a:p>
        </p:txBody>
      </p:sp>
      <p:sp>
        <p:nvSpPr>
          <p:cNvPr id="49" name="Rectángulo 48">
            <a:extLst>
              <a:ext uri="{FF2B5EF4-FFF2-40B4-BE49-F238E27FC236}">
                <a16:creationId xmlns:a16="http://schemas.microsoft.com/office/drawing/2014/main" id="{0AB089E4-18B3-427C-AED6-7D4DC0A57316}"/>
              </a:ext>
            </a:extLst>
          </p:cNvPr>
          <p:cNvSpPr>
            <a:spLocks noGrp="1"/>
          </p:cNvSpPr>
          <p:nvPr/>
        </p:nvSpPr>
        <p:spPr>
          <a:xfrm>
            <a:off x="9144000" y="3448050"/>
            <a:ext cx="215265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rmAutofit/>
          </a:bodyPr>
          <a:lstStyle/>
          <a:p>
            <a:pPr algn="ctr">
              <a:lnSpc>
                <a:spcPct val="105000"/>
              </a:lnSpc>
              <a:buNone/>
              <a:defRPr sz="14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Z se concentra</a:t>
            </a:r>
          </a:p>
          <a:p>
            <a:pPr algn="ctr">
              <a:lnSpc>
                <a:spcPct val="105000"/>
              </a:lnSpc>
              <a:buNone/>
              <a:defRPr sz="14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→ retrieval dirigido</a:t>
            </a:r>
          </a:p>
          <a:p>
            <a:pPr algn="ctr">
              <a:lnSpc>
                <a:spcPct val="105000"/>
              </a:lnSpc>
              <a:buNone/>
              <a:defRPr sz="14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→ respuesta específica</a:t>
            </a:r>
          </a:p>
        </p:txBody>
      </p:sp>
      <p:sp>
        <p:nvSpPr>
          <p:cNvPr id="50" name="Rectángulo 49">
            <a:extLst>
              <a:ext uri="{FF2B5EF4-FFF2-40B4-BE49-F238E27FC236}">
                <a16:creationId xmlns:a16="http://schemas.microsoft.com/office/drawing/2014/main" id="{65FCA418-DD2F-4382-8A87-8983412F1BAF}"/>
              </a:ext>
            </a:extLst>
          </p:cNvPr>
          <p:cNvSpPr>
            <a:spLocks noGrp="1"/>
          </p:cNvSpPr>
          <p:nvPr/>
        </p:nvSpPr>
        <p:spPr>
          <a:xfrm>
            <a:off x="2095500" y="5391150"/>
            <a:ext cx="80010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350" b="0">
                <a:solidFill>
                  <a:srgbClr val="F5A14A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F5A14A"/>
                </a:solidFill>
                <a:latin typeface="Aptos"/>
                <a:ea typeface="Aptos"/>
                <a:cs typeface="Aptos"/>
              </a:rPr>
              <a:t>La demo ilustra el flujo matemático; no reporta precisión ni porcentajes.</a:t>
            </a:r>
          </a:p>
        </p:txBody>
      </p:sp>
    </p:spTree>
    <p:extLst>
      <p:ext uri="{BB962C8B-B14F-4D97-AF65-F5344CB8AC3E}">
        <p14:creationId xmlns:p14="http://schemas.microsoft.com/office/powerpoint/2010/main" val="1735537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tángulo 32">
            <a:extLst>
              <a:ext uri="{FF2B5EF4-FFF2-40B4-BE49-F238E27FC236}">
                <a16:creationId xmlns:a16="http://schemas.microsoft.com/office/drawing/2014/main" id="{B08ECE71-DDF6-4B6E-A42B-BE72B818FBB2}"/>
              </a:ext>
            </a:extLst>
          </p:cNvPr>
          <p:cNvSpPr>
            <a:spLocks noGrp="1"/>
          </p:cNvSpPr>
          <p:nvPr/>
        </p:nvSpPr>
        <p:spPr>
          <a:xfrm>
            <a:off x="685800" y="495300"/>
            <a:ext cx="4476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050" b="1">
                <a:solidFill>
                  <a:srgbClr val="33D6C8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33D6C8"/>
                </a:solidFill>
                <a:latin typeface="Aptos"/>
                <a:ea typeface="Aptos"/>
                <a:cs typeface="Aptos"/>
              </a:rPr>
              <a:t>27 / CONCLUSIONES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265E19AF-A3D2-43F5-9CD2-C9B445B8A590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10875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rmAutofit/>
          </a:bodyPr>
          <a:lstStyle/>
          <a:p>
            <a:pPr algn="l">
              <a:lnSpc>
                <a:spcPct val="92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Cinco conclusiones defendibles y trazables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81F753BB-1C23-42E5-BD2C-FBD5F80AFC46}"/>
              </a:ext>
            </a:extLst>
          </p:cNvPr>
          <p:cNvSpPr>
            <a:spLocks noGrp="1"/>
          </p:cNvSpPr>
          <p:nvPr/>
        </p:nvSpPr>
        <p:spPr>
          <a:xfrm>
            <a:off x="685800" y="1562100"/>
            <a:ext cx="10820400" cy="9525"/>
          </a:xfrm>
          <a:prstGeom prst="rect">
            <a:avLst/>
          </a:prstGeom>
          <a:solidFill>
            <a:srgbClr val="303958"/>
          </a:solidFill>
          <a:ln w="0">
            <a:solidFill>
              <a:srgbClr val="30395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Rectángulo 30">
            <a:extLst>
              <a:ext uri="{FF2B5EF4-FFF2-40B4-BE49-F238E27FC236}">
                <a16:creationId xmlns:a16="http://schemas.microsoft.com/office/drawing/2014/main" id="{F2B3DE8B-093D-4605-8D77-607B3C5839CD}"/>
              </a:ext>
            </a:extLst>
          </p:cNvPr>
          <p:cNvSpPr>
            <a:spLocks noGrp="1"/>
          </p:cNvSpPr>
          <p:nvPr/>
        </p:nvSpPr>
        <p:spPr>
          <a:xfrm>
            <a:off x="685800" y="6486525"/>
            <a:ext cx="9906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750" b="0">
                <a:solidFill>
                  <a:srgbClr val="9AA6C4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9AA6C4"/>
                </a:solidFill>
                <a:latin typeface="Aptos"/>
                <a:ea typeface="Aptos"/>
                <a:cs typeface="Aptos"/>
              </a:rPr>
              <a:t>Síntesis basada en survey, tasa–distorsión, RAG e información</a:t>
            </a:r>
          </a:p>
        </p:txBody>
      </p:sp>
      <p:sp>
        <p:nvSpPr>
          <p:cNvPr id="32" name="Rectángulo 31">
            <a:extLst>
              <a:ext uri="{FF2B5EF4-FFF2-40B4-BE49-F238E27FC236}">
                <a16:creationId xmlns:a16="http://schemas.microsoft.com/office/drawing/2014/main" id="{81010FDC-964C-4BE3-9D91-1A04F1FAC5BA}"/>
              </a:ext>
            </a:extLst>
          </p:cNvPr>
          <p:cNvSpPr>
            <a:spLocks noGrp="1"/>
          </p:cNvSpPr>
          <p:nvPr/>
        </p:nvSpPr>
        <p:spPr>
          <a:xfrm>
            <a:off x="11087100" y="6486525"/>
            <a:ext cx="4191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rmAutofit/>
          </a:bodyPr>
          <a:lstStyle/>
          <a:p>
            <a:pPr algn="r">
              <a:lnSpc>
                <a:spcPct val="100000"/>
              </a:lnSpc>
              <a:buNone/>
              <a:defRPr sz="825" b="1">
                <a:solidFill>
                  <a:srgbClr val="C9D1E6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C9D1E6"/>
                </a:solidFill>
                <a:latin typeface="Aptos"/>
                <a:ea typeface="Aptos"/>
                <a:cs typeface="Aptos"/>
              </a:rPr>
              <a:t>27</a:t>
            </a:r>
          </a:p>
        </p:txBody>
      </p:sp>
      <p:sp>
        <p:nvSpPr>
          <p:cNvPr id="34" name="Rectángulo: esquinas redondeadas 33">
            <a:extLst>
              <a:ext uri="{FF2B5EF4-FFF2-40B4-BE49-F238E27FC236}">
                <a16:creationId xmlns:a16="http://schemas.microsoft.com/office/drawing/2014/main" id="{D7CB779D-DA7A-4C91-924C-11B83D266B28}"/>
              </a:ext>
            </a:extLst>
          </p:cNvPr>
          <p:cNvSpPr>
            <a:spLocks noGrp="1"/>
          </p:cNvSpPr>
          <p:nvPr/>
        </p:nvSpPr>
        <p:spPr>
          <a:xfrm>
            <a:off x="685800" y="1952625"/>
            <a:ext cx="2000250" cy="2743200"/>
          </a:xfrm>
          <a:prstGeom prst="roundRect">
            <a:avLst>
              <a:gd name="adj" fmla="val 7619"/>
            </a:avLst>
          </a:prstGeom>
          <a:solidFill>
            <a:srgbClr val="242C49"/>
          </a:solidFill>
          <a:ln w="12383">
            <a:solidFill>
              <a:srgbClr val="F5A14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5" name="Rectángulo 34">
            <a:extLst>
              <a:ext uri="{FF2B5EF4-FFF2-40B4-BE49-F238E27FC236}">
                <a16:creationId xmlns:a16="http://schemas.microsoft.com/office/drawing/2014/main" id="{25390275-DA86-4990-AFEE-2A9C2A3E2977}"/>
              </a:ext>
            </a:extLst>
          </p:cNvPr>
          <p:cNvSpPr>
            <a:spLocks noGrp="1"/>
          </p:cNvSpPr>
          <p:nvPr/>
        </p:nvSpPr>
        <p:spPr>
          <a:xfrm>
            <a:off x="857250" y="2114550"/>
            <a:ext cx="3238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50" b="1">
                <a:solidFill>
                  <a:srgbClr val="F5A14A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5A14A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36" name="Rectángulo 35">
            <a:extLst>
              <a:ext uri="{FF2B5EF4-FFF2-40B4-BE49-F238E27FC236}">
                <a16:creationId xmlns:a16="http://schemas.microsoft.com/office/drawing/2014/main" id="{6A9F537F-72A8-4AF1-9665-3BC6C7C1D740}"/>
              </a:ext>
            </a:extLst>
          </p:cNvPr>
          <p:cNvSpPr>
            <a:spLocks noGrp="1"/>
          </p:cNvSpPr>
          <p:nvPr/>
        </p:nvSpPr>
        <p:spPr>
          <a:xfrm>
            <a:off x="857250" y="2533650"/>
            <a:ext cx="16573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lnSpc>
                <a:spcPct val="95000"/>
              </a:lnSpc>
              <a:buNone/>
              <a:defRPr sz="14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Optimizar calidad</a:t>
            </a:r>
          </a:p>
        </p:txBody>
      </p:sp>
      <p:sp>
        <p:nvSpPr>
          <p:cNvPr id="37" name="Rectángulo 36">
            <a:extLst>
              <a:ext uri="{FF2B5EF4-FFF2-40B4-BE49-F238E27FC236}">
                <a16:creationId xmlns:a16="http://schemas.microsoft.com/office/drawing/2014/main" id="{CF4A57D9-ADEA-41B1-BBBE-FE0D69EEA3B1}"/>
              </a:ext>
            </a:extLst>
          </p:cNvPr>
          <p:cNvSpPr>
            <a:spLocks noGrp="1"/>
          </p:cNvSpPr>
          <p:nvPr/>
        </p:nvSpPr>
        <p:spPr>
          <a:xfrm>
            <a:off x="857250" y="3257550"/>
            <a:ext cx="1657350" cy="1028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125" b="0">
                <a:solidFill>
                  <a:srgbClr val="C9D1E6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C9D1E6"/>
                </a:solidFill>
                <a:latin typeface="Aptos"/>
                <a:ea typeface="Aptos"/>
                <a:cs typeface="Aptos"/>
              </a:rPr>
              <a:t>El survey formula recompensa esperada bajo restricciones.</a:t>
            </a:r>
          </a:p>
        </p:txBody>
      </p:sp>
      <p:sp>
        <p:nvSpPr>
          <p:cNvPr id="38" name="Rectángulo 37">
            <a:extLst>
              <a:ext uri="{FF2B5EF4-FFF2-40B4-BE49-F238E27FC236}">
                <a16:creationId xmlns:a16="http://schemas.microsoft.com/office/drawing/2014/main" id="{2F0AA9B5-D726-4EC7-A299-B4736D03FB01}"/>
              </a:ext>
            </a:extLst>
          </p:cNvPr>
          <p:cNvSpPr>
            <a:spLocks noGrp="1"/>
          </p:cNvSpPr>
          <p:nvPr/>
        </p:nvSpPr>
        <p:spPr>
          <a:xfrm>
            <a:off x="857250" y="4429125"/>
            <a:ext cx="1657350" cy="28575"/>
          </a:xfrm>
          <a:prstGeom prst="rect">
            <a:avLst/>
          </a:prstGeom>
          <a:solidFill>
            <a:srgbClr val="F5A14A"/>
          </a:solidFill>
          <a:ln w="0">
            <a:solidFill>
              <a:srgbClr val="F5A14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9" name="Rectángulo: esquinas redondeadas 38">
            <a:extLst>
              <a:ext uri="{FF2B5EF4-FFF2-40B4-BE49-F238E27FC236}">
                <a16:creationId xmlns:a16="http://schemas.microsoft.com/office/drawing/2014/main" id="{E395E086-74AE-4413-97FA-901737513BC3}"/>
              </a:ext>
            </a:extLst>
          </p:cNvPr>
          <p:cNvSpPr>
            <a:spLocks noGrp="1"/>
          </p:cNvSpPr>
          <p:nvPr/>
        </p:nvSpPr>
        <p:spPr>
          <a:xfrm>
            <a:off x="2857500" y="1952625"/>
            <a:ext cx="2000250" cy="2743200"/>
          </a:xfrm>
          <a:prstGeom prst="roundRect">
            <a:avLst>
              <a:gd name="adj" fmla="val 7619"/>
            </a:avLst>
          </a:prstGeom>
          <a:solidFill>
            <a:srgbClr val="242C49"/>
          </a:solidFill>
          <a:ln w="12383">
            <a:solidFill>
              <a:srgbClr val="33D6C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0" name="Rectángulo 39">
            <a:extLst>
              <a:ext uri="{FF2B5EF4-FFF2-40B4-BE49-F238E27FC236}">
                <a16:creationId xmlns:a16="http://schemas.microsoft.com/office/drawing/2014/main" id="{266A00F1-89DA-4D05-8226-8510DABC6788}"/>
              </a:ext>
            </a:extLst>
          </p:cNvPr>
          <p:cNvSpPr>
            <a:spLocks noGrp="1"/>
          </p:cNvSpPr>
          <p:nvPr/>
        </p:nvSpPr>
        <p:spPr>
          <a:xfrm>
            <a:off x="3028950" y="2114550"/>
            <a:ext cx="3238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50" b="1">
                <a:solidFill>
                  <a:srgbClr val="33D6C8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33D6C8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41" name="Rectángulo 40">
            <a:extLst>
              <a:ext uri="{FF2B5EF4-FFF2-40B4-BE49-F238E27FC236}">
                <a16:creationId xmlns:a16="http://schemas.microsoft.com/office/drawing/2014/main" id="{88D7B3FC-CC9E-46EC-A0AA-FED2B737DA9E}"/>
              </a:ext>
            </a:extLst>
          </p:cNvPr>
          <p:cNvSpPr>
            <a:spLocks noGrp="1"/>
          </p:cNvSpPr>
          <p:nvPr/>
        </p:nvSpPr>
        <p:spPr>
          <a:xfrm>
            <a:off x="3028950" y="2533650"/>
            <a:ext cx="16573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lnSpc>
                <a:spcPct val="95000"/>
              </a:lnSpc>
              <a:buNone/>
              <a:defRPr sz="14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Recuperar información</a:t>
            </a:r>
          </a:p>
        </p:txBody>
      </p:sp>
      <p:sp>
        <p:nvSpPr>
          <p:cNvPr id="42" name="Rectángulo 41">
            <a:extLst>
              <a:ext uri="{FF2B5EF4-FFF2-40B4-BE49-F238E27FC236}">
                <a16:creationId xmlns:a16="http://schemas.microsoft.com/office/drawing/2014/main" id="{40CEA587-0EEB-4356-B2C5-86E1FCB80FAD}"/>
              </a:ext>
            </a:extLst>
          </p:cNvPr>
          <p:cNvSpPr>
            <a:spLocks noGrp="1"/>
          </p:cNvSpPr>
          <p:nvPr/>
        </p:nvSpPr>
        <p:spPr>
          <a:xfrm>
            <a:off x="3028950" y="3257550"/>
            <a:ext cx="1657350" cy="1028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125" b="0">
                <a:solidFill>
                  <a:srgbClr val="C9D1E6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C9D1E6"/>
                </a:solidFill>
                <a:latin typeface="Aptos"/>
                <a:ea typeface="Aptos"/>
                <a:cs typeface="Aptos"/>
              </a:rPr>
              <a:t>Retrieval debe aportar información sobre Y*, no solo similitud.</a:t>
            </a:r>
          </a:p>
        </p:txBody>
      </p:sp>
      <p:sp>
        <p:nvSpPr>
          <p:cNvPr id="43" name="Rectángulo 42">
            <a:extLst>
              <a:ext uri="{FF2B5EF4-FFF2-40B4-BE49-F238E27FC236}">
                <a16:creationId xmlns:a16="http://schemas.microsoft.com/office/drawing/2014/main" id="{12816095-915D-4D78-B701-B53AF5378C0C}"/>
              </a:ext>
            </a:extLst>
          </p:cNvPr>
          <p:cNvSpPr>
            <a:spLocks noGrp="1"/>
          </p:cNvSpPr>
          <p:nvPr/>
        </p:nvSpPr>
        <p:spPr>
          <a:xfrm>
            <a:off x="3028950" y="4429125"/>
            <a:ext cx="1657350" cy="28575"/>
          </a:xfrm>
          <a:prstGeom prst="rect">
            <a:avLst/>
          </a:prstGeom>
          <a:solidFill>
            <a:srgbClr val="33D6C8"/>
          </a:solidFill>
          <a:ln w="0">
            <a:solidFill>
              <a:srgbClr val="33D6C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4" name="Rectángulo: esquinas redondeadas 43">
            <a:extLst>
              <a:ext uri="{FF2B5EF4-FFF2-40B4-BE49-F238E27FC236}">
                <a16:creationId xmlns:a16="http://schemas.microsoft.com/office/drawing/2014/main" id="{74AA3D8D-D99D-43CF-B5F5-07917D24BAD1}"/>
              </a:ext>
            </a:extLst>
          </p:cNvPr>
          <p:cNvSpPr>
            <a:spLocks noGrp="1"/>
          </p:cNvSpPr>
          <p:nvPr/>
        </p:nvSpPr>
        <p:spPr>
          <a:xfrm>
            <a:off x="5029200" y="1952625"/>
            <a:ext cx="2000250" cy="2743200"/>
          </a:xfrm>
          <a:prstGeom prst="roundRect">
            <a:avLst>
              <a:gd name="adj" fmla="val 7619"/>
            </a:avLst>
          </a:prstGeom>
          <a:solidFill>
            <a:srgbClr val="242C49"/>
          </a:solidFill>
          <a:ln w="12383">
            <a:solidFill>
              <a:srgbClr val="6C63FF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5" name="Rectángulo 44">
            <a:extLst>
              <a:ext uri="{FF2B5EF4-FFF2-40B4-BE49-F238E27FC236}">
                <a16:creationId xmlns:a16="http://schemas.microsoft.com/office/drawing/2014/main" id="{F1EE3037-91BE-41A2-8D4F-B609CE62B9A3}"/>
              </a:ext>
            </a:extLst>
          </p:cNvPr>
          <p:cNvSpPr>
            <a:spLocks noGrp="1"/>
          </p:cNvSpPr>
          <p:nvPr/>
        </p:nvSpPr>
        <p:spPr>
          <a:xfrm>
            <a:off x="5200650" y="2114550"/>
            <a:ext cx="3238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50" b="1">
                <a:solidFill>
                  <a:srgbClr val="6C63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6C63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46" name="Rectángulo 45">
            <a:extLst>
              <a:ext uri="{FF2B5EF4-FFF2-40B4-BE49-F238E27FC236}">
                <a16:creationId xmlns:a16="http://schemas.microsoft.com/office/drawing/2014/main" id="{EC4A164B-831E-4344-B463-8F35086797A0}"/>
              </a:ext>
            </a:extLst>
          </p:cNvPr>
          <p:cNvSpPr>
            <a:spLocks noGrp="1"/>
          </p:cNvSpPr>
          <p:nvPr/>
        </p:nvSpPr>
        <p:spPr>
          <a:xfrm>
            <a:off x="5200650" y="2533650"/>
            <a:ext cx="16573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lnSpc>
                <a:spcPct val="95000"/>
              </a:lnSpc>
              <a:buNone/>
              <a:defRPr sz="14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Presupuestar tokens</a:t>
            </a:r>
          </a:p>
        </p:txBody>
      </p:sp>
      <p:sp>
        <p:nvSpPr>
          <p:cNvPr id="47" name="Rectángulo 46">
            <a:extLst>
              <a:ext uri="{FF2B5EF4-FFF2-40B4-BE49-F238E27FC236}">
                <a16:creationId xmlns:a16="http://schemas.microsoft.com/office/drawing/2014/main" id="{58E8DACF-828F-41BE-BD2E-FAFC57A576A7}"/>
              </a:ext>
            </a:extLst>
          </p:cNvPr>
          <p:cNvSpPr>
            <a:spLocks noGrp="1"/>
          </p:cNvSpPr>
          <p:nvPr/>
        </p:nvSpPr>
        <p:spPr>
          <a:xfrm>
            <a:off x="5200650" y="3257550"/>
            <a:ext cx="1657350" cy="1028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125" b="0">
                <a:solidFill>
                  <a:srgbClr val="C9D1E6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C9D1E6"/>
                </a:solidFill>
                <a:latin typeface="Aptos"/>
                <a:ea typeface="Aptos"/>
                <a:cs typeface="Aptos"/>
              </a:rPr>
              <a:t>Restricción o tasa–distorsión; el cociente no es la tesis.</a:t>
            </a:r>
          </a:p>
        </p:txBody>
      </p:sp>
      <p:sp>
        <p:nvSpPr>
          <p:cNvPr id="48" name="Rectángulo 47">
            <a:extLst>
              <a:ext uri="{FF2B5EF4-FFF2-40B4-BE49-F238E27FC236}">
                <a16:creationId xmlns:a16="http://schemas.microsoft.com/office/drawing/2014/main" id="{65E32878-3944-4448-8AEC-D4DCCB92A796}"/>
              </a:ext>
            </a:extLst>
          </p:cNvPr>
          <p:cNvSpPr>
            <a:spLocks noGrp="1"/>
          </p:cNvSpPr>
          <p:nvPr/>
        </p:nvSpPr>
        <p:spPr>
          <a:xfrm>
            <a:off x="5200650" y="4429125"/>
            <a:ext cx="1657350" cy="28575"/>
          </a:xfrm>
          <a:prstGeom prst="rect">
            <a:avLst/>
          </a:prstGeom>
          <a:solidFill>
            <a:srgbClr val="6C63FF"/>
          </a:solidFill>
          <a:ln w="0">
            <a:solidFill>
              <a:srgbClr val="6C63FF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9" name="Rectángulo: esquinas redondeadas 48">
            <a:extLst>
              <a:ext uri="{FF2B5EF4-FFF2-40B4-BE49-F238E27FC236}">
                <a16:creationId xmlns:a16="http://schemas.microsoft.com/office/drawing/2014/main" id="{9F08B9B4-8638-4A60-9119-DC9D6118EADF}"/>
              </a:ext>
            </a:extLst>
          </p:cNvPr>
          <p:cNvSpPr>
            <a:spLocks noGrp="1"/>
          </p:cNvSpPr>
          <p:nvPr/>
        </p:nvSpPr>
        <p:spPr>
          <a:xfrm>
            <a:off x="7200900" y="1952625"/>
            <a:ext cx="2000250" cy="2743200"/>
          </a:xfrm>
          <a:prstGeom prst="roundRect">
            <a:avLst>
              <a:gd name="adj" fmla="val 7619"/>
            </a:avLst>
          </a:prstGeom>
          <a:solidFill>
            <a:srgbClr val="242C49"/>
          </a:solidFill>
          <a:ln w="12383">
            <a:solidFill>
              <a:srgbClr val="49C98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0" name="Rectángulo 49">
            <a:extLst>
              <a:ext uri="{FF2B5EF4-FFF2-40B4-BE49-F238E27FC236}">
                <a16:creationId xmlns:a16="http://schemas.microsoft.com/office/drawing/2014/main" id="{1CF0098E-7899-43A7-99F9-F5FA89537CF3}"/>
              </a:ext>
            </a:extLst>
          </p:cNvPr>
          <p:cNvSpPr>
            <a:spLocks noGrp="1"/>
          </p:cNvSpPr>
          <p:nvPr/>
        </p:nvSpPr>
        <p:spPr>
          <a:xfrm>
            <a:off x="7372350" y="2114550"/>
            <a:ext cx="3238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50" b="1">
                <a:solidFill>
                  <a:srgbClr val="49C986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49C986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51" name="Rectángulo 50">
            <a:extLst>
              <a:ext uri="{FF2B5EF4-FFF2-40B4-BE49-F238E27FC236}">
                <a16:creationId xmlns:a16="http://schemas.microsoft.com/office/drawing/2014/main" id="{2A06535C-D628-4BA2-9BF1-1140B02EBBB9}"/>
              </a:ext>
            </a:extLst>
          </p:cNvPr>
          <p:cNvSpPr>
            <a:spLocks noGrp="1"/>
          </p:cNvSpPr>
          <p:nvPr/>
        </p:nvSpPr>
        <p:spPr>
          <a:xfrm>
            <a:off x="7372350" y="2533650"/>
            <a:ext cx="16573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lnSpc>
                <a:spcPct val="95000"/>
              </a:lnSpc>
              <a:buNone/>
              <a:defRPr sz="14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Modelar intención</a:t>
            </a:r>
          </a:p>
        </p:txBody>
      </p:sp>
      <p:sp>
        <p:nvSpPr>
          <p:cNvPr id="52" name="Rectángulo 51">
            <a:extLst>
              <a:ext uri="{FF2B5EF4-FFF2-40B4-BE49-F238E27FC236}">
                <a16:creationId xmlns:a16="http://schemas.microsoft.com/office/drawing/2014/main" id="{D18D004E-4A65-4F0E-9DB6-1B3F51D8A6E3}"/>
              </a:ext>
            </a:extLst>
          </p:cNvPr>
          <p:cNvSpPr>
            <a:spLocks noGrp="1"/>
          </p:cNvSpPr>
          <p:nvPr/>
        </p:nvSpPr>
        <p:spPr>
          <a:xfrm>
            <a:off x="7372350" y="3257550"/>
            <a:ext cx="1657350" cy="1028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125" b="0">
                <a:solidFill>
                  <a:srgbClr val="C9D1E6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C9D1E6"/>
                </a:solidFill>
                <a:latin typeface="Aptos"/>
                <a:ea typeface="Aptos"/>
                <a:cs typeface="Aptos"/>
              </a:rPr>
              <a:t>Si p(Z|X,C) no se concentra, persiste riesgo Bayesiano.</a:t>
            </a:r>
          </a:p>
        </p:txBody>
      </p:sp>
      <p:sp>
        <p:nvSpPr>
          <p:cNvPr id="53" name="Rectángulo 52">
            <a:extLst>
              <a:ext uri="{FF2B5EF4-FFF2-40B4-BE49-F238E27FC236}">
                <a16:creationId xmlns:a16="http://schemas.microsoft.com/office/drawing/2014/main" id="{F2724BE8-FFDC-4E6B-995B-F48EC12BD82E}"/>
              </a:ext>
            </a:extLst>
          </p:cNvPr>
          <p:cNvSpPr>
            <a:spLocks noGrp="1"/>
          </p:cNvSpPr>
          <p:nvPr/>
        </p:nvSpPr>
        <p:spPr>
          <a:xfrm>
            <a:off x="7372350" y="4429125"/>
            <a:ext cx="1657350" cy="28575"/>
          </a:xfrm>
          <a:prstGeom prst="rect">
            <a:avLst/>
          </a:prstGeom>
          <a:solidFill>
            <a:srgbClr val="49C986"/>
          </a:solidFill>
          <a:ln w="0">
            <a:solidFill>
              <a:srgbClr val="49C98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4" name="Rectángulo: esquinas redondeadas 53">
            <a:extLst>
              <a:ext uri="{FF2B5EF4-FFF2-40B4-BE49-F238E27FC236}">
                <a16:creationId xmlns:a16="http://schemas.microsoft.com/office/drawing/2014/main" id="{001C89BA-978D-418C-AFCB-67F8AE52CB6A}"/>
              </a:ext>
            </a:extLst>
          </p:cNvPr>
          <p:cNvSpPr>
            <a:spLocks noGrp="1"/>
          </p:cNvSpPr>
          <p:nvPr/>
        </p:nvSpPr>
        <p:spPr>
          <a:xfrm>
            <a:off x="9372600" y="1952625"/>
            <a:ext cx="2000250" cy="2743200"/>
          </a:xfrm>
          <a:prstGeom prst="roundRect">
            <a:avLst>
              <a:gd name="adj" fmla="val 7619"/>
            </a:avLst>
          </a:prstGeom>
          <a:solidFill>
            <a:srgbClr val="242C49"/>
          </a:solidFill>
          <a:ln w="12383">
            <a:solidFill>
              <a:srgbClr val="FF647C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5" name="Rectángulo 54">
            <a:extLst>
              <a:ext uri="{FF2B5EF4-FFF2-40B4-BE49-F238E27FC236}">
                <a16:creationId xmlns:a16="http://schemas.microsoft.com/office/drawing/2014/main" id="{EF931E20-EDE5-4BE0-91A8-49905F77FD4C}"/>
              </a:ext>
            </a:extLst>
          </p:cNvPr>
          <p:cNvSpPr>
            <a:spLocks noGrp="1"/>
          </p:cNvSpPr>
          <p:nvPr/>
        </p:nvSpPr>
        <p:spPr>
          <a:xfrm>
            <a:off x="9544050" y="2114550"/>
            <a:ext cx="3238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50" b="1">
                <a:solidFill>
                  <a:srgbClr val="FF647C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F647C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56" name="Rectángulo 55">
            <a:extLst>
              <a:ext uri="{FF2B5EF4-FFF2-40B4-BE49-F238E27FC236}">
                <a16:creationId xmlns:a16="http://schemas.microsoft.com/office/drawing/2014/main" id="{B13C064B-4DB0-4C97-9F94-D2C7DCD24C4B}"/>
              </a:ext>
            </a:extLst>
          </p:cNvPr>
          <p:cNvSpPr>
            <a:spLocks noGrp="1"/>
          </p:cNvSpPr>
          <p:nvPr/>
        </p:nvSpPr>
        <p:spPr>
          <a:xfrm>
            <a:off x="9544050" y="2533650"/>
            <a:ext cx="16573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lnSpc>
                <a:spcPct val="95000"/>
              </a:lnSpc>
              <a:buNone/>
              <a:defRPr sz="14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Preguntar con criterio</a:t>
            </a:r>
          </a:p>
        </p:txBody>
      </p:sp>
      <p:sp>
        <p:nvSpPr>
          <p:cNvPr id="57" name="Rectángulo 56">
            <a:extLst>
              <a:ext uri="{FF2B5EF4-FFF2-40B4-BE49-F238E27FC236}">
                <a16:creationId xmlns:a16="http://schemas.microsoft.com/office/drawing/2014/main" id="{469BBB0D-A4EA-41CF-A6DA-22B0A2DC9238}"/>
              </a:ext>
            </a:extLst>
          </p:cNvPr>
          <p:cNvSpPr>
            <a:spLocks noGrp="1"/>
          </p:cNvSpPr>
          <p:nvPr/>
        </p:nvSpPr>
        <p:spPr>
          <a:xfrm>
            <a:off x="9544050" y="3257550"/>
            <a:ext cx="1657350" cy="1028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125" b="0">
                <a:solidFill>
                  <a:srgbClr val="C9D1E6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C9D1E6"/>
                </a:solidFill>
                <a:latin typeface="Aptos"/>
                <a:ea typeface="Aptos"/>
                <a:cs typeface="Aptos"/>
              </a:rPr>
              <a:t>Aclarar conviene si la reducción esperada de pérdida supera su costo.</a:t>
            </a:r>
          </a:p>
        </p:txBody>
      </p:sp>
      <p:sp>
        <p:nvSpPr>
          <p:cNvPr id="58" name="Rectángulo 57">
            <a:extLst>
              <a:ext uri="{FF2B5EF4-FFF2-40B4-BE49-F238E27FC236}">
                <a16:creationId xmlns:a16="http://schemas.microsoft.com/office/drawing/2014/main" id="{0FEB5BFE-4E65-47A5-BDED-DDB354D6A835}"/>
              </a:ext>
            </a:extLst>
          </p:cNvPr>
          <p:cNvSpPr>
            <a:spLocks noGrp="1"/>
          </p:cNvSpPr>
          <p:nvPr/>
        </p:nvSpPr>
        <p:spPr>
          <a:xfrm>
            <a:off x="9544050" y="4429125"/>
            <a:ext cx="1657350" cy="28575"/>
          </a:xfrm>
          <a:prstGeom prst="rect">
            <a:avLst/>
          </a:prstGeom>
          <a:solidFill>
            <a:srgbClr val="FF647C"/>
          </a:solidFill>
          <a:ln w="0">
            <a:solidFill>
              <a:srgbClr val="FF647C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9" name="Rectángulo: esquinas redondeadas 58">
            <a:extLst>
              <a:ext uri="{FF2B5EF4-FFF2-40B4-BE49-F238E27FC236}">
                <a16:creationId xmlns:a16="http://schemas.microsoft.com/office/drawing/2014/main" id="{98C0607D-7C87-4412-99C2-A1C777AB7257}"/>
              </a:ext>
            </a:extLst>
          </p:cNvPr>
          <p:cNvSpPr>
            <a:spLocks noGrp="1"/>
          </p:cNvSpPr>
          <p:nvPr/>
        </p:nvSpPr>
        <p:spPr>
          <a:xfrm>
            <a:off x="1466850" y="5095875"/>
            <a:ext cx="9258300" cy="838200"/>
          </a:xfrm>
          <a:prstGeom prst="roundRect">
            <a:avLst>
              <a:gd name="adj" fmla="val 18182"/>
            </a:avLst>
          </a:prstGeom>
          <a:solidFill>
            <a:srgbClr val="1A2340"/>
          </a:solidFill>
          <a:ln w="11430">
            <a:solidFill>
              <a:srgbClr val="33D6C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0" name="Rectángulo 59">
            <a:extLst>
              <a:ext uri="{FF2B5EF4-FFF2-40B4-BE49-F238E27FC236}">
                <a16:creationId xmlns:a16="http://schemas.microsoft.com/office/drawing/2014/main" id="{3EAB2C73-1725-469B-8594-52B55A47FF7B}"/>
              </a:ext>
            </a:extLst>
          </p:cNvPr>
          <p:cNvSpPr>
            <a:spLocks noGrp="1"/>
          </p:cNvSpPr>
          <p:nvPr/>
        </p:nvSpPr>
        <p:spPr>
          <a:xfrm>
            <a:off x="1752600" y="5295900"/>
            <a:ext cx="86868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725" b="1">
                <a:solidFill>
                  <a:srgbClr val="33D6C8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33D6C8"/>
                </a:solidFill>
                <a:latin typeface="Aptos"/>
                <a:ea typeface="Aptos"/>
                <a:cs typeface="Aptos"/>
              </a:rPr>
              <a:t>Context Engineering = optimizar evidencia, presupuesto y decisión de interacción.</a:t>
            </a:r>
          </a:p>
        </p:txBody>
      </p:sp>
    </p:spTree>
    <p:extLst>
      <p:ext uri="{BB962C8B-B14F-4D97-AF65-F5344CB8AC3E}">
        <p14:creationId xmlns:p14="http://schemas.microsoft.com/office/powerpoint/2010/main" val="79728774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ángulo: esquinas redondeadas 18">
            <a:extLst>
              <a:ext uri="{FF2B5EF4-FFF2-40B4-BE49-F238E27FC236}">
                <a16:creationId xmlns:a16="http://schemas.microsoft.com/office/drawing/2014/main" id="{A8C879C7-D9DF-4367-86C4-DCD59222ED07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1924050" cy="266700"/>
          </a:xfrm>
          <a:prstGeom prst="roundRect">
            <a:avLst>
              <a:gd name="adj" fmla="val 50000"/>
            </a:avLst>
          </a:prstGeom>
          <a:solidFill>
            <a:srgbClr val="3B3340"/>
          </a:solidFill>
          <a:ln w="9525">
            <a:solidFill>
              <a:srgbClr val="F5A1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FF052AFE-452C-4396-9D91-10852E37DE9F}"/>
              </a:ext>
            </a:extLst>
          </p:cNvPr>
          <p:cNvSpPr>
            <a:spLocks noGrp="1"/>
          </p:cNvSpPr>
          <p:nvPr/>
        </p:nvSpPr>
        <p:spPr>
          <a:xfrm>
            <a:off x="733425" y="714375"/>
            <a:ext cx="18288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900" b="1">
                <a:solidFill>
                  <a:srgbClr val="33D6C8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33D6C8"/>
                </a:solidFill>
                <a:latin typeface="Aptos"/>
                <a:ea typeface="Aptos"/>
                <a:cs typeface="Aptos"/>
              </a:rPr>
              <a:t>ANEXOS · DERIVACIONES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DD05BC6C-ABCC-4208-B141-C1856E9F632A}"/>
              </a:ext>
            </a:extLst>
          </p:cNvPr>
          <p:cNvSpPr>
            <a:spLocks noGrp="1"/>
          </p:cNvSpPr>
          <p:nvPr/>
        </p:nvSpPr>
        <p:spPr>
          <a:xfrm>
            <a:off x="685800" y="1809750"/>
            <a:ext cx="638175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rmAutofit/>
          </a:bodyPr>
          <a:lstStyle/>
          <a:p>
            <a:pPr algn="l">
              <a:lnSpc>
                <a:spcPct val="90000"/>
              </a:lnSpc>
              <a:buNone/>
              <a:defRPr sz="3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De las probabilidades</a:t>
            </a:r>
          </a:p>
          <a:p>
            <a:pPr algn="l">
              <a:lnSpc>
                <a:spcPct val="90000"/>
              </a:lnSpc>
              <a:buNone/>
              <a:defRPr sz="3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 las conclusiones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C299501C-A86F-4916-8805-3834FB10D343}"/>
              </a:ext>
            </a:extLst>
          </p:cNvPr>
          <p:cNvSpPr>
            <a:spLocks noGrp="1"/>
          </p:cNvSpPr>
          <p:nvPr/>
        </p:nvSpPr>
        <p:spPr>
          <a:xfrm>
            <a:off x="685800" y="3609975"/>
            <a:ext cx="4953000" cy="47625"/>
          </a:xfrm>
          <a:prstGeom prst="rect">
            <a:avLst/>
          </a:prstGeom>
          <a:solidFill>
            <a:srgbClr val="33D6C8"/>
          </a:solidFill>
          <a:ln w="0">
            <a:solidFill>
              <a:srgbClr val="33D6C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50057D37-1DC5-4AFA-BE29-E1A627B00B0F}"/>
              </a:ext>
            </a:extLst>
          </p:cNvPr>
          <p:cNvSpPr>
            <a:spLocks noGrp="1"/>
          </p:cNvSpPr>
          <p:nvPr/>
        </p:nvSpPr>
        <p:spPr>
          <a:xfrm>
            <a:off x="685800" y="3981450"/>
            <a:ext cx="68580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650" b="0">
                <a:solidFill>
                  <a:srgbClr val="C9D1E6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C9D1E6"/>
                </a:solidFill>
                <a:latin typeface="Aptos"/>
                <a:ea typeface="Aptos"/>
                <a:cs typeface="Aptos"/>
              </a:rPr>
              <a:t>Desarrollo simbólico · supuestos explícitos · sin depender de ejemplos numéricos</a:t>
            </a:r>
          </a:p>
        </p:txBody>
      </p:sp>
      <p:sp>
        <p:nvSpPr>
          <p:cNvPr id="6" name="Flecha: a la derecha 5">
            <a:extLst>
              <a:ext uri="{FF2B5EF4-FFF2-40B4-BE49-F238E27FC236}">
                <a16:creationId xmlns:a16="http://schemas.microsoft.com/office/drawing/2014/main" id="{94ACEA88-80E4-4649-9A5A-10D9E4559583}"/>
              </a:ext>
            </a:extLst>
          </p:cNvPr>
          <p:cNvSpPr>
            <a:spLocks noGrp="1"/>
          </p:cNvSpPr>
          <p:nvPr/>
        </p:nvSpPr>
        <p:spPr>
          <a:xfrm>
            <a:off x="8096250" y="2962275"/>
            <a:ext cx="152400" cy="247650"/>
          </a:xfrm>
          <a:prstGeom prst="rightArrow">
            <a:avLst/>
          </a:prstGeom>
          <a:solidFill>
            <a:srgbClr val="38415F"/>
          </a:solidFill>
          <a:ln w="9525">
            <a:solidFill>
              <a:srgbClr val="59627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Flecha: a la derecha 6">
            <a:extLst>
              <a:ext uri="{FF2B5EF4-FFF2-40B4-BE49-F238E27FC236}">
                <a16:creationId xmlns:a16="http://schemas.microsoft.com/office/drawing/2014/main" id="{1992D21A-9FF8-4F73-84FB-5A7B2D3F687D}"/>
              </a:ext>
            </a:extLst>
          </p:cNvPr>
          <p:cNvSpPr>
            <a:spLocks noGrp="1"/>
          </p:cNvSpPr>
          <p:nvPr/>
        </p:nvSpPr>
        <p:spPr>
          <a:xfrm>
            <a:off x="9239250" y="2962275"/>
            <a:ext cx="152400" cy="247650"/>
          </a:xfrm>
          <a:prstGeom prst="rightArrow">
            <a:avLst/>
          </a:prstGeom>
          <a:solidFill>
            <a:srgbClr val="38415F"/>
          </a:solidFill>
          <a:ln w="9525">
            <a:solidFill>
              <a:srgbClr val="59627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Flecha: a la derecha 7">
            <a:extLst>
              <a:ext uri="{FF2B5EF4-FFF2-40B4-BE49-F238E27FC236}">
                <a16:creationId xmlns:a16="http://schemas.microsoft.com/office/drawing/2014/main" id="{1476178A-0391-4D36-B7D8-7F6DF4303F94}"/>
              </a:ext>
            </a:extLst>
          </p:cNvPr>
          <p:cNvSpPr>
            <a:spLocks noGrp="1"/>
          </p:cNvSpPr>
          <p:nvPr/>
        </p:nvSpPr>
        <p:spPr>
          <a:xfrm>
            <a:off x="10382250" y="2962275"/>
            <a:ext cx="152400" cy="247650"/>
          </a:xfrm>
          <a:prstGeom prst="rightArrow">
            <a:avLst/>
          </a:prstGeom>
          <a:solidFill>
            <a:srgbClr val="38415F"/>
          </a:solidFill>
          <a:ln w="9525">
            <a:solidFill>
              <a:srgbClr val="59627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Rectángulo: esquinas redondeadas 8">
            <a:extLst>
              <a:ext uri="{FF2B5EF4-FFF2-40B4-BE49-F238E27FC236}">
                <a16:creationId xmlns:a16="http://schemas.microsoft.com/office/drawing/2014/main" id="{0D1D96EE-EF4E-4238-B66A-97EF18D96BD5}"/>
              </a:ext>
            </a:extLst>
          </p:cNvPr>
          <p:cNvSpPr>
            <a:spLocks noGrp="1"/>
          </p:cNvSpPr>
          <p:nvPr/>
        </p:nvSpPr>
        <p:spPr>
          <a:xfrm>
            <a:off x="7124700" y="2724150"/>
            <a:ext cx="952500" cy="723900"/>
          </a:xfrm>
          <a:prstGeom prst="roundRect">
            <a:avLst>
              <a:gd name="adj" fmla="val 21053"/>
            </a:avLst>
          </a:prstGeom>
          <a:solidFill>
            <a:srgbClr val="242C49"/>
          </a:solidFill>
          <a:ln w="13335">
            <a:solidFill>
              <a:srgbClr val="F5A1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29C24167-D305-4DC7-A590-29294B4F4B68}"/>
              </a:ext>
            </a:extLst>
          </p:cNvPr>
          <p:cNvSpPr>
            <a:spLocks noGrp="1"/>
          </p:cNvSpPr>
          <p:nvPr/>
        </p:nvSpPr>
        <p:spPr>
          <a:xfrm>
            <a:off x="7172325" y="2895600"/>
            <a:ext cx="8572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200" b="1">
                <a:solidFill>
                  <a:srgbClr val="F5A14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5A14A"/>
                </a:solidFill>
                <a:latin typeface="Aptos"/>
                <a:ea typeface="Aptos"/>
                <a:cs typeface="Aptos"/>
              </a:rPr>
              <a:t>Bayes</a:t>
            </a:r>
          </a:p>
        </p:txBody>
      </p:sp>
      <p:sp>
        <p:nvSpPr>
          <p:cNvPr id="11" name="Rectángulo: esquinas redondeadas 10">
            <a:extLst>
              <a:ext uri="{FF2B5EF4-FFF2-40B4-BE49-F238E27FC236}">
                <a16:creationId xmlns:a16="http://schemas.microsoft.com/office/drawing/2014/main" id="{813D75F3-54A2-4A57-85D4-17161779BECB}"/>
              </a:ext>
            </a:extLst>
          </p:cNvPr>
          <p:cNvSpPr>
            <a:spLocks noGrp="1"/>
          </p:cNvSpPr>
          <p:nvPr/>
        </p:nvSpPr>
        <p:spPr>
          <a:xfrm>
            <a:off x="8267700" y="2724150"/>
            <a:ext cx="952500" cy="723900"/>
          </a:xfrm>
          <a:prstGeom prst="roundRect">
            <a:avLst>
              <a:gd name="adj" fmla="val 21053"/>
            </a:avLst>
          </a:prstGeom>
          <a:solidFill>
            <a:srgbClr val="242C49"/>
          </a:solidFill>
          <a:ln w="13335">
            <a:solidFill>
              <a:srgbClr val="6C63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9B488221-F050-4CE8-8E00-251A05924493}"/>
              </a:ext>
            </a:extLst>
          </p:cNvPr>
          <p:cNvSpPr>
            <a:spLocks noGrp="1"/>
          </p:cNvSpPr>
          <p:nvPr/>
        </p:nvSpPr>
        <p:spPr>
          <a:xfrm>
            <a:off x="8315325" y="2895600"/>
            <a:ext cx="8572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200" b="1">
                <a:solidFill>
                  <a:srgbClr val="6C63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6C63FF"/>
                </a:solidFill>
                <a:latin typeface="Aptos"/>
                <a:ea typeface="Aptos"/>
                <a:cs typeface="Aptos"/>
              </a:rPr>
              <a:t>Entropía</a:t>
            </a:r>
          </a:p>
        </p:txBody>
      </p:sp>
      <p:sp>
        <p:nvSpPr>
          <p:cNvPr id="13" name="Rectángulo: esquinas redondeadas 12">
            <a:extLst>
              <a:ext uri="{FF2B5EF4-FFF2-40B4-BE49-F238E27FC236}">
                <a16:creationId xmlns:a16="http://schemas.microsoft.com/office/drawing/2014/main" id="{FD494A59-4322-475D-93F9-3CE1AE95E599}"/>
              </a:ext>
            </a:extLst>
          </p:cNvPr>
          <p:cNvSpPr>
            <a:spLocks noGrp="1"/>
          </p:cNvSpPr>
          <p:nvPr/>
        </p:nvSpPr>
        <p:spPr>
          <a:xfrm>
            <a:off x="9410700" y="2724150"/>
            <a:ext cx="952500" cy="723900"/>
          </a:xfrm>
          <a:prstGeom prst="roundRect">
            <a:avLst>
              <a:gd name="adj" fmla="val 21053"/>
            </a:avLst>
          </a:prstGeom>
          <a:solidFill>
            <a:srgbClr val="242C49"/>
          </a:solidFill>
          <a:ln w="13335">
            <a:solidFill>
              <a:srgbClr val="FF647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717AFE4A-1EB5-4283-9055-BC4ED6B27DBE}"/>
              </a:ext>
            </a:extLst>
          </p:cNvPr>
          <p:cNvSpPr>
            <a:spLocks noGrp="1"/>
          </p:cNvSpPr>
          <p:nvPr/>
        </p:nvSpPr>
        <p:spPr>
          <a:xfrm>
            <a:off x="9458325" y="2895600"/>
            <a:ext cx="8572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200" b="1">
                <a:solidFill>
                  <a:srgbClr val="FF647C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F647C"/>
                </a:solidFill>
                <a:latin typeface="Aptos"/>
                <a:ea typeface="Aptos"/>
                <a:cs typeface="Aptos"/>
              </a:rPr>
              <a:t>Riesgo</a:t>
            </a:r>
          </a:p>
        </p:txBody>
      </p:sp>
      <p:sp>
        <p:nvSpPr>
          <p:cNvPr id="15" name="Rectángulo: esquinas redondeadas 14">
            <a:extLst>
              <a:ext uri="{FF2B5EF4-FFF2-40B4-BE49-F238E27FC236}">
                <a16:creationId xmlns:a16="http://schemas.microsoft.com/office/drawing/2014/main" id="{F4EBA750-4EC2-4C98-9E2D-27D7A9346D74}"/>
              </a:ext>
            </a:extLst>
          </p:cNvPr>
          <p:cNvSpPr>
            <a:spLocks noGrp="1"/>
          </p:cNvSpPr>
          <p:nvPr/>
        </p:nvSpPr>
        <p:spPr>
          <a:xfrm>
            <a:off x="10553700" y="2724150"/>
            <a:ext cx="952500" cy="723900"/>
          </a:xfrm>
          <a:prstGeom prst="roundRect">
            <a:avLst>
              <a:gd name="adj" fmla="val 21053"/>
            </a:avLst>
          </a:prstGeom>
          <a:solidFill>
            <a:srgbClr val="242C49"/>
          </a:solidFill>
          <a:ln w="13335">
            <a:solidFill>
              <a:srgbClr val="33D6C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AB9A55F3-750D-476C-B45E-21A6AF35CC98}"/>
              </a:ext>
            </a:extLst>
          </p:cNvPr>
          <p:cNvSpPr>
            <a:spLocks noGrp="1"/>
          </p:cNvSpPr>
          <p:nvPr/>
        </p:nvSpPr>
        <p:spPr>
          <a:xfrm>
            <a:off x="10601325" y="2895600"/>
            <a:ext cx="8572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200" b="1">
                <a:solidFill>
                  <a:srgbClr val="33D6C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3D6C8"/>
                </a:solidFill>
                <a:latin typeface="Aptos"/>
                <a:ea typeface="Aptos"/>
                <a:cs typeface="Aptos"/>
              </a:rPr>
              <a:t>Decisión</a:t>
            </a:r>
          </a:p>
        </p:txBody>
      </p:sp>
      <p:sp>
        <p:nvSpPr>
          <p:cNvPr id="17" name="Rectángulo 16">
            <a:extLst>
              <a:ext uri="{FF2B5EF4-FFF2-40B4-BE49-F238E27FC236}">
                <a16:creationId xmlns:a16="http://schemas.microsoft.com/office/drawing/2014/main" id="{8A80D985-A7E0-4AF2-B79F-A251A81D0DF6}"/>
              </a:ext>
            </a:extLst>
          </p:cNvPr>
          <p:cNvSpPr>
            <a:spLocks noGrp="1"/>
          </p:cNvSpPr>
          <p:nvPr/>
        </p:nvSpPr>
        <p:spPr>
          <a:xfrm>
            <a:off x="685800" y="6486525"/>
            <a:ext cx="9906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750" b="0">
                <a:solidFill>
                  <a:srgbClr val="9AA6C4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9AA6C4"/>
                </a:solidFill>
                <a:latin typeface="Aptos"/>
                <a:ea typeface="Aptos"/>
                <a:cs typeface="Aptos"/>
              </a:rPr>
              <a:t>Anexos matemáticos · notación: X consulta · C contexto · Z intención · Y respuesta</a:t>
            </a:r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5AB9B4A8-C929-4052-A639-0C7B04E405C5}"/>
              </a:ext>
            </a:extLst>
          </p:cNvPr>
          <p:cNvSpPr>
            <a:spLocks noGrp="1"/>
          </p:cNvSpPr>
          <p:nvPr/>
        </p:nvSpPr>
        <p:spPr>
          <a:xfrm>
            <a:off x="11087100" y="6486525"/>
            <a:ext cx="4191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rmAutofit/>
          </a:bodyPr>
          <a:lstStyle/>
          <a:p>
            <a:pPr algn="r">
              <a:lnSpc>
                <a:spcPct val="100000"/>
              </a:lnSpc>
              <a:buNone/>
              <a:defRPr sz="825" b="1">
                <a:solidFill>
                  <a:srgbClr val="C9D1E6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C9D1E6"/>
                </a:solidFill>
                <a:latin typeface="Aptos"/>
                <a:ea typeface="Aptos"/>
                <a:cs typeface="Aptos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173591137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ángulo 26">
            <a:extLst>
              <a:ext uri="{FF2B5EF4-FFF2-40B4-BE49-F238E27FC236}">
                <a16:creationId xmlns:a16="http://schemas.microsoft.com/office/drawing/2014/main" id="{C5558F03-A51F-41A9-A5B6-165624F5AC38}"/>
              </a:ext>
            </a:extLst>
          </p:cNvPr>
          <p:cNvSpPr>
            <a:spLocks noGrp="1"/>
          </p:cNvSpPr>
          <p:nvPr/>
        </p:nvSpPr>
        <p:spPr>
          <a:xfrm>
            <a:off x="685800" y="495300"/>
            <a:ext cx="4476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050" b="1">
                <a:solidFill>
                  <a:srgbClr val="6C63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6C63FF"/>
                </a:solidFill>
                <a:latin typeface="Aptos"/>
                <a:ea typeface="Aptos"/>
                <a:cs typeface="Aptos"/>
              </a:rPr>
              <a:t>A1 / ACTUALIZACIÓN BAYESIANA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E5F22FB0-2783-4EAD-AB6F-8723C662234B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10875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rmAutofit/>
          </a:bodyPr>
          <a:lstStyle/>
          <a:p>
            <a:pPr algn="l">
              <a:lnSpc>
                <a:spcPct val="92000"/>
              </a:lnSpc>
              <a:buNone/>
              <a:defRPr sz="28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El contexto es útil cuando cambia las odds entre intenciones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CCF577BD-E722-450F-955F-D2FF2D2506F8}"/>
              </a:ext>
            </a:extLst>
          </p:cNvPr>
          <p:cNvSpPr>
            <a:spLocks noGrp="1"/>
          </p:cNvSpPr>
          <p:nvPr/>
        </p:nvSpPr>
        <p:spPr>
          <a:xfrm>
            <a:off x="685800" y="1562100"/>
            <a:ext cx="10820400" cy="9525"/>
          </a:xfrm>
          <a:prstGeom prst="rect">
            <a:avLst/>
          </a:prstGeom>
          <a:solidFill>
            <a:srgbClr val="D9DEEA"/>
          </a:solidFill>
          <a:ln w="0">
            <a:solidFill>
              <a:srgbClr val="D9DE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Rectángulo: esquinas redondeadas 3">
            <a:extLst>
              <a:ext uri="{FF2B5EF4-FFF2-40B4-BE49-F238E27FC236}">
                <a16:creationId xmlns:a16="http://schemas.microsoft.com/office/drawing/2014/main" id="{120D237D-9FE9-416B-B094-98566C6CD016}"/>
              </a:ext>
            </a:extLst>
          </p:cNvPr>
          <p:cNvSpPr>
            <a:spLocks noGrp="1"/>
          </p:cNvSpPr>
          <p:nvPr/>
        </p:nvSpPr>
        <p:spPr>
          <a:xfrm>
            <a:off x="685800" y="1905000"/>
            <a:ext cx="6762750" cy="3924300"/>
          </a:xfrm>
          <a:prstGeom prst="roundRect">
            <a:avLst>
              <a:gd name="adj" fmla="val 3883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Rectángulo: esquinas redondeadas 4">
            <a:extLst>
              <a:ext uri="{FF2B5EF4-FFF2-40B4-BE49-F238E27FC236}">
                <a16:creationId xmlns:a16="http://schemas.microsoft.com/office/drawing/2014/main" id="{F7B002E7-47C3-4ECC-94C0-1190A6441D17}"/>
              </a:ext>
            </a:extLst>
          </p:cNvPr>
          <p:cNvSpPr>
            <a:spLocks noGrp="1"/>
          </p:cNvSpPr>
          <p:nvPr/>
        </p:nvSpPr>
        <p:spPr>
          <a:xfrm>
            <a:off x="914400" y="2076450"/>
            <a:ext cx="1562100" cy="266700"/>
          </a:xfrm>
          <a:prstGeom prst="roundRect">
            <a:avLst>
              <a:gd name="adj" fmla="val 50000"/>
            </a:avLst>
          </a:prstGeom>
          <a:solidFill>
            <a:srgbClr val="EEECFF"/>
          </a:solidFill>
          <a:ln w="9525">
            <a:solidFill>
              <a:srgbClr val="EEEC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FEB89A12-C9D1-4D29-A02F-B4920C778CDA}"/>
              </a:ext>
            </a:extLst>
          </p:cNvPr>
          <p:cNvSpPr>
            <a:spLocks noGrp="1"/>
          </p:cNvSpPr>
          <p:nvPr/>
        </p:nvSpPr>
        <p:spPr>
          <a:xfrm>
            <a:off x="962025" y="2105025"/>
            <a:ext cx="14668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900" b="1">
                <a:solidFill>
                  <a:srgbClr val="6C63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C63FF"/>
                </a:solidFill>
                <a:latin typeface="Aptos"/>
                <a:ea typeface="Aptos"/>
                <a:cs typeface="Aptos"/>
              </a:rPr>
              <a:t>DESARROLLO LITERAL</a:t>
            </a:r>
          </a:p>
        </p:txBody>
      </p:sp>
      <p:sp>
        <p:nvSpPr>
          <p:cNvPr id="7" name="Rectángulo: esquinas redondeadas 6">
            <a:extLst>
              <a:ext uri="{FF2B5EF4-FFF2-40B4-BE49-F238E27FC236}">
                <a16:creationId xmlns:a16="http://schemas.microsoft.com/office/drawing/2014/main" id="{6183F534-89E8-4FF2-BDF8-6042B8C40F21}"/>
              </a:ext>
            </a:extLst>
          </p:cNvPr>
          <p:cNvSpPr>
            <a:spLocks noGrp="1"/>
          </p:cNvSpPr>
          <p:nvPr/>
        </p:nvSpPr>
        <p:spPr>
          <a:xfrm>
            <a:off x="914400" y="2476500"/>
            <a:ext cx="6305550" cy="742950"/>
          </a:xfrm>
          <a:prstGeom prst="roundRect">
            <a:avLst>
              <a:gd name="adj" fmla="val 15385"/>
            </a:avLst>
          </a:prstGeom>
          <a:solidFill>
            <a:srgbClr val="F8F7FF"/>
          </a:solidFill>
          <a:ln w="9525">
            <a:solidFill>
              <a:srgbClr val="D7D2FF"/>
            </a:solidFill>
            <a:prstDash val="solid"/>
          </a:ln>
        </p:spPr>
        <p:txBody>
          <a:bodyPr wrap="square" lIns="95250" tIns="76200" rIns="95250" bIns="76200" anchor="ctr">
            <a:normAutofit/>
          </a:bodyPr>
          <a:lstStyle/>
          <a:p>
            <a:pPr algn="ctr">
              <a:lnSpc>
                <a:spcPct val="95000"/>
              </a:lnSpc>
              <a:buNone/>
              <a:defRPr sz="1875" b="0">
                <a:solidFill>
                  <a:srgbClr val="6C63FF"/>
                </a:solidFill>
                <a:latin typeface="Cambria Math"/>
                <a:ea typeface="Cambria Math"/>
                <a:cs typeface="Cambria Math"/>
              </a:defRPr>
            </a:pPr>
            <a:r>
              <a:rPr sz="1875" b="0">
                <a:solidFill>
                  <a:srgbClr val="6C63FF"/>
                </a:solidFill>
                <a:latin typeface="Cambria Math"/>
                <a:ea typeface="Cambria Math"/>
                <a:cs typeface="Cambria Math"/>
              </a:rPr>
              <a:t>P(Zᵢ | X,C) = P(C | Zᵢ,X) P(Zᵢ | X) / ∑ⱼ P(C | Zⱼ,X) P(Zⱼ | X)</a:t>
            </a: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FE07AF3D-BE3B-445B-B3ED-B8F2960F6E75}"/>
              </a:ext>
            </a:extLst>
          </p:cNvPr>
          <p:cNvSpPr>
            <a:spLocks noGrp="1"/>
          </p:cNvSpPr>
          <p:nvPr/>
        </p:nvSpPr>
        <p:spPr>
          <a:xfrm>
            <a:off x="933450" y="3381375"/>
            <a:ext cx="5905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20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Al dividir dos posteriores, el denominador común se cancela:</a:t>
            </a:r>
          </a:p>
        </p:txBody>
      </p:sp>
      <p:sp>
        <p:nvSpPr>
          <p:cNvPr id="9" name="Rectángulo: esquinas redondeadas 8">
            <a:extLst>
              <a:ext uri="{FF2B5EF4-FFF2-40B4-BE49-F238E27FC236}">
                <a16:creationId xmlns:a16="http://schemas.microsoft.com/office/drawing/2014/main" id="{A21A45BB-1216-4E44-BA44-17EF91196374}"/>
              </a:ext>
            </a:extLst>
          </p:cNvPr>
          <p:cNvSpPr>
            <a:spLocks noGrp="1"/>
          </p:cNvSpPr>
          <p:nvPr/>
        </p:nvSpPr>
        <p:spPr>
          <a:xfrm>
            <a:off x="914400" y="3705225"/>
            <a:ext cx="6305550" cy="1066800"/>
          </a:xfrm>
          <a:prstGeom prst="roundRect">
            <a:avLst>
              <a:gd name="adj" fmla="val 10714"/>
            </a:avLst>
          </a:prstGeom>
          <a:solidFill>
            <a:srgbClr val="E3F9F6"/>
          </a:solidFill>
          <a:ln w="9525">
            <a:solidFill>
              <a:srgbClr val="33D6C8"/>
            </a:solidFill>
            <a:prstDash val="solid"/>
          </a:ln>
        </p:spPr>
        <p:txBody>
          <a:bodyPr wrap="square" lIns="95250" tIns="76200" rIns="95250" bIns="76200" anchor="ctr">
            <a:normAutofit/>
          </a:bodyPr>
          <a:lstStyle/>
          <a:p>
            <a:pPr algn="ctr">
              <a:lnSpc>
                <a:spcPct val="95000"/>
              </a:lnSpc>
              <a:buNone/>
              <a:defRPr sz="1800" b="0">
                <a:solidFill>
                  <a:srgbClr val="111827"/>
                </a:solidFill>
                <a:latin typeface="Cambria Math"/>
                <a:ea typeface="Cambria Math"/>
                <a:cs typeface="Cambria Math"/>
              </a:defRPr>
            </a:pPr>
            <a:r>
              <a:rPr sz="1800" b="0">
                <a:solidFill>
                  <a:srgbClr val="111827"/>
                </a:solidFill>
                <a:latin typeface="Cambria Math"/>
                <a:ea typeface="Cambria Math"/>
                <a:cs typeface="Cambria Math"/>
              </a:rPr>
              <a:t>P(Z₁ | X,C) / P(Z₂ | X,C)</a:t>
            </a:r>
          </a:p>
          <a:p>
            <a:pPr algn="ctr">
              <a:lnSpc>
                <a:spcPct val="95000"/>
              </a:lnSpc>
              <a:buNone/>
              <a:defRPr sz="1800" b="0">
                <a:solidFill>
                  <a:srgbClr val="111827"/>
                </a:solidFill>
                <a:latin typeface="Cambria Math"/>
                <a:ea typeface="Cambria Math"/>
                <a:cs typeface="Cambria Math"/>
              </a:defRPr>
            </a:pPr>
            <a:r>
              <a:rPr sz="1800" b="0">
                <a:solidFill>
                  <a:srgbClr val="111827"/>
                </a:solidFill>
                <a:latin typeface="Cambria Math"/>
                <a:ea typeface="Cambria Math"/>
                <a:cs typeface="Cambria Math"/>
              </a:rPr>
              <a:t>= [P(Z₁ | X) / P(Z₂ | X)] · [P(C | Z₁,X) / P(C | Z₂,X)]</a:t>
            </a: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ACA5519E-317B-496D-BA39-D9E9E4D1B4E3}"/>
              </a:ext>
            </a:extLst>
          </p:cNvPr>
          <p:cNvSpPr>
            <a:spLocks noGrp="1"/>
          </p:cNvSpPr>
          <p:nvPr/>
        </p:nvSpPr>
        <p:spPr>
          <a:xfrm>
            <a:off x="1238250" y="4981575"/>
            <a:ext cx="56578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350" b="1">
                <a:solidFill>
                  <a:srgbClr val="168E83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68E83"/>
                </a:solidFill>
                <a:latin typeface="Aptos"/>
                <a:ea typeface="Aptos"/>
                <a:cs typeface="Aptos"/>
              </a:rPr>
              <a:t>odds posteriores = odds previas × factor de Bayes</a:t>
            </a:r>
          </a:p>
        </p:txBody>
      </p:sp>
      <p:sp>
        <p:nvSpPr>
          <p:cNvPr id="11" name="Rectángulo: esquinas redondeadas 10">
            <a:extLst>
              <a:ext uri="{FF2B5EF4-FFF2-40B4-BE49-F238E27FC236}">
                <a16:creationId xmlns:a16="http://schemas.microsoft.com/office/drawing/2014/main" id="{249FFD74-7D8D-4740-9C38-55D5223CB54C}"/>
              </a:ext>
            </a:extLst>
          </p:cNvPr>
          <p:cNvSpPr>
            <a:spLocks noGrp="1"/>
          </p:cNvSpPr>
          <p:nvPr/>
        </p:nvSpPr>
        <p:spPr>
          <a:xfrm>
            <a:off x="7791450" y="1905000"/>
            <a:ext cx="3714750" cy="3924300"/>
          </a:xfrm>
          <a:prstGeom prst="roundRect">
            <a:avLst>
              <a:gd name="adj" fmla="val 4103"/>
            </a:avLst>
          </a:prstGeom>
          <a:solidFill>
            <a:srgbClr val="EEECFF"/>
          </a:solidFill>
          <a:ln w="11430">
            <a:solidFill>
              <a:srgbClr val="6C63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6BB8EC3F-68F7-4DE6-A1DE-A20B47D970D8}"/>
              </a:ext>
            </a:extLst>
          </p:cNvPr>
          <p:cNvSpPr>
            <a:spLocks noGrp="1"/>
          </p:cNvSpPr>
          <p:nvPr/>
        </p:nvSpPr>
        <p:spPr>
          <a:xfrm>
            <a:off x="8039100" y="2143125"/>
            <a:ext cx="3219450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575" b="1">
                <a:solidFill>
                  <a:srgbClr val="6C63FF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6C63FF"/>
                </a:solidFill>
                <a:latin typeface="Aptos"/>
                <a:ea typeface="Aptos"/>
                <a:cs typeface="Aptos"/>
              </a:rPr>
              <a:t>Lectura de la conclusión</a:t>
            </a:r>
          </a:p>
        </p:txBody>
      </p:sp>
      <p:sp>
        <p:nvSpPr>
          <p:cNvPr id="13" name="Rectángulo: esquinas redondeadas 12">
            <a:extLst>
              <a:ext uri="{FF2B5EF4-FFF2-40B4-BE49-F238E27FC236}">
                <a16:creationId xmlns:a16="http://schemas.microsoft.com/office/drawing/2014/main" id="{977B7503-E5A6-474F-B0DB-AEAF4486F7D4}"/>
              </a:ext>
            </a:extLst>
          </p:cNvPr>
          <p:cNvSpPr>
            <a:spLocks noGrp="1"/>
          </p:cNvSpPr>
          <p:nvPr/>
        </p:nvSpPr>
        <p:spPr>
          <a:xfrm>
            <a:off x="8039100" y="2676525"/>
            <a:ext cx="400050" cy="266700"/>
          </a:xfrm>
          <a:prstGeom prst="roundRect">
            <a:avLst>
              <a:gd name="adj" fmla="val 50000"/>
            </a:avLst>
          </a:prstGeom>
          <a:solidFill>
            <a:srgbClr val="EEECFF"/>
          </a:solidFill>
          <a:ln w="9525">
            <a:solidFill>
              <a:srgbClr val="6C63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84B195F4-BDE5-430E-9B75-4A5311A29560}"/>
              </a:ext>
            </a:extLst>
          </p:cNvPr>
          <p:cNvSpPr>
            <a:spLocks noGrp="1"/>
          </p:cNvSpPr>
          <p:nvPr/>
        </p:nvSpPr>
        <p:spPr>
          <a:xfrm>
            <a:off x="8086725" y="2705100"/>
            <a:ext cx="3048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900" b="1">
                <a:solidFill>
                  <a:srgbClr val="6C63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C63FF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023958BB-BABA-42B6-AC2E-58BABB164500}"/>
              </a:ext>
            </a:extLst>
          </p:cNvPr>
          <p:cNvSpPr>
            <a:spLocks noGrp="1"/>
          </p:cNvSpPr>
          <p:nvPr/>
        </p:nvSpPr>
        <p:spPr>
          <a:xfrm>
            <a:off x="8562975" y="2667000"/>
            <a:ext cx="2524125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Prior</a:t>
            </a:r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9F9FD250-0C95-488B-B766-CEB75D10F760}"/>
              </a:ext>
            </a:extLst>
          </p:cNvPr>
          <p:cNvSpPr>
            <a:spLocks noGrp="1"/>
          </p:cNvSpPr>
          <p:nvPr/>
        </p:nvSpPr>
        <p:spPr>
          <a:xfrm>
            <a:off x="8562975" y="2952750"/>
            <a:ext cx="2524125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05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P(Zᵢ|X) resume qué intención era plausible antes de añadir C.</a:t>
            </a:r>
          </a:p>
        </p:txBody>
      </p:sp>
      <p:sp>
        <p:nvSpPr>
          <p:cNvPr id="17" name="Rectángulo: esquinas redondeadas 16">
            <a:extLst>
              <a:ext uri="{FF2B5EF4-FFF2-40B4-BE49-F238E27FC236}">
                <a16:creationId xmlns:a16="http://schemas.microsoft.com/office/drawing/2014/main" id="{2086FCD5-FD99-4CD0-88CB-8763E34B4884}"/>
              </a:ext>
            </a:extLst>
          </p:cNvPr>
          <p:cNvSpPr>
            <a:spLocks noGrp="1"/>
          </p:cNvSpPr>
          <p:nvPr/>
        </p:nvSpPr>
        <p:spPr>
          <a:xfrm>
            <a:off x="8039100" y="3581400"/>
            <a:ext cx="400050" cy="266700"/>
          </a:xfrm>
          <a:prstGeom prst="roundRect">
            <a:avLst>
              <a:gd name="adj" fmla="val 50000"/>
            </a:avLst>
          </a:prstGeom>
          <a:solidFill>
            <a:srgbClr val="EEECFF"/>
          </a:solidFill>
          <a:ln w="9525">
            <a:solidFill>
              <a:srgbClr val="33D6C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853280D1-4E54-457D-8C64-B8FF3B811003}"/>
              </a:ext>
            </a:extLst>
          </p:cNvPr>
          <p:cNvSpPr>
            <a:spLocks noGrp="1"/>
          </p:cNvSpPr>
          <p:nvPr/>
        </p:nvSpPr>
        <p:spPr>
          <a:xfrm>
            <a:off x="8086725" y="3609975"/>
            <a:ext cx="3048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900" b="1">
                <a:solidFill>
                  <a:srgbClr val="33D6C8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33D6C8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44544D14-6B00-45D8-BA9F-35BAE51FCE8F}"/>
              </a:ext>
            </a:extLst>
          </p:cNvPr>
          <p:cNvSpPr>
            <a:spLocks noGrp="1"/>
          </p:cNvSpPr>
          <p:nvPr/>
        </p:nvSpPr>
        <p:spPr>
          <a:xfrm>
            <a:off x="8562975" y="3571875"/>
            <a:ext cx="2524125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Evidencia</a:t>
            </a:r>
          </a:p>
        </p:txBody>
      </p:sp>
      <p:sp>
        <p:nvSpPr>
          <p:cNvPr id="20" name="Rectángulo 19">
            <a:extLst>
              <a:ext uri="{FF2B5EF4-FFF2-40B4-BE49-F238E27FC236}">
                <a16:creationId xmlns:a16="http://schemas.microsoft.com/office/drawing/2014/main" id="{AA9EB53D-5335-44C3-8010-20E7E7EC671E}"/>
              </a:ext>
            </a:extLst>
          </p:cNvPr>
          <p:cNvSpPr>
            <a:spLocks noGrp="1"/>
          </p:cNvSpPr>
          <p:nvPr/>
        </p:nvSpPr>
        <p:spPr>
          <a:xfrm>
            <a:off x="8562975" y="3857625"/>
            <a:ext cx="2524125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05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P(C|Zᵢ,X) mide cuánto esperaba observar ese contexto bajo cada intención.</a:t>
            </a:r>
          </a:p>
        </p:txBody>
      </p:sp>
      <p:sp>
        <p:nvSpPr>
          <p:cNvPr id="21" name="Rectángulo: esquinas redondeadas 20">
            <a:extLst>
              <a:ext uri="{FF2B5EF4-FFF2-40B4-BE49-F238E27FC236}">
                <a16:creationId xmlns:a16="http://schemas.microsoft.com/office/drawing/2014/main" id="{9B00C69D-4242-4856-AEE9-9FD5B3816ADE}"/>
              </a:ext>
            </a:extLst>
          </p:cNvPr>
          <p:cNvSpPr>
            <a:spLocks noGrp="1"/>
          </p:cNvSpPr>
          <p:nvPr/>
        </p:nvSpPr>
        <p:spPr>
          <a:xfrm>
            <a:off x="8039100" y="4572000"/>
            <a:ext cx="400050" cy="266700"/>
          </a:xfrm>
          <a:prstGeom prst="roundRect">
            <a:avLst>
              <a:gd name="adj" fmla="val 50000"/>
            </a:avLst>
          </a:prstGeom>
          <a:solidFill>
            <a:srgbClr val="EEECFF"/>
          </a:solidFill>
          <a:ln w="9525">
            <a:solidFill>
              <a:srgbClr val="F5A1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Rectángulo 21">
            <a:extLst>
              <a:ext uri="{FF2B5EF4-FFF2-40B4-BE49-F238E27FC236}">
                <a16:creationId xmlns:a16="http://schemas.microsoft.com/office/drawing/2014/main" id="{11D4BC7F-87A7-471B-9606-6AD1ADED1C17}"/>
              </a:ext>
            </a:extLst>
          </p:cNvPr>
          <p:cNvSpPr>
            <a:spLocks noGrp="1"/>
          </p:cNvSpPr>
          <p:nvPr/>
        </p:nvSpPr>
        <p:spPr>
          <a:xfrm>
            <a:off x="8086725" y="4600575"/>
            <a:ext cx="3048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900" b="1">
                <a:solidFill>
                  <a:srgbClr val="F5A14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5A14A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23" name="Rectángulo 22">
            <a:extLst>
              <a:ext uri="{FF2B5EF4-FFF2-40B4-BE49-F238E27FC236}">
                <a16:creationId xmlns:a16="http://schemas.microsoft.com/office/drawing/2014/main" id="{346179B3-9C13-41D0-9BCE-5EEE1AE78C02}"/>
              </a:ext>
            </a:extLst>
          </p:cNvPr>
          <p:cNvSpPr>
            <a:spLocks noGrp="1"/>
          </p:cNvSpPr>
          <p:nvPr/>
        </p:nvSpPr>
        <p:spPr>
          <a:xfrm>
            <a:off x="8562975" y="4562475"/>
            <a:ext cx="2524125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Criterio</a:t>
            </a:r>
          </a:p>
        </p:txBody>
      </p:sp>
      <p:sp>
        <p:nvSpPr>
          <p:cNvPr id="24" name="Rectángulo 23">
            <a:extLst>
              <a:ext uri="{FF2B5EF4-FFF2-40B4-BE49-F238E27FC236}">
                <a16:creationId xmlns:a16="http://schemas.microsoft.com/office/drawing/2014/main" id="{529182B1-79FA-4634-9E80-389D3AD2C590}"/>
              </a:ext>
            </a:extLst>
          </p:cNvPr>
          <p:cNvSpPr>
            <a:spLocks noGrp="1"/>
          </p:cNvSpPr>
          <p:nvPr/>
        </p:nvSpPr>
        <p:spPr>
          <a:xfrm>
            <a:off x="8562975" y="4848225"/>
            <a:ext cx="2524125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05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Si el factor de Bayes ≈ 1, C no separa Z₁ de Z₂: agrega texto, no decisión.</a:t>
            </a:r>
          </a:p>
        </p:txBody>
      </p:sp>
      <p:sp>
        <p:nvSpPr>
          <p:cNvPr id="25" name="Rectángulo 24">
            <a:extLst>
              <a:ext uri="{FF2B5EF4-FFF2-40B4-BE49-F238E27FC236}">
                <a16:creationId xmlns:a16="http://schemas.microsoft.com/office/drawing/2014/main" id="{8027CA1F-EF9F-465D-AE0F-22F647FA757A}"/>
              </a:ext>
            </a:extLst>
          </p:cNvPr>
          <p:cNvSpPr>
            <a:spLocks noGrp="1"/>
          </p:cNvSpPr>
          <p:nvPr/>
        </p:nvSpPr>
        <p:spPr>
          <a:xfrm>
            <a:off x="685800" y="6486525"/>
            <a:ext cx="9906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750" b="0">
                <a:solidFill>
                  <a:srgbClr val="8792AA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8792AA"/>
                </a:solidFill>
                <a:latin typeface="Aptos"/>
                <a:ea typeface="Aptos"/>
                <a:cs typeface="Aptos"/>
              </a:rPr>
              <a:t>Regla de Bayes · derivación explícita de odds posteriores</a:t>
            </a:r>
          </a:p>
        </p:txBody>
      </p:sp>
      <p:sp>
        <p:nvSpPr>
          <p:cNvPr id="26" name="Rectángulo 25">
            <a:extLst>
              <a:ext uri="{FF2B5EF4-FFF2-40B4-BE49-F238E27FC236}">
                <a16:creationId xmlns:a16="http://schemas.microsoft.com/office/drawing/2014/main" id="{E82152D0-9E79-493B-8AA8-3AA742BD92C0}"/>
              </a:ext>
            </a:extLst>
          </p:cNvPr>
          <p:cNvSpPr>
            <a:spLocks noGrp="1"/>
          </p:cNvSpPr>
          <p:nvPr/>
        </p:nvSpPr>
        <p:spPr>
          <a:xfrm>
            <a:off x="11087100" y="6486525"/>
            <a:ext cx="4191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rmAutofit/>
          </a:bodyPr>
          <a:lstStyle/>
          <a:p>
            <a:pPr algn="r">
              <a:lnSpc>
                <a:spcPct val="100000"/>
              </a:lnSpc>
              <a:buNone/>
              <a:defRPr sz="825" b="1">
                <a:solidFill>
                  <a:srgbClr val="7B879F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7B879F"/>
                </a:solidFill>
                <a:latin typeface="Aptos"/>
                <a:ea typeface="Aptos"/>
                <a:cs typeface="Aptos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97348707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ángulo 16">
            <a:extLst>
              <a:ext uri="{FF2B5EF4-FFF2-40B4-BE49-F238E27FC236}">
                <a16:creationId xmlns:a16="http://schemas.microsoft.com/office/drawing/2014/main" id="{0A365513-9F5B-4768-8DF5-A442EB78567E}"/>
              </a:ext>
            </a:extLst>
          </p:cNvPr>
          <p:cNvSpPr>
            <a:spLocks noGrp="1"/>
          </p:cNvSpPr>
          <p:nvPr/>
        </p:nvSpPr>
        <p:spPr>
          <a:xfrm>
            <a:off x="685800" y="495300"/>
            <a:ext cx="4476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050" b="1">
                <a:solidFill>
                  <a:srgbClr val="33D6C8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33D6C8"/>
                </a:solidFill>
                <a:latin typeface="Aptos"/>
                <a:ea typeface="Aptos"/>
                <a:cs typeface="Aptos"/>
              </a:rPr>
              <a:t>A2 / INFORMACIÓN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103C38D6-8BA4-47D5-AF96-691733E3A397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10875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rmAutofit/>
          </a:bodyPr>
          <a:lstStyle/>
          <a:p>
            <a:pPr algn="l">
              <a:lnSpc>
                <a:spcPct val="92000"/>
              </a:lnSpc>
              <a:buNone/>
              <a:defRPr sz="25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La ganancia media está acotada por la incertidumbre inicial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36AE185F-5654-444C-9DCC-AF9C9DAE5D7E}"/>
              </a:ext>
            </a:extLst>
          </p:cNvPr>
          <p:cNvSpPr>
            <a:spLocks noGrp="1"/>
          </p:cNvSpPr>
          <p:nvPr/>
        </p:nvSpPr>
        <p:spPr>
          <a:xfrm>
            <a:off x="685800" y="1562100"/>
            <a:ext cx="10820400" cy="9525"/>
          </a:xfrm>
          <a:prstGeom prst="rect">
            <a:avLst/>
          </a:prstGeom>
          <a:solidFill>
            <a:srgbClr val="303958"/>
          </a:solidFill>
          <a:ln w="0">
            <a:solidFill>
              <a:srgbClr val="30395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Rectángulo: esquinas redondeadas 3">
            <a:extLst>
              <a:ext uri="{FF2B5EF4-FFF2-40B4-BE49-F238E27FC236}">
                <a16:creationId xmlns:a16="http://schemas.microsoft.com/office/drawing/2014/main" id="{41689924-EFCF-49EF-BEB3-92BC9007D2B5}"/>
              </a:ext>
            </a:extLst>
          </p:cNvPr>
          <p:cNvSpPr>
            <a:spLocks noGrp="1"/>
          </p:cNvSpPr>
          <p:nvPr/>
        </p:nvSpPr>
        <p:spPr>
          <a:xfrm>
            <a:off x="685800" y="1962150"/>
            <a:ext cx="4953000" cy="3667125"/>
          </a:xfrm>
          <a:prstGeom prst="roundRect">
            <a:avLst>
              <a:gd name="adj" fmla="val 4156"/>
            </a:avLst>
          </a:prstGeom>
          <a:solidFill>
            <a:srgbClr val="202846"/>
          </a:solidFill>
          <a:ln w="11430">
            <a:solidFill>
              <a:srgbClr val="6C63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AFE43955-082A-493F-AB58-AD04994C79A8}"/>
              </a:ext>
            </a:extLst>
          </p:cNvPr>
          <p:cNvSpPr>
            <a:spLocks noGrp="1"/>
          </p:cNvSpPr>
          <p:nvPr/>
        </p:nvSpPr>
        <p:spPr>
          <a:xfrm>
            <a:off x="933450" y="2152650"/>
            <a:ext cx="2476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500" b="1">
                <a:solidFill>
                  <a:srgbClr val="6C63F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6C63FF"/>
                </a:solidFill>
                <a:latin typeface="Aptos"/>
                <a:ea typeface="Aptos"/>
                <a:cs typeface="Aptos"/>
              </a:rPr>
              <a:t>Entropía condicional</a:t>
            </a:r>
          </a:p>
        </p:txBody>
      </p:sp>
      <p:sp>
        <p:nvSpPr>
          <p:cNvPr id="6" name="Rectángulo: esquinas redondeadas 5">
            <a:extLst>
              <a:ext uri="{FF2B5EF4-FFF2-40B4-BE49-F238E27FC236}">
                <a16:creationId xmlns:a16="http://schemas.microsoft.com/office/drawing/2014/main" id="{72792786-D1CF-42B7-BB82-9A1C15B42463}"/>
              </a:ext>
            </a:extLst>
          </p:cNvPr>
          <p:cNvSpPr>
            <a:spLocks noGrp="1"/>
          </p:cNvSpPr>
          <p:nvPr/>
        </p:nvSpPr>
        <p:spPr>
          <a:xfrm>
            <a:off x="933450" y="2571750"/>
            <a:ext cx="4457700" cy="666750"/>
          </a:xfrm>
          <a:prstGeom prst="roundRect">
            <a:avLst>
              <a:gd name="adj" fmla="val 17143"/>
            </a:avLst>
          </a:prstGeom>
          <a:solidFill>
            <a:srgbClr val="171E37"/>
          </a:solidFill>
          <a:ln w="9525">
            <a:solidFill>
              <a:srgbClr val="36405F"/>
            </a:solidFill>
            <a:prstDash val="solid"/>
          </a:ln>
        </p:spPr>
        <p:txBody>
          <a:bodyPr wrap="square" lIns="95250" tIns="76200" rIns="95250" bIns="76200" anchor="ctr">
            <a:normAutofit/>
          </a:bodyPr>
          <a:lstStyle/>
          <a:p>
            <a:pPr algn="ctr">
              <a:lnSpc>
                <a:spcPct val="95000"/>
              </a:lnSpc>
              <a:buNone/>
              <a:defRPr sz="1950" b="0">
                <a:solidFill>
                  <a:srgbClr val="FFFFFF"/>
                </a:solidFill>
                <a:latin typeface="Cambria Math"/>
                <a:ea typeface="Cambria Math"/>
                <a:cs typeface="Cambria Math"/>
              </a:defRPr>
            </a:pPr>
            <a:r>
              <a:rPr sz="1950" b="0">
                <a:solidFill>
                  <a:srgbClr val="FFFFFF"/>
                </a:solidFill>
                <a:latin typeface="Cambria Math"/>
                <a:ea typeface="Cambria Math"/>
                <a:cs typeface="Cambria Math"/>
              </a:rPr>
              <a:t>H(Z|X) = −Σ z∈𝒵  P(z|X) log P(z|X)</a:t>
            </a: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0681FE5F-345E-402E-855B-0116F51CAD22}"/>
              </a:ext>
            </a:extLst>
          </p:cNvPr>
          <p:cNvSpPr>
            <a:spLocks noGrp="1"/>
          </p:cNvSpPr>
          <p:nvPr/>
        </p:nvSpPr>
        <p:spPr>
          <a:xfrm>
            <a:off x="952500" y="3457575"/>
            <a:ext cx="28575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125" b="0">
                <a:solidFill>
                  <a:srgbClr val="C9D1E6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C9D1E6"/>
                </a:solidFill>
                <a:latin typeface="Aptos"/>
                <a:ea typeface="Aptos"/>
                <a:cs typeface="Aptos"/>
              </a:rPr>
              <a:t>Para un contexto observado c:</a:t>
            </a:r>
          </a:p>
        </p:txBody>
      </p:sp>
      <p:sp>
        <p:nvSpPr>
          <p:cNvPr id="8" name="Rectángulo: esquinas redondeadas 7">
            <a:extLst>
              <a:ext uri="{FF2B5EF4-FFF2-40B4-BE49-F238E27FC236}">
                <a16:creationId xmlns:a16="http://schemas.microsoft.com/office/drawing/2014/main" id="{FF8F9707-EA88-4A8E-AA48-9EA2E7D6F3A2}"/>
              </a:ext>
            </a:extLst>
          </p:cNvPr>
          <p:cNvSpPr>
            <a:spLocks noGrp="1"/>
          </p:cNvSpPr>
          <p:nvPr/>
        </p:nvSpPr>
        <p:spPr>
          <a:xfrm>
            <a:off x="933450" y="3790950"/>
            <a:ext cx="4457700" cy="685800"/>
          </a:xfrm>
          <a:prstGeom prst="roundRect">
            <a:avLst>
              <a:gd name="adj" fmla="val 16667"/>
            </a:avLst>
          </a:prstGeom>
          <a:solidFill>
            <a:srgbClr val="171E37"/>
          </a:solidFill>
          <a:ln w="9525">
            <a:solidFill>
              <a:srgbClr val="36405F"/>
            </a:solidFill>
            <a:prstDash val="solid"/>
          </a:ln>
        </p:spPr>
        <p:txBody>
          <a:bodyPr wrap="square" lIns="95250" tIns="76200" rIns="95250" bIns="76200" anchor="ctr">
            <a:normAutofit/>
          </a:bodyPr>
          <a:lstStyle/>
          <a:p>
            <a:pPr algn="ctr">
              <a:lnSpc>
                <a:spcPct val="95000"/>
              </a:lnSpc>
              <a:buNone/>
              <a:defRPr sz="1800" b="0">
                <a:solidFill>
                  <a:srgbClr val="33D6C8"/>
                </a:solidFill>
                <a:latin typeface="Cambria Math"/>
                <a:ea typeface="Cambria Math"/>
                <a:cs typeface="Cambria Math"/>
              </a:defRPr>
            </a:pPr>
            <a:r>
              <a:rPr sz="1800" b="0">
                <a:solidFill>
                  <a:srgbClr val="33D6C8"/>
                </a:solidFill>
                <a:latin typeface="Cambria Math"/>
                <a:ea typeface="Cambria Math"/>
                <a:cs typeface="Cambria Math"/>
              </a:rPr>
              <a:t>IG(c) = H(Z|X=x) − H(Z|X=x,C=c)</a:t>
            </a:r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414FCB6F-E8A3-40D9-91E1-2B329E6A3E3A}"/>
              </a:ext>
            </a:extLst>
          </p:cNvPr>
          <p:cNvSpPr>
            <a:spLocks noGrp="1"/>
          </p:cNvSpPr>
          <p:nvPr/>
        </p:nvSpPr>
        <p:spPr>
          <a:xfrm>
            <a:off x="952500" y="4705350"/>
            <a:ext cx="4238625" cy="3143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125" b="0">
                <a:solidFill>
                  <a:srgbClr val="C9D1E6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C9D1E6"/>
                </a:solidFill>
                <a:latin typeface="Aptos"/>
                <a:ea typeface="Aptos"/>
                <a:cs typeface="Aptos"/>
              </a:rPr>
              <a:t>IG(c) puede variar para cada contexto concreto.</a:t>
            </a:r>
          </a:p>
        </p:txBody>
      </p:sp>
      <p:sp>
        <p:nvSpPr>
          <p:cNvPr id="10" name="Rectángulo: esquinas redondeadas 9">
            <a:extLst>
              <a:ext uri="{FF2B5EF4-FFF2-40B4-BE49-F238E27FC236}">
                <a16:creationId xmlns:a16="http://schemas.microsoft.com/office/drawing/2014/main" id="{6E14CA30-5624-4C23-A472-7C86C6FAB075}"/>
              </a:ext>
            </a:extLst>
          </p:cNvPr>
          <p:cNvSpPr>
            <a:spLocks noGrp="1"/>
          </p:cNvSpPr>
          <p:nvPr/>
        </p:nvSpPr>
        <p:spPr>
          <a:xfrm>
            <a:off x="5962650" y="1962150"/>
            <a:ext cx="5543550" cy="3667125"/>
          </a:xfrm>
          <a:prstGeom prst="roundRect">
            <a:avLst>
              <a:gd name="adj" fmla="val 4156"/>
            </a:avLst>
          </a:prstGeom>
          <a:solidFill>
            <a:srgbClr val="202846"/>
          </a:solidFill>
          <a:ln w="11430">
            <a:solidFill>
              <a:srgbClr val="33D6C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32323078-FFD1-4B0D-843A-A2DF725BFFE3}"/>
              </a:ext>
            </a:extLst>
          </p:cNvPr>
          <p:cNvSpPr>
            <a:spLocks noGrp="1"/>
          </p:cNvSpPr>
          <p:nvPr/>
        </p:nvSpPr>
        <p:spPr>
          <a:xfrm>
            <a:off x="6210300" y="2152650"/>
            <a:ext cx="504825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500" b="1">
                <a:solidFill>
                  <a:srgbClr val="33D6C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33D6C8"/>
                </a:solidFill>
                <a:latin typeface="Aptos"/>
                <a:ea typeface="Aptos"/>
                <a:cs typeface="Aptos"/>
              </a:rPr>
              <a:t>Promedio sobre todos los contextos posibles</a:t>
            </a:r>
          </a:p>
        </p:txBody>
      </p:sp>
      <p:sp>
        <p:nvSpPr>
          <p:cNvPr id="12" name="Rectángulo: esquinas redondeadas 11">
            <a:extLst>
              <a:ext uri="{FF2B5EF4-FFF2-40B4-BE49-F238E27FC236}">
                <a16:creationId xmlns:a16="http://schemas.microsoft.com/office/drawing/2014/main" id="{30B2BD02-799D-4028-9387-BEA6B4C50768}"/>
              </a:ext>
            </a:extLst>
          </p:cNvPr>
          <p:cNvSpPr>
            <a:spLocks noGrp="1"/>
          </p:cNvSpPr>
          <p:nvPr/>
        </p:nvSpPr>
        <p:spPr>
          <a:xfrm>
            <a:off x="6210300" y="2609850"/>
            <a:ext cx="5048250" cy="933450"/>
          </a:xfrm>
          <a:prstGeom prst="roundRect">
            <a:avLst>
              <a:gd name="adj" fmla="val 12245"/>
            </a:avLst>
          </a:prstGeom>
          <a:solidFill>
            <a:srgbClr val="171E37"/>
          </a:solidFill>
          <a:ln w="9525">
            <a:solidFill>
              <a:srgbClr val="36405F"/>
            </a:solidFill>
            <a:prstDash val="solid"/>
          </a:ln>
        </p:spPr>
        <p:txBody>
          <a:bodyPr wrap="square" lIns="95250" tIns="76200" rIns="95250" bIns="76200" anchor="ctr">
            <a:normAutofit/>
          </a:bodyPr>
          <a:lstStyle/>
          <a:p>
            <a:pPr algn="ctr">
              <a:lnSpc>
                <a:spcPct val="95000"/>
              </a:lnSpc>
              <a:buNone/>
              <a:defRPr sz="2025" b="0">
                <a:solidFill>
                  <a:srgbClr val="FFFFFF"/>
                </a:solidFill>
                <a:latin typeface="Cambria Math"/>
                <a:ea typeface="Cambria Math"/>
                <a:cs typeface="Cambria Math"/>
              </a:defRPr>
            </a:pPr>
            <a:r>
              <a:rPr sz="2025" b="0">
                <a:solidFill>
                  <a:srgbClr val="FFFFFF"/>
                </a:solidFill>
                <a:latin typeface="Cambria Math"/>
                <a:ea typeface="Cambria Math"/>
                <a:cs typeface="Cambria Math"/>
              </a:rPr>
              <a:t>I(Z;C|X) = 𝔼[IG(C)]</a:t>
            </a:r>
          </a:p>
          <a:p>
            <a:pPr algn="ctr">
              <a:lnSpc>
                <a:spcPct val="95000"/>
              </a:lnSpc>
              <a:buNone/>
              <a:defRPr sz="2025" b="0">
                <a:solidFill>
                  <a:srgbClr val="FFFFFF"/>
                </a:solidFill>
                <a:latin typeface="Cambria Math"/>
                <a:ea typeface="Cambria Math"/>
                <a:cs typeface="Cambria Math"/>
              </a:defRPr>
            </a:pPr>
            <a:r>
              <a:rPr sz="2025" b="0">
                <a:solidFill>
                  <a:srgbClr val="FFFFFF"/>
                </a:solidFill>
                <a:latin typeface="Cambria Math"/>
                <a:ea typeface="Cambria Math"/>
                <a:cs typeface="Cambria Math"/>
              </a:rPr>
              <a:t>= H(Z|X) − H(Z|X,C)</a:t>
            </a:r>
          </a:p>
        </p:txBody>
      </p:sp>
      <p:sp>
        <p:nvSpPr>
          <p:cNvPr id="13" name="Rectángulo: esquinas redondeadas 12">
            <a:extLst>
              <a:ext uri="{FF2B5EF4-FFF2-40B4-BE49-F238E27FC236}">
                <a16:creationId xmlns:a16="http://schemas.microsoft.com/office/drawing/2014/main" id="{A276728B-BF73-42CB-8C2E-FF266C700B7F}"/>
              </a:ext>
            </a:extLst>
          </p:cNvPr>
          <p:cNvSpPr>
            <a:spLocks noGrp="1"/>
          </p:cNvSpPr>
          <p:nvPr/>
        </p:nvSpPr>
        <p:spPr>
          <a:xfrm>
            <a:off x="6496050" y="3829050"/>
            <a:ext cx="4476750" cy="714375"/>
          </a:xfrm>
          <a:prstGeom prst="roundRect">
            <a:avLst>
              <a:gd name="adj" fmla="val 16000"/>
            </a:avLst>
          </a:prstGeom>
          <a:solidFill>
            <a:srgbClr val="18263C"/>
          </a:solidFill>
          <a:ln w="9525">
            <a:solidFill>
              <a:srgbClr val="33D6C8"/>
            </a:solidFill>
            <a:prstDash val="solid"/>
          </a:ln>
        </p:spPr>
        <p:txBody>
          <a:bodyPr wrap="square" lIns="95250" tIns="76200" rIns="95250" bIns="76200" anchor="ctr">
            <a:normAutofit/>
          </a:bodyPr>
          <a:lstStyle/>
          <a:p>
            <a:pPr algn="ctr">
              <a:lnSpc>
                <a:spcPct val="95000"/>
              </a:lnSpc>
              <a:buNone/>
              <a:defRPr sz="2325" b="1">
                <a:solidFill>
                  <a:srgbClr val="33D6C8"/>
                </a:solidFill>
                <a:latin typeface="Cambria Math"/>
                <a:ea typeface="Cambria Math"/>
                <a:cs typeface="Cambria Math"/>
              </a:defRPr>
            </a:pPr>
            <a:r>
              <a:rPr sz="2325" b="1">
                <a:solidFill>
                  <a:srgbClr val="33D6C8"/>
                </a:solidFill>
                <a:latin typeface="Cambria Math"/>
                <a:ea typeface="Cambria Math"/>
                <a:cs typeface="Cambria Math"/>
              </a:rPr>
              <a:t>0 ≤ I(Z;C|X) ≤ H(Z|X)</a:t>
            </a:r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941FB650-6AC0-4D11-A4CC-AA61477602C1}"/>
              </a:ext>
            </a:extLst>
          </p:cNvPr>
          <p:cNvSpPr>
            <a:spLocks noGrp="1"/>
          </p:cNvSpPr>
          <p:nvPr/>
        </p:nvSpPr>
        <p:spPr>
          <a:xfrm>
            <a:off x="6343650" y="4752975"/>
            <a:ext cx="47625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200" b="0">
                <a:solidFill>
                  <a:srgbClr val="C9D1E6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C9D1E6"/>
                </a:solidFill>
                <a:latin typeface="Aptos"/>
                <a:ea typeface="Aptos"/>
                <a:cs typeface="Aptos"/>
              </a:rPr>
              <a:t>Conclusión: el contexto no puede eliminar más incertidumbre que la que existía. Si I≈0, su aporte medio es redundante.</a:t>
            </a:r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AE57C266-9A75-4655-8EA7-37120E2B869F}"/>
              </a:ext>
            </a:extLst>
          </p:cNvPr>
          <p:cNvSpPr>
            <a:spLocks noGrp="1"/>
          </p:cNvSpPr>
          <p:nvPr/>
        </p:nvSpPr>
        <p:spPr>
          <a:xfrm>
            <a:off x="685800" y="6486525"/>
            <a:ext cx="9906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750" b="0">
                <a:solidFill>
                  <a:srgbClr val="9AA6C4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9AA6C4"/>
                </a:solidFill>
                <a:latin typeface="Aptos"/>
                <a:ea typeface="Aptos"/>
                <a:cs typeface="Aptos"/>
              </a:rPr>
              <a:t>Shannon (1948) · Cover &amp; Thomas (2006)</a:t>
            </a:r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37D21076-BFBF-4085-8881-FA64A6472DF8}"/>
              </a:ext>
            </a:extLst>
          </p:cNvPr>
          <p:cNvSpPr>
            <a:spLocks noGrp="1"/>
          </p:cNvSpPr>
          <p:nvPr/>
        </p:nvSpPr>
        <p:spPr>
          <a:xfrm>
            <a:off x="11087100" y="6486525"/>
            <a:ext cx="4191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rmAutofit/>
          </a:bodyPr>
          <a:lstStyle/>
          <a:p>
            <a:pPr algn="r">
              <a:lnSpc>
                <a:spcPct val="100000"/>
              </a:lnSpc>
              <a:buNone/>
              <a:defRPr sz="825" b="1">
                <a:solidFill>
                  <a:srgbClr val="C9D1E6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C9D1E6"/>
                </a:solidFill>
                <a:latin typeface="Aptos"/>
                <a:ea typeface="Aptos"/>
                <a:cs typeface="Aptos"/>
              </a:rPr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56261784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ángulo 18">
            <a:extLst>
              <a:ext uri="{FF2B5EF4-FFF2-40B4-BE49-F238E27FC236}">
                <a16:creationId xmlns:a16="http://schemas.microsoft.com/office/drawing/2014/main" id="{95153E26-E086-4542-B85F-6835338AC50A}"/>
              </a:ext>
            </a:extLst>
          </p:cNvPr>
          <p:cNvSpPr>
            <a:spLocks noGrp="1"/>
          </p:cNvSpPr>
          <p:nvPr/>
        </p:nvSpPr>
        <p:spPr>
          <a:xfrm>
            <a:off x="685800" y="495300"/>
            <a:ext cx="4476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050" b="1">
                <a:solidFill>
                  <a:srgbClr val="6C63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6C63FF"/>
                </a:solidFill>
                <a:latin typeface="Aptos"/>
                <a:ea typeface="Aptos"/>
                <a:cs typeface="Aptos"/>
              </a:rPr>
              <a:t>A3 / DECISIÓN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A2BC316B-D9EE-4C9B-833F-C03726E95145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10875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rmAutofit/>
          </a:bodyPr>
          <a:lstStyle/>
          <a:p>
            <a:pPr algn="l">
              <a:lnSpc>
                <a:spcPct val="92000"/>
              </a:lnSpc>
              <a:buNone/>
              <a:defRPr sz="28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El umbral de aclaración aparece al comparar dos riesgos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6FF0F15F-5D76-4700-B521-7DFD4AE9CBE4}"/>
              </a:ext>
            </a:extLst>
          </p:cNvPr>
          <p:cNvSpPr>
            <a:spLocks noGrp="1"/>
          </p:cNvSpPr>
          <p:nvPr/>
        </p:nvSpPr>
        <p:spPr>
          <a:xfrm>
            <a:off x="685800" y="1562100"/>
            <a:ext cx="10820400" cy="9525"/>
          </a:xfrm>
          <a:prstGeom prst="rect">
            <a:avLst/>
          </a:prstGeom>
          <a:solidFill>
            <a:srgbClr val="D9DEEA"/>
          </a:solidFill>
          <a:ln w="0">
            <a:solidFill>
              <a:srgbClr val="D9DE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Rectángulo: esquinas redondeadas 3">
            <a:extLst>
              <a:ext uri="{FF2B5EF4-FFF2-40B4-BE49-F238E27FC236}">
                <a16:creationId xmlns:a16="http://schemas.microsoft.com/office/drawing/2014/main" id="{117D2ACE-C610-4BB0-8572-8C7602AA6D42}"/>
              </a:ext>
            </a:extLst>
          </p:cNvPr>
          <p:cNvSpPr>
            <a:spLocks noGrp="1"/>
          </p:cNvSpPr>
          <p:nvPr/>
        </p:nvSpPr>
        <p:spPr>
          <a:xfrm>
            <a:off x="685800" y="1952625"/>
            <a:ext cx="5238750" cy="1809750"/>
          </a:xfrm>
          <a:prstGeom prst="roundRect">
            <a:avLst>
              <a:gd name="adj" fmla="val 8421"/>
            </a:avLst>
          </a:prstGeom>
          <a:solidFill>
            <a:srgbClr val="FFF3E6"/>
          </a:solidFill>
          <a:ln w="11430">
            <a:solidFill>
              <a:srgbClr val="F5A1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Rectángulo: esquinas redondeadas 4">
            <a:extLst>
              <a:ext uri="{FF2B5EF4-FFF2-40B4-BE49-F238E27FC236}">
                <a16:creationId xmlns:a16="http://schemas.microsoft.com/office/drawing/2014/main" id="{13DCE768-2E25-40EB-8A94-FEDE73630E0A}"/>
              </a:ext>
            </a:extLst>
          </p:cNvPr>
          <p:cNvSpPr>
            <a:spLocks noGrp="1"/>
          </p:cNvSpPr>
          <p:nvPr/>
        </p:nvSpPr>
        <p:spPr>
          <a:xfrm>
            <a:off x="914400" y="2143125"/>
            <a:ext cx="1123950" cy="266700"/>
          </a:xfrm>
          <a:prstGeom prst="roundRect">
            <a:avLst>
              <a:gd name="adj" fmla="val 50000"/>
            </a:avLst>
          </a:prstGeom>
          <a:solidFill>
            <a:srgbClr val="FFF8EF"/>
          </a:solidFill>
          <a:ln w="9525">
            <a:solidFill>
              <a:srgbClr val="F5A1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094FB807-6C50-4398-B84D-4E8D49413B28}"/>
              </a:ext>
            </a:extLst>
          </p:cNvPr>
          <p:cNvSpPr>
            <a:spLocks noGrp="1"/>
          </p:cNvSpPr>
          <p:nvPr/>
        </p:nvSpPr>
        <p:spPr>
          <a:xfrm>
            <a:off x="962025" y="2171700"/>
            <a:ext cx="10287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900" b="1">
                <a:solidFill>
                  <a:srgbClr val="C96C0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96C0D"/>
                </a:solidFill>
                <a:latin typeface="Aptos"/>
                <a:ea typeface="Aptos"/>
                <a:cs typeface="Aptos"/>
              </a:rPr>
              <a:t>RESPONDER</a:t>
            </a: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0022622B-A568-4A4D-8D2A-5EF16CF4CB47}"/>
              </a:ext>
            </a:extLst>
          </p:cNvPr>
          <p:cNvSpPr>
            <a:spLocks noGrp="1"/>
          </p:cNvSpPr>
          <p:nvPr/>
        </p:nvSpPr>
        <p:spPr>
          <a:xfrm>
            <a:off x="971550" y="2609850"/>
            <a:ext cx="4667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95250" tIns="76200" rIns="95250" bIns="76200" anchor="ctr">
            <a:normAutofit/>
          </a:bodyPr>
          <a:lstStyle/>
          <a:p>
            <a:pPr algn="ctr">
              <a:lnSpc>
                <a:spcPct val="95000"/>
              </a:lnSpc>
              <a:buNone/>
              <a:defRPr sz="2175" b="0">
                <a:solidFill>
                  <a:srgbClr val="111827"/>
                </a:solidFill>
                <a:latin typeface="Cambria Math"/>
                <a:ea typeface="Cambria Math"/>
                <a:cs typeface="Cambria Math"/>
              </a:defRPr>
            </a:pPr>
            <a:r>
              <a:rPr sz="2175" b="0">
                <a:solidFill>
                  <a:srgbClr val="111827"/>
                </a:solidFill>
                <a:latin typeface="Cambria Math"/>
                <a:ea typeface="Cambria Math"/>
                <a:cs typeface="Cambria Math"/>
              </a:rPr>
              <a:t>Rᵣₑₛₚ = Lw (1 − pₘₐₓ)</a:t>
            </a: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F94FC12B-EC10-4B8B-9D1C-092E30AA2BBB}"/>
              </a:ext>
            </a:extLst>
          </p:cNvPr>
          <p:cNvSpPr>
            <a:spLocks noGrp="1"/>
          </p:cNvSpPr>
          <p:nvPr/>
        </p:nvSpPr>
        <p:spPr>
          <a:xfrm>
            <a:off x="990600" y="3228975"/>
            <a:ext cx="46291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05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pₘₐₓ = max sobre z de P(z|X,C) · Lw = pérdida de equivocarse</a:t>
            </a:r>
          </a:p>
        </p:txBody>
      </p:sp>
      <p:sp>
        <p:nvSpPr>
          <p:cNvPr id="9" name="Rectángulo: esquinas redondeadas 8">
            <a:extLst>
              <a:ext uri="{FF2B5EF4-FFF2-40B4-BE49-F238E27FC236}">
                <a16:creationId xmlns:a16="http://schemas.microsoft.com/office/drawing/2014/main" id="{4BF808E1-C885-451C-A028-2E8948A1AA75}"/>
              </a:ext>
            </a:extLst>
          </p:cNvPr>
          <p:cNvSpPr>
            <a:spLocks noGrp="1"/>
          </p:cNvSpPr>
          <p:nvPr/>
        </p:nvSpPr>
        <p:spPr>
          <a:xfrm>
            <a:off x="6267450" y="1952625"/>
            <a:ext cx="5238750" cy="1809750"/>
          </a:xfrm>
          <a:prstGeom prst="roundRect">
            <a:avLst>
              <a:gd name="adj" fmla="val 8421"/>
            </a:avLst>
          </a:prstGeom>
          <a:solidFill>
            <a:srgbClr val="E3F9F6"/>
          </a:solidFill>
          <a:ln w="11430">
            <a:solidFill>
              <a:srgbClr val="33D6C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Rectángulo: esquinas redondeadas 9">
            <a:extLst>
              <a:ext uri="{FF2B5EF4-FFF2-40B4-BE49-F238E27FC236}">
                <a16:creationId xmlns:a16="http://schemas.microsoft.com/office/drawing/2014/main" id="{F9D4937A-90A7-41E6-BE3D-0ABFEA02265B}"/>
              </a:ext>
            </a:extLst>
          </p:cNvPr>
          <p:cNvSpPr>
            <a:spLocks noGrp="1"/>
          </p:cNvSpPr>
          <p:nvPr/>
        </p:nvSpPr>
        <p:spPr>
          <a:xfrm>
            <a:off x="6496050" y="2143125"/>
            <a:ext cx="1028700" cy="266700"/>
          </a:xfrm>
          <a:prstGeom prst="roundRect">
            <a:avLst>
              <a:gd name="adj" fmla="val 50000"/>
            </a:avLst>
          </a:prstGeom>
          <a:solidFill>
            <a:srgbClr val="F0FFFC"/>
          </a:solidFill>
          <a:ln w="9525">
            <a:solidFill>
              <a:srgbClr val="33D6C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0305E52C-5526-4839-8FCF-62862E6F0C6D}"/>
              </a:ext>
            </a:extLst>
          </p:cNvPr>
          <p:cNvSpPr>
            <a:spLocks noGrp="1"/>
          </p:cNvSpPr>
          <p:nvPr/>
        </p:nvSpPr>
        <p:spPr>
          <a:xfrm>
            <a:off x="6543675" y="2171700"/>
            <a:ext cx="9334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900" b="1">
                <a:solidFill>
                  <a:srgbClr val="168E83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68E83"/>
                </a:solidFill>
                <a:latin typeface="Aptos"/>
                <a:ea typeface="Aptos"/>
                <a:cs typeface="Aptos"/>
              </a:rPr>
              <a:t>ACLARAR</a:t>
            </a:r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86ADA1ED-3ABF-4279-AF81-DB0A51FB9A26}"/>
              </a:ext>
            </a:extLst>
          </p:cNvPr>
          <p:cNvSpPr>
            <a:spLocks noGrp="1"/>
          </p:cNvSpPr>
          <p:nvPr/>
        </p:nvSpPr>
        <p:spPr>
          <a:xfrm>
            <a:off x="6553200" y="2609850"/>
            <a:ext cx="4667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95250" tIns="76200" rIns="95250" bIns="76200" anchor="ctr">
            <a:normAutofit/>
          </a:bodyPr>
          <a:lstStyle/>
          <a:p>
            <a:pPr algn="ctr">
              <a:lnSpc>
                <a:spcPct val="95000"/>
              </a:lnSpc>
              <a:buNone/>
              <a:defRPr sz="2175" b="0">
                <a:solidFill>
                  <a:srgbClr val="111827"/>
                </a:solidFill>
                <a:latin typeface="Cambria Math"/>
                <a:ea typeface="Cambria Math"/>
                <a:cs typeface="Cambria Math"/>
              </a:defRPr>
            </a:pPr>
            <a:r>
              <a:rPr sz="2175" b="0">
                <a:solidFill>
                  <a:srgbClr val="111827"/>
                </a:solidFill>
                <a:latin typeface="Cambria Math"/>
                <a:ea typeface="Cambria Math"/>
                <a:cs typeface="Cambria Math"/>
              </a:rPr>
              <a:t>Rₐcₗₐᵣ = c(q) + Lw ε(q)</a:t>
            </a:r>
          </a:p>
        </p:txBody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234DB965-EC1E-4F3B-BF9A-79ED8EAF4395}"/>
              </a:ext>
            </a:extLst>
          </p:cNvPr>
          <p:cNvSpPr>
            <a:spLocks noGrp="1"/>
          </p:cNvSpPr>
          <p:nvPr/>
        </p:nvSpPr>
        <p:spPr>
          <a:xfrm>
            <a:off x="6572250" y="3228975"/>
            <a:ext cx="46291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05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c(q) = costo de preguntar · ε(q) = error residual después de la respuesta</a:t>
            </a:r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5FB89545-15E6-4FEA-8782-CAC67E7B3BFB}"/>
              </a:ext>
            </a:extLst>
          </p:cNvPr>
          <p:cNvSpPr>
            <a:spLocks noGrp="1"/>
          </p:cNvSpPr>
          <p:nvPr/>
        </p:nvSpPr>
        <p:spPr>
          <a:xfrm>
            <a:off x="3714750" y="4000500"/>
            <a:ext cx="4762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500" b="1">
                <a:solidFill>
                  <a:srgbClr val="6C63F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6C63FF"/>
                </a:solidFill>
                <a:latin typeface="Aptos"/>
                <a:ea typeface="Aptos"/>
                <a:cs typeface="Aptos"/>
              </a:rPr>
              <a:t>Aclarar si Rₐcₗₐᵣ &lt; Rᵣₑₛₚ</a:t>
            </a:r>
          </a:p>
        </p:txBody>
      </p:sp>
      <p:sp>
        <p:nvSpPr>
          <p:cNvPr id="15" name="Rectángulo: esquinas redondeadas 14">
            <a:extLst>
              <a:ext uri="{FF2B5EF4-FFF2-40B4-BE49-F238E27FC236}">
                <a16:creationId xmlns:a16="http://schemas.microsoft.com/office/drawing/2014/main" id="{A941AE77-BAB8-4ABF-B55C-C9A61560BA7F}"/>
              </a:ext>
            </a:extLst>
          </p:cNvPr>
          <p:cNvSpPr>
            <a:spLocks noGrp="1"/>
          </p:cNvSpPr>
          <p:nvPr/>
        </p:nvSpPr>
        <p:spPr>
          <a:xfrm>
            <a:off x="2571750" y="4400550"/>
            <a:ext cx="7048500" cy="952500"/>
          </a:xfrm>
          <a:prstGeom prst="roundRect">
            <a:avLst>
              <a:gd name="adj" fmla="val 12000"/>
            </a:avLst>
          </a:prstGeom>
          <a:solidFill>
            <a:srgbClr val="EEECFF"/>
          </a:solidFill>
          <a:ln w="9525">
            <a:solidFill>
              <a:srgbClr val="6C63FF"/>
            </a:solidFill>
            <a:prstDash val="solid"/>
          </a:ln>
        </p:spPr>
        <p:txBody>
          <a:bodyPr wrap="square" lIns="95250" tIns="76200" rIns="95250" bIns="76200" anchor="ctr">
            <a:normAutofit/>
          </a:bodyPr>
          <a:lstStyle/>
          <a:p>
            <a:pPr algn="ctr">
              <a:lnSpc>
                <a:spcPct val="95000"/>
              </a:lnSpc>
              <a:buNone/>
              <a:defRPr sz="2175" b="0">
                <a:solidFill>
                  <a:srgbClr val="6C63FF"/>
                </a:solidFill>
                <a:latin typeface="Cambria Math"/>
                <a:ea typeface="Cambria Math"/>
                <a:cs typeface="Cambria Math"/>
              </a:defRPr>
            </a:pPr>
            <a:r>
              <a:rPr sz="2175" b="0">
                <a:solidFill>
                  <a:srgbClr val="6C63FF"/>
                </a:solidFill>
                <a:latin typeface="Cambria Math"/>
                <a:ea typeface="Cambria Math"/>
                <a:cs typeface="Cambria Math"/>
              </a:rPr>
              <a:t>c(q) + Lw ε(q) &lt; Lw(1 − pₘₐₓ)</a:t>
            </a:r>
          </a:p>
          <a:p>
            <a:pPr algn="ctr">
              <a:lnSpc>
                <a:spcPct val="95000"/>
              </a:lnSpc>
              <a:buNone/>
              <a:defRPr sz="2175" b="0">
                <a:solidFill>
                  <a:srgbClr val="6C63FF"/>
                </a:solidFill>
                <a:latin typeface="Cambria Math"/>
                <a:ea typeface="Cambria Math"/>
                <a:cs typeface="Cambria Math"/>
              </a:defRPr>
            </a:pPr>
            <a:r>
              <a:rPr sz="2175" b="0">
                <a:solidFill>
                  <a:srgbClr val="6C63FF"/>
                </a:solidFill>
                <a:latin typeface="Cambria Math"/>
                <a:ea typeface="Cambria Math"/>
                <a:cs typeface="Cambria Math"/>
              </a:rPr>
              <a:t>⇒  pₘₐₓ &lt; 1 − c(q)/Lw − ε(q)</a:t>
            </a:r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4AEFEE22-BB2E-4335-95BE-2EB0A778109B}"/>
              </a:ext>
            </a:extLst>
          </p:cNvPr>
          <p:cNvSpPr>
            <a:spLocks noGrp="1"/>
          </p:cNvSpPr>
          <p:nvPr/>
        </p:nvSpPr>
        <p:spPr>
          <a:xfrm>
            <a:off x="1619250" y="5553075"/>
            <a:ext cx="89535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La pregunta óptima minimiza costo + riesgo posterior esperado:   q* = arg min sobre q de [c(q) + 𝔼 R*(X,C,A(q))]</a:t>
            </a:r>
          </a:p>
        </p:txBody>
      </p:sp>
      <p:sp>
        <p:nvSpPr>
          <p:cNvPr id="17" name="Rectángulo 16">
            <a:extLst>
              <a:ext uri="{FF2B5EF4-FFF2-40B4-BE49-F238E27FC236}">
                <a16:creationId xmlns:a16="http://schemas.microsoft.com/office/drawing/2014/main" id="{2677DCF5-0F21-4161-8283-EA1B10589F32}"/>
              </a:ext>
            </a:extLst>
          </p:cNvPr>
          <p:cNvSpPr>
            <a:spLocks noGrp="1"/>
          </p:cNvSpPr>
          <p:nvPr/>
        </p:nvSpPr>
        <p:spPr>
          <a:xfrm>
            <a:off x="685800" y="6486525"/>
            <a:ext cx="9906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750" b="0">
                <a:solidFill>
                  <a:srgbClr val="8792AA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8792AA"/>
                </a:solidFill>
                <a:latin typeface="Aptos"/>
                <a:ea typeface="Aptos"/>
                <a:cs typeface="Aptos"/>
              </a:rPr>
              <a:t>Decisión Bayesiana · derivación con pérdida 0–1</a:t>
            </a:r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6A61E361-9E47-462D-A334-7AF9A03A52E9}"/>
              </a:ext>
            </a:extLst>
          </p:cNvPr>
          <p:cNvSpPr>
            <a:spLocks noGrp="1"/>
          </p:cNvSpPr>
          <p:nvPr/>
        </p:nvSpPr>
        <p:spPr>
          <a:xfrm>
            <a:off x="11087100" y="6486525"/>
            <a:ext cx="4191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rmAutofit/>
          </a:bodyPr>
          <a:lstStyle/>
          <a:p>
            <a:pPr algn="r">
              <a:lnSpc>
                <a:spcPct val="100000"/>
              </a:lnSpc>
              <a:buNone/>
              <a:defRPr sz="825" b="1">
                <a:solidFill>
                  <a:srgbClr val="7B879F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7B879F"/>
                </a:solidFill>
                <a:latin typeface="Aptos"/>
                <a:ea typeface="Aptos"/>
                <a:cs typeface="Aptos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205794272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ángulo 16">
            <a:extLst>
              <a:ext uri="{FF2B5EF4-FFF2-40B4-BE49-F238E27FC236}">
                <a16:creationId xmlns:a16="http://schemas.microsoft.com/office/drawing/2014/main" id="{FE4E379A-417D-4900-8F9D-B5C5EC7206CA}"/>
              </a:ext>
            </a:extLst>
          </p:cNvPr>
          <p:cNvSpPr>
            <a:spLocks noGrp="1"/>
          </p:cNvSpPr>
          <p:nvPr/>
        </p:nvSpPr>
        <p:spPr>
          <a:xfrm>
            <a:off x="685800" y="495300"/>
            <a:ext cx="4476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050" b="1">
                <a:solidFill>
                  <a:srgbClr val="6C63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6C63FF"/>
                </a:solidFill>
                <a:latin typeface="Aptos"/>
                <a:ea typeface="Aptos"/>
                <a:cs typeface="Aptos"/>
              </a:rPr>
              <a:t>A4 / RAG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C7627031-0410-481E-81E4-4C263EA7EB36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10875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rmAutofit/>
          </a:bodyPr>
          <a:lstStyle/>
          <a:p>
            <a:pPr algn="l">
              <a:lnSpc>
                <a:spcPct val="92000"/>
              </a:lnSpc>
              <a:buNone/>
              <a:defRPr sz="28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Recuperación y generación intervienen en operaciones distintas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AD152BEE-71F4-455C-906D-8563CF449387}"/>
              </a:ext>
            </a:extLst>
          </p:cNvPr>
          <p:cNvSpPr>
            <a:spLocks noGrp="1"/>
          </p:cNvSpPr>
          <p:nvPr/>
        </p:nvSpPr>
        <p:spPr>
          <a:xfrm>
            <a:off x="685800" y="1562100"/>
            <a:ext cx="10820400" cy="9525"/>
          </a:xfrm>
          <a:prstGeom prst="rect">
            <a:avLst/>
          </a:prstGeom>
          <a:solidFill>
            <a:srgbClr val="D9DEEA"/>
          </a:solidFill>
          <a:ln w="0">
            <a:solidFill>
              <a:srgbClr val="D9DE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Rectángulo: esquinas redondeadas 3">
            <a:extLst>
              <a:ext uri="{FF2B5EF4-FFF2-40B4-BE49-F238E27FC236}">
                <a16:creationId xmlns:a16="http://schemas.microsoft.com/office/drawing/2014/main" id="{4E753A6E-84AA-406B-8762-E085690EB164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1352550"/>
          </a:xfrm>
          <a:prstGeom prst="roundRect">
            <a:avLst>
              <a:gd name="adj" fmla="val 11268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9B4407B7-11F1-4248-A306-308A9595677E}"/>
              </a:ext>
            </a:extLst>
          </p:cNvPr>
          <p:cNvSpPr>
            <a:spLocks noGrp="1"/>
          </p:cNvSpPr>
          <p:nvPr/>
        </p:nvSpPr>
        <p:spPr>
          <a:xfrm>
            <a:off x="914400" y="2076450"/>
            <a:ext cx="4191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350" b="1">
                <a:solidFill>
                  <a:srgbClr val="6C63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6C63FF"/>
                </a:solidFill>
                <a:latin typeface="Aptos"/>
                <a:ea typeface="Aptos"/>
                <a:cs typeface="Aptos"/>
              </a:rPr>
              <a:t>Marginalizar documentos y factorizar tokens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1B473914-E162-4800-9DB5-6368DFE912BF}"/>
              </a:ext>
            </a:extLst>
          </p:cNvPr>
          <p:cNvSpPr>
            <a:spLocks noGrp="1"/>
          </p:cNvSpPr>
          <p:nvPr/>
        </p:nvSpPr>
        <p:spPr>
          <a:xfrm>
            <a:off x="1333500" y="2419350"/>
            <a:ext cx="9525000" cy="638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95250" tIns="76200" rIns="95250" bIns="76200" anchor="ctr">
            <a:normAutofit/>
          </a:bodyPr>
          <a:lstStyle/>
          <a:p>
            <a:pPr algn="ctr">
              <a:lnSpc>
                <a:spcPct val="95000"/>
              </a:lnSpc>
              <a:buNone/>
              <a:defRPr sz="2175" b="0">
                <a:solidFill>
                  <a:srgbClr val="111827"/>
                </a:solidFill>
                <a:latin typeface="Cambria Math"/>
                <a:ea typeface="Cambria Math"/>
                <a:cs typeface="Cambria Math"/>
              </a:defRPr>
            </a:pPr>
            <a:r>
              <a:rPr sz="2175" b="0">
                <a:solidFill>
                  <a:srgbClr val="111827"/>
                </a:solidFill>
                <a:latin typeface="Cambria Math"/>
                <a:ea typeface="Cambria Math"/>
                <a:cs typeface="Cambria Math"/>
              </a:rPr>
              <a:t>P(Y=y₁:T | X,D) = Σ d∈D  P(d|X,D) · Π t=1…T  P(yₜ | y&lt;ₜ,X,d)</a:t>
            </a:r>
          </a:p>
        </p:txBody>
      </p:sp>
      <p:sp>
        <p:nvSpPr>
          <p:cNvPr id="7" name="Rectángulo: esquinas redondeadas 6">
            <a:extLst>
              <a:ext uri="{FF2B5EF4-FFF2-40B4-BE49-F238E27FC236}">
                <a16:creationId xmlns:a16="http://schemas.microsoft.com/office/drawing/2014/main" id="{EF0208A8-5A42-4345-ACFB-925BA9EA868F}"/>
              </a:ext>
            </a:extLst>
          </p:cNvPr>
          <p:cNvSpPr>
            <a:spLocks noGrp="1"/>
          </p:cNvSpPr>
          <p:nvPr/>
        </p:nvSpPr>
        <p:spPr>
          <a:xfrm>
            <a:off x="685800" y="3571875"/>
            <a:ext cx="5191125" cy="2333625"/>
          </a:xfrm>
          <a:prstGeom prst="roundRect">
            <a:avLst>
              <a:gd name="adj" fmla="val 6531"/>
            </a:avLst>
          </a:prstGeom>
          <a:solidFill>
            <a:srgbClr val="E3F9F6"/>
          </a:solidFill>
          <a:ln w="11430">
            <a:solidFill>
              <a:srgbClr val="33D6C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94A8493B-0461-4E0F-BEE1-61928C5A68AA}"/>
              </a:ext>
            </a:extLst>
          </p:cNvPr>
          <p:cNvSpPr>
            <a:spLocks noGrp="1"/>
          </p:cNvSpPr>
          <p:nvPr/>
        </p:nvSpPr>
        <p:spPr>
          <a:xfrm>
            <a:off x="933450" y="3752850"/>
            <a:ext cx="4667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500" b="1">
                <a:solidFill>
                  <a:srgbClr val="168E8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68E83"/>
                </a:solidFill>
                <a:latin typeface="Aptos"/>
                <a:ea typeface="Aptos"/>
                <a:cs typeface="Aptos"/>
              </a:rPr>
              <a:t>Caso simbólico con dos documentos</a:t>
            </a:r>
          </a:p>
        </p:txBody>
      </p:sp>
      <p:sp>
        <p:nvSpPr>
          <p:cNvPr id="9" name="Rectángulo: esquinas redondeadas 8">
            <a:extLst>
              <a:ext uri="{FF2B5EF4-FFF2-40B4-BE49-F238E27FC236}">
                <a16:creationId xmlns:a16="http://schemas.microsoft.com/office/drawing/2014/main" id="{F0DC7AB7-D274-4EA5-B04E-A75ED6903F18}"/>
              </a:ext>
            </a:extLst>
          </p:cNvPr>
          <p:cNvSpPr>
            <a:spLocks noGrp="1"/>
          </p:cNvSpPr>
          <p:nvPr/>
        </p:nvSpPr>
        <p:spPr>
          <a:xfrm>
            <a:off x="933450" y="4162425"/>
            <a:ext cx="4695825" cy="790575"/>
          </a:xfrm>
          <a:prstGeom prst="roundRect">
            <a:avLst>
              <a:gd name="adj" fmla="val 14458"/>
            </a:avLst>
          </a:prstGeom>
          <a:solidFill>
            <a:srgbClr val="F4FFFD"/>
          </a:solidFill>
          <a:ln w="9525">
            <a:solidFill>
              <a:srgbClr val="A8ECE5"/>
            </a:solidFill>
            <a:prstDash val="solid"/>
          </a:ln>
        </p:spPr>
        <p:txBody>
          <a:bodyPr wrap="square" lIns="95250" tIns="76200" rIns="95250" bIns="76200" anchor="ctr">
            <a:normAutofit fontScale="97418"/>
          </a:bodyPr>
          <a:lstStyle/>
          <a:p>
            <a:pPr algn="ctr">
              <a:lnSpc>
                <a:spcPct val="95000"/>
              </a:lnSpc>
              <a:buNone/>
              <a:defRPr sz="2025" b="0">
                <a:solidFill>
                  <a:srgbClr val="111827"/>
                </a:solidFill>
                <a:latin typeface="Cambria Math"/>
                <a:ea typeface="Cambria Math"/>
                <a:cs typeface="Cambria Math"/>
              </a:defRPr>
            </a:pPr>
            <a:r>
              <a:rPr sz="2025" b="0">
                <a:solidFill>
                  <a:srgbClr val="111827"/>
                </a:solidFill>
                <a:latin typeface="Cambria Math"/>
                <a:ea typeface="Cambria Math"/>
                <a:cs typeface="Cambria Math"/>
              </a:rPr>
              <a:t>P(Y*) = p·g₁ + (1−p)·g₂</a:t>
            </a:r>
          </a:p>
          <a:p>
            <a:pPr algn="ctr">
              <a:lnSpc>
                <a:spcPct val="95000"/>
              </a:lnSpc>
              <a:buNone/>
              <a:defRPr sz="2025" b="0">
                <a:solidFill>
                  <a:srgbClr val="111827"/>
                </a:solidFill>
                <a:latin typeface="Cambria Math"/>
                <a:ea typeface="Cambria Math"/>
                <a:cs typeface="Cambria Math"/>
              </a:defRPr>
            </a:pPr>
            <a:r>
              <a:rPr sz="2025" b="0">
                <a:solidFill>
                  <a:srgbClr val="111827"/>
                </a:solidFill>
                <a:latin typeface="Cambria Math"/>
                <a:ea typeface="Cambria Math"/>
                <a:cs typeface="Cambria Math"/>
              </a:rPr>
              <a:t>= g₂ + p(g₁−g₂)</a:t>
            </a: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D65C3991-CBAD-482E-86E9-5CB1A0674BCB}"/>
              </a:ext>
            </a:extLst>
          </p:cNvPr>
          <p:cNvSpPr>
            <a:spLocks noGrp="1"/>
          </p:cNvSpPr>
          <p:nvPr/>
        </p:nvSpPr>
        <p:spPr>
          <a:xfrm>
            <a:off x="1047750" y="5153025"/>
            <a:ext cx="4476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05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p = peso del documento d₁ · gᵢ = P(Y*|X,dᵢ)</a:t>
            </a:r>
          </a:p>
        </p:txBody>
      </p:sp>
      <p:sp>
        <p:nvSpPr>
          <p:cNvPr id="11" name="Rectángulo: esquinas redondeadas 10">
            <a:extLst>
              <a:ext uri="{FF2B5EF4-FFF2-40B4-BE49-F238E27FC236}">
                <a16:creationId xmlns:a16="http://schemas.microsoft.com/office/drawing/2014/main" id="{10CCF839-B6B0-4D3E-B654-6199CFF199A3}"/>
              </a:ext>
            </a:extLst>
          </p:cNvPr>
          <p:cNvSpPr>
            <a:spLocks noGrp="1"/>
          </p:cNvSpPr>
          <p:nvPr/>
        </p:nvSpPr>
        <p:spPr>
          <a:xfrm>
            <a:off x="6219825" y="3571875"/>
            <a:ext cx="5286375" cy="2333625"/>
          </a:xfrm>
          <a:prstGeom prst="roundRect">
            <a:avLst>
              <a:gd name="adj" fmla="val 6531"/>
            </a:avLst>
          </a:prstGeom>
          <a:solidFill>
            <a:srgbClr val="EEECFF"/>
          </a:solidFill>
          <a:ln w="11430">
            <a:solidFill>
              <a:srgbClr val="6C63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E6099384-593D-4F3D-8668-AF6B6E6C6F2B}"/>
              </a:ext>
            </a:extLst>
          </p:cNvPr>
          <p:cNvSpPr>
            <a:spLocks noGrp="1"/>
          </p:cNvSpPr>
          <p:nvPr/>
        </p:nvSpPr>
        <p:spPr>
          <a:xfrm>
            <a:off x="6467475" y="3752850"/>
            <a:ext cx="4762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500" b="1">
                <a:solidFill>
                  <a:srgbClr val="6C63F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6C63FF"/>
                </a:solidFill>
                <a:latin typeface="Aptos"/>
                <a:ea typeface="Aptos"/>
                <a:cs typeface="Aptos"/>
              </a:rPr>
              <a:t>Sensibilidad marginal</a:t>
            </a:r>
          </a:p>
        </p:txBody>
      </p:sp>
      <p:sp>
        <p:nvSpPr>
          <p:cNvPr id="13" name="Rectángulo: esquinas redondeadas 12">
            <a:extLst>
              <a:ext uri="{FF2B5EF4-FFF2-40B4-BE49-F238E27FC236}">
                <a16:creationId xmlns:a16="http://schemas.microsoft.com/office/drawing/2014/main" id="{C7E71677-3EFE-4C19-8675-02818DC5BB4E}"/>
              </a:ext>
            </a:extLst>
          </p:cNvPr>
          <p:cNvSpPr>
            <a:spLocks noGrp="1"/>
          </p:cNvSpPr>
          <p:nvPr/>
        </p:nvSpPr>
        <p:spPr>
          <a:xfrm>
            <a:off x="6467475" y="4162425"/>
            <a:ext cx="4791075" cy="790575"/>
          </a:xfrm>
          <a:prstGeom prst="roundRect">
            <a:avLst>
              <a:gd name="adj" fmla="val 14458"/>
            </a:avLst>
          </a:prstGeom>
          <a:solidFill>
            <a:srgbClr val="FAF9FF"/>
          </a:solidFill>
          <a:ln w="9525">
            <a:solidFill>
              <a:srgbClr val="D7D2FF"/>
            </a:solidFill>
            <a:prstDash val="solid"/>
          </a:ln>
        </p:spPr>
        <p:txBody>
          <a:bodyPr wrap="square" lIns="95250" tIns="76200" rIns="95250" bIns="76200" anchor="ctr">
            <a:normAutofit fontScale="93939"/>
          </a:bodyPr>
          <a:lstStyle/>
          <a:p>
            <a:pPr algn="ctr">
              <a:lnSpc>
                <a:spcPct val="95000"/>
              </a:lnSpc>
              <a:buNone/>
              <a:defRPr sz="2100" b="0">
                <a:solidFill>
                  <a:srgbClr val="111827"/>
                </a:solidFill>
                <a:latin typeface="Cambria Math"/>
                <a:ea typeface="Cambria Math"/>
                <a:cs typeface="Cambria Math"/>
              </a:defRPr>
            </a:pPr>
            <a:r>
              <a:rPr sz="2100" b="0">
                <a:solidFill>
                  <a:srgbClr val="111827"/>
                </a:solidFill>
                <a:latin typeface="Cambria Math"/>
                <a:ea typeface="Cambria Math"/>
                <a:cs typeface="Cambria Math"/>
              </a:rPr>
              <a:t>∂P(Y*)/∂p = g₁−g₂</a:t>
            </a:r>
          </a:p>
          <a:p>
            <a:pPr algn="ctr">
              <a:lnSpc>
                <a:spcPct val="95000"/>
              </a:lnSpc>
              <a:buNone/>
              <a:defRPr sz="2100" b="0">
                <a:solidFill>
                  <a:srgbClr val="111827"/>
                </a:solidFill>
                <a:latin typeface="Cambria Math"/>
                <a:ea typeface="Cambria Math"/>
                <a:cs typeface="Cambria Math"/>
              </a:defRPr>
            </a:pPr>
            <a:r>
              <a:rPr sz="2100" b="0">
                <a:solidFill>
                  <a:srgbClr val="111827"/>
                </a:solidFill>
                <a:latin typeface="Cambria Math"/>
                <a:ea typeface="Cambria Math"/>
                <a:cs typeface="Cambria Math"/>
              </a:rPr>
              <a:t>∂P(Y*)/∂g₁ = p</a:t>
            </a:r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691D767F-CE43-4B8A-A826-2C8305F0ADA6}"/>
              </a:ext>
            </a:extLst>
          </p:cNvPr>
          <p:cNvSpPr>
            <a:spLocks noGrp="1"/>
          </p:cNvSpPr>
          <p:nvPr/>
        </p:nvSpPr>
        <p:spPr>
          <a:xfrm>
            <a:off x="6629400" y="5105400"/>
            <a:ext cx="44767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05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Si g₁−g₂ es grande y p es pequeño, reasignar masa al documento correcto puede rendir más que refinar el generador.</a:t>
            </a:r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BAAE3A17-A121-4BB1-A911-524ACD1BC6C5}"/>
              </a:ext>
            </a:extLst>
          </p:cNvPr>
          <p:cNvSpPr>
            <a:spLocks noGrp="1"/>
          </p:cNvSpPr>
          <p:nvPr/>
        </p:nvSpPr>
        <p:spPr>
          <a:xfrm>
            <a:off x="685800" y="6486525"/>
            <a:ext cx="9906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750" b="0">
                <a:solidFill>
                  <a:srgbClr val="8792AA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8792AA"/>
                </a:solidFill>
                <a:latin typeface="Aptos"/>
                <a:ea typeface="Aptos"/>
                <a:cs typeface="Aptos"/>
              </a:rPr>
              <a:t>Lewis et al. (2020) · derivación simbólica</a:t>
            </a:r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208B333D-1528-4642-A792-C84E5296727D}"/>
              </a:ext>
            </a:extLst>
          </p:cNvPr>
          <p:cNvSpPr>
            <a:spLocks noGrp="1"/>
          </p:cNvSpPr>
          <p:nvPr/>
        </p:nvSpPr>
        <p:spPr>
          <a:xfrm>
            <a:off x="11087100" y="6486525"/>
            <a:ext cx="4191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rmAutofit/>
          </a:bodyPr>
          <a:lstStyle/>
          <a:p>
            <a:pPr algn="r">
              <a:lnSpc>
                <a:spcPct val="100000"/>
              </a:lnSpc>
              <a:buNone/>
              <a:defRPr sz="825" b="1">
                <a:solidFill>
                  <a:srgbClr val="7B879F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7B879F"/>
                </a:solidFill>
                <a:latin typeface="Aptos"/>
                <a:ea typeface="Aptos"/>
                <a:cs typeface="Aptos"/>
              </a:rPr>
              <a:t>32</a:t>
            </a:r>
          </a:p>
        </p:txBody>
      </p:sp>
    </p:spTree>
    <p:extLst>
      <p:ext uri="{BB962C8B-B14F-4D97-AF65-F5344CB8AC3E}">
        <p14:creationId xmlns:p14="http://schemas.microsoft.com/office/powerpoint/2010/main" val="187186775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ángulo 17">
            <a:extLst>
              <a:ext uri="{FF2B5EF4-FFF2-40B4-BE49-F238E27FC236}">
                <a16:creationId xmlns:a16="http://schemas.microsoft.com/office/drawing/2014/main" id="{B587CCAA-E844-4576-8259-E1CA9282EA64}"/>
              </a:ext>
            </a:extLst>
          </p:cNvPr>
          <p:cNvSpPr>
            <a:spLocks noGrp="1"/>
          </p:cNvSpPr>
          <p:nvPr/>
        </p:nvSpPr>
        <p:spPr>
          <a:xfrm>
            <a:off x="685800" y="495300"/>
            <a:ext cx="4476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050" b="1">
                <a:solidFill>
                  <a:srgbClr val="33D6C8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33D6C8"/>
                </a:solidFill>
                <a:latin typeface="Aptos"/>
                <a:ea typeface="Aptos"/>
                <a:cs typeface="Aptos"/>
              </a:rPr>
              <a:t>A5 / EFECTO LOCAL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D6D25C75-2A50-4583-A1CB-A2258B9F1832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10875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rmAutofit/>
          </a:bodyPr>
          <a:lstStyle/>
          <a:p>
            <a:pPr algn="l">
              <a:lnSpc>
                <a:spcPct val="92000"/>
              </a:lnSpc>
              <a:buNone/>
              <a:defRPr sz="23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3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Un contexto concreto puede aumentar la duda aunque el promedio disminuya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E504CAB4-DC9E-495A-BF7E-9D4541DB347D}"/>
              </a:ext>
            </a:extLst>
          </p:cNvPr>
          <p:cNvSpPr>
            <a:spLocks noGrp="1"/>
          </p:cNvSpPr>
          <p:nvPr/>
        </p:nvSpPr>
        <p:spPr>
          <a:xfrm>
            <a:off x="685800" y="1562100"/>
            <a:ext cx="10820400" cy="9525"/>
          </a:xfrm>
          <a:prstGeom prst="rect">
            <a:avLst/>
          </a:prstGeom>
          <a:solidFill>
            <a:srgbClr val="303958"/>
          </a:solidFill>
          <a:ln w="0">
            <a:solidFill>
              <a:srgbClr val="30395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Rectángulo: esquinas redondeadas 3">
            <a:extLst>
              <a:ext uri="{FF2B5EF4-FFF2-40B4-BE49-F238E27FC236}">
                <a16:creationId xmlns:a16="http://schemas.microsoft.com/office/drawing/2014/main" id="{0DE3DC06-0E1D-470F-9422-DCABE37E4544}"/>
              </a:ext>
            </a:extLst>
          </p:cNvPr>
          <p:cNvSpPr>
            <a:spLocks noGrp="1"/>
          </p:cNvSpPr>
          <p:nvPr/>
        </p:nvSpPr>
        <p:spPr>
          <a:xfrm>
            <a:off x="685800" y="1952625"/>
            <a:ext cx="5143500" cy="3762375"/>
          </a:xfrm>
          <a:prstGeom prst="roundRect">
            <a:avLst>
              <a:gd name="adj" fmla="val 4051"/>
            </a:avLst>
          </a:prstGeom>
          <a:solidFill>
            <a:srgbClr val="202846"/>
          </a:solidFill>
          <a:ln w="11430">
            <a:solidFill>
              <a:srgbClr val="33D6C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78558253-EE17-464C-89D5-AF2290C377AC}"/>
              </a:ext>
            </a:extLst>
          </p:cNvPr>
          <p:cNvSpPr>
            <a:spLocks noGrp="1"/>
          </p:cNvSpPr>
          <p:nvPr/>
        </p:nvSpPr>
        <p:spPr>
          <a:xfrm>
            <a:off x="933450" y="2143125"/>
            <a:ext cx="457200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575" b="1">
                <a:solidFill>
                  <a:srgbClr val="33D6C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33D6C8"/>
                </a:solidFill>
                <a:latin typeface="Aptos"/>
                <a:ea typeface="Aptos"/>
                <a:cs typeface="Aptos"/>
              </a:rPr>
              <a:t>La desigualdad es un promedio</a:t>
            </a:r>
          </a:p>
        </p:txBody>
      </p:sp>
      <p:sp>
        <p:nvSpPr>
          <p:cNvPr id="6" name="Rectángulo: esquinas redondeadas 5">
            <a:extLst>
              <a:ext uri="{FF2B5EF4-FFF2-40B4-BE49-F238E27FC236}">
                <a16:creationId xmlns:a16="http://schemas.microsoft.com/office/drawing/2014/main" id="{2A2D78F3-91DD-4EFE-B12C-A473DFEC2755}"/>
              </a:ext>
            </a:extLst>
          </p:cNvPr>
          <p:cNvSpPr>
            <a:spLocks noGrp="1"/>
          </p:cNvSpPr>
          <p:nvPr/>
        </p:nvSpPr>
        <p:spPr>
          <a:xfrm>
            <a:off x="1047750" y="2647950"/>
            <a:ext cx="4419600" cy="666750"/>
          </a:xfrm>
          <a:prstGeom prst="roundRect">
            <a:avLst>
              <a:gd name="adj" fmla="val 17143"/>
            </a:avLst>
          </a:prstGeom>
          <a:solidFill>
            <a:srgbClr val="171E37"/>
          </a:solidFill>
          <a:ln w="9525">
            <a:solidFill>
              <a:srgbClr val="36405F"/>
            </a:solidFill>
            <a:prstDash val="solid"/>
          </a:ln>
        </p:spPr>
        <p:txBody>
          <a:bodyPr wrap="square" lIns="95250" tIns="76200" rIns="95250" bIns="76200" anchor="ctr">
            <a:normAutofit/>
          </a:bodyPr>
          <a:lstStyle/>
          <a:p>
            <a:pPr algn="ctr">
              <a:lnSpc>
                <a:spcPct val="95000"/>
              </a:lnSpc>
              <a:buNone/>
              <a:defRPr sz="2400" b="0">
                <a:solidFill>
                  <a:srgbClr val="FFFFFF"/>
                </a:solidFill>
                <a:latin typeface="Cambria Math"/>
                <a:ea typeface="Cambria Math"/>
                <a:cs typeface="Cambria Math"/>
              </a:defRPr>
            </a:pPr>
            <a:r>
              <a:rPr sz="2400" b="0">
                <a:solidFill>
                  <a:srgbClr val="FFFFFF"/>
                </a:solidFill>
                <a:latin typeface="Cambria Math"/>
                <a:ea typeface="Cambria Math"/>
                <a:cs typeface="Cambria Math"/>
              </a:rPr>
              <a:t>H(Z|X,C) ≤ H(Z|X)</a:t>
            </a: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B270A796-7245-4898-B615-D2340ACE10FC}"/>
              </a:ext>
            </a:extLst>
          </p:cNvPr>
          <p:cNvSpPr>
            <a:spLocks noGrp="1"/>
          </p:cNvSpPr>
          <p:nvPr/>
        </p:nvSpPr>
        <p:spPr>
          <a:xfrm>
            <a:off x="1009650" y="3590925"/>
            <a:ext cx="400050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200" b="0">
                <a:solidFill>
                  <a:srgbClr val="C9D1E6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C9D1E6"/>
                </a:solidFill>
                <a:latin typeface="Aptos"/>
                <a:ea typeface="Aptos"/>
                <a:cs typeface="Aptos"/>
              </a:rPr>
              <a:t>Pero para un valor específico c:</a:t>
            </a:r>
          </a:p>
        </p:txBody>
      </p:sp>
      <p:sp>
        <p:nvSpPr>
          <p:cNvPr id="8" name="Rectángulo: esquinas redondeadas 7">
            <a:extLst>
              <a:ext uri="{FF2B5EF4-FFF2-40B4-BE49-F238E27FC236}">
                <a16:creationId xmlns:a16="http://schemas.microsoft.com/office/drawing/2014/main" id="{7EC8FCD3-EC4F-4837-AF83-008A27C315D5}"/>
              </a:ext>
            </a:extLst>
          </p:cNvPr>
          <p:cNvSpPr>
            <a:spLocks noGrp="1"/>
          </p:cNvSpPr>
          <p:nvPr/>
        </p:nvSpPr>
        <p:spPr>
          <a:xfrm>
            <a:off x="1047750" y="4000500"/>
            <a:ext cx="4419600" cy="638175"/>
          </a:xfrm>
          <a:prstGeom prst="roundRect">
            <a:avLst>
              <a:gd name="adj" fmla="val 17910"/>
            </a:avLst>
          </a:prstGeom>
          <a:solidFill>
            <a:srgbClr val="171E37"/>
          </a:solidFill>
          <a:ln w="9525">
            <a:solidFill>
              <a:srgbClr val="36405F"/>
            </a:solidFill>
            <a:prstDash val="solid"/>
          </a:ln>
        </p:spPr>
        <p:txBody>
          <a:bodyPr wrap="square" lIns="95250" tIns="76200" rIns="95250" bIns="76200" anchor="ctr">
            <a:normAutofit/>
          </a:bodyPr>
          <a:lstStyle/>
          <a:p>
            <a:pPr algn="ctr">
              <a:lnSpc>
                <a:spcPct val="95000"/>
              </a:lnSpc>
              <a:buNone/>
              <a:defRPr sz="2025" b="0">
                <a:solidFill>
                  <a:srgbClr val="F5A14A"/>
                </a:solidFill>
                <a:latin typeface="Cambria Math"/>
                <a:ea typeface="Cambria Math"/>
                <a:cs typeface="Cambria Math"/>
              </a:defRPr>
            </a:pPr>
            <a:r>
              <a:rPr sz="2025" b="0">
                <a:solidFill>
                  <a:srgbClr val="F5A14A"/>
                </a:solidFill>
                <a:latin typeface="Cambria Math"/>
                <a:ea typeface="Cambria Math"/>
                <a:cs typeface="Cambria Math"/>
              </a:rPr>
              <a:t>ΔH(c)=H(Z|x,c)−H(Z|x)</a:t>
            </a:r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705E7192-F157-4AB6-BF09-17EAB442F3E6}"/>
              </a:ext>
            </a:extLst>
          </p:cNvPr>
          <p:cNvSpPr>
            <a:spLocks noGrp="1"/>
          </p:cNvSpPr>
          <p:nvPr/>
        </p:nvSpPr>
        <p:spPr>
          <a:xfrm>
            <a:off x="1028700" y="4857750"/>
            <a:ext cx="44577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125" b="0">
                <a:solidFill>
                  <a:srgbClr val="C9D1E6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C9D1E6"/>
                </a:solidFill>
                <a:latin typeface="Aptos"/>
                <a:ea typeface="Aptos"/>
                <a:cs typeface="Aptos"/>
              </a:rPr>
              <a:t>Nada impide que ΔH(c)&gt;0 para una observación particular.</a:t>
            </a:r>
          </a:p>
        </p:txBody>
      </p:sp>
      <p:sp>
        <p:nvSpPr>
          <p:cNvPr id="10" name="Rectángulo: esquinas redondeadas 9">
            <a:extLst>
              <a:ext uri="{FF2B5EF4-FFF2-40B4-BE49-F238E27FC236}">
                <a16:creationId xmlns:a16="http://schemas.microsoft.com/office/drawing/2014/main" id="{CB791FB5-654D-4065-9BD3-FF85299A7CC9}"/>
              </a:ext>
            </a:extLst>
          </p:cNvPr>
          <p:cNvSpPr>
            <a:spLocks noGrp="1"/>
          </p:cNvSpPr>
          <p:nvPr/>
        </p:nvSpPr>
        <p:spPr>
          <a:xfrm>
            <a:off x="6172200" y="1952625"/>
            <a:ext cx="5334000" cy="3762375"/>
          </a:xfrm>
          <a:prstGeom prst="roundRect">
            <a:avLst>
              <a:gd name="adj" fmla="val 4051"/>
            </a:avLst>
          </a:prstGeom>
          <a:solidFill>
            <a:srgbClr val="202846"/>
          </a:solidFill>
          <a:ln w="11430">
            <a:solidFill>
              <a:srgbClr val="F5A1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DA53848E-42FD-4529-BA21-60A8C8B33CCF}"/>
              </a:ext>
            </a:extLst>
          </p:cNvPr>
          <p:cNvSpPr>
            <a:spLocks noGrp="1"/>
          </p:cNvSpPr>
          <p:nvPr/>
        </p:nvSpPr>
        <p:spPr>
          <a:xfrm>
            <a:off x="6419850" y="2143125"/>
            <a:ext cx="483870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575" b="1">
                <a:solidFill>
                  <a:srgbClr val="F5A14A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F5A14A"/>
                </a:solidFill>
                <a:latin typeface="Aptos"/>
                <a:ea typeface="Aptos"/>
                <a:cs typeface="Aptos"/>
              </a:rPr>
              <a:t>Cuándo el contexto vuelve binaria la duda</a:t>
            </a:r>
          </a:p>
        </p:txBody>
      </p:sp>
      <p:sp>
        <p:nvSpPr>
          <p:cNvPr id="12" name="Rectángulo: esquinas redondeadas 11">
            <a:extLst>
              <a:ext uri="{FF2B5EF4-FFF2-40B4-BE49-F238E27FC236}">
                <a16:creationId xmlns:a16="http://schemas.microsoft.com/office/drawing/2014/main" id="{216A0C9B-8156-4B24-A6B6-B0857BC7C453}"/>
              </a:ext>
            </a:extLst>
          </p:cNvPr>
          <p:cNvSpPr>
            <a:spLocks noGrp="1"/>
          </p:cNvSpPr>
          <p:nvPr/>
        </p:nvSpPr>
        <p:spPr>
          <a:xfrm>
            <a:off x="6419850" y="2647950"/>
            <a:ext cx="4838700" cy="666750"/>
          </a:xfrm>
          <a:prstGeom prst="roundRect">
            <a:avLst>
              <a:gd name="adj" fmla="val 17143"/>
            </a:avLst>
          </a:prstGeom>
          <a:solidFill>
            <a:srgbClr val="171E37"/>
          </a:solidFill>
          <a:ln w="9525">
            <a:solidFill>
              <a:srgbClr val="36405F"/>
            </a:solidFill>
            <a:prstDash val="solid"/>
          </a:ln>
        </p:spPr>
        <p:txBody>
          <a:bodyPr wrap="square" lIns="95250" tIns="76200" rIns="95250" bIns="76200" anchor="ctr">
            <a:normAutofit/>
          </a:bodyPr>
          <a:lstStyle/>
          <a:p>
            <a:pPr algn="ctr">
              <a:lnSpc>
                <a:spcPct val="95000"/>
              </a:lnSpc>
              <a:buNone/>
              <a:defRPr sz="2025" b="0">
                <a:solidFill>
                  <a:srgbClr val="FFFFFF"/>
                </a:solidFill>
                <a:latin typeface="Cambria Math"/>
                <a:ea typeface="Cambria Math"/>
                <a:cs typeface="Cambria Math"/>
              </a:defRPr>
            </a:pPr>
            <a:r>
              <a:rPr sz="2025" b="0">
                <a:solidFill>
                  <a:srgbClr val="FFFFFF"/>
                </a:solidFill>
                <a:latin typeface="Cambria Math"/>
                <a:ea typeface="Cambria Math"/>
                <a:cs typeface="Cambria Math"/>
              </a:rPr>
              <a:t>P(Z₁|x,c) = πℓ₁ / [πℓ₁ + (1−π)ℓ₂]</a:t>
            </a:r>
          </a:p>
        </p:txBody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A622F891-9542-4706-9F8E-D0E56BD1EEFF}"/>
              </a:ext>
            </a:extLst>
          </p:cNvPr>
          <p:cNvSpPr>
            <a:spLocks noGrp="1"/>
          </p:cNvSpPr>
          <p:nvPr/>
        </p:nvSpPr>
        <p:spPr>
          <a:xfrm>
            <a:off x="6667500" y="3457575"/>
            <a:ext cx="434340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125" b="0">
                <a:solidFill>
                  <a:srgbClr val="C9D1E6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C9D1E6"/>
                </a:solidFill>
                <a:latin typeface="Aptos"/>
                <a:ea typeface="Aptos"/>
                <a:cs typeface="Aptos"/>
              </a:rPr>
              <a:t>donde π=P(Z₁|x) y ℓᵢ=P(c|Zᵢ,x)</a:t>
            </a:r>
          </a:p>
        </p:txBody>
      </p:sp>
      <p:sp>
        <p:nvSpPr>
          <p:cNvPr id="14" name="Rectángulo: esquinas redondeadas 13">
            <a:extLst>
              <a:ext uri="{FF2B5EF4-FFF2-40B4-BE49-F238E27FC236}">
                <a16:creationId xmlns:a16="http://schemas.microsoft.com/office/drawing/2014/main" id="{A17ACBA7-ED1D-4E1E-81B1-14679C849AE9}"/>
              </a:ext>
            </a:extLst>
          </p:cNvPr>
          <p:cNvSpPr>
            <a:spLocks noGrp="1"/>
          </p:cNvSpPr>
          <p:nvPr/>
        </p:nvSpPr>
        <p:spPr>
          <a:xfrm>
            <a:off x="6419850" y="3943350"/>
            <a:ext cx="4838700" cy="723900"/>
          </a:xfrm>
          <a:prstGeom prst="roundRect">
            <a:avLst>
              <a:gd name="adj" fmla="val 15789"/>
            </a:avLst>
          </a:prstGeom>
          <a:solidFill>
            <a:srgbClr val="241F30"/>
          </a:solidFill>
          <a:ln w="9525">
            <a:solidFill>
              <a:srgbClr val="F5A14A"/>
            </a:solidFill>
            <a:prstDash val="solid"/>
          </a:ln>
        </p:spPr>
        <p:txBody>
          <a:bodyPr wrap="square" lIns="95250" tIns="76200" rIns="95250" bIns="76200" anchor="ctr">
            <a:normAutofit/>
          </a:bodyPr>
          <a:lstStyle/>
          <a:p>
            <a:pPr algn="ctr">
              <a:lnSpc>
                <a:spcPct val="95000"/>
              </a:lnSpc>
              <a:buNone/>
              <a:defRPr sz="1800" b="0">
                <a:solidFill>
                  <a:srgbClr val="F5A14A"/>
                </a:solidFill>
                <a:latin typeface="Cambria Math"/>
                <a:ea typeface="Cambria Math"/>
                <a:cs typeface="Cambria Math"/>
              </a:defRPr>
            </a:pPr>
            <a:r>
              <a:rPr sz="1800" b="0">
                <a:solidFill>
                  <a:srgbClr val="F5A14A"/>
                </a:solidFill>
                <a:latin typeface="Cambria Math"/>
                <a:ea typeface="Cambria Math"/>
                <a:cs typeface="Cambria Math"/>
              </a:rPr>
              <a:t>πℓ₁ = (1−π)ℓ₂  ⇒  P(Z₁|x,c)=P(Z₂|x,c)</a:t>
            </a:r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3B7E9406-5090-4744-ACA8-B547B3D1612E}"/>
              </a:ext>
            </a:extLst>
          </p:cNvPr>
          <p:cNvSpPr>
            <a:spLocks noGrp="1"/>
          </p:cNvSpPr>
          <p:nvPr/>
        </p:nvSpPr>
        <p:spPr>
          <a:xfrm>
            <a:off x="6572250" y="4876800"/>
            <a:ext cx="45339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125" b="0">
                <a:solidFill>
                  <a:srgbClr val="C9D1E6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C9D1E6"/>
                </a:solidFill>
                <a:latin typeface="Aptos"/>
                <a:ea typeface="Aptos"/>
                <a:cs typeface="Aptos"/>
              </a:rPr>
              <a:t>El nuevo contexto puede equilibrar las hipótesis y llevar el posterior hacia máxima ambigüedad.</a:t>
            </a:r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819F2619-8D85-458A-A187-CA505F89E272}"/>
              </a:ext>
            </a:extLst>
          </p:cNvPr>
          <p:cNvSpPr>
            <a:spLocks noGrp="1"/>
          </p:cNvSpPr>
          <p:nvPr/>
        </p:nvSpPr>
        <p:spPr>
          <a:xfrm>
            <a:off x="685800" y="6486525"/>
            <a:ext cx="9906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750" b="0">
                <a:solidFill>
                  <a:srgbClr val="9AA6C4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9AA6C4"/>
                </a:solidFill>
                <a:latin typeface="Aptos"/>
                <a:ea typeface="Aptos"/>
                <a:cs typeface="Aptos"/>
              </a:rPr>
              <a:t>Entropía condicional · actualización Bayesiana · derivación</a:t>
            </a:r>
          </a:p>
        </p:txBody>
      </p:sp>
      <p:sp>
        <p:nvSpPr>
          <p:cNvPr id="17" name="Rectángulo 16">
            <a:extLst>
              <a:ext uri="{FF2B5EF4-FFF2-40B4-BE49-F238E27FC236}">
                <a16:creationId xmlns:a16="http://schemas.microsoft.com/office/drawing/2014/main" id="{362187DB-9D7F-47AE-BBD2-785814D12296}"/>
              </a:ext>
            </a:extLst>
          </p:cNvPr>
          <p:cNvSpPr>
            <a:spLocks noGrp="1"/>
          </p:cNvSpPr>
          <p:nvPr/>
        </p:nvSpPr>
        <p:spPr>
          <a:xfrm>
            <a:off x="11087100" y="6486525"/>
            <a:ext cx="4191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rmAutofit/>
          </a:bodyPr>
          <a:lstStyle/>
          <a:p>
            <a:pPr algn="r">
              <a:lnSpc>
                <a:spcPct val="100000"/>
              </a:lnSpc>
              <a:buNone/>
              <a:defRPr sz="825" b="1">
                <a:solidFill>
                  <a:srgbClr val="C9D1E6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C9D1E6"/>
                </a:solidFill>
                <a:latin typeface="Aptos"/>
                <a:ea typeface="Aptos"/>
                <a:cs typeface="Aptos"/>
              </a:rPr>
              <a:t>33</a:t>
            </a:r>
          </a:p>
        </p:txBody>
      </p:sp>
    </p:spTree>
    <p:extLst>
      <p:ext uri="{BB962C8B-B14F-4D97-AF65-F5344CB8AC3E}">
        <p14:creationId xmlns:p14="http://schemas.microsoft.com/office/powerpoint/2010/main" val="92771155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ángulo 24">
            <a:extLst>
              <a:ext uri="{FF2B5EF4-FFF2-40B4-BE49-F238E27FC236}">
                <a16:creationId xmlns:a16="http://schemas.microsoft.com/office/drawing/2014/main" id="{32D14589-56C4-4945-8C80-6137C06F45C8}"/>
              </a:ext>
            </a:extLst>
          </p:cNvPr>
          <p:cNvSpPr>
            <a:spLocks noGrp="1"/>
          </p:cNvSpPr>
          <p:nvPr/>
        </p:nvSpPr>
        <p:spPr>
          <a:xfrm>
            <a:off x="685800" y="495300"/>
            <a:ext cx="4476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050" b="1">
                <a:solidFill>
                  <a:srgbClr val="6C63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6C63FF"/>
                </a:solidFill>
                <a:latin typeface="Aptos"/>
                <a:ea typeface="Aptos"/>
                <a:cs typeface="Aptos"/>
              </a:rPr>
              <a:t>A6 / TOKENS Y CALIDAD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4BD2061B-05E2-4514-A0F5-589653421F5A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10875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rmAutofit/>
          </a:bodyPr>
          <a:lstStyle/>
          <a:p>
            <a:pPr algn="l">
              <a:lnSpc>
                <a:spcPct val="92000"/>
              </a:lnSpc>
              <a:buNone/>
              <a:defRPr sz="24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Presupuesto, penalización y tasa–distorsión responden preguntas distintas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B5524310-0E1B-4F26-8616-45FF9C104634}"/>
              </a:ext>
            </a:extLst>
          </p:cNvPr>
          <p:cNvSpPr>
            <a:spLocks noGrp="1"/>
          </p:cNvSpPr>
          <p:nvPr/>
        </p:nvSpPr>
        <p:spPr>
          <a:xfrm>
            <a:off x="685800" y="1562100"/>
            <a:ext cx="10820400" cy="9525"/>
          </a:xfrm>
          <a:prstGeom prst="rect">
            <a:avLst/>
          </a:prstGeom>
          <a:solidFill>
            <a:srgbClr val="D9DEEA"/>
          </a:solidFill>
          <a:ln w="0">
            <a:solidFill>
              <a:srgbClr val="D9DE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Rectángulo 22">
            <a:extLst>
              <a:ext uri="{FF2B5EF4-FFF2-40B4-BE49-F238E27FC236}">
                <a16:creationId xmlns:a16="http://schemas.microsoft.com/office/drawing/2014/main" id="{ED8EA085-3BFE-404A-AC32-053AFE17D418}"/>
              </a:ext>
            </a:extLst>
          </p:cNvPr>
          <p:cNvSpPr>
            <a:spLocks noGrp="1"/>
          </p:cNvSpPr>
          <p:nvPr/>
        </p:nvSpPr>
        <p:spPr>
          <a:xfrm>
            <a:off x="685800" y="6486525"/>
            <a:ext cx="9906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750" b="0">
                <a:solidFill>
                  <a:srgbClr val="8792AA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8792AA"/>
                </a:solidFill>
                <a:latin typeface="Aptos"/>
                <a:ea typeface="Aptos"/>
                <a:cs typeface="Aptos"/>
              </a:rPr>
              <a:t>Mei et al. (2025) · Nagle et al. (NeurIPS 2024) · derivación Lagrangiana</a:t>
            </a:r>
          </a:p>
        </p:txBody>
      </p:sp>
      <p:sp>
        <p:nvSpPr>
          <p:cNvPr id="24" name="Rectángulo 23">
            <a:extLst>
              <a:ext uri="{FF2B5EF4-FFF2-40B4-BE49-F238E27FC236}">
                <a16:creationId xmlns:a16="http://schemas.microsoft.com/office/drawing/2014/main" id="{FCFE2ED7-B3A9-4E31-B1E2-DBB5F4745C58}"/>
              </a:ext>
            </a:extLst>
          </p:cNvPr>
          <p:cNvSpPr>
            <a:spLocks noGrp="1"/>
          </p:cNvSpPr>
          <p:nvPr/>
        </p:nvSpPr>
        <p:spPr>
          <a:xfrm>
            <a:off x="11087100" y="6486525"/>
            <a:ext cx="4191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rmAutofit/>
          </a:bodyPr>
          <a:lstStyle/>
          <a:p>
            <a:pPr algn="r">
              <a:lnSpc>
                <a:spcPct val="100000"/>
              </a:lnSpc>
              <a:buNone/>
              <a:defRPr sz="825" b="1">
                <a:solidFill>
                  <a:srgbClr val="7B879F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7B879F"/>
                </a:solidFill>
                <a:latin typeface="Aptos"/>
                <a:ea typeface="Aptos"/>
                <a:cs typeface="Aptos"/>
              </a:rPr>
              <a:t>34</a:t>
            </a:r>
          </a:p>
        </p:txBody>
      </p:sp>
      <p:sp>
        <p:nvSpPr>
          <p:cNvPr id="26" name="Rectángulo: esquinas redondeadas 25">
            <a:extLst>
              <a:ext uri="{FF2B5EF4-FFF2-40B4-BE49-F238E27FC236}">
                <a16:creationId xmlns:a16="http://schemas.microsoft.com/office/drawing/2014/main" id="{E23D87FB-5A93-4939-8A60-79175231A8BB}"/>
              </a:ext>
            </a:extLst>
          </p:cNvPr>
          <p:cNvSpPr>
            <a:spLocks noGrp="1"/>
          </p:cNvSpPr>
          <p:nvPr/>
        </p:nvSpPr>
        <p:spPr>
          <a:xfrm>
            <a:off x="685800" y="1952625"/>
            <a:ext cx="3429000" cy="3476625"/>
          </a:xfrm>
          <a:prstGeom prst="roundRect">
            <a:avLst>
              <a:gd name="adj" fmla="val 4444"/>
            </a:avLst>
          </a:prstGeom>
          <a:solidFill>
            <a:srgbClr val="E3F9F6"/>
          </a:solidFill>
          <a:ln w="11430">
            <a:solidFill>
              <a:srgbClr val="33D6C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7" name="Rectángulo 26">
            <a:extLst>
              <a:ext uri="{FF2B5EF4-FFF2-40B4-BE49-F238E27FC236}">
                <a16:creationId xmlns:a16="http://schemas.microsoft.com/office/drawing/2014/main" id="{3C76C21D-9847-4116-AE6D-963148F04D25}"/>
              </a:ext>
            </a:extLst>
          </p:cNvPr>
          <p:cNvSpPr>
            <a:spLocks noGrp="1"/>
          </p:cNvSpPr>
          <p:nvPr/>
        </p:nvSpPr>
        <p:spPr>
          <a:xfrm>
            <a:off x="895350" y="2190750"/>
            <a:ext cx="30099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050" b="1">
                <a:solidFill>
                  <a:srgbClr val="33D6C8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33D6C8"/>
                </a:solidFill>
                <a:latin typeface="Aptos"/>
                <a:ea typeface="Aptos"/>
                <a:cs typeface="Aptos"/>
              </a:rPr>
              <a:t>OBJETIVO · SURVEY</a:t>
            </a:r>
          </a:p>
        </p:txBody>
      </p:sp>
      <p:sp>
        <p:nvSpPr>
          <p:cNvPr id="28" name="Rectángulo: esquinas redondeadas 27">
            <a:extLst>
              <a:ext uri="{FF2B5EF4-FFF2-40B4-BE49-F238E27FC236}">
                <a16:creationId xmlns:a16="http://schemas.microsoft.com/office/drawing/2014/main" id="{CD52F9FE-F635-4110-8AA9-B5659D5A89AA}"/>
              </a:ext>
            </a:extLst>
          </p:cNvPr>
          <p:cNvSpPr>
            <a:spLocks noGrp="1"/>
          </p:cNvSpPr>
          <p:nvPr/>
        </p:nvSpPr>
        <p:spPr>
          <a:xfrm>
            <a:off x="895350" y="2724150"/>
            <a:ext cx="3009900" cy="1123950"/>
          </a:xfrm>
          <a:prstGeom prst="roundRect">
            <a:avLst>
              <a:gd name="adj" fmla="val 10169"/>
            </a:avLst>
          </a:prstGeom>
          <a:solidFill>
            <a:srgbClr val="FFFFFF"/>
          </a:solidFill>
          <a:ln w="9525">
            <a:solidFill>
              <a:srgbClr val="33D6C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pic>
        <p:nvPicPr>
          <p:cNvPr id="50" name="Imagen 49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304215" y="2819400"/>
            <a:ext cx="2192170" cy="933450"/>
          </a:xfrm>
          <a:prstGeom prst="rect">
            <a:avLst/>
          </a:prstGeom>
        </p:spPr>
      </p:pic>
      <p:sp>
        <p:nvSpPr>
          <p:cNvPr id="30" name="Rectángulo 29">
            <a:extLst>
              <a:ext uri="{FF2B5EF4-FFF2-40B4-BE49-F238E27FC236}">
                <a16:creationId xmlns:a16="http://schemas.microsoft.com/office/drawing/2014/main" id="{8C424A05-9DB1-43A4-AFFD-6A2BD3537D9C}"/>
              </a:ext>
            </a:extLst>
          </p:cNvPr>
          <p:cNvSpPr>
            <a:spLocks noGrp="1"/>
          </p:cNvSpPr>
          <p:nvPr/>
        </p:nvSpPr>
        <p:spPr>
          <a:xfrm>
            <a:off x="971550" y="4210050"/>
            <a:ext cx="2857500" cy="819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27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Maximiza calidad esperada bajo el límite de la ventana.</a:t>
            </a:r>
          </a:p>
        </p:txBody>
      </p:sp>
      <p:sp>
        <p:nvSpPr>
          <p:cNvPr id="31" name="Rectángulo: esquinas redondeadas 30">
            <a:extLst>
              <a:ext uri="{FF2B5EF4-FFF2-40B4-BE49-F238E27FC236}">
                <a16:creationId xmlns:a16="http://schemas.microsoft.com/office/drawing/2014/main" id="{3BAE6161-2ECC-44C0-B8E9-02E2F50DA148}"/>
              </a:ext>
            </a:extLst>
          </p:cNvPr>
          <p:cNvSpPr>
            <a:spLocks noGrp="1"/>
          </p:cNvSpPr>
          <p:nvPr/>
        </p:nvSpPr>
        <p:spPr>
          <a:xfrm>
            <a:off x="4343400" y="1952625"/>
            <a:ext cx="3429000" cy="3476625"/>
          </a:xfrm>
          <a:prstGeom prst="roundRect">
            <a:avLst>
              <a:gd name="adj" fmla="val 4444"/>
            </a:avLst>
          </a:prstGeom>
          <a:solidFill>
            <a:srgbClr val="EEECFF"/>
          </a:solidFill>
          <a:ln w="11430">
            <a:solidFill>
              <a:srgbClr val="6C63FF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2" name="Rectángulo 31">
            <a:extLst>
              <a:ext uri="{FF2B5EF4-FFF2-40B4-BE49-F238E27FC236}">
                <a16:creationId xmlns:a16="http://schemas.microsoft.com/office/drawing/2014/main" id="{DB0670DD-3530-464C-A973-D6E4E9254899}"/>
              </a:ext>
            </a:extLst>
          </p:cNvPr>
          <p:cNvSpPr>
            <a:spLocks noGrp="1"/>
          </p:cNvSpPr>
          <p:nvPr/>
        </p:nvSpPr>
        <p:spPr>
          <a:xfrm>
            <a:off x="4552950" y="2190750"/>
            <a:ext cx="30099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050" b="1">
                <a:solidFill>
                  <a:srgbClr val="6C63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6C63FF"/>
                </a:solidFill>
                <a:latin typeface="Aptos"/>
                <a:ea typeface="Aptos"/>
                <a:cs typeface="Aptos"/>
              </a:rPr>
              <a:t>PENALIZACIÓN · DERIVACIÓN</a:t>
            </a:r>
          </a:p>
        </p:txBody>
      </p:sp>
      <p:sp>
        <p:nvSpPr>
          <p:cNvPr id="33" name="Rectángulo: esquinas redondeadas 32">
            <a:extLst>
              <a:ext uri="{FF2B5EF4-FFF2-40B4-BE49-F238E27FC236}">
                <a16:creationId xmlns:a16="http://schemas.microsoft.com/office/drawing/2014/main" id="{975D8D7A-A433-4CDD-9AF9-3D0EB8DD373C}"/>
              </a:ext>
            </a:extLst>
          </p:cNvPr>
          <p:cNvSpPr>
            <a:spLocks noGrp="1"/>
          </p:cNvSpPr>
          <p:nvPr/>
        </p:nvSpPr>
        <p:spPr>
          <a:xfrm>
            <a:off x="4552950" y="2724150"/>
            <a:ext cx="3009900" cy="1123950"/>
          </a:xfrm>
          <a:prstGeom prst="roundRect">
            <a:avLst>
              <a:gd name="adj" fmla="val 10169"/>
            </a:avLst>
          </a:prstGeom>
          <a:solidFill>
            <a:srgbClr val="FFFFFF"/>
          </a:solidFill>
          <a:ln w="9525">
            <a:solidFill>
              <a:srgbClr val="6C63FF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pic>
        <p:nvPicPr>
          <p:cNvPr id="55" name="Imagen 54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4705350" y="3090531"/>
            <a:ext cx="2705100" cy="391188"/>
          </a:xfrm>
          <a:prstGeom prst="rect">
            <a:avLst/>
          </a:prstGeom>
        </p:spPr>
      </p:pic>
      <p:sp>
        <p:nvSpPr>
          <p:cNvPr id="35" name="Rectángulo 34">
            <a:extLst>
              <a:ext uri="{FF2B5EF4-FFF2-40B4-BE49-F238E27FC236}">
                <a16:creationId xmlns:a16="http://schemas.microsoft.com/office/drawing/2014/main" id="{69FEF09C-0F0D-4695-8810-6FF7F8939904}"/>
              </a:ext>
            </a:extLst>
          </p:cNvPr>
          <p:cNvSpPr>
            <a:spLocks noGrp="1"/>
          </p:cNvSpPr>
          <p:nvPr/>
        </p:nvSpPr>
        <p:spPr>
          <a:xfrm>
            <a:off x="4629150" y="4210050"/>
            <a:ext cx="2857500" cy="819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27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Forma Lagrangiana de una relajación; λ fija el costo marginal.</a:t>
            </a:r>
          </a:p>
        </p:txBody>
      </p:sp>
      <p:sp>
        <p:nvSpPr>
          <p:cNvPr id="36" name="Rectángulo: esquinas redondeadas 35">
            <a:extLst>
              <a:ext uri="{FF2B5EF4-FFF2-40B4-BE49-F238E27FC236}">
                <a16:creationId xmlns:a16="http://schemas.microsoft.com/office/drawing/2014/main" id="{E0D1E30A-8CA1-4164-A7AD-E4F71E1572B5}"/>
              </a:ext>
            </a:extLst>
          </p:cNvPr>
          <p:cNvSpPr>
            <a:spLocks noGrp="1"/>
          </p:cNvSpPr>
          <p:nvPr/>
        </p:nvSpPr>
        <p:spPr>
          <a:xfrm>
            <a:off x="8001000" y="1952625"/>
            <a:ext cx="3429000" cy="3476625"/>
          </a:xfrm>
          <a:prstGeom prst="roundRect">
            <a:avLst>
              <a:gd name="adj" fmla="val 4444"/>
            </a:avLst>
          </a:prstGeom>
          <a:solidFill>
            <a:srgbClr val="FFF3E6"/>
          </a:solidFill>
          <a:ln w="11430">
            <a:solidFill>
              <a:srgbClr val="F5A14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7" name="Rectángulo 36">
            <a:extLst>
              <a:ext uri="{FF2B5EF4-FFF2-40B4-BE49-F238E27FC236}">
                <a16:creationId xmlns:a16="http://schemas.microsoft.com/office/drawing/2014/main" id="{1366584F-BB75-4195-80FA-5A21F5257097}"/>
              </a:ext>
            </a:extLst>
          </p:cNvPr>
          <p:cNvSpPr>
            <a:spLocks noGrp="1"/>
          </p:cNvSpPr>
          <p:nvPr/>
        </p:nvSpPr>
        <p:spPr>
          <a:xfrm>
            <a:off x="8210550" y="2190750"/>
            <a:ext cx="30099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050" b="1">
                <a:solidFill>
                  <a:srgbClr val="F5A14A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5A14A"/>
                </a:solidFill>
                <a:latin typeface="Aptos"/>
                <a:ea typeface="Aptos"/>
                <a:cs typeface="Aptos"/>
              </a:rPr>
              <a:t>TASA–DISTORSIÓN · PAPER</a:t>
            </a:r>
          </a:p>
        </p:txBody>
      </p:sp>
      <p:sp>
        <p:nvSpPr>
          <p:cNvPr id="38" name="Rectángulo: esquinas redondeadas 37">
            <a:extLst>
              <a:ext uri="{FF2B5EF4-FFF2-40B4-BE49-F238E27FC236}">
                <a16:creationId xmlns:a16="http://schemas.microsoft.com/office/drawing/2014/main" id="{D8AA4D67-DDA8-42D9-8BC8-573D85A35623}"/>
              </a:ext>
            </a:extLst>
          </p:cNvPr>
          <p:cNvSpPr>
            <a:spLocks noGrp="1"/>
          </p:cNvSpPr>
          <p:nvPr/>
        </p:nvSpPr>
        <p:spPr>
          <a:xfrm>
            <a:off x="8210550" y="2724150"/>
            <a:ext cx="3009900" cy="1123950"/>
          </a:xfrm>
          <a:prstGeom prst="roundRect">
            <a:avLst>
              <a:gd name="adj" fmla="val 10169"/>
            </a:avLst>
          </a:prstGeom>
          <a:solidFill>
            <a:srgbClr val="FFFFFF"/>
          </a:solidFill>
          <a:ln w="9525">
            <a:solidFill>
              <a:srgbClr val="F5A14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pic>
        <p:nvPicPr>
          <p:cNvPr id="60" name="Imagen 59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8937092" y="2819400"/>
            <a:ext cx="1556816" cy="933450"/>
          </a:xfrm>
          <a:prstGeom prst="rect">
            <a:avLst/>
          </a:prstGeom>
        </p:spPr>
      </p:pic>
      <p:sp>
        <p:nvSpPr>
          <p:cNvPr id="40" name="Rectángulo 39">
            <a:extLst>
              <a:ext uri="{FF2B5EF4-FFF2-40B4-BE49-F238E27FC236}">
                <a16:creationId xmlns:a16="http://schemas.microsoft.com/office/drawing/2014/main" id="{2FD65679-D45F-4C9E-A859-B54FF64DB84D}"/>
              </a:ext>
            </a:extLst>
          </p:cNvPr>
          <p:cNvSpPr>
            <a:spLocks noGrp="1"/>
          </p:cNvSpPr>
          <p:nvPr/>
        </p:nvSpPr>
        <p:spPr>
          <a:xfrm>
            <a:off x="8286750" y="4210050"/>
            <a:ext cx="2857500" cy="819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27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Traza la frontera entre longitud y degradación de la respuesta.</a:t>
            </a:r>
          </a:p>
        </p:txBody>
      </p:sp>
      <p:sp>
        <p:nvSpPr>
          <p:cNvPr id="41" name="Rectángulo 40">
            <a:extLst>
              <a:ext uri="{FF2B5EF4-FFF2-40B4-BE49-F238E27FC236}">
                <a16:creationId xmlns:a16="http://schemas.microsoft.com/office/drawing/2014/main" id="{09ADB9B5-217E-4972-808C-6E6862B00823}"/>
              </a:ext>
            </a:extLst>
          </p:cNvPr>
          <p:cNvSpPr>
            <a:spLocks noGrp="1"/>
          </p:cNvSpPr>
          <p:nvPr/>
        </p:nvSpPr>
        <p:spPr>
          <a:xfrm>
            <a:off x="1428750" y="5762625"/>
            <a:ext cx="9334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350" b="1">
                <a:solidFill>
                  <a:srgbClr val="6C63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6C63FF"/>
                </a:solidFill>
                <a:latin typeface="Aptos"/>
                <a:ea typeface="Aptos"/>
                <a:cs typeface="Aptos"/>
              </a:rPr>
              <a:t>La razón I/|C| puede usarse como KPI derivado, pero no sustituye el objetivo restringido ni la frontera tasa–distorsión.</a:t>
            </a:r>
          </a:p>
        </p:txBody>
      </p:sp>
    </p:spTree>
    <p:extLst>
      <p:ext uri="{BB962C8B-B14F-4D97-AF65-F5344CB8AC3E}">
        <p14:creationId xmlns:p14="http://schemas.microsoft.com/office/powerpoint/2010/main" val="58525771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ángulo 24">
            <a:extLst>
              <a:ext uri="{FF2B5EF4-FFF2-40B4-BE49-F238E27FC236}">
                <a16:creationId xmlns:a16="http://schemas.microsoft.com/office/drawing/2014/main" id="{8FCBE298-898E-4D10-A35B-5DDC78953F87}"/>
              </a:ext>
            </a:extLst>
          </p:cNvPr>
          <p:cNvSpPr>
            <a:spLocks noGrp="1"/>
          </p:cNvSpPr>
          <p:nvPr/>
        </p:nvSpPr>
        <p:spPr>
          <a:xfrm>
            <a:off x="685800" y="495300"/>
            <a:ext cx="4476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050" b="1">
                <a:solidFill>
                  <a:srgbClr val="33D6C8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33D6C8"/>
                </a:solidFill>
                <a:latin typeface="Aptos"/>
                <a:ea typeface="Aptos"/>
                <a:cs typeface="Aptos"/>
              </a:rPr>
              <a:t>A7 / LÍMITES DE INFORMACIÓN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B5AA8239-A58B-4E1F-83D2-F272621EEBDB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10875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rmAutofit/>
          </a:bodyPr>
          <a:lstStyle/>
          <a:p>
            <a:pPr algn="l">
              <a:lnSpc>
                <a:spcPct val="92000"/>
              </a:lnSpc>
              <a:buNone/>
              <a:defRPr sz="26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6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El procesamiento no crea información de intención ausente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2B203051-8712-42FD-A73B-F9A94FB4C242}"/>
              </a:ext>
            </a:extLst>
          </p:cNvPr>
          <p:cNvSpPr>
            <a:spLocks noGrp="1"/>
          </p:cNvSpPr>
          <p:nvPr/>
        </p:nvSpPr>
        <p:spPr>
          <a:xfrm>
            <a:off x="685800" y="1562100"/>
            <a:ext cx="10820400" cy="9525"/>
          </a:xfrm>
          <a:prstGeom prst="rect">
            <a:avLst/>
          </a:prstGeom>
          <a:solidFill>
            <a:srgbClr val="303958"/>
          </a:solidFill>
          <a:ln w="0">
            <a:solidFill>
              <a:srgbClr val="30395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Rectángulo 22">
            <a:extLst>
              <a:ext uri="{FF2B5EF4-FFF2-40B4-BE49-F238E27FC236}">
                <a16:creationId xmlns:a16="http://schemas.microsoft.com/office/drawing/2014/main" id="{1F8244D6-7DC9-4725-88DD-81A32BEBCDAF}"/>
              </a:ext>
            </a:extLst>
          </p:cNvPr>
          <p:cNvSpPr>
            <a:spLocks noGrp="1"/>
          </p:cNvSpPr>
          <p:nvPr/>
        </p:nvSpPr>
        <p:spPr>
          <a:xfrm>
            <a:off x="685800" y="6486525"/>
            <a:ext cx="9906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750" b="0">
                <a:solidFill>
                  <a:srgbClr val="9AA6C4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9AA6C4"/>
                </a:solidFill>
                <a:latin typeface="Aptos"/>
                <a:ea typeface="Aptos"/>
                <a:cs typeface="Aptos"/>
              </a:rPr>
              <a:t>Procesamiento de datos · Fano · regla de la cadena</a:t>
            </a:r>
          </a:p>
        </p:txBody>
      </p:sp>
      <p:sp>
        <p:nvSpPr>
          <p:cNvPr id="24" name="Rectángulo 23">
            <a:extLst>
              <a:ext uri="{FF2B5EF4-FFF2-40B4-BE49-F238E27FC236}">
                <a16:creationId xmlns:a16="http://schemas.microsoft.com/office/drawing/2014/main" id="{C1FF8276-DA34-4649-A22C-AF06F0C3B370}"/>
              </a:ext>
            </a:extLst>
          </p:cNvPr>
          <p:cNvSpPr>
            <a:spLocks noGrp="1"/>
          </p:cNvSpPr>
          <p:nvPr/>
        </p:nvSpPr>
        <p:spPr>
          <a:xfrm>
            <a:off x="11087100" y="6486525"/>
            <a:ext cx="4191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rmAutofit/>
          </a:bodyPr>
          <a:lstStyle/>
          <a:p>
            <a:pPr algn="r">
              <a:lnSpc>
                <a:spcPct val="100000"/>
              </a:lnSpc>
              <a:buNone/>
              <a:defRPr sz="825" b="1">
                <a:solidFill>
                  <a:srgbClr val="C9D1E6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C9D1E6"/>
                </a:solidFill>
                <a:latin typeface="Aptos"/>
                <a:ea typeface="Aptos"/>
                <a:cs typeface="Aptos"/>
              </a:rPr>
              <a:t>35</a:t>
            </a:r>
          </a:p>
        </p:txBody>
      </p:sp>
      <p:sp>
        <p:nvSpPr>
          <p:cNvPr id="26" name="Flecha: a la derecha 25">
            <a:extLst>
              <a:ext uri="{FF2B5EF4-FFF2-40B4-BE49-F238E27FC236}">
                <a16:creationId xmlns:a16="http://schemas.microsoft.com/office/drawing/2014/main" id="{8C597C37-6E2E-4212-8E08-DB0B7DF79D59}"/>
              </a:ext>
            </a:extLst>
          </p:cNvPr>
          <p:cNvSpPr>
            <a:spLocks noGrp="1"/>
          </p:cNvSpPr>
          <p:nvPr/>
        </p:nvSpPr>
        <p:spPr>
          <a:xfrm>
            <a:off x="2533650" y="2533650"/>
            <a:ext cx="438150" cy="228600"/>
          </a:xfrm>
          <a:prstGeom prst="rightArrow">
            <a:avLst/>
          </a:prstGeom>
          <a:solidFill>
            <a:srgbClr val="59627E"/>
          </a:solidFill>
          <a:ln w="9525">
            <a:solidFill>
              <a:srgbClr val="59627E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7" name="Flecha: a la derecha 26">
            <a:extLst>
              <a:ext uri="{FF2B5EF4-FFF2-40B4-BE49-F238E27FC236}">
                <a16:creationId xmlns:a16="http://schemas.microsoft.com/office/drawing/2014/main" id="{B6AEAD42-AC07-4D4E-9A58-5A55B758F335}"/>
              </a:ext>
            </a:extLst>
          </p:cNvPr>
          <p:cNvSpPr>
            <a:spLocks noGrp="1"/>
          </p:cNvSpPr>
          <p:nvPr/>
        </p:nvSpPr>
        <p:spPr>
          <a:xfrm>
            <a:off x="5010150" y="2533650"/>
            <a:ext cx="438150" cy="228600"/>
          </a:xfrm>
          <a:prstGeom prst="rightArrow">
            <a:avLst/>
          </a:prstGeom>
          <a:solidFill>
            <a:srgbClr val="59627E"/>
          </a:solidFill>
          <a:ln w="9525">
            <a:solidFill>
              <a:srgbClr val="59627E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8" name="Flecha: a la derecha 27">
            <a:extLst>
              <a:ext uri="{FF2B5EF4-FFF2-40B4-BE49-F238E27FC236}">
                <a16:creationId xmlns:a16="http://schemas.microsoft.com/office/drawing/2014/main" id="{748CAB55-5FCA-41E1-9083-1610D33A2967}"/>
              </a:ext>
            </a:extLst>
          </p:cNvPr>
          <p:cNvSpPr>
            <a:spLocks noGrp="1"/>
          </p:cNvSpPr>
          <p:nvPr/>
        </p:nvSpPr>
        <p:spPr>
          <a:xfrm>
            <a:off x="7486650" y="2533650"/>
            <a:ext cx="438150" cy="228600"/>
          </a:xfrm>
          <a:prstGeom prst="rightArrow">
            <a:avLst/>
          </a:prstGeom>
          <a:solidFill>
            <a:srgbClr val="59627E"/>
          </a:solidFill>
          <a:ln w="9525">
            <a:solidFill>
              <a:srgbClr val="59627E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9" name="Rectángulo: esquinas redondeadas 28">
            <a:extLst>
              <a:ext uri="{FF2B5EF4-FFF2-40B4-BE49-F238E27FC236}">
                <a16:creationId xmlns:a16="http://schemas.microsoft.com/office/drawing/2014/main" id="{9CD508CE-A53A-46EE-AC22-FA034096BB56}"/>
              </a:ext>
            </a:extLst>
          </p:cNvPr>
          <p:cNvSpPr>
            <a:spLocks noGrp="1"/>
          </p:cNvSpPr>
          <p:nvPr/>
        </p:nvSpPr>
        <p:spPr>
          <a:xfrm>
            <a:off x="685800" y="2114550"/>
            <a:ext cx="1847850" cy="1066800"/>
          </a:xfrm>
          <a:prstGeom prst="roundRect">
            <a:avLst>
              <a:gd name="adj" fmla="val 14286"/>
            </a:avLst>
          </a:prstGeom>
          <a:solidFill>
            <a:srgbClr val="242C49"/>
          </a:solidFill>
          <a:ln w="12383">
            <a:solidFill>
              <a:srgbClr val="F5A14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0" name="Rectángulo 29">
            <a:extLst>
              <a:ext uri="{FF2B5EF4-FFF2-40B4-BE49-F238E27FC236}">
                <a16:creationId xmlns:a16="http://schemas.microsoft.com/office/drawing/2014/main" id="{B9BD58B7-F60E-4285-8D57-53997A65FB6A}"/>
              </a:ext>
            </a:extLst>
          </p:cNvPr>
          <p:cNvSpPr>
            <a:spLocks noGrp="1"/>
          </p:cNvSpPr>
          <p:nvPr/>
        </p:nvSpPr>
        <p:spPr>
          <a:xfrm>
            <a:off x="838200" y="2381250"/>
            <a:ext cx="15430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425" b="1">
                <a:solidFill>
                  <a:srgbClr val="F5A14A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F5A14A"/>
                </a:solidFill>
                <a:latin typeface="Aptos"/>
                <a:ea typeface="Aptos"/>
                <a:cs typeface="Aptos"/>
              </a:rPr>
              <a:t>Z</a:t>
            </a:r>
          </a:p>
          <a:p>
            <a:pPr algn="ctr">
              <a:lnSpc>
                <a:spcPct val="100000"/>
              </a:lnSpc>
              <a:buNone/>
              <a:defRPr sz="1425" b="1">
                <a:solidFill>
                  <a:srgbClr val="F5A14A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F5A14A"/>
                </a:solidFill>
                <a:latin typeface="Aptos"/>
                <a:ea typeface="Aptos"/>
                <a:cs typeface="Aptos"/>
              </a:rPr>
              <a:t>intención</a:t>
            </a:r>
          </a:p>
        </p:txBody>
      </p:sp>
      <p:sp>
        <p:nvSpPr>
          <p:cNvPr id="31" name="Rectángulo: esquinas redondeadas 30">
            <a:extLst>
              <a:ext uri="{FF2B5EF4-FFF2-40B4-BE49-F238E27FC236}">
                <a16:creationId xmlns:a16="http://schemas.microsoft.com/office/drawing/2014/main" id="{B49BA38D-A1E4-442B-802B-8605F42020D6}"/>
              </a:ext>
            </a:extLst>
          </p:cNvPr>
          <p:cNvSpPr>
            <a:spLocks noGrp="1"/>
          </p:cNvSpPr>
          <p:nvPr/>
        </p:nvSpPr>
        <p:spPr>
          <a:xfrm>
            <a:off x="2971800" y="2114550"/>
            <a:ext cx="1847850" cy="1066800"/>
          </a:xfrm>
          <a:prstGeom prst="roundRect">
            <a:avLst>
              <a:gd name="adj" fmla="val 14286"/>
            </a:avLst>
          </a:prstGeom>
          <a:solidFill>
            <a:srgbClr val="242C49"/>
          </a:solidFill>
          <a:ln w="12383">
            <a:solidFill>
              <a:srgbClr val="33D6C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2" name="Rectángulo 31">
            <a:extLst>
              <a:ext uri="{FF2B5EF4-FFF2-40B4-BE49-F238E27FC236}">
                <a16:creationId xmlns:a16="http://schemas.microsoft.com/office/drawing/2014/main" id="{95358312-C342-444E-B2AF-71BCEEC2E528}"/>
              </a:ext>
            </a:extLst>
          </p:cNvPr>
          <p:cNvSpPr>
            <a:spLocks noGrp="1"/>
          </p:cNvSpPr>
          <p:nvPr/>
        </p:nvSpPr>
        <p:spPr>
          <a:xfrm>
            <a:off x="3124200" y="2381250"/>
            <a:ext cx="15430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425" b="1">
                <a:solidFill>
                  <a:srgbClr val="33D6C8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33D6C8"/>
                </a:solidFill>
                <a:latin typeface="Aptos"/>
                <a:ea typeface="Aptos"/>
                <a:cs typeface="Aptos"/>
              </a:rPr>
              <a:t>C</a:t>
            </a:r>
          </a:p>
          <a:p>
            <a:pPr algn="ctr">
              <a:lnSpc>
                <a:spcPct val="100000"/>
              </a:lnSpc>
              <a:buNone/>
              <a:defRPr sz="1425" b="1">
                <a:solidFill>
                  <a:srgbClr val="33D6C8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33D6C8"/>
                </a:solidFill>
                <a:latin typeface="Aptos"/>
                <a:ea typeface="Aptos"/>
                <a:cs typeface="Aptos"/>
              </a:rPr>
              <a:t>contexto</a:t>
            </a:r>
          </a:p>
        </p:txBody>
      </p:sp>
      <p:sp>
        <p:nvSpPr>
          <p:cNvPr id="33" name="Rectángulo: esquinas redondeadas 32">
            <a:extLst>
              <a:ext uri="{FF2B5EF4-FFF2-40B4-BE49-F238E27FC236}">
                <a16:creationId xmlns:a16="http://schemas.microsoft.com/office/drawing/2014/main" id="{614B70DF-D5D5-46E2-AEFF-1E5838769C01}"/>
              </a:ext>
            </a:extLst>
          </p:cNvPr>
          <p:cNvSpPr>
            <a:spLocks noGrp="1"/>
          </p:cNvSpPr>
          <p:nvPr/>
        </p:nvSpPr>
        <p:spPr>
          <a:xfrm>
            <a:off x="5448300" y="2114550"/>
            <a:ext cx="1847850" cy="1066800"/>
          </a:xfrm>
          <a:prstGeom prst="roundRect">
            <a:avLst>
              <a:gd name="adj" fmla="val 14286"/>
            </a:avLst>
          </a:prstGeom>
          <a:solidFill>
            <a:srgbClr val="242C49"/>
          </a:solidFill>
          <a:ln w="12383">
            <a:solidFill>
              <a:srgbClr val="6C63FF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4" name="Rectángulo 33">
            <a:extLst>
              <a:ext uri="{FF2B5EF4-FFF2-40B4-BE49-F238E27FC236}">
                <a16:creationId xmlns:a16="http://schemas.microsoft.com/office/drawing/2014/main" id="{C57DD1BA-95E9-4F00-8F68-6918790A6290}"/>
              </a:ext>
            </a:extLst>
          </p:cNvPr>
          <p:cNvSpPr>
            <a:spLocks noGrp="1"/>
          </p:cNvSpPr>
          <p:nvPr/>
        </p:nvSpPr>
        <p:spPr>
          <a:xfrm>
            <a:off x="5600700" y="2381250"/>
            <a:ext cx="15430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425" b="1">
                <a:solidFill>
                  <a:srgbClr val="6C63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6C63FF"/>
                </a:solidFill>
                <a:latin typeface="Aptos"/>
                <a:ea typeface="Aptos"/>
                <a:cs typeface="Aptos"/>
              </a:rPr>
              <a:t>R</a:t>
            </a:r>
          </a:p>
          <a:p>
            <a:pPr algn="ctr">
              <a:lnSpc>
                <a:spcPct val="100000"/>
              </a:lnSpc>
              <a:buNone/>
              <a:defRPr sz="1425" b="1">
                <a:solidFill>
                  <a:srgbClr val="6C63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6C63FF"/>
                </a:solidFill>
                <a:latin typeface="Aptos"/>
                <a:ea typeface="Aptos"/>
                <a:cs typeface="Aptos"/>
              </a:rPr>
              <a:t>razonamiento</a:t>
            </a:r>
          </a:p>
        </p:txBody>
      </p:sp>
      <p:sp>
        <p:nvSpPr>
          <p:cNvPr id="35" name="Rectángulo: esquinas redondeadas 34">
            <a:extLst>
              <a:ext uri="{FF2B5EF4-FFF2-40B4-BE49-F238E27FC236}">
                <a16:creationId xmlns:a16="http://schemas.microsoft.com/office/drawing/2014/main" id="{6EF5E0C6-CE31-4429-9030-7E680D44922C}"/>
              </a:ext>
            </a:extLst>
          </p:cNvPr>
          <p:cNvSpPr>
            <a:spLocks noGrp="1"/>
          </p:cNvSpPr>
          <p:nvPr/>
        </p:nvSpPr>
        <p:spPr>
          <a:xfrm>
            <a:off x="7924800" y="2114550"/>
            <a:ext cx="1847850" cy="1066800"/>
          </a:xfrm>
          <a:prstGeom prst="roundRect">
            <a:avLst>
              <a:gd name="adj" fmla="val 14286"/>
            </a:avLst>
          </a:prstGeom>
          <a:solidFill>
            <a:srgbClr val="242C49"/>
          </a:solidFill>
          <a:ln w="12383">
            <a:solidFill>
              <a:srgbClr val="49C98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6" name="Rectángulo 35">
            <a:extLst>
              <a:ext uri="{FF2B5EF4-FFF2-40B4-BE49-F238E27FC236}">
                <a16:creationId xmlns:a16="http://schemas.microsoft.com/office/drawing/2014/main" id="{29572FB7-38C2-4F4C-A4C5-11875D0CFFA5}"/>
              </a:ext>
            </a:extLst>
          </p:cNvPr>
          <p:cNvSpPr>
            <a:spLocks noGrp="1"/>
          </p:cNvSpPr>
          <p:nvPr/>
        </p:nvSpPr>
        <p:spPr>
          <a:xfrm>
            <a:off x="8077200" y="2381250"/>
            <a:ext cx="15430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425" b="1">
                <a:solidFill>
                  <a:srgbClr val="49C986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49C986"/>
                </a:solidFill>
                <a:latin typeface="Aptos"/>
                <a:ea typeface="Aptos"/>
                <a:cs typeface="Aptos"/>
              </a:rPr>
              <a:t>Y</a:t>
            </a:r>
          </a:p>
          <a:p>
            <a:pPr algn="ctr">
              <a:lnSpc>
                <a:spcPct val="100000"/>
              </a:lnSpc>
              <a:buNone/>
              <a:defRPr sz="1425" b="1">
                <a:solidFill>
                  <a:srgbClr val="49C986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49C986"/>
                </a:solidFill>
                <a:latin typeface="Aptos"/>
                <a:ea typeface="Aptos"/>
                <a:cs typeface="Aptos"/>
              </a:rPr>
              <a:t>respuesta</a:t>
            </a:r>
          </a:p>
        </p:txBody>
      </p:sp>
      <p:sp>
        <p:nvSpPr>
          <p:cNvPr id="37" name="Rectángulo 36">
            <a:extLst>
              <a:ext uri="{FF2B5EF4-FFF2-40B4-BE49-F238E27FC236}">
                <a16:creationId xmlns:a16="http://schemas.microsoft.com/office/drawing/2014/main" id="{E5B335DF-A005-49BE-83FF-74A42B408A4E}"/>
              </a:ext>
            </a:extLst>
          </p:cNvPr>
          <p:cNvSpPr>
            <a:spLocks noGrp="1"/>
          </p:cNvSpPr>
          <p:nvPr/>
        </p:nvSpPr>
        <p:spPr>
          <a:xfrm>
            <a:off x="8439150" y="3333750"/>
            <a:ext cx="30670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r">
              <a:lnSpc>
                <a:spcPct val="100000"/>
              </a:lnSpc>
              <a:buNone/>
              <a:defRPr sz="900" b="0">
                <a:solidFill>
                  <a:srgbClr val="C9D1E6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C9D1E6"/>
                </a:solidFill>
                <a:latin typeface="Aptos"/>
                <a:ea typeface="Aptos"/>
                <a:cs typeface="Aptos"/>
              </a:rPr>
              <a:t>Supuesto: cadena de Markov condicionada en X</a:t>
            </a:r>
          </a:p>
        </p:txBody>
      </p:sp>
      <p:sp>
        <p:nvSpPr>
          <p:cNvPr id="38" name="Rectángulo: esquinas redondeadas 37">
            <a:extLst>
              <a:ext uri="{FF2B5EF4-FFF2-40B4-BE49-F238E27FC236}">
                <a16:creationId xmlns:a16="http://schemas.microsoft.com/office/drawing/2014/main" id="{3B10A93A-B32A-4F66-B123-A587804B98A2}"/>
              </a:ext>
            </a:extLst>
          </p:cNvPr>
          <p:cNvSpPr>
            <a:spLocks noGrp="1"/>
          </p:cNvSpPr>
          <p:nvPr/>
        </p:nvSpPr>
        <p:spPr>
          <a:xfrm>
            <a:off x="2381250" y="3714750"/>
            <a:ext cx="7429500" cy="723900"/>
          </a:xfrm>
          <a:prstGeom prst="roundRect">
            <a:avLst>
              <a:gd name="adj" fmla="val 15789"/>
            </a:avLst>
          </a:prstGeom>
          <a:solidFill>
            <a:srgbClr val="18263C"/>
          </a:solidFill>
          <a:ln w="9525">
            <a:solidFill>
              <a:srgbClr val="33D6C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pic>
        <p:nvPicPr>
          <p:cNvPr id="64" name="Imagen 63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2680368" y="3810000"/>
            <a:ext cx="6831263" cy="533400"/>
          </a:xfrm>
          <a:prstGeom prst="rect">
            <a:avLst/>
          </a:prstGeom>
        </p:spPr>
      </p:pic>
      <p:sp>
        <p:nvSpPr>
          <p:cNvPr id="40" name="Rectángulo: esquinas redondeadas 39">
            <a:extLst>
              <a:ext uri="{FF2B5EF4-FFF2-40B4-BE49-F238E27FC236}">
                <a16:creationId xmlns:a16="http://schemas.microsoft.com/office/drawing/2014/main" id="{72976AB8-D2B1-4D98-BF9B-17F0AA23A0A7}"/>
              </a:ext>
            </a:extLst>
          </p:cNvPr>
          <p:cNvSpPr>
            <a:spLocks noGrp="1"/>
          </p:cNvSpPr>
          <p:nvPr/>
        </p:nvSpPr>
        <p:spPr>
          <a:xfrm>
            <a:off x="685800" y="4819650"/>
            <a:ext cx="5048250" cy="1200150"/>
          </a:xfrm>
          <a:prstGeom prst="roundRect">
            <a:avLst>
              <a:gd name="adj" fmla="val 12698"/>
            </a:avLst>
          </a:prstGeom>
          <a:solidFill>
            <a:srgbClr val="202846"/>
          </a:solidFill>
          <a:ln w="11430">
            <a:solidFill>
              <a:srgbClr val="FF647C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1" name="Rectángulo 40">
            <a:extLst>
              <a:ext uri="{FF2B5EF4-FFF2-40B4-BE49-F238E27FC236}">
                <a16:creationId xmlns:a16="http://schemas.microsoft.com/office/drawing/2014/main" id="{BBCFB6BC-5270-4F27-AAC2-B936680EBEAB}"/>
              </a:ext>
            </a:extLst>
          </p:cNvPr>
          <p:cNvSpPr>
            <a:spLocks noGrp="1"/>
          </p:cNvSpPr>
          <p:nvPr/>
        </p:nvSpPr>
        <p:spPr>
          <a:xfrm>
            <a:off x="914400" y="4953000"/>
            <a:ext cx="45910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125" b="1">
                <a:solidFill>
                  <a:srgbClr val="FF647C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F647C"/>
                </a:solidFill>
                <a:latin typeface="Aptos"/>
                <a:ea typeface="Aptos"/>
                <a:cs typeface="Aptos"/>
              </a:rPr>
              <a:t>FANO · ERROR AL INFERIR Z</a:t>
            </a:r>
          </a:p>
        </p:txBody>
      </p:sp>
      <p:pic>
        <p:nvPicPr>
          <p:cNvPr id="67" name="Imagen 66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2119610" y="5276850"/>
            <a:ext cx="2180630" cy="628650"/>
          </a:xfrm>
          <a:prstGeom prst="rect">
            <a:avLst/>
          </a:prstGeom>
        </p:spPr>
      </p:pic>
      <p:sp>
        <p:nvSpPr>
          <p:cNvPr id="43" name="Rectángulo: esquinas redondeadas 42">
            <a:extLst>
              <a:ext uri="{FF2B5EF4-FFF2-40B4-BE49-F238E27FC236}">
                <a16:creationId xmlns:a16="http://schemas.microsoft.com/office/drawing/2014/main" id="{1988C713-B9C9-4434-AF2E-2D16A339D61D}"/>
              </a:ext>
            </a:extLst>
          </p:cNvPr>
          <p:cNvSpPr>
            <a:spLocks noGrp="1"/>
          </p:cNvSpPr>
          <p:nvPr/>
        </p:nvSpPr>
        <p:spPr>
          <a:xfrm>
            <a:off x="6191250" y="4819650"/>
            <a:ext cx="5314950" cy="1200150"/>
          </a:xfrm>
          <a:prstGeom prst="roundRect">
            <a:avLst>
              <a:gd name="adj" fmla="val 12698"/>
            </a:avLst>
          </a:prstGeom>
          <a:solidFill>
            <a:srgbClr val="202846"/>
          </a:solidFill>
          <a:ln w="11430">
            <a:solidFill>
              <a:srgbClr val="33D6C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4" name="Rectángulo 43">
            <a:extLst>
              <a:ext uri="{FF2B5EF4-FFF2-40B4-BE49-F238E27FC236}">
                <a16:creationId xmlns:a16="http://schemas.microsoft.com/office/drawing/2014/main" id="{E50FB504-8E4A-425C-90E4-E51200A331EC}"/>
              </a:ext>
            </a:extLst>
          </p:cNvPr>
          <p:cNvSpPr>
            <a:spLocks noGrp="1"/>
          </p:cNvSpPr>
          <p:nvPr/>
        </p:nvSpPr>
        <p:spPr>
          <a:xfrm>
            <a:off x="6419850" y="5010150"/>
            <a:ext cx="4857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125" b="1">
                <a:solidFill>
                  <a:srgbClr val="33D6C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3D6C8"/>
                </a:solidFill>
                <a:latin typeface="Aptos"/>
                <a:ea typeface="Aptos"/>
                <a:cs typeface="Aptos"/>
              </a:rPr>
              <a:t>PREGUNTAR AÑADE UNA OBSERVACIÓN</a:t>
            </a:r>
          </a:p>
        </p:txBody>
      </p:sp>
      <p:pic>
        <p:nvPicPr>
          <p:cNvPr id="70" name="Imagen 69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6457950" y="5438236"/>
            <a:ext cx="4781550" cy="3439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114121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ángulo 17">
            <a:extLst>
              <a:ext uri="{FF2B5EF4-FFF2-40B4-BE49-F238E27FC236}">
                <a16:creationId xmlns:a16="http://schemas.microsoft.com/office/drawing/2014/main" id="{C08781BA-B55E-4355-B77D-E6B66B00FD5F}"/>
              </a:ext>
            </a:extLst>
          </p:cNvPr>
          <p:cNvSpPr>
            <a:spLocks noGrp="1"/>
          </p:cNvSpPr>
          <p:nvPr/>
        </p:nvSpPr>
        <p:spPr>
          <a:xfrm>
            <a:off x="685800" y="495300"/>
            <a:ext cx="4476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050" b="1">
                <a:solidFill>
                  <a:srgbClr val="6C63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6C63FF"/>
                </a:solidFill>
                <a:latin typeface="Aptos"/>
                <a:ea typeface="Aptos"/>
                <a:cs typeface="Aptos"/>
              </a:rPr>
              <a:t>A8 / TRAZABILIDAD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42926F09-6483-44B3-98BE-08A00618F179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10875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rmAutofit/>
          </a:bodyPr>
          <a:lstStyle/>
          <a:p>
            <a:pPr algn="l">
              <a:lnSpc>
                <a:spcPct val="92000"/>
              </a:lnSpc>
              <a:buNone/>
              <a:defRPr sz="2625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625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Cada conclusión se conecta con una fuente o una derivación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D6E2C8C7-835F-426C-A5AA-57C08E6A324F}"/>
              </a:ext>
            </a:extLst>
          </p:cNvPr>
          <p:cNvSpPr>
            <a:spLocks noGrp="1"/>
          </p:cNvSpPr>
          <p:nvPr/>
        </p:nvSpPr>
        <p:spPr>
          <a:xfrm>
            <a:off x="685800" y="1562100"/>
            <a:ext cx="10820400" cy="9525"/>
          </a:xfrm>
          <a:prstGeom prst="rect">
            <a:avLst/>
          </a:prstGeom>
          <a:solidFill>
            <a:srgbClr val="D9DEEA"/>
          </a:solidFill>
          <a:ln w="0">
            <a:solidFill>
              <a:srgbClr val="D9DE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2BCDCD8F-09E9-49AB-899A-C555FF48ECF2}"/>
              </a:ext>
            </a:extLst>
          </p:cNvPr>
          <p:cNvSpPr>
            <a:spLocks noGrp="1"/>
          </p:cNvSpPr>
          <p:nvPr/>
        </p:nvSpPr>
        <p:spPr>
          <a:xfrm>
            <a:off x="685800" y="6486525"/>
            <a:ext cx="9906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750" b="0">
                <a:solidFill>
                  <a:srgbClr val="8792AA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8792AA"/>
                </a:solidFill>
                <a:latin typeface="Aptos"/>
                <a:ea typeface="Aptos"/>
                <a:cs typeface="Aptos"/>
              </a:rPr>
              <a:t>Matriz de trazabilidad de la presentación</a:t>
            </a:r>
          </a:p>
        </p:txBody>
      </p:sp>
      <p:sp>
        <p:nvSpPr>
          <p:cNvPr id="17" name="Rectángulo 16">
            <a:extLst>
              <a:ext uri="{FF2B5EF4-FFF2-40B4-BE49-F238E27FC236}">
                <a16:creationId xmlns:a16="http://schemas.microsoft.com/office/drawing/2014/main" id="{F82E8C3B-AE50-4BA6-8033-4061B6BDE3B0}"/>
              </a:ext>
            </a:extLst>
          </p:cNvPr>
          <p:cNvSpPr>
            <a:spLocks noGrp="1"/>
          </p:cNvSpPr>
          <p:nvPr/>
        </p:nvSpPr>
        <p:spPr>
          <a:xfrm>
            <a:off x="11087100" y="6486525"/>
            <a:ext cx="4191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rmAutofit/>
          </a:bodyPr>
          <a:lstStyle/>
          <a:p>
            <a:pPr algn="r">
              <a:lnSpc>
                <a:spcPct val="100000"/>
              </a:lnSpc>
              <a:buNone/>
              <a:defRPr sz="825" b="1">
                <a:solidFill>
                  <a:srgbClr val="7B879F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7B879F"/>
                </a:solidFill>
                <a:latin typeface="Aptos"/>
                <a:ea typeface="Aptos"/>
                <a:cs typeface="Aptos"/>
              </a:rPr>
              <a:t>36</a:t>
            </a:r>
          </a:p>
        </p:txBody>
      </p:sp>
      <p:sp>
        <p:nvSpPr>
          <p:cNvPr id="19" name="Rectángulo: esquinas redondeadas 18">
            <a:extLst>
              <a:ext uri="{FF2B5EF4-FFF2-40B4-BE49-F238E27FC236}">
                <a16:creationId xmlns:a16="http://schemas.microsoft.com/office/drawing/2014/main" id="{E5A76C9D-31F5-45F0-B2E9-F35F056896AE}"/>
              </a:ext>
            </a:extLst>
          </p:cNvPr>
          <p:cNvSpPr>
            <a:spLocks noGrp="1"/>
          </p:cNvSpPr>
          <p:nvPr/>
        </p:nvSpPr>
        <p:spPr>
          <a:xfrm>
            <a:off x="685800" y="1828800"/>
            <a:ext cx="5257800" cy="3981450"/>
          </a:xfrm>
          <a:prstGeom prst="roundRect">
            <a:avLst>
              <a:gd name="adj" fmla="val 3828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0" name="Rectángulo 19">
            <a:extLst>
              <a:ext uri="{FF2B5EF4-FFF2-40B4-BE49-F238E27FC236}">
                <a16:creationId xmlns:a16="http://schemas.microsoft.com/office/drawing/2014/main" id="{68FB33B1-FF97-45CF-B8F1-202F2D4E0E3B}"/>
              </a:ext>
            </a:extLst>
          </p:cNvPr>
          <p:cNvSpPr>
            <a:spLocks noGrp="1"/>
          </p:cNvSpPr>
          <p:nvPr/>
        </p:nvSpPr>
        <p:spPr>
          <a:xfrm>
            <a:off x="933450" y="2057400"/>
            <a:ext cx="4762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350" b="1">
                <a:solidFill>
                  <a:srgbClr val="6C63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6C63FF"/>
                </a:solidFill>
                <a:latin typeface="Aptos"/>
                <a:ea typeface="Aptos"/>
                <a:cs typeface="Aptos"/>
              </a:rPr>
              <a:t>BASE CITADA</a:t>
            </a:r>
          </a:p>
        </p:txBody>
      </p:sp>
      <p:sp>
        <p:nvSpPr>
          <p:cNvPr id="21" name="Rectángulo 20">
            <a:extLst>
              <a:ext uri="{FF2B5EF4-FFF2-40B4-BE49-F238E27FC236}">
                <a16:creationId xmlns:a16="http://schemas.microsoft.com/office/drawing/2014/main" id="{9A8E611F-34D5-4CF6-A4BE-7A854507D9BD}"/>
              </a:ext>
            </a:extLst>
          </p:cNvPr>
          <p:cNvSpPr>
            <a:spLocks noGrp="1"/>
          </p:cNvSpPr>
          <p:nvPr/>
        </p:nvSpPr>
        <p:spPr>
          <a:xfrm>
            <a:off x="952500" y="2609850"/>
            <a:ext cx="1809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200" b="1">
                <a:solidFill>
                  <a:srgbClr val="6C63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6C63FF"/>
                </a:solidFill>
                <a:latin typeface="Aptos"/>
                <a:ea typeface="Aptos"/>
                <a:cs typeface="Aptos"/>
              </a:rPr>
              <a:t>Survey · Ec. 3–4</a:t>
            </a:r>
          </a:p>
        </p:txBody>
      </p:sp>
      <p:sp>
        <p:nvSpPr>
          <p:cNvPr id="22" name="Rectángulo 21">
            <a:extLst>
              <a:ext uri="{FF2B5EF4-FFF2-40B4-BE49-F238E27FC236}">
                <a16:creationId xmlns:a16="http://schemas.microsoft.com/office/drawing/2014/main" id="{7D539990-F637-43D9-83E3-5F58AC8A6ABF}"/>
              </a:ext>
            </a:extLst>
          </p:cNvPr>
          <p:cNvSpPr>
            <a:spLocks noGrp="1"/>
          </p:cNvSpPr>
          <p:nvPr/>
        </p:nvSpPr>
        <p:spPr>
          <a:xfrm>
            <a:off x="2809875" y="2609850"/>
            <a:ext cx="28575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12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calidad bajo límite + información mutua</a:t>
            </a:r>
          </a:p>
        </p:txBody>
      </p:sp>
      <p:sp>
        <p:nvSpPr>
          <p:cNvPr id="23" name="Rectángulo 22">
            <a:extLst>
              <a:ext uri="{FF2B5EF4-FFF2-40B4-BE49-F238E27FC236}">
                <a16:creationId xmlns:a16="http://schemas.microsoft.com/office/drawing/2014/main" id="{7EB25B8F-8B61-4E86-9F30-23449E1BA15A}"/>
              </a:ext>
            </a:extLst>
          </p:cNvPr>
          <p:cNvSpPr>
            <a:spLocks noGrp="1"/>
          </p:cNvSpPr>
          <p:nvPr/>
        </p:nvSpPr>
        <p:spPr>
          <a:xfrm>
            <a:off x="952500" y="3190875"/>
            <a:ext cx="1809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200" b="1">
                <a:solidFill>
                  <a:srgbClr val="33D6C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3D6C8"/>
                </a:solidFill>
                <a:latin typeface="Aptos"/>
                <a:ea typeface="Aptos"/>
                <a:cs typeface="Aptos"/>
              </a:rPr>
              <a:t>Nagle et al. 2024</a:t>
            </a:r>
          </a:p>
        </p:txBody>
      </p:sp>
      <p:sp>
        <p:nvSpPr>
          <p:cNvPr id="24" name="Rectángulo 23">
            <a:extLst>
              <a:ext uri="{FF2B5EF4-FFF2-40B4-BE49-F238E27FC236}">
                <a16:creationId xmlns:a16="http://schemas.microsoft.com/office/drawing/2014/main" id="{777BD3FC-A692-46E1-AA00-0313C4ED509E}"/>
              </a:ext>
            </a:extLst>
          </p:cNvPr>
          <p:cNvSpPr>
            <a:spLocks noGrp="1"/>
          </p:cNvSpPr>
          <p:nvPr/>
        </p:nvSpPr>
        <p:spPr>
          <a:xfrm>
            <a:off x="2809875" y="3190875"/>
            <a:ext cx="28575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12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frontera tasa–distorsión</a:t>
            </a:r>
          </a:p>
        </p:txBody>
      </p:sp>
      <p:sp>
        <p:nvSpPr>
          <p:cNvPr id="25" name="Rectángulo 24">
            <a:extLst>
              <a:ext uri="{FF2B5EF4-FFF2-40B4-BE49-F238E27FC236}">
                <a16:creationId xmlns:a16="http://schemas.microsoft.com/office/drawing/2014/main" id="{268DC637-C53D-4C40-AD28-75CFF0A5FDE3}"/>
              </a:ext>
            </a:extLst>
          </p:cNvPr>
          <p:cNvSpPr>
            <a:spLocks noGrp="1"/>
          </p:cNvSpPr>
          <p:nvPr/>
        </p:nvSpPr>
        <p:spPr>
          <a:xfrm>
            <a:off x="952500" y="3771900"/>
            <a:ext cx="1809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200" b="1">
                <a:solidFill>
                  <a:srgbClr val="6C63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6C63FF"/>
                </a:solidFill>
                <a:latin typeface="Aptos"/>
                <a:ea typeface="Aptos"/>
                <a:cs typeface="Aptos"/>
              </a:rPr>
              <a:t>Lewis et al. 2020</a:t>
            </a:r>
          </a:p>
        </p:txBody>
      </p:sp>
      <p:sp>
        <p:nvSpPr>
          <p:cNvPr id="26" name="Rectángulo 25">
            <a:extLst>
              <a:ext uri="{FF2B5EF4-FFF2-40B4-BE49-F238E27FC236}">
                <a16:creationId xmlns:a16="http://schemas.microsoft.com/office/drawing/2014/main" id="{1BA7882B-6805-42C3-BF5A-F3004AC6E112}"/>
              </a:ext>
            </a:extLst>
          </p:cNvPr>
          <p:cNvSpPr>
            <a:spLocks noGrp="1"/>
          </p:cNvSpPr>
          <p:nvPr/>
        </p:nvSpPr>
        <p:spPr>
          <a:xfrm>
            <a:off x="2809875" y="3771900"/>
            <a:ext cx="28575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12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marginalización RAG</a:t>
            </a:r>
          </a:p>
        </p:txBody>
      </p:sp>
      <p:sp>
        <p:nvSpPr>
          <p:cNvPr id="27" name="Rectángulo 26">
            <a:extLst>
              <a:ext uri="{FF2B5EF4-FFF2-40B4-BE49-F238E27FC236}">
                <a16:creationId xmlns:a16="http://schemas.microsoft.com/office/drawing/2014/main" id="{DC0C4A15-EEAE-4E29-A32B-7AA82A2C4CD1}"/>
              </a:ext>
            </a:extLst>
          </p:cNvPr>
          <p:cNvSpPr>
            <a:spLocks noGrp="1"/>
          </p:cNvSpPr>
          <p:nvPr/>
        </p:nvSpPr>
        <p:spPr>
          <a:xfrm>
            <a:off x="952500" y="4352925"/>
            <a:ext cx="1809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200" b="1">
                <a:solidFill>
                  <a:srgbClr val="33D6C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3D6C8"/>
                </a:solidFill>
                <a:latin typeface="Aptos"/>
                <a:ea typeface="Aptos"/>
                <a:cs typeface="Aptos"/>
              </a:rPr>
              <a:t>Zhang–Choi / Deits</a:t>
            </a:r>
          </a:p>
        </p:txBody>
      </p:sp>
      <p:sp>
        <p:nvSpPr>
          <p:cNvPr id="28" name="Rectángulo 27">
            <a:extLst>
              <a:ext uri="{FF2B5EF4-FFF2-40B4-BE49-F238E27FC236}">
                <a16:creationId xmlns:a16="http://schemas.microsoft.com/office/drawing/2014/main" id="{CE7B9274-1C32-41D5-8954-C4467BB5F108}"/>
              </a:ext>
            </a:extLst>
          </p:cNvPr>
          <p:cNvSpPr>
            <a:spLocks noGrp="1"/>
          </p:cNvSpPr>
          <p:nvPr/>
        </p:nvSpPr>
        <p:spPr>
          <a:xfrm>
            <a:off x="2809875" y="4352925"/>
            <a:ext cx="28575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12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entropía de intención y preguntas</a:t>
            </a:r>
          </a:p>
        </p:txBody>
      </p:sp>
      <p:sp>
        <p:nvSpPr>
          <p:cNvPr id="29" name="Rectángulo 28">
            <a:extLst>
              <a:ext uri="{FF2B5EF4-FFF2-40B4-BE49-F238E27FC236}">
                <a16:creationId xmlns:a16="http://schemas.microsoft.com/office/drawing/2014/main" id="{A907F44A-6A52-4B2C-9D7B-041EA364099E}"/>
              </a:ext>
            </a:extLst>
          </p:cNvPr>
          <p:cNvSpPr>
            <a:spLocks noGrp="1"/>
          </p:cNvSpPr>
          <p:nvPr/>
        </p:nvSpPr>
        <p:spPr>
          <a:xfrm>
            <a:off x="952500" y="4933950"/>
            <a:ext cx="1809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200" b="1">
                <a:solidFill>
                  <a:srgbClr val="6C63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6C63FF"/>
                </a:solidFill>
                <a:latin typeface="Aptos"/>
                <a:ea typeface="Aptos"/>
                <a:cs typeface="Aptos"/>
              </a:rPr>
              <a:t>Su–Cardie 2026</a:t>
            </a:r>
          </a:p>
        </p:txBody>
      </p:sp>
      <p:sp>
        <p:nvSpPr>
          <p:cNvPr id="30" name="Rectángulo 29">
            <a:extLst>
              <a:ext uri="{FF2B5EF4-FFF2-40B4-BE49-F238E27FC236}">
                <a16:creationId xmlns:a16="http://schemas.microsoft.com/office/drawing/2014/main" id="{CC7FBFB9-FD17-456C-AAA6-BD1911B790B9}"/>
              </a:ext>
            </a:extLst>
          </p:cNvPr>
          <p:cNvSpPr>
            <a:spLocks noGrp="1"/>
          </p:cNvSpPr>
          <p:nvPr/>
        </p:nvSpPr>
        <p:spPr>
          <a:xfrm>
            <a:off x="2809875" y="4933950"/>
            <a:ext cx="28575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12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evidencia empírica, rotulada preprint</a:t>
            </a:r>
          </a:p>
        </p:txBody>
      </p:sp>
      <p:sp>
        <p:nvSpPr>
          <p:cNvPr id="31" name="Rectángulo: esquinas redondeadas 30">
            <a:extLst>
              <a:ext uri="{FF2B5EF4-FFF2-40B4-BE49-F238E27FC236}">
                <a16:creationId xmlns:a16="http://schemas.microsoft.com/office/drawing/2014/main" id="{F5B21B70-58B3-45C8-8EFA-A6C8E633C37F}"/>
              </a:ext>
            </a:extLst>
          </p:cNvPr>
          <p:cNvSpPr>
            <a:spLocks noGrp="1"/>
          </p:cNvSpPr>
          <p:nvPr/>
        </p:nvSpPr>
        <p:spPr>
          <a:xfrm>
            <a:off x="6248400" y="1828800"/>
            <a:ext cx="5257800" cy="3981450"/>
          </a:xfrm>
          <a:prstGeom prst="roundRect">
            <a:avLst>
              <a:gd name="adj" fmla="val 3828"/>
            </a:avLst>
          </a:prstGeom>
          <a:solidFill>
            <a:srgbClr val="FFF3E6"/>
          </a:solidFill>
          <a:ln w="11430">
            <a:solidFill>
              <a:srgbClr val="F5A14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2" name="Rectángulo 31">
            <a:extLst>
              <a:ext uri="{FF2B5EF4-FFF2-40B4-BE49-F238E27FC236}">
                <a16:creationId xmlns:a16="http://schemas.microsoft.com/office/drawing/2014/main" id="{0C35BD0B-DB0D-4092-BFB7-548FCDDF6C49}"/>
              </a:ext>
            </a:extLst>
          </p:cNvPr>
          <p:cNvSpPr>
            <a:spLocks noGrp="1"/>
          </p:cNvSpPr>
          <p:nvPr/>
        </p:nvSpPr>
        <p:spPr>
          <a:xfrm>
            <a:off x="6496050" y="2057400"/>
            <a:ext cx="4762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350" b="1">
                <a:solidFill>
                  <a:srgbClr val="F5A14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5A14A"/>
                </a:solidFill>
                <a:latin typeface="Aptos"/>
                <a:ea typeface="Aptos"/>
                <a:cs typeface="Aptos"/>
              </a:rPr>
              <a:t>DERIVACIONES DE LA PRESENTACIÓN</a:t>
            </a:r>
          </a:p>
        </p:txBody>
      </p:sp>
      <p:sp>
        <p:nvSpPr>
          <p:cNvPr id="33" name="Rectángulo: esquinas redondeadas 32">
            <a:extLst>
              <a:ext uri="{FF2B5EF4-FFF2-40B4-BE49-F238E27FC236}">
                <a16:creationId xmlns:a16="http://schemas.microsoft.com/office/drawing/2014/main" id="{A5F79F69-2A3C-45DA-BE2B-983078E31711}"/>
              </a:ext>
            </a:extLst>
          </p:cNvPr>
          <p:cNvSpPr>
            <a:spLocks noGrp="1"/>
          </p:cNvSpPr>
          <p:nvPr/>
        </p:nvSpPr>
        <p:spPr>
          <a:xfrm>
            <a:off x="6496050" y="2609850"/>
            <a:ext cx="590550" cy="2857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5A14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4" name="Rectángulo 33">
            <a:extLst>
              <a:ext uri="{FF2B5EF4-FFF2-40B4-BE49-F238E27FC236}">
                <a16:creationId xmlns:a16="http://schemas.microsoft.com/office/drawing/2014/main" id="{0239E0AA-2355-492E-A84C-17E3DCE610F0}"/>
              </a:ext>
            </a:extLst>
          </p:cNvPr>
          <p:cNvSpPr>
            <a:spLocks noGrp="1"/>
          </p:cNvSpPr>
          <p:nvPr/>
        </p:nvSpPr>
        <p:spPr>
          <a:xfrm>
            <a:off x="6553200" y="2647950"/>
            <a:ext cx="476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900" b="1">
                <a:solidFill>
                  <a:srgbClr val="F5A14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5A14A"/>
                </a:solidFill>
                <a:latin typeface="Aptos"/>
                <a:ea typeface="Aptos"/>
                <a:cs typeface="Aptos"/>
              </a:rPr>
              <a:t>A1</a:t>
            </a:r>
          </a:p>
        </p:txBody>
      </p:sp>
      <p:sp>
        <p:nvSpPr>
          <p:cNvPr id="35" name="Rectángulo 34">
            <a:extLst>
              <a:ext uri="{FF2B5EF4-FFF2-40B4-BE49-F238E27FC236}">
                <a16:creationId xmlns:a16="http://schemas.microsoft.com/office/drawing/2014/main" id="{D4DE6469-2F20-4D3B-9DCC-664887A159D7}"/>
              </a:ext>
            </a:extLst>
          </p:cNvPr>
          <p:cNvSpPr>
            <a:spLocks noGrp="1"/>
          </p:cNvSpPr>
          <p:nvPr/>
        </p:nvSpPr>
        <p:spPr>
          <a:xfrm>
            <a:off x="7258050" y="2628900"/>
            <a:ext cx="3905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odds posteriores = prior × factor de Bayes</a:t>
            </a:r>
          </a:p>
        </p:txBody>
      </p:sp>
      <p:sp>
        <p:nvSpPr>
          <p:cNvPr id="36" name="Rectángulo: esquinas redondeadas 35">
            <a:extLst>
              <a:ext uri="{FF2B5EF4-FFF2-40B4-BE49-F238E27FC236}">
                <a16:creationId xmlns:a16="http://schemas.microsoft.com/office/drawing/2014/main" id="{39EC94E3-EC27-47C1-858A-3B26BAD3F935}"/>
              </a:ext>
            </a:extLst>
          </p:cNvPr>
          <p:cNvSpPr>
            <a:spLocks noGrp="1"/>
          </p:cNvSpPr>
          <p:nvPr/>
        </p:nvSpPr>
        <p:spPr>
          <a:xfrm>
            <a:off x="6496050" y="3190875"/>
            <a:ext cx="590550" cy="2857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5A14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7" name="Rectángulo 36">
            <a:extLst>
              <a:ext uri="{FF2B5EF4-FFF2-40B4-BE49-F238E27FC236}">
                <a16:creationId xmlns:a16="http://schemas.microsoft.com/office/drawing/2014/main" id="{EEC71761-6E5D-431E-BD63-EE577E5391C0}"/>
              </a:ext>
            </a:extLst>
          </p:cNvPr>
          <p:cNvSpPr>
            <a:spLocks noGrp="1"/>
          </p:cNvSpPr>
          <p:nvPr/>
        </p:nvSpPr>
        <p:spPr>
          <a:xfrm>
            <a:off x="6553200" y="3228975"/>
            <a:ext cx="476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900" b="1">
                <a:solidFill>
                  <a:srgbClr val="F5A14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5A14A"/>
                </a:solidFill>
                <a:latin typeface="Aptos"/>
                <a:ea typeface="Aptos"/>
                <a:cs typeface="Aptos"/>
              </a:rPr>
              <a:t>A2</a:t>
            </a:r>
          </a:p>
        </p:txBody>
      </p:sp>
      <p:sp>
        <p:nvSpPr>
          <p:cNvPr id="38" name="Rectángulo 37">
            <a:extLst>
              <a:ext uri="{FF2B5EF4-FFF2-40B4-BE49-F238E27FC236}">
                <a16:creationId xmlns:a16="http://schemas.microsoft.com/office/drawing/2014/main" id="{4EF01285-E5DF-442E-BB71-2BA80140D1C0}"/>
              </a:ext>
            </a:extLst>
          </p:cNvPr>
          <p:cNvSpPr>
            <a:spLocks noGrp="1"/>
          </p:cNvSpPr>
          <p:nvPr/>
        </p:nvSpPr>
        <p:spPr>
          <a:xfrm>
            <a:off x="7258050" y="3209925"/>
            <a:ext cx="3905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información = reducción media de entropía</a:t>
            </a:r>
          </a:p>
        </p:txBody>
      </p:sp>
      <p:sp>
        <p:nvSpPr>
          <p:cNvPr id="39" name="Rectángulo: esquinas redondeadas 38">
            <a:extLst>
              <a:ext uri="{FF2B5EF4-FFF2-40B4-BE49-F238E27FC236}">
                <a16:creationId xmlns:a16="http://schemas.microsoft.com/office/drawing/2014/main" id="{BB5670BA-B4B3-4602-B7BD-238FD8137193}"/>
              </a:ext>
            </a:extLst>
          </p:cNvPr>
          <p:cNvSpPr>
            <a:spLocks noGrp="1"/>
          </p:cNvSpPr>
          <p:nvPr/>
        </p:nvSpPr>
        <p:spPr>
          <a:xfrm>
            <a:off x="6496050" y="3771900"/>
            <a:ext cx="590550" cy="2857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5A14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0" name="Rectángulo 39">
            <a:extLst>
              <a:ext uri="{FF2B5EF4-FFF2-40B4-BE49-F238E27FC236}">
                <a16:creationId xmlns:a16="http://schemas.microsoft.com/office/drawing/2014/main" id="{E2BEB5C4-004C-454D-B6F1-1298129C52D4}"/>
              </a:ext>
            </a:extLst>
          </p:cNvPr>
          <p:cNvSpPr>
            <a:spLocks noGrp="1"/>
          </p:cNvSpPr>
          <p:nvPr/>
        </p:nvSpPr>
        <p:spPr>
          <a:xfrm>
            <a:off x="6553200" y="3810000"/>
            <a:ext cx="476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900" b="1">
                <a:solidFill>
                  <a:srgbClr val="F5A14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5A14A"/>
                </a:solidFill>
                <a:latin typeface="Aptos"/>
                <a:ea typeface="Aptos"/>
                <a:cs typeface="Aptos"/>
              </a:rPr>
              <a:t>A3</a:t>
            </a:r>
          </a:p>
        </p:txBody>
      </p:sp>
      <p:sp>
        <p:nvSpPr>
          <p:cNvPr id="41" name="Rectángulo 40">
            <a:extLst>
              <a:ext uri="{FF2B5EF4-FFF2-40B4-BE49-F238E27FC236}">
                <a16:creationId xmlns:a16="http://schemas.microsoft.com/office/drawing/2014/main" id="{AA12F31B-FC62-417B-B0CB-A81034457C51}"/>
              </a:ext>
            </a:extLst>
          </p:cNvPr>
          <p:cNvSpPr>
            <a:spLocks noGrp="1"/>
          </p:cNvSpPr>
          <p:nvPr/>
        </p:nvSpPr>
        <p:spPr>
          <a:xfrm>
            <a:off x="7258050" y="3790950"/>
            <a:ext cx="3905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preguntar si costo + riesgo posterior &lt; riesgo directo</a:t>
            </a:r>
          </a:p>
        </p:txBody>
      </p:sp>
      <p:sp>
        <p:nvSpPr>
          <p:cNvPr id="42" name="Rectángulo: esquinas redondeadas 41">
            <a:extLst>
              <a:ext uri="{FF2B5EF4-FFF2-40B4-BE49-F238E27FC236}">
                <a16:creationId xmlns:a16="http://schemas.microsoft.com/office/drawing/2014/main" id="{8FE335E0-C157-4960-8C24-F2EC7F058A09}"/>
              </a:ext>
            </a:extLst>
          </p:cNvPr>
          <p:cNvSpPr>
            <a:spLocks noGrp="1"/>
          </p:cNvSpPr>
          <p:nvPr/>
        </p:nvSpPr>
        <p:spPr>
          <a:xfrm>
            <a:off x="6496050" y="4352925"/>
            <a:ext cx="590550" cy="2857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5A14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3" name="Rectángulo 42">
            <a:extLst>
              <a:ext uri="{FF2B5EF4-FFF2-40B4-BE49-F238E27FC236}">
                <a16:creationId xmlns:a16="http://schemas.microsoft.com/office/drawing/2014/main" id="{6BE23504-1581-420A-AA27-7DDFABD40B13}"/>
              </a:ext>
            </a:extLst>
          </p:cNvPr>
          <p:cNvSpPr>
            <a:spLocks noGrp="1"/>
          </p:cNvSpPr>
          <p:nvPr/>
        </p:nvSpPr>
        <p:spPr>
          <a:xfrm>
            <a:off x="6553200" y="4391025"/>
            <a:ext cx="476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900" b="1">
                <a:solidFill>
                  <a:srgbClr val="F5A14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5A14A"/>
                </a:solidFill>
                <a:latin typeface="Aptos"/>
                <a:ea typeface="Aptos"/>
                <a:cs typeface="Aptos"/>
              </a:rPr>
              <a:t>A5</a:t>
            </a:r>
          </a:p>
        </p:txBody>
      </p:sp>
      <p:sp>
        <p:nvSpPr>
          <p:cNvPr id="44" name="Rectángulo 43">
            <a:extLst>
              <a:ext uri="{FF2B5EF4-FFF2-40B4-BE49-F238E27FC236}">
                <a16:creationId xmlns:a16="http://schemas.microsoft.com/office/drawing/2014/main" id="{6FED51A1-39FB-4132-883F-D8DB0DDB06F2}"/>
              </a:ext>
            </a:extLst>
          </p:cNvPr>
          <p:cNvSpPr>
            <a:spLocks noGrp="1"/>
          </p:cNvSpPr>
          <p:nvPr/>
        </p:nvSpPr>
        <p:spPr>
          <a:xfrm>
            <a:off x="7258050" y="4371975"/>
            <a:ext cx="3905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un contexto concreto puede aumentar la duda</a:t>
            </a:r>
          </a:p>
        </p:txBody>
      </p:sp>
      <p:sp>
        <p:nvSpPr>
          <p:cNvPr id="45" name="Rectángulo: esquinas redondeadas 44">
            <a:extLst>
              <a:ext uri="{FF2B5EF4-FFF2-40B4-BE49-F238E27FC236}">
                <a16:creationId xmlns:a16="http://schemas.microsoft.com/office/drawing/2014/main" id="{95ECA5B4-927E-4191-9FD4-46CA5ED38E81}"/>
              </a:ext>
            </a:extLst>
          </p:cNvPr>
          <p:cNvSpPr>
            <a:spLocks noGrp="1"/>
          </p:cNvSpPr>
          <p:nvPr/>
        </p:nvSpPr>
        <p:spPr>
          <a:xfrm>
            <a:off x="6496050" y="4933950"/>
            <a:ext cx="590550" cy="2857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5A14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6" name="Rectángulo 45">
            <a:extLst>
              <a:ext uri="{FF2B5EF4-FFF2-40B4-BE49-F238E27FC236}">
                <a16:creationId xmlns:a16="http://schemas.microsoft.com/office/drawing/2014/main" id="{3C168E56-7C43-4E17-A991-76DE22FDF6CF}"/>
              </a:ext>
            </a:extLst>
          </p:cNvPr>
          <p:cNvSpPr>
            <a:spLocks noGrp="1"/>
          </p:cNvSpPr>
          <p:nvPr/>
        </p:nvSpPr>
        <p:spPr>
          <a:xfrm>
            <a:off x="6553200" y="4972050"/>
            <a:ext cx="476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900" b="1">
                <a:solidFill>
                  <a:srgbClr val="F5A14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5A14A"/>
                </a:solidFill>
                <a:latin typeface="Aptos"/>
                <a:ea typeface="Aptos"/>
                <a:cs typeface="Aptos"/>
              </a:rPr>
              <a:t>A6–A7</a:t>
            </a:r>
          </a:p>
        </p:txBody>
      </p:sp>
      <p:sp>
        <p:nvSpPr>
          <p:cNvPr id="47" name="Rectángulo 46">
            <a:extLst>
              <a:ext uri="{FF2B5EF4-FFF2-40B4-BE49-F238E27FC236}">
                <a16:creationId xmlns:a16="http://schemas.microsoft.com/office/drawing/2014/main" id="{09EAD331-A156-42C2-B513-51BF435A2FD9}"/>
              </a:ext>
            </a:extLst>
          </p:cNvPr>
          <p:cNvSpPr>
            <a:spLocks noGrp="1"/>
          </p:cNvSpPr>
          <p:nvPr/>
        </p:nvSpPr>
        <p:spPr>
          <a:xfrm>
            <a:off x="7258050" y="4953000"/>
            <a:ext cx="3905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presupuesto, Lagrangiano, DPI y Fano</a:t>
            </a:r>
          </a:p>
        </p:txBody>
      </p:sp>
      <p:sp>
        <p:nvSpPr>
          <p:cNvPr id="48" name="Rectángulo 47">
            <a:extLst>
              <a:ext uri="{FF2B5EF4-FFF2-40B4-BE49-F238E27FC236}">
                <a16:creationId xmlns:a16="http://schemas.microsoft.com/office/drawing/2014/main" id="{AC1457BA-4AE6-4B39-9F97-88400CA6B391}"/>
              </a:ext>
            </a:extLst>
          </p:cNvPr>
          <p:cNvSpPr>
            <a:spLocks noGrp="1"/>
          </p:cNvSpPr>
          <p:nvPr/>
        </p:nvSpPr>
        <p:spPr>
          <a:xfrm>
            <a:off x="1428750" y="5924550"/>
            <a:ext cx="9334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350" b="1">
                <a:solidFill>
                  <a:srgbClr val="6C63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6C63FF"/>
                </a:solidFill>
                <a:latin typeface="Aptos"/>
                <a:ea typeface="Aptos"/>
                <a:cs typeface="Aptos"/>
              </a:rPr>
              <a:t>Regla de auditoría: si una conclusión no se conecta con una fuente o una derivación explícita, no entra al deck.</a:t>
            </a:r>
          </a:p>
        </p:txBody>
      </p:sp>
    </p:spTree>
    <p:extLst>
      <p:ext uri="{BB962C8B-B14F-4D97-AF65-F5344CB8AC3E}">
        <p14:creationId xmlns:p14="http://schemas.microsoft.com/office/powerpoint/2010/main" val="1385131023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5012</Words>
  <Application>Microsoft Office PowerPoint</Application>
  <DocSecurity>0</DocSecurity>
  <PresentationFormat>Panorámica</PresentationFormat>
  <Paragraphs>585</Paragraphs>
  <Slides>36</Slides>
  <Notes>36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36</vt:i4>
      </vt:variant>
    </vt:vector>
  </HeadingPairs>
  <TitlesOfParts>
    <vt:vector size="41" baseType="lpstr">
      <vt:lpstr>Aptos</vt:lpstr>
      <vt:lpstr>Aptos Display</vt:lpstr>
      <vt:lpstr>Calibri</vt:lpstr>
      <vt:lpstr>Cambria Math</vt:lpstr>
      <vt:lpstr>ChatGPT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Kevin Gomez Villanueva</cp:lastModifiedBy>
  <cp:revision>1</cp:revision>
  <dcterms:created xsi:type="dcterms:W3CDTF">2026-07-29T18:58:51Z</dcterms:created>
  <dcterms:modified xsi:type="dcterms:W3CDTF">2026-08-02T17:28:22Z</dcterms:modified>
</cp:coreProperties>
</file>