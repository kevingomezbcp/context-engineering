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afaec881814fec" /><Relationship Type="http://schemas.openxmlformats.org/officeDocument/2006/relationships/extended-properties" Target="/docProps/app.xml" Id="R2324ab43a6494e65" /><Relationship Type="http://schemas.openxmlformats.org/officeDocument/2006/relationships/officeDocument" Target="/ppt/presentation.xml" Id="Raaa2407d0e7945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1e83ba1be54cd2"/>
  </p:sldMasterIdLst>
  <p:notesMasterIdLst>
    <p:notesMasterId xmlns:r="http://schemas.openxmlformats.org/officeDocument/2006/relationships" r:id="R5657a0ba60e64751"/>
  </p:notesMasterIdLst>
  <p:sldIdLst>
    <p:sldId xmlns:r="http://schemas.openxmlformats.org/officeDocument/2006/relationships" id="256" r:id="R7c1d9baccd194af2"/>
    <p:sldId xmlns:r="http://schemas.openxmlformats.org/officeDocument/2006/relationships" id="257" r:id="Rddbbfa38e3b64844"/>
    <p:sldId xmlns:r="http://schemas.openxmlformats.org/officeDocument/2006/relationships" id="258" r:id="R4dee710b8e084d38"/>
    <p:sldId xmlns:r="http://schemas.openxmlformats.org/officeDocument/2006/relationships" id="259" r:id="Rf7b2b03b4c26445c"/>
    <p:sldId xmlns:r="http://schemas.openxmlformats.org/officeDocument/2006/relationships" id="260" r:id="Rf68c11fdc3e649d1"/>
    <p:sldId xmlns:r="http://schemas.openxmlformats.org/officeDocument/2006/relationships" id="261" r:id="R3e6231c9f8e5467d"/>
    <p:sldId xmlns:r="http://schemas.openxmlformats.org/officeDocument/2006/relationships" id="262" r:id="Rca00858b503e42d8"/>
    <p:sldId xmlns:r="http://schemas.openxmlformats.org/officeDocument/2006/relationships" id="263" r:id="R72b346e027874126"/>
    <p:sldId xmlns:r="http://schemas.openxmlformats.org/officeDocument/2006/relationships" id="264" r:id="R3ea3818844494b3a"/>
    <p:sldId xmlns:r="http://schemas.openxmlformats.org/officeDocument/2006/relationships" id="265" r:id="Ra93d08f1df0a4ee3"/>
    <p:sldId xmlns:r="http://schemas.openxmlformats.org/officeDocument/2006/relationships" id="266" r:id="Re576605859104fe7"/>
    <p:sldId xmlns:r="http://schemas.openxmlformats.org/officeDocument/2006/relationships" id="267" r:id="R319a9eab0b9c4922"/>
    <p:sldId xmlns:r="http://schemas.openxmlformats.org/officeDocument/2006/relationships" id="268" r:id="R62e382a530064798"/>
    <p:sldId xmlns:r="http://schemas.openxmlformats.org/officeDocument/2006/relationships" id="269" r:id="R0373f0d968b842db"/>
    <p:sldId xmlns:r="http://schemas.openxmlformats.org/officeDocument/2006/relationships" id="270" r:id="Rc797890caeb049c5"/>
    <p:sldId xmlns:r="http://schemas.openxmlformats.org/officeDocument/2006/relationships" id="271" r:id="Ra66db00ef4f74778"/>
    <p:sldId xmlns:r="http://schemas.openxmlformats.org/officeDocument/2006/relationships" id="272" r:id="R73dcef5d59f8496f"/>
    <p:sldId xmlns:r="http://schemas.openxmlformats.org/officeDocument/2006/relationships" id="273" r:id="R294bd54560bc4e45"/>
    <p:sldId xmlns:r="http://schemas.openxmlformats.org/officeDocument/2006/relationships" id="274" r:id="R8873648059bb4fc1"/>
    <p:sldId xmlns:r="http://schemas.openxmlformats.org/officeDocument/2006/relationships" id="275" r:id="Rcfdb45d78a094078"/>
    <p:sldId xmlns:r="http://schemas.openxmlformats.org/officeDocument/2006/relationships" id="276" r:id="R192a99c423b84101"/>
    <p:sldId xmlns:r="http://schemas.openxmlformats.org/officeDocument/2006/relationships" id="277" r:id="R5fa88673090a44d3"/>
    <p:sldId xmlns:r="http://schemas.openxmlformats.org/officeDocument/2006/relationships" id="278" r:id="R421681ecf478478b"/>
    <p:sldId xmlns:r="http://schemas.openxmlformats.org/officeDocument/2006/relationships" id="279" r:id="R661ffb80cade4f75"/>
    <p:sldId xmlns:r="http://schemas.openxmlformats.org/officeDocument/2006/relationships" id="280" r:id="R306ee3bdc29541ac"/>
    <p:sldId xmlns:r="http://schemas.openxmlformats.org/officeDocument/2006/relationships" id="281" r:id="R801d0081ced54675"/>
    <p:sldId xmlns:r="http://schemas.openxmlformats.org/officeDocument/2006/relationships" id="282" r:id="Rb6d52cf2ac8a4986"/>
    <p:sldId xmlns:r="http://schemas.openxmlformats.org/officeDocument/2006/relationships" id="283" r:id="R2154c9bfa926455e"/>
    <p:sldId xmlns:r="http://schemas.openxmlformats.org/officeDocument/2006/relationships" id="284" r:id="Rcc9a9cab6587477c"/>
    <p:sldId xmlns:r="http://schemas.openxmlformats.org/officeDocument/2006/relationships" id="285" r:id="R27ddc2b6fe51437f"/>
    <p:sldId xmlns:r="http://schemas.openxmlformats.org/officeDocument/2006/relationships" id="286" r:id="Rd2ef519ff6114235"/>
    <p:sldId xmlns:r="http://schemas.openxmlformats.org/officeDocument/2006/relationships" id="287" r:id="Rc69d4e815b764345"/>
    <p:sldId xmlns:r="http://schemas.openxmlformats.org/officeDocument/2006/relationships" id="288" r:id="Rc0dd294c33d44946"/>
    <p:sldId xmlns:r="http://schemas.openxmlformats.org/officeDocument/2006/relationships" id="289" r:id="R38b7c1da9462434a"/>
    <p:sldId xmlns:r="http://schemas.openxmlformats.org/officeDocument/2006/relationships" id="290" r:id="R2d33433d27dc4e9b"/>
    <p:sldId xmlns:r="http://schemas.openxmlformats.org/officeDocument/2006/relationships" id="291" r:id="R7a66cb57542f40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e36a27ed1e49cc" /><Relationship Type="http://schemas.openxmlformats.org/officeDocument/2006/relationships/slideMaster" Target="/ppt/slideMasters/slideMaster1.xml" Id="Rb71e83ba1be54cd2" /><Relationship Type="http://schemas.openxmlformats.org/officeDocument/2006/relationships/notesMaster" Target="/ppt/notesMasters/notesMaster1.xml" Id="R5657a0ba60e64751" /><Relationship Type="http://schemas.openxmlformats.org/officeDocument/2006/relationships/presProps" Target="/ppt/presProps.xml" Id="Ra4d391e7c9b84619" /><Relationship Type="http://schemas.openxmlformats.org/officeDocument/2006/relationships/viewProps" Target="/ppt/viewProps.xml" Id="R41b8e82d7c284516" /><Relationship Type="http://schemas.openxmlformats.org/officeDocument/2006/relationships/tableStyles" Target="/ppt/tableStyles.xml" Id="Rb7e1c7a5c6c34c8e" /><Relationship Type="http://schemas.openxmlformats.org/officeDocument/2006/relationships/slide" Target="/ppt/slides/slide1.xml" Id="R7c1d9baccd194af2" /><Relationship Type="http://schemas.openxmlformats.org/officeDocument/2006/relationships/slide" Target="/ppt/slides/slide2.xml" Id="Rddbbfa38e3b64844" /><Relationship Type="http://schemas.openxmlformats.org/officeDocument/2006/relationships/slide" Target="/ppt/slides/slide3.xml" Id="R4dee710b8e084d38" /><Relationship Type="http://schemas.openxmlformats.org/officeDocument/2006/relationships/slide" Target="/ppt/slides/slide4.xml" Id="Rf7b2b03b4c26445c" /><Relationship Type="http://schemas.openxmlformats.org/officeDocument/2006/relationships/slide" Target="/ppt/slides/slide5.xml" Id="Rf68c11fdc3e649d1" /><Relationship Type="http://schemas.openxmlformats.org/officeDocument/2006/relationships/slide" Target="/ppt/slides/slide6.xml" Id="R3e6231c9f8e5467d" /><Relationship Type="http://schemas.openxmlformats.org/officeDocument/2006/relationships/slide" Target="/ppt/slides/slide7.xml" Id="Rca00858b503e42d8" /><Relationship Type="http://schemas.openxmlformats.org/officeDocument/2006/relationships/slide" Target="/ppt/slides/slide8.xml" Id="R72b346e027874126" /><Relationship Type="http://schemas.openxmlformats.org/officeDocument/2006/relationships/slide" Target="/ppt/slides/slide9.xml" Id="R3ea3818844494b3a" /><Relationship Type="http://schemas.openxmlformats.org/officeDocument/2006/relationships/slide" Target="/ppt/slides/slide10.xml" Id="Ra93d08f1df0a4ee3" /><Relationship Type="http://schemas.openxmlformats.org/officeDocument/2006/relationships/slide" Target="/ppt/slides/slide11.xml" Id="Re576605859104fe7" /><Relationship Type="http://schemas.openxmlformats.org/officeDocument/2006/relationships/slide" Target="/ppt/slides/slide12.xml" Id="R319a9eab0b9c4922" /><Relationship Type="http://schemas.openxmlformats.org/officeDocument/2006/relationships/slide" Target="/ppt/slides/slide13.xml" Id="R62e382a530064798" /><Relationship Type="http://schemas.openxmlformats.org/officeDocument/2006/relationships/slide" Target="/ppt/slides/slide14.xml" Id="R0373f0d968b842db" /><Relationship Type="http://schemas.openxmlformats.org/officeDocument/2006/relationships/slide" Target="/ppt/slides/slide15.xml" Id="Rc797890caeb049c5" /><Relationship Type="http://schemas.openxmlformats.org/officeDocument/2006/relationships/slide" Target="/ppt/slides/slide16.xml" Id="Ra66db00ef4f74778" /><Relationship Type="http://schemas.openxmlformats.org/officeDocument/2006/relationships/slide" Target="/ppt/slides/slide17.xml" Id="R73dcef5d59f8496f" /><Relationship Type="http://schemas.openxmlformats.org/officeDocument/2006/relationships/slide" Target="/ppt/slides/slide18.xml" Id="R294bd54560bc4e45" /><Relationship Type="http://schemas.openxmlformats.org/officeDocument/2006/relationships/slide" Target="/ppt/slides/slide19.xml" Id="R8873648059bb4fc1" /><Relationship Type="http://schemas.openxmlformats.org/officeDocument/2006/relationships/slide" Target="/ppt/slides/slide20.xml" Id="Rcfdb45d78a094078" /><Relationship Type="http://schemas.openxmlformats.org/officeDocument/2006/relationships/slide" Target="/ppt/slides/slide21.xml" Id="R192a99c423b84101" /><Relationship Type="http://schemas.openxmlformats.org/officeDocument/2006/relationships/slide" Target="/ppt/slides/slide22.xml" Id="R5fa88673090a44d3" /><Relationship Type="http://schemas.openxmlformats.org/officeDocument/2006/relationships/slide" Target="/ppt/slides/slide23.xml" Id="R421681ecf478478b" /><Relationship Type="http://schemas.openxmlformats.org/officeDocument/2006/relationships/slide" Target="/ppt/slides/slide24.xml" Id="R661ffb80cade4f75" /><Relationship Type="http://schemas.openxmlformats.org/officeDocument/2006/relationships/slide" Target="/ppt/slides/slide25.xml" Id="R306ee3bdc29541ac" /><Relationship Type="http://schemas.openxmlformats.org/officeDocument/2006/relationships/slide" Target="/ppt/slides/slide26.xml" Id="R801d0081ced54675" /><Relationship Type="http://schemas.openxmlformats.org/officeDocument/2006/relationships/slide" Target="/ppt/slides/slide27.xml" Id="Rb6d52cf2ac8a4986" /><Relationship Type="http://schemas.openxmlformats.org/officeDocument/2006/relationships/slide" Target="/ppt/slides/slide28.xml" Id="R2154c9bfa926455e" /><Relationship Type="http://schemas.openxmlformats.org/officeDocument/2006/relationships/slide" Target="/ppt/slides/slide29.xml" Id="Rcc9a9cab6587477c" /><Relationship Type="http://schemas.openxmlformats.org/officeDocument/2006/relationships/slide" Target="/ppt/slides/slide30.xml" Id="R27ddc2b6fe51437f" /><Relationship Type="http://schemas.openxmlformats.org/officeDocument/2006/relationships/slide" Target="/ppt/slides/slide31.xml" Id="Rd2ef519ff6114235" /><Relationship Type="http://schemas.openxmlformats.org/officeDocument/2006/relationships/slide" Target="/ppt/slides/slide32.xml" Id="Rc69d4e815b764345" /><Relationship Type="http://schemas.openxmlformats.org/officeDocument/2006/relationships/slide" Target="/ppt/slides/slide33.xml" Id="Rc0dd294c33d44946" /><Relationship Type="http://schemas.openxmlformats.org/officeDocument/2006/relationships/slide" Target="/ppt/slides/slide34.xml" Id="R38b7c1da9462434a" /><Relationship Type="http://schemas.openxmlformats.org/officeDocument/2006/relationships/slide" Target="/ppt/slides/slide35.xml" Id="R2d33433d27dc4e9b" /><Relationship Type="http://schemas.openxmlformats.org/officeDocument/2006/relationships/slide" Target="/ppt/slides/slide36.xml" Id="R7a66cb57542f40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441b0a26864b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7cc3f3f2b644c9" /><Relationship Type="http://schemas.openxmlformats.org/officeDocument/2006/relationships/notesMaster" Target="/ppt/notesMasters/notesMaster1.xml" Id="R97a1ec075a8144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c9ad196c5e4ab7" /><Relationship Type="http://schemas.openxmlformats.org/officeDocument/2006/relationships/notesMaster" Target="/ppt/notesMasters/notesMaster1.xml" Id="Ra0ca54e53a414e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87fa55cad845c0" /><Relationship Type="http://schemas.openxmlformats.org/officeDocument/2006/relationships/notesMaster" Target="/ppt/notesMasters/notesMaster1.xml" Id="R23db1f2b91bc43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e85e6501f14f46" /><Relationship Type="http://schemas.openxmlformats.org/officeDocument/2006/relationships/notesMaster" Target="/ppt/notesMasters/notesMaster1.xml" Id="Refc4e5b6f07541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1e110a5d494ba6" /><Relationship Type="http://schemas.openxmlformats.org/officeDocument/2006/relationships/notesMaster" Target="/ppt/notesMasters/notesMaster1.xml" Id="R9b03600ed49a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7d1e0fe2924a78" /><Relationship Type="http://schemas.openxmlformats.org/officeDocument/2006/relationships/notesMaster" Target="/ppt/notesMasters/notesMaster1.xml" Id="R46f8bbb3171c45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a5b49c9c1e41d7" /><Relationship Type="http://schemas.openxmlformats.org/officeDocument/2006/relationships/notesMaster" Target="/ppt/notesMasters/notesMaster1.xml" Id="R37351ee5ce8245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a034b50ea4461f" /><Relationship Type="http://schemas.openxmlformats.org/officeDocument/2006/relationships/notesMaster" Target="/ppt/notesMasters/notesMaster1.xml" Id="R874c70b4aa1947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558c9ef17e40f4" /><Relationship Type="http://schemas.openxmlformats.org/officeDocument/2006/relationships/notesMaster" Target="/ppt/notesMasters/notesMaster1.xml" Id="R7ed36ceb664648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36f6f43cb74568" /><Relationship Type="http://schemas.openxmlformats.org/officeDocument/2006/relationships/notesMaster" Target="/ppt/notesMasters/notesMaster1.xml" Id="R08a60bb3589e44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259165d8734b95" /><Relationship Type="http://schemas.openxmlformats.org/officeDocument/2006/relationships/notesMaster" Target="/ppt/notesMasters/notesMaster1.xml" Id="R90d0dda1aa984f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66e9f3e14544fa" /><Relationship Type="http://schemas.openxmlformats.org/officeDocument/2006/relationships/notesMaster" Target="/ppt/notesMasters/notesMaster1.xml" Id="R7ed9dd5d9abc48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6f3ef3919f44e0" /><Relationship Type="http://schemas.openxmlformats.org/officeDocument/2006/relationships/notesMaster" Target="/ppt/notesMasters/notesMaster1.xml" Id="R895f2cd29aac4c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1fa750b53c477c" /><Relationship Type="http://schemas.openxmlformats.org/officeDocument/2006/relationships/notesMaster" Target="/ppt/notesMasters/notesMaster1.xml" Id="Rdf5f1893fd7f41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6d1e209f464f70" /><Relationship Type="http://schemas.openxmlformats.org/officeDocument/2006/relationships/notesMaster" Target="/ppt/notesMasters/notesMaster1.xml" Id="R48239cf9012a4c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7fd552b00e4168" /><Relationship Type="http://schemas.openxmlformats.org/officeDocument/2006/relationships/notesMaster" Target="/ppt/notesMasters/notesMaster1.xml" Id="R800a9927108145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376267e3dc41cc" /><Relationship Type="http://schemas.openxmlformats.org/officeDocument/2006/relationships/notesMaster" Target="/ppt/notesMasters/notesMaster1.xml" Id="Rbc866c8c213d4a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3d29fc03154899" /><Relationship Type="http://schemas.openxmlformats.org/officeDocument/2006/relationships/notesMaster" Target="/ppt/notesMasters/notesMaster1.xml" Id="Rfa22bbad54504c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44ae03b2754729" /><Relationship Type="http://schemas.openxmlformats.org/officeDocument/2006/relationships/notesMaster" Target="/ppt/notesMasters/notesMaster1.xml" Id="R310b22aaa70440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65e6e616954a1b" /><Relationship Type="http://schemas.openxmlformats.org/officeDocument/2006/relationships/notesMaster" Target="/ppt/notesMasters/notesMaster1.xml" Id="R6bca359def344b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cc1d2377504f2f" /><Relationship Type="http://schemas.openxmlformats.org/officeDocument/2006/relationships/notesMaster" Target="/ppt/notesMasters/notesMaster1.xml" Id="Ra7613919fd494c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ad268e4ef5c442c" /><Relationship Type="http://schemas.openxmlformats.org/officeDocument/2006/relationships/notesMaster" Target="/ppt/notesMasters/notesMaster1.xml" Id="Re2fa00d8c67a4c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877a0c9e034161" /><Relationship Type="http://schemas.openxmlformats.org/officeDocument/2006/relationships/notesMaster" Target="/ppt/notesMasters/notesMaster1.xml" Id="R323c8f4ef1834d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40d7ec806ff4fbd" /><Relationship Type="http://schemas.openxmlformats.org/officeDocument/2006/relationships/notesMaster" Target="/ppt/notesMasters/notesMaster1.xml" Id="R60eec513437f473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ed7ffde1cef4a72" /><Relationship Type="http://schemas.openxmlformats.org/officeDocument/2006/relationships/notesMaster" Target="/ppt/notesMasters/notesMaster1.xml" Id="R53f68d42ae5d45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1f32b7c48b4552" /><Relationship Type="http://schemas.openxmlformats.org/officeDocument/2006/relationships/notesMaster" Target="/ppt/notesMasters/notesMaster1.xml" Id="R276c71078edd463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1d78e441f9f4dd8" /><Relationship Type="http://schemas.openxmlformats.org/officeDocument/2006/relationships/notesMaster" Target="/ppt/notesMasters/notesMaster1.xml" Id="R0d27df7184124bd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77d32c32bc84518" /><Relationship Type="http://schemas.openxmlformats.org/officeDocument/2006/relationships/notesMaster" Target="/ppt/notesMasters/notesMaster1.xml" Id="R3d9b94dafef040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8ff57b5fe0142bc" /><Relationship Type="http://schemas.openxmlformats.org/officeDocument/2006/relationships/notesMaster" Target="/ppt/notesMasters/notesMaster1.xml" Id="Rf3572613ea074fd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28541549bb74670" /><Relationship Type="http://schemas.openxmlformats.org/officeDocument/2006/relationships/notesMaster" Target="/ppt/notesMasters/notesMaster1.xml" Id="Ra2fc9be50c584c2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2f91383fb0f4ce4" /><Relationship Type="http://schemas.openxmlformats.org/officeDocument/2006/relationships/notesMaster" Target="/ppt/notesMasters/notesMaster1.xml" Id="R04e148422e6b43e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587db1525da45b8" /><Relationship Type="http://schemas.openxmlformats.org/officeDocument/2006/relationships/notesMaster" Target="/ppt/notesMasters/notesMaster1.xml" Id="Red6565ea95bc499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6c36e4fa7b74248" /><Relationship Type="http://schemas.openxmlformats.org/officeDocument/2006/relationships/notesMaster" Target="/ppt/notesMasters/notesMaster1.xml" Id="R85eb341dc6ec406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a00703637754b13" /><Relationship Type="http://schemas.openxmlformats.org/officeDocument/2006/relationships/notesMaster" Target="/ppt/notesMasters/notesMaster1.xml" Id="R8be4258f41214e8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95c6e24e5cc4e4b" /><Relationship Type="http://schemas.openxmlformats.org/officeDocument/2006/relationships/notesMaster" Target="/ppt/notesMasters/notesMaster1.xml" Id="Rfb02e69a471e409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7a8f8f134064c05" /><Relationship Type="http://schemas.openxmlformats.org/officeDocument/2006/relationships/notesMaster" Target="/ppt/notesMasters/notesMaster1.xml" Id="Rec68a891b7f846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Apertura y tesis narrativa; diagrama conceptual propio..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Ejemplo ilustrativo, no resultado empírico..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Definición y figura citadas..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Componentes citados del survey; composición visual propia..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Ecuación 3 y restricción citadas; advertencia editorial propia..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Identidad autoregresiva; ejemplo de garantía ilustrativo..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Identidad matemática de información mutua condicional..</a:t>
            </a:r>
          </a:p>
          <a:p xmlns:a="http://schemas.openxmlformats.org/drawingml/2006/main">
            <a:r>
              <a:t>- Shannon (1948), A Mathematical Theory of Communication. https://doi.org/10.1002/j.1538-7305.1948.tb01338.x</a:t>
            </a:r>
          </a:p>
          <a:p xmlns:a="http://schemas.openxmlformats.org/drawingml/2006/main">
            <a:r>
              <a:t>- Cover &amp; Thomas (2006), Elements of Information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Comparación de dos formulaciones citadas..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  <a:p xmlns:a="http://schemas.openxmlformats.org/drawingml/2006/main">
            <a:r>
              <a:t>- Nagle et al. (2024), Fundamental Limits of Prompt Compression: A Rate-Distortion Framework for Black-Box Language Models, NeurIPS 2024. https://proceedings.neurips.cc/paper/2024/hash/ac8fbba029dadca99d6b8c3f913d3ed6-Abstract-Conference.html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Ecuación RAG citada; diagrama explicativo propio..</a:t>
            </a:r>
          </a:p>
          <a:p xmlns:a="http://schemas.openxmlformats.org/drawingml/2006/main">
            <a:r>
              <a:t>- Lewis et al. (2020), Retrieval-Augmented Generation for Knowledge-Intensive NLP Tasks.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Comparación basada en las definiciones de las fuentes..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  <a:p xmlns:a="http://schemas.openxmlformats.org/drawingml/2006/main">
            <a:r>
              <a:t>- Lewis et al. (2020), Retrieval-Augmented Generation for Knowledge-Intensive NLP Tasks.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Ecuación y arquitectura RAG citadas..</a:t>
            </a:r>
          </a:p>
          <a:p xmlns:a="http://schemas.openxmlformats.org/drawingml/2006/main">
            <a:r>
              <a:t>- Lewis et al. (2020), Retrieval-Augmented Generation for Knowledge-Intensive NLP Tasks.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Ecuación de atención citada; distinción retrieval/atención derivada..</a:t>
            </a:r>
          </a:p>
          <a:p xmlns:a="http://schemas.openxmlformats.org/drawingml/2006/main">
            <a:r>
              <a:t>- Vaswani et al. (2017), Attention Is All You Need. https://arxiv.org/abs/1706.03762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Resultado empírico e identidad matemática separados..</a:t>
            </a:r>
          </a:p>
          <a:p xmlns:a="http://schemas.openxmlformats.org/drawingml/2006/main">
            <a:r>
              <a:t>- Wei et al. (2022), Chain-of-Thought Prompting Elicits Reasoning in Large Language Models. https://arxiv.org/abs/2201.11903</a:t>
            </a:r>
          </a:p>
          <a:p xmlns:a="http://schemas.openxmlformats.org/drawingml/2006/main">
            <a:r>
              <a:t>- Cover &amp; Thomas (2006), Elements of Information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Taxonomía abreviada y ejemplos parafraseados; preprint..</a:t>
            </a:r>
          </a:p>
          <a:p xmlns:a="http://schemas.openxmlformats.org/drawingml/2006/main">
            <a:r>
              <a:t>- Su &amp; Cardie (2026), Knowing but Not Showing: LLMs Recognize Ambiguity but Rarely Ask Clarifying Questions, preprint. https://arxiv.org/abs/2605.25284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Transición narrativa y modelamiento propio de Z..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Ley de probabilidad total; ejemplo ilustrativo..</a:t>
            </a:r>
          </a:p>
          <a:p xmlns:a="http://schemas.openxmlformats.org/drawingml/2006/main">
            <a:r>
              <a:t>- Cover &amp; Thomas (2006), Elements of Information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Identidad matemática y lectura operacional derivada..</a:t>
            </a:r>
          </a:p>
          <a:p xmlns:a="http://schemas.openxmlformats.org/drawingml/2006/main">
            <a:r>
              <a:t>- Cover &amp; Thomas (2006), Elements of Information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Esquema conceptual informado por RAG y entropía de intención..</a:t>
            </a:r>
          </a:p>
          <a:p xmlns:a="http://schemas.openxmlformats.org/drawingml/2006/main">
            <a:r>
              <a:t>- Lewis et al. (2020), Retrieval-Augmented Generation for Knowledge-Intensive NLP Tasks. https://arxiv.org/abs/2005.11401</a:t>
            </a:r>
          </a:p>
          <a:p xmlns:a="http://schemas.openxmlformats.org/drawingml/2006/main">
            <a:r>
              <a:t>- Zhang &amp; Choi (2025), Clarify When Necessary: Resolving Ambiguity Through Interaction with LMs, Findings of NAACL 2025. https://aclanthology.org/2025.naacl-findings.306/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Derivación simbólica; no contiene scores empíricos..</a:t>
            </a:r>
          </a:p>
          <a:p xmlns:a="http://schemas.openxmlformats.org/drawingml/2006/main">
            <a:r>
              <a:t>- Cover &amp; Thomas (2006), Elements of Information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Implicación del modelo latente; diagrama conceptual propio..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Riesgo Bayesiano con pérdida 0–1; derivación..</a:t>
            </a:r>
          </a:p>
          <a:p xmlns:a="http://schemas.openxmlformats.org/drawingml/2006/main">
            <a:r>
              <a:t>- Berger (1985), Statistical Decision Theory and Bayesian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Criterio de información para seleccionar preguntas..</a:t>
            </a:r>
          </a:p>
          <a:p xmlns:a="http://schemas.openxmlformats.org/drawingml/2006/main">
            <a:r>
              <a:t>- Deits et al. (2013), Clarifying Commands with Information-Theoretic Human-Robot Dialog. https://people.csail.mit.edu/stefie10/publications/deits13.pdf</a:t>
            </a:r>
          </a:p>
          <a:p xmlns:a="http://schemas.openxmlformats.org/drawingml/2006/main">
            <a:r>
              <a:t>- Zhang &amp; Choi (2025), Clarify When Necessary: Resolving Ambiguity Through Interaction with LMs, Findings of NAACL 2025. https://aclanthology.org/2025.naacl-findings.306/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Comparación de acciones mediante riesgo Bayesiano; derivación..</a:t>
            </a:r>
          </a:p>
          <a:p xmlns:a="http://schemas.openxmlformats.org/drawingml/2006/main">
            <a:r>
              <a:t>- Berger (1985), Statistical Decision Theory and Bayesian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Resultado empírico citado y rotulado como preprint..</a:t>
            </a:r>
          </a:p>
          <a:p xmlns:a="http://schemas.openxmlformats.org/drawingml/2006/main">
            <a:r>
              <a:t>- Su &amp; Cardie (2026), Knowing but Not Showing: LLMs Recognize Ambiguity but Rarely Ask Clarifying Questions, preprint. https://arxiv.org/abs/2605.25284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Síntesis operacional derivada de las fuentes..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  <a:p xmlns:a="http://schemas.openxmlformats.org/drawingml/2006/main">
            <a:r>
              <a:t>- Zhang &amp; Choi (2025), Clarify When Necessary: Resolving Ambiguity Through Interaction with LMs, Findings of NAACL 2025. https://aclanthology.org/2025.naacl-findings.306/</a:t>
            </a:r>
          </a:p>
          <a:p xmlns:a="http://schemas.openxmlformats.org/drawingml/2006/main">
            <a:r>
              <a:t>- Su &amp; Cardie (2026), Knowing but Not Showing: LLMs Recognize Ambiguity but Rarely Ask Clarifying Questions, preprint. https://arxiv.org/abs/2605.25284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Ejemplo conceptual; no resultado empírico..</a:t>
            </a:r>
          </a:p>
          <a:p xmlns:a="http://schemas.openxmlformats.org/drawingml/2006/main">
            <a:r>
              <a:t>- Zhang &amp; Choi (2025), Clarify When Necessary: Resolving Ambiguity Through Interaction with LMs, Findings of NAACL 2025. https://aclanthology.org/2025.naacl-findings.306/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Síntesis; cada punto se desarrolla en anexos..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  <a:p xmlns:a="http://schemas.openxmlformats.org/drawingml/2006/main">
            <a:r>
              <a:t>- Nagle et al. (2024), Fundamental Limits of Prompt Compression: A Rate-Distortion Framework for Black-Box Language Models, NeurIPS 2024. https://proceedings.neurips.cc/paper/2024/hash/ac8fbba029dadca99d6b8c3f913d3ed6-Abstract-Conference.html</a:t>
            </a:r>
          </a:p>
          <a:p xmlns:a="http://schemas.openxmlformats.org/drawingml/2006/main">
            <a:r>
              <a:t>- Lewis et al. (2020), Retrieval-Augmented Generation for Knowledge-Intensive NLP Tasks. https://arxiv.org/abs/2005.11401</a:t>
            </a:r>
          </a:p>
          <a:p xmlns:a="http://schemas.openxmlformats.org/drawingml/2006/main">
            <a:r>
              <a:t>- Deits et al. (2013), Clarifying Commands with Information-Theoretic Human-Robot Dialog. https://people.csail.mit.edu/stefie10/publications/deits13.pdf</a:t>
            </a:r>
          </a:p>
          <a:p xmlns:a="http://schemas.openxmlformats.org/drawingml/2006/main">
            <a:r>
              <a:t>- Zhang &amp; Choi (2025), Clarify When Necessary: Resolving Ambiguity Through Interaction with LMs, Findings of NAACL 2025. https://aclanthology.org/2025.naacl-findings.306/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Separador de anexos; sin afirmaciones externas..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Derivación de la regla de Bayes..</a:t>
            </a:r>
          </a:p>
          <a:p xmlns:a="http://schemas.openxmlformats.org/drawingml/2006/main">
            <a:r>
              <a:t>- Cover &amp; Thomas (2006), Elements of Information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Identidad de información mutua condicional..</a:t>
            </a:r>
          </a:p>
          <a:p xmlns:a="http://schemas.openxmlformats.org/drawingml/2006/main">
            <a:r>
              <a:t>- Shannon (1948), A Mathematical Theory of Communication. https://doi.org/10.1002/j.1538-7305.1948.tb01338.x</a:t>
            </a:r>
          </a:p>
          <a:p xmlns:a="http://schemas.openxmlformats.org/drawingml/2006/main">
            <a:r>
              <a:t>- Cover &amp; Thomas (2006), Elements of Information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Derivación de umbral bajo pérdida 0–1..</a:t>
            </a:r>
          </a:p>
          <a:p xmlns:a="http://schemas.openxmlformats.org/drawingml/2006/main">
            <a:r>
              <a:t>- Berger (1985), Statistical Decision Theory and Bayesian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Fórmula RAG citada y sensibilidad derivada..</a:t>
            </a:r>
          </a:p>
          <a:p xmlns:a="http://schemas.openxmlformats.org/drawingml/2006/main">
            <a:r>
              <a:t>- Lewis et al. (2020), Retrieval-Augmented Generation for Knowledge-Intensive NLP Tasks.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Diferencia entre promedio y observación puntual..</a:t>
            </a:r>
          </a:p>
          <a:p xmlns:a="http://schemas.openxmlformats.org/drawingml/2006/main">
            <a:r>
              <a:t>- Cover &amp; Thomas (2006), Elements of Information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Dos formulaciones citadas y una forma Lagrangiana derivada..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  <a:p xmlns:a="http://schemas.openxmlformats.org/drawingml/2006/main">
            <a:r>
              <a:t>- Nagle et al. (2024), Fundamental Limits of Prompt Compression: A Rate-Distortion Framework for Black-Box Language Models, NeurIPS 2024. https://proceedings.neurips.cc/paper/2024/hash/ac8fbba029dadca99d6b8c3f913d3ed6-Abstract-Conference.html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Identidades matemáticas bajo el supuesto de Markov indicado..</a:t>
            </a:r>
          </a:p>
          <a:p xmlns:a="http://schemas.openxmlformats.org/drawingml/2006/main">
            <a:r>
              <a:t>- Cover &amp; Thomas (2006), Elements of Information Theory.</a:t>
            </a:r>
          </a:p>
          <a:p xmlns:a="http://schemas.openxmlformats.org/drawingml/2006/main">
            <a:r>
              <a:t>- Deits et al. (2013), Clarifying Commands with Information-Theoretic Human-Robot Dialog. https://people.csail.mit.edu/stefie10/publications/deits13.pdf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Clasificación: Matriz editorial de trazabilidad; no añade resultados..</a:t>
            </a:r>
          </a:p>
          <a:p xmlns:a="http://schemas.openxmlformats.org/drawingml/2006/main">
            <a:r>
              <a:t>- Mei et al. (2025), A Survey of Context Engineering for Large Language Models, arXiv:2507.13334v2. https://arxiv.org/abs/2507.13334</a:t>
            </a:r>
          </a:p>
          <a:p xmlns:a="http://schemas.openxmlformats.org/drawingml/2006/main">
            <a:r>
              <a:t>- Nagle et al. (2024), Fundamental Limits of Prompt Compression: A Rate-Distortion Framework for Black-Box Language Models, NeurIPS 2024. https://proceedings.neurips.cc/paper/2024/hash/ac8fbba029dadca99d6b8c3f913d3ed6-Abstract-Conference.html</a:t>
            </a:r>
          </a:p>
          <a:p xmlns:a="http://schemas.openxmlformats.org/drawingml/2006/main">
            <a:r>
              <a:t>- Lewis et al. (2020), Retrieval-Augmented Generation for Knowledge-Intensive NLP Tasks. https://arxiv.org/abs/2005.11401</a:t>
            </a:r>
          </a:p>
          <a:p xmlns:a="http://schemas.openxmlformats.org/drawingml/2006/main">
            <a:r>
              <a:t>- Zhang &amp; Choi (2025), Clarify When Necessary: Resolving Ambiguity Through Interaction with LMs, Findings of NAACL 2025. https://aclanthology.org/2025.naacl-findings.306/</a:t>
            </a:r>
          </a:p>
          <a:p xmlns:a="http://schemas.openxmlformats.org/drawingml/2006/main">
            <a:r>
              <a:t>- Deits et al. (2013), Clarifying Commands with Information-Theoretic Human-Robot Dialog. https://people.csail.mit.edu/stefie10/publications/deits13.pdf</a:t>
            </a:r>
          </a:p>
          <a:p xmlns:a="http://schemas.openxmlformats.org/drawingml/2006/main">
            <a:r>
              <a:t>- Su &amp; Cardie (2026), Knowing but Not Showing: LLMs Recognize Ambiguity but Rarely Ask Clarifying Questions, preprint. https://arxiv.org/abs/2605.25284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3c5bd57b642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98406e6c2e4e84" /><Relationship Type="http://schemas.openxmlformats.org/officeDocument/2006/relationships/slideLayout" Target="/ppt/slideLayouts/slideLayout1.xml" Id="R524872e56c1546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4872e56c1546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0265420b54779" /><Relationship Type="http://schemas.openxmlformats.org/officeDocument/2006/relationships/notesSlide" Target="/ppt/notesSlides/notesSlide1.xml" Id="Rd911e999bd314e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7ec5811d14d76" /><Relationship Type="http://schemas.openxmlformats.org/officeDocument/2006/relationships/notesSlide" Target="/ppt/notesSlides/notesSlide2.xml" Id="R8bab9dd9547046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c48cc6c424913" /><Relationship Type="http://schemas.openxmlformats.org/officeDocument/2006/relationships/image" Target="/ppt/media/image.png" Id="R5d0a0b795cbb4da7" /><Relationship Type="http://schemas.openxmlformats.org/officeDocument/2006/relationships/notesSlide" Target="/ppt/notesSlides/notesSlide3.xml" Id="Re09527c0a34649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5a50dac7f4b79" /><Relationship Type="http://schemas.openxmlformats.org/officeDocument/2006/relationships/image" Target="/ppt/media/image2.png" Id="Rdaa1fdefedca485a" /><Relationship Type="http://schemas.openxmlformats.org/officeDocument/2006/relationships/notesSlide" Target="/ppt/notesSlides/notesSlide4.xml" Id="R91137c1cd61d4a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50af86ad143e2" /><Relationship Type="http://schemas.openxmlformats.org/officeDocument/2006/relationships/image" Target="/ppt/media/image3.png" Id="R3ff3f31bc70b47b1" /><Relationship Type="http://schemas.openxmlformats.org/officeDocument/2006/relationships/image" Target="/ppt/media/image4.png" Id="R1d498a0a32cb49ad" /><Relationship Type="http://schemas.openxmlformats.org/officeDocument/2006/relationships/notesSlide" Target="/ppt/notesSlides/notesSlide5.xml" Id="Rcf5d65fac36f4c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99688de324768" /><Relationship Type="http://schemas.openxmlformats.org/officeDocument/2006/relationships/image" Target="/ppt/media/image5.png" Id="R204673ef4f974602" /><Relationship Type="http://schemas.openxmlformats.org/officeDocument/2006/relationships/image" Target="/ppt/media/image6.png" Id="Re0d10ee98f7d45f1" /><Relationship Type="http://schemas.openxmlformats.org/officeDocument/2006/relationships/image" Target="/ppt/media/image7.png" Id="Rd4e4cdef8c424f6e" /><Relationship Type="http://schemas.openxmlformats.org/officeDocument/2006/relationships/notesSlide" Target="/ppt/notesSlides/notesSlide6.xml" Id="Re009ee66230646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fe702655a44ad" /><Relationship Type="http://schemas.openxmlformats.org/officeDocument/2006/relationships/image" Target="/ppt/media/image8.png" Id="R2aa0150b99b64c2f" /><Relationship Type="http://schemas.openxmlformats.org/officeDocument/2006/relationships/image" Target="/ppt/media/image9.png" Id="R33d46d44499f4352" /><Relationship Type="http://schemas.openxmlformats.org/officeDocument/2006/relationships/notesSlide" Target="/ppt/notesSlides/notesSlide7.xml" Id="R78447c29c93649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a76e269e548bf" /><Relationship Type="http://schemas.openxmlformats.org/officeDocument/2006/relationships/image" Target="/ppt/media/image10.png" Id="R0d18e14159e94ecb" /><Relationship Type="http://schemas.openxmlformats.org/officeDocument/2006/relationships/image" Target="/ppt/media/image11.png" Id="R96057f24f06641aa" /><Relationship Type="http://schemas.openxmlformats.org/officeDocument/2006/relationships/notesSlide" Target="/ppt/notesSlides/notesSlide8.xml" Id="Rbaf59e051ba049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a857a6afe4026" /><Relationship Type="http://schemas.openxmlformats.org/officeDocument/2006/relationships/image" Target="/ppt/media/image12.png" Id="Ra940a160ab894342" /><Relationship Type="http://schemas.openxmlformats.org/officeDocument/2006/relationships/notesSlide" Target="/ppt/notesSlides/notesSlide9.xml" Id="R48646b8e6ec84e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8bf75ce9143e3" /><Relationship Type="http://schemas.openxmlformats.org/officeDocument/2006/relationships/image" Target="/ppt/media/image13.png" Id="Rc942ca79fea6446c" /><Relationship Type="http://schemas.openxmlformats.org/officeDocument/2006/relationships/image" Target="/ppt/media/image14.png" Id="R667846ae3f6b4e39" /><Relationship Type="http://schemas.openxmlformats.org/officeDocument/2006/relationships/notesSlide" Target="/ppt/notesSlides/notesSlide10.xml" Id="R99791ea272a249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05ab2af6744e6" /><Relationship Type="http://schemas.openxmlformats.org/officeDocument/2006/relationships/image" Target="/ppt/media/image15.png" Id="R05cb0b56aa7840ca" /><Relationship Type="http://schemas.openxmlformats.org/officeDocument/2006/relationships/notesSlide" Target="/ppt/notesSlides/notesSlide11.xml" Id="R4a0e36c4542e4f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273b353124268" /><Relationship Type="http://schemas.openxmlformats.org/officeDocument/2006/relationships/image" Target="/ppt/media/image16.png" Id="R64745e5a15474bc8" /><Relationship Type="http://schemas.openxmlformats.org/officeDocument/2006/relationships/notesSlide" Target="/ppt/notesSlides/notesSlide12.xml" Id="Rf258264dc0894a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f41e5fe9f4f18" /><Relationship Type="http://schemas.openxmlformats.org/officeDocument/2006/relationships/image" Target="/ppt/media/image17.png" Id="R3cd835bd568a4092" /><Relationship Type="http://schemas.openxmlformats.org/officeDocument/2006/relationships/image" Target="/ppt/media/image18.png" Id="Rec32babc3c7e4934" /><Relationship Type="http://schemas.openxmlformats.org/officeDocument/2006/relationships/notesSlide" Target="/ppt/notesSlides/notesSlide13.xml" Id="Rc9aab173e13842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4e69973a54b5b" /><Relationship Type="http://schemas.openxmlformats.org/officeDocument/2006/relationships/notesSlide" Target="/ppt/notesSlides/notesSlide14.xml" Id="R26ab5c4b31d54d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82707914c43f1" /><Relationship Type="http://schemas.openxmlformats.org/officeDocument/2006/relationships/notesSlide" Target="/ppt/notesSlides/notesSlide15.xml" Id="R2df1b93e1d2a4d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07f35ef0945c5" /><Relationship Type="http://schemas.openxmlformats.org/officeDocument/2006/relationships/image" Target="/ppt/media/image19.png" Id="R8661a3542d224fb5" /><Relationship Type="http://schemas.openxmlformats.org/officeDocument/2006/relationships/notesSlide" Target="/ppt/notesSlides/notesSlide16.xml" Id="R25c4a7f2025b47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655b32ea142fb" /><Relationship Type="http://schemas.openxmlformats.org/officeDocument/2006/relationships/image" Target="/ppt/media/image20.png" Id="Rda1cea2079384843" /><Relationship Type="http://schemas.openxmlformats.org/officeDocument/2006/relationships/image" Target="/ppt/media/image21.png" Id="R7c4cb5d3e1c54236" /><Relationship Type="http://schemas.openxmlformats.org/officeDocument/2006/relationships/image" Target="/ppt/media/image22.png" Id="Rd9c07e0647f148a0" /><Relationship Type="http://schemas.openxmlformats.org/officeDocument/2006/relationships/notesSlide" Target="/ppt/notesSlides/notesSlide17.xml" Id="R01bcd1e9798941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d5141529d4982" /><Relationship Type="http://schemas.openxmlformats.org/officeDocument/2006/relationships/image" Target="/ppt/media/image23.png" Id="Rde4c38e97690471b" /><Relationship Type="http://schemas.openxmlformats.org/officeDocument/2006/relationships/notesSlide" Target="/ppt/notesSlides/notesSlide18.xml" Id="R1c18040d21e541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5cff762034b7c" /><Relationship Type="http://schemas.openxmlformats.org/officeDocument/2006/relationships/image" Target="/ppt/media/image24.png" Id="R06500906a25c4a3c" /><Relationship Type="http://schemas.openxmlformats.org/officeDocument/2006/relationships/image" Target="/ppt/media/image25.png" Id="R820dd192e0094d3d" /><Relationship Type="http://schemas.openxmlformats.org/officeDocument/2006/relationships/image" Target="/ppt/media/image26.png" Id="R46fb3a4ef2654322" /><Relationship Type="http://schemas.openxmlformats.org/officeDocument/2006/relationships/image" Target="/ppt/media/image27.png" Id="Rbb4fcdfe5339432e" /><Relationship Type="http://schemas.openxmlformats.org/officeDocument/2006/relationships/notesSlide" Target="/ppt/notesSlides/notesSlide19.xml" Id="R373c4eda63f14a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7707f9ccc4477" /><Relationship Type="http://schemas.openxmlformats.org/officeDocument/2006/relationships/notesSlide" Target="/ppt/notesSlides/notesSlide20.xml" Id="R5c2286567f3a480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fa4e9856746f9" /><Relationship Type="http://schemas.openxmlformats.org/officeDocument/2006/relationships/image" Target="/ppt/media/image28.png" Id="R39b11f83e5bc48fe" /><Relationship Type="http://schemas.openxmlformats.org/officeDocument/2006/relationships/image" Target="/ppt/media/image29.png" Id="R1bcc575265714911" /><Relationship Type="http://schemas.openxmlformats.org/officeDocument/2006/relationships/notesSlide" Target="/ppt/notesSlides/notesSlide21.xml" Id="R9a5592320b7544f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5c6f95e024e4b" /><Relationship Type="http://schemas.openxmlformats.org/officeDocument/2006/relationships/image" Target="/ppt/media/image30.png" Id="Rb6209319b00f43f8" /><Relationship Type="http://schemas.openxmlformats.org/officeDocument/2006/relationships/image" Target="/ppt/media/image31.png" Id="R9b088bae7a4f4ec1" /><Relationship Type="http://schemas.openxmlformats.org/officeDocument/2006/relationships/notesSlide" Target="/ppt/notesSlides/notesSlide22.xml" Id="Rfb45a701395848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2f27946a74b85" /><Relationship Type="http://schemas.openxmlformats.org/officeDocument/2006/relationships/image" Target="/ppt/media/image32.png" Id="Rebefdfabccc74b6d" /><Relationship Type="http://schemas.openxmlformats.org/officeDocument/2006/relationships/image" Target="/ppt/media/image33.png" Id="Rac103f22edfa4890" /><Relationship Type="http://schemas.openxmlformats.org/officeDocument/2006/relationships/image" Target="/ppt/media/image34.png" Id="R56036bcf6a68433b" /><Relationship Type="http://schemas.openxmlformats.org/officeDocument/2006/relationships/notesSlide" Target="/ppt/notesSlides/notesSlide23.xml" Id="R75f0e40c19f345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cee364a5349e7" /><Relationship Type="http://schemas.openxmlformats.org/officeDocument/2006/relationships/chart" Target="/ppt/slides/charts/chart1.xml" Id="Reda7eb658c5242a6" /><Relationship Type="http://schemas.openxmlformats.org/officeDocument/2006/relationships/notesSlide" Target="/ppt/notesSlides/notesSlide24.xml" Id="R4d9e4c0cee18470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e7534c72c4658" /><Relationship Type="http://schemas.openxmlformats.org/officeDocument/2006/relationships/notesSlide" Target="/ppt/notesSlides/notesSlide25.xml" Id="R492d1b7aa765403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a2831d85b4ea0" /><Relationship Type="http://schemas.openxmlformats.org/officeDocument/2006/relationships/image" Target="/ppt/media/image35.png" Id="Ra979eafa49444ffb" /><Relationship Type="http://schemas.openxmlformats.org/officeDocument/2006/relationships/notesSlide" Target="/ppt/notesSlides/notesSlide26.xml" Id="R1db3f075758f4b6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e02363fa845bf" /><Relationship Type="http://schemas.openxmlformats.org/officeDocument/2006/relationships/notesSlide" Target="/ppt/notesSlides/notesSlide27.xml" Id="Ra30257af6ef343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fffa1d9d442e0" /><Relationship Type="http://schemas.openxmlformats.org/officeDocument/2006/relationships/notesSlide" Target="/ppt/notesSlides/notesSlide28.xml" Id="R08d7c9958dff4e2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04cad95644395" /><Relationship Type="http://schemas.openxmlformats.org/officeDocument/2006/relationships/notesSlide" Target="/ppt/notesSlides/notesSlide29.xml" Id="R8944c3aa035e4f8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4a02f7ecd4cf8" /><Relationship Type="http://schemas.openxmlformats.org/officeDocument/2006/relationships/notesSlide" Target="/ppt/notesSlides/notesSlide30.xml" Id="R39ad51e97127424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5ac549ba24040" /><Relationship Type="http://schemas.openxmlformats.org/officeDocument/2006/relationships/notesSlide" Target="/ppt/notesSlides/notesSlide31.xml" Id="R71524825af9e407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a20d888454b15" /><Relationship Type="http://schemas.openxmlformats.org/officeDocument/2006/relationships/notesSlide" Target="/ppt/notesSlides/notesSlide32.xml" Id="Rde80aed9fec5432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cff3afa6044a2" /><Relationship Type="http://schemas.openxmlformats.org/officeDocument/2006/relationships/notesSlide" Target="/ppt/notesSlides/notesSlide33.xml" Id="Ra5d7885c8eff474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04f4679c044d4" /><Relationship Type="http://schemas.openxmlformats.org/officeDocument/2006/relationships/image" Target="/ppt/media/image36.png" Id="Rffcea7a0d1d84377" /><Relationship Type="http://schemas.openxmlformats.org/officeDocument/2006/relationships/image" Target="/ppt/media/image37.png" Id="R1ea07b4fb9c74a4d" /><Relationship Type="http://schemas.openxmlformats.org/officeDocument/2006/relationships/image" Target="/ppt/media/image38.png" Id="R679327f961c14672" /><Relationship Type="http://schemas.openxmlformats.org/officeDocument/2006/relationships/notesSlide" Target="/ppt/notesSlides/notesSlide34.xml" Id="R80db04e9231d4c0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9d87fd4304a42" /><Relationship Type="http://schemas.openxmlformats.org/officeDocument/2006/relationships/image" Target="/ppt/media/image39.png" Id="R5ca011ea71654b35" /><Relationship Type="http://schemas.openxmlformats.org/officeDocument/2006/relationships/image" Target="/ppt/media/image40.png" Id="R6e3cc48fca724f03" /><Relationship Type="http://schemas.openxmlformats.org/officeDocument/2006/relationships/image" Target="/ppt/media/image41.png" Id="R38a7b37a90464245" /><Relationship Type="http://schemas.openxmlformats.org/officeDocument/2006/relationships/notesSlide" Target="/ppt/notesSlides/notesSlide35.xml" Id="Ra0b5a4b4f21d48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49adc5c0b45f4" /><Relationship Type="http://schemas.openxmlformats.org/officeDocument/2006/relationships/notesSlide" Target="/ppt/notesSlides/notesSlide36.xml" Id="Rcb6c0239227242d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Sin contexto</c:v>
          </c:tx>
          <c:spPr>
            <a:solidFill xmlns:a="http://schemas.openxmlformats.org/drawingml/2006/main">
              <a:srgbClr val="AFC8CE"/>
            </a:solidFill>
            <a:ln xmlns:a="http://schemas.openxmlformats.org/drawingml/2006/main" w="9525">
              <a:solidFill>
                <a:srgbClr val="8AABB4"/>
              </a:solidFill>
              <a:prstDash val="solid"/>
            </a:ln>
          </c:spPr>
          <c:cat>
            <c:strLit>
              <c:ptCount val="2"/>
              <c:pt idx="0">
                <c:v>No ambigua</c:v>
              </c:pt>
              <c:pt idx="1">
                <c:v>Ambigua</c:v>
              </c:pt>
            </c:strLit>
          </c:cat>
          <c:val>
            <c:numLit>
              <c:formatCode>0"%"</c:formatCode>
              <c:ptCount val="2"/>
              <c:pt idx="0">
                <c:v>54</c:v>
              </c:pt>
              <c:pt idx="1">
                <c:v>46</c:v>
              </c:pt>
            </c:numLit>
          </c:val>
        </c:ser>
        <c:ser>
          <c:idx val="1"/>
          <c:order val="1"/>
          <c:tx>
            <c:v>Con contexto</c:v>
          </c:tx>
          <c:spPr>
            <a:solidFill xmlns:a="http://schemas.openxmlformats.org/drawingml/2006/main">
              <a:srgbClr val="156082"/>
            </a:solidFill>
            <a:ln xmlns:a="http://schemas.openxmlformats.org/drawingml/2006/main" w="9525">
              <a:solidFill>
                <a:srgbClr val="0E4A5A"/>
              </a:solidFill>
              <a:prstDash val="solid"/>
            </a:ln>
          </c:spPr>
          <c:cat>
            <c:strLit>
              <c:ptCount val="2"/>
              <c:pt idx="0">
                <c:v>No ambigua</c:v>
              </c:pt>
              <c:pt idx="1">
                <c:v>Ambigua</c:v>
              </c:pt>
            </c:strLit>
          </c:cat>
          <c:val>
            <c:numLit>
              <c:formatCode>0"%"</c:formatCode>
              <c:ptCount val="2"/>
              <c:pt idx="0">
                <c:v>67</c:v>
              </c:pt>
              <c:pt idx="1">
                <c:v>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415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lipse 24">
            <a:extLst xmlns:a="http://schemas.openxmlformats.org/drawingml/2006/main">
              <a:ext uri="{FF2B5EF4-FFF2-40B4-BE49-F238E27FC236}">
                <a16:creationId xmlns:a16="http://schemas.microsoft.com/office/drawing/2014/main" id="{668E6363-E16B-41EB-A49F-6C509F7F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04875"/>
            <a:ext cx="400050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769F4">
                  <a:alpha val="42000"/>
                </a:srgbClr>
              </a:gs>
              <a:gs pos="72000">
                <a:srgbClr val="7769F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2445CF0B-79BC-43ED-B98D-A46A3031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34290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5E0D0">
                  <a:alpha val="30000"/>
                </a:srgbClr>
              </a:gs>
              <a:gs pos="72000">
                <a:srgbClr val="45E0D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ángulo: esquinas redondeadas 2">
            <a:extLst xmlns:a="http://schemas.openxmlformats.org/drawingml/2006/main">
              <a:ext uri="{FF2B5EF4-FFF2-40B4-BE49-F238E27FC236}">
                <a16:creationId xmlns:a16="http://schemas.microsoft.com/office/drawing/2014/main" id="{86F0EF1A-BA7C-4550-95CA-F4F2195E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76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2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C0852A1-DC7C-48F2-9E5E-812E3735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ESTRATEGIA · RAG · DECISIONES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3DCA87D-7E4A-42F4-9B2F-484246F9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Context Engineering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4995D148-99ED-4F9C-AEA8-96ABD6D0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400" b="1" i="0">
                <a:solidFill>
                  <a:srgbClr val="3DD6C6"/>
                </a:solidFill>
                <a:latin typeface="Aptos Display"/>
                <a:ea typeface="Aptos Display"/>
                <a:cs typeface="Aptos Display"/>
              </a:rPr>
              <a:t>y manejo de ambigüedad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3F0339DB-9AFF-410C-B228-9522E897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CDD4E7"/>
                </a:solidFill>
                <a:latin typeface="Aptos"/>
                <a:ea typeface="Aptos"/>
                <a:cs typeface="Aptos"/>
              </a:defRPr>
            </a:pPr>
            <a:r>
              <a:rPr sz="20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Diseñar la información que el modelo necesita — y saber cuándo preguntar.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E27E30BF-89C8-4850-B361-2AA577B9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C7CEDF"/>
                </a:solidFill>
                <a:latin typeface="Aptos"/>
                <a:ea typeface="Aptos"/>
                <a:cs typeface="Aptos"/>
              </a:rPr>
              <a:t>Kevin Gomez Villanueva  ·  AI Engineer en BCP  ·  Julio 2026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304543B5-D8F6-445E-8B61-D262757A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10625" y="1714500"/>
            <a:ext cx="1266825" cy="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5E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42B44321-8953-4B9F-91AE-4282FDB7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10625" y="2667000"/>
            <a:ext cx="1685925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Conector recto 10">
            <a:extLst xmlns:a="http://schemas.openxmlformats.org/drawingml/2006/main">
              <a:ext uri="{FF2B5EF4-FFF2-40B4-BE49-F238E27FC236}">
                <a16:creationId xmlns:a16="http://schemas.microsoft.com/office/drawing/2014/main" id="{14B9E05F-0ABB-4D0C-A366-59B01D2A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7621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Conector recto 11">
            <a:extLst xmlns:a="http://schemas.openxmlformats.org/drawingml/2006/main">
              <a:ext uri="{FF2B5EF4-FFF2-40B4-BE49-F238E27FC236}">
                <a16:creationId xmlns:a16="http://schemas.microsoft.com/office/drawing/2014/main" id="{4E062AC5-F0E5-4C83-A43D-266B5A62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190625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F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Conector recto 12">
            <a:extLst xmlns:a="http://schemas.openxmlformats.org/drawingml/2006/main">
              <a:ext uri="{FF2B5EF4-FFF2-40B4-BE49-F238E27FC236}">
                <a16:creationId xmlns:a16="http://schemas.microsoft.com/office/drawing/2014/main" id="{9B81A806-ADE3-4C74-97F6-4FC845D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Elipse 13">
            <a:extLst xmlns:a="http://schemas.openxmlformats.org/drawingml/2006/main">
              <a:ext uri="{FF2B5EF4-FFF2-40B4-BE49-F238E27FC236}">
                <a16:creationId xmlns:a16="http://schemas.microsoft.com/office/drawing/2014/main" id="{B9198B71-39A0-46E6-90F9-7253CDE7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14700"/>
            <a:ext cx="11430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5E0D0">
                <a:alpha val="7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7040CC15-8324-4F81-B4B0-AD8833DA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740D85D-7978-40FF-AE57-131F4538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287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20000"/>
            </a:srgbClr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D141880-6621-4370-A6C3-A6ECE35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62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8" name="Elipse 17">
            <a:extLst xmlns:a="http://schemas.openxmlformats.org/drawingml/2006/main">
              <a:ext uri="{FF2B5EF4-FFF2-40B4-BE49-F238E27FC236}">
                <a16:creationId xmlns:a16="http://schemas.microsoft.com/office/drawing/2014/main" id="{C8E21044-4E30-43AC-A5E8-3D2538EE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812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20000"/>
            </a:srgbClr>
          </a:solidFill>
          <a:ln xmlns:a="http://schemas.openxmlformats.org/drawingml/2006/main" w="19050">
            <a:solidFill>
              <a:srgbClr val="7769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15A430F-F76B-4A83-B18B-C091F0D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146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20" name="Elipse 19">
            <a:extLst xmlns:a="http://schemas.openxmlformats.org/drawingml/2006/main">
              <a:ext uri="{FF2B5EF4-FFF2-40B4-BE49-F238E27FC236}">
                <a16:creationId xmlns:a16="http://schemas.microsoft.com/office/drawing/2014/main" id="{5C2E1A1F-E6F4-4AE9-95AB-3F126D5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480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E">
              <a:alpha val="20000"/>
            </a:srgbClr>
          </a:solidFill>
          <a:ln xmlns:a="http://schemas.openxmlformats.org/drawingml/2006/main" w="19050">
            <a:solidFill>
              <a:srgbClr val="FFB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208017C7-B626-444D-B671-2B1A54FA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814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E680843B-C48B-4226-9204-88BE085D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24375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7D">
              <a:alpha val="20000"/>
            </a:srgbClr>
          </a:solidFill>
          <a:ln xmlns:a="http://schemas.openxmlformats.org/drawingml/2006/main" w="19050">
            <a:solidFill>
              <a:srgbClr val="FF6F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A70C7BF6-9AE4-4833-8681-7534587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577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Z₄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CB2BB35A-5BEB-4322-B691-4DB2593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387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937DAF15-F4E4-46D8-8B59-477BD0E5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02 / PROBLEMA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114E3513-4D26-471F-9310-13C093F8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Una pregunta puede tener varias respuestas correctas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414AE608-6C66-439C-8708-BBC502AD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EEE694F-1545-4ED6-8830-8982114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47875"/>
            <a:ext cx="956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“¿Cuál es el banco más grande?”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1E32C6DB-420E-4824-A0F6-EFA2128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F26093-1646-43B0-B60B-897B50DE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activos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A2258157-7264-4E52-8ADE-1400CF5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2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5E3EB26-D14E-4DC3-BA95-8F647412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capitalización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DF3E0789-F1EE-40B4-90FA-F8BF1B5B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1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0D7C37F4-EAC5-4696-A4C1-70B57C2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32441E6B-74DA-43BC-AC26-B1DAFC5C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7D">
              <a:alpha val="12000"/>
            </a:srgbClr>
          </a:solidFill>
          <a:ln xmlns:a="http://schemas.openxmlformats.org/drawingml/2006/main" w="9525">
            <a:solidFill>
              <a:srgbClr val="FF6F7D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5DDB9B5F-C591-42E0-A0CC-B9471C0A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ingresos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5D81AE61-557C-43ED-9D75-F881A2A0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590">
              <a:alpha val="12000"/>
            </a:srgbClr>
          </a:solidFill>
          <a:ln xmlns:a="http://schemas.openxmlformats.org/drawingml/2006/main" w="9525">
            <a:solidFill>
              <a:srgbClr val="62D590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DAC9812D-1D48-49A2-BD64-F95F26A9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presencia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0315466C-C19A-48A2-955B-BCC5909E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>
                <a:solidFill/>
                <a:latin typeface="Aptos"/>
                <a:ea typeface="Aptos"/>
                <a:cs typeface="Aptos"/>
              </a:rPr>
              <a:t>Una respuesta puede ser correcta y, aun así, interpretar mal la intención.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CBFC0C2F-3C85-4B8C-ADE4-FC441490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>
                <a:solidFill/>
                <a:latin typeface="Aptos"/>
                <a:ea typeface="Aptos"/>
                <a:cs typeface="Aptos"/>
              </a:rPr>
              <a:t>Antes de responder, el sistema debe decidir qué significa realmente X.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D53314D-EFA6-403E-AEFC-8CB21E28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Ejemplo ilustrativo · las alternativas no son resultados empíricos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1E44D1D-780A-4BE1-962F-A8A6E519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1277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6BB61D0-7E1B-4090-BC1A-62A1AE78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03 / QUÉ ES CONTEXT ENGINEERING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7840ADB4-FB88-4845-81D4-1F2226BC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Context Engineering decide qué información entra al modelo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F1A57129-62B8-479A-824B-2A9E414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2F87F132-58CB-469B-91DF-05845C86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A3398E1-DAB9-4F04-BA15-711A5527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DEFINICIÓN OPERACIONAL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818CCD8E-405F-4101-BFFF-CBE97322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Seleccionar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, 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generar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, 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estructurar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y 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administrar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la 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información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que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condiciona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la 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respuesta</a:t>
            </a: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E09AC76-B99C-4177-8476-8190B7EA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No es solo prompt engineering. 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Incluye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recuperación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, memoria, 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herramientas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, 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estructura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, 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compresión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y 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ensamblaje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dinámico</a:t>
            </a: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ECA70179-C404-452F-95FD-B1A5618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645795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n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a0b795cbb4da7"/>
          <a:stretch xmlns:a="http://schemas.openxmlformats.org/drawingml/2006/main"/>
        </p:blipFill>
        <p:spPr>
          <a:xfrm xmlns:a="http://schemas.openxmlformats.org/drawingml/2006/main">
            <a:off x="5257800" y="2590468"/>
            <a:ext cx="6038850" cy="2019964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F1F53669-ADC3-4EC9-A1A4-30228F72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Mei et al. (2025) · survey_context.pdf · Fig. 3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9B03B65A-095B-4096-B0FA-9B0A6520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82229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A7F4F8F-C3FD-4225-B39E-088ECB01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"/>
            <a:ext cx="5943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04 / QUÉ ES CONTEXT ENGINEERING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4C24F49-3AE1-4E71-856D-991AB47C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944"/>
            <a:ext cx="108356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El contexto se compone de seis familias de información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274D261-EA89-45AC-A5AF-8C71FAB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108173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7F913-4028-462B-9922-A5E68F42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71650"/>
            <a:ext cx="904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F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1fdefedca485a"/>
          <a:stretch xmlns:a="http://schemas.openxmlformats.org/drawingml/2006/main"/>
        </p:blipFill>
        <p:spPr>
          <a:xfrm xmlns:a="http://schemas.openxmlformats.org/drawingml/2006/main">
            <a:off x="2614502" y="1866900"/>
            <a:ext cx="6962997" cy="495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BF015-EEFB-4756-8202-F3B7F70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33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94584-9F78-48E3-B58D-53543A9F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INSTRUCCIONES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2A747-82A3-4569-93A8-171BA730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reglas y objetivos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1724F-075E-48CC-A9ED-B525F1AB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3333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248F7-B22C-4335-890A-FF396951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CONOCIMIENTO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F37B0-8F4E-4292-A52A-DED79C0A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 recuperada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2F252-DCFC-411E-A805-A221C099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3333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F5A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A2AAE-ACB2-4201-942A-5D517BCB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HERRAMIENTAS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9F341-EADE-444D-91E6-5CA678D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funciones disponibles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6E6A6-7F81-49FE-B70E-47567290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333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11430">
            <a:solidFill>
              <a:srgbClr val="49C9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E482C-B289-4032-8E9D-69F232AD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MEMORIA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02A6B-B276-459A-AE0E-99C73968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información persistente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A6D44-D5B3-4568-9291-AF3ECD29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29100"/>
            <a:ext cx="3333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1430">
            <a:solidFill>
              <a:srgbClr val="FF647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1F37A-563D-43FA-B9B3-B4F7E585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ESTADO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CAF79-D60D-4547-9CA5-47CDBEB9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434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usuario, mundo y agentes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C7D5A-9AE2-40BE-B9A8-B9E0C27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3333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4F6"/>
          </a:solidFill>
          <a:ln xmlns:a="http://schemas.openxmlformats.org/drawingml/2006/main" w="11430">
            <a:solidFill>
              <a:srgbClr val="4E96A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AE892-A426-4CDB-A0AD-C305EA81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00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E96A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E96A3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70EFB-86C4-475E-BAEF-25AB7A52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434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petición inmediata</a:t>
            </a:r>
          </a:p>
        </p:txBody>
      </p:sp>
    </p:spTree>
    <p:extLst>
      <p:ext uri="{BB962C8B-B14F-4D97-AF65-F5344CB8AC3E}">
        <p14:creationId xmlns:p14="http://schemas.microsoft.com/office/powerpoint/2010/main" val="97018088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3D6EBFB4-F358-485A-B659-0A7E83D0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05 / OBJETIVO FORMAL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6BDB1AD-80A4-406B-B986-BA074C9A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Maximizar calidad bajo un límite de contexto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B7410622-8EFD-4471-B95D-8350A824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867E85F3-53C0-46B7-96B0-87E4C8D4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AA6C4"/>
                </a:solidFill>
                <a:latin typeface="Aptos"/>
                <a:ea typeface="Aptos"/>
                <a:cs typeface="Aptos"/>
              </a:rPr>
              <a:t>Mei et al. (2025) · Ec. 3 y restricción |C| ≤ Lmax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D0C79EE-3BEF-4FD4-A4AC-B1E4893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2CF1C-864E-4284-988C-A1F17254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OBJETIVO DEL SURVEY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75D3A-81B1-4BAE-9A4C-7B022D9F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905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9213C"/>
          </a:solidFill>
          <a:ln xmlns:a="http://schemas.openxmlformats.org/drawingml/2006/main" w="9525">
            <a:solidFill>
              <a:srgbClr val="36405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3f31bc70b47b1"/>
          <a:stretch xmlns:a="http://schemas.openxmlformats.org/drawingml/2006/main"/>
        </p:blipFill>
        <p:spPr>
          <a:xfrm xmlns:a="http://schemas.openxmlformats.org/drawingml/2006/main">
            <a:off x="838200" y="2824147"/>
            <a:ext cx="5600700" cy="48580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8794FA-E119-4AB9-8275-CCA11C17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8263C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98a0a32cb49ad"/>
          <a:stretch xmlns:a="http://schemas.openxmlformats.org/drawingml/2006/main"/>
        </p:blipFill>
        <p:spPr>
          <a:xfrm xmlns:a="http://schemas.openxmlformats.org/drawingml/2006/main">
            <a:off x="1135036" y="4143375"/>
            <a:ext cx="1959027" cy="5143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585AB-E486-490C-8533-71778734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Maximizar calidad esperada y tratar la longitud como una restricción explícita.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9CA713-1BF9-409C-AE12-5810790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526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QUÉ OPTIMIZA 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CDC3CC-AE2E-4263-96E8-12A886AA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9825"/>
            <a:ext cx="4038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32324-57D1-4B8B-BD10-6F853E98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24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GENERAR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34CF38-A02A-4862-A91C-1C954B02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crear instrucciones o memoria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D0D906-EE66-4199-8B30-41AB8C6C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19450"/>
            <a:ext cx="4038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1B3B99-26D1-46E0-A8E4-85A970F8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33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RECUPERAR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C60267-DF0D-487D-885E-5B7BE6A5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buscar conocimiento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562E57-302B-49B5-B089-F2C78097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29075"/>
            <a:ext cx="4038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1430">
            <a:solidFill>
              <a:srgbClr val="49C98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80FAF6-22BE-469D-8822-D1EBEBF8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43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SELECCIONAR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4474E7-0249-47B7-B1CE-766B2126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conservar lo relevante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7D62D8-ECB4-417C-9098-C5D59EAF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4038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1430">
            <a:solidFill>
              <a:srgbClr val="F5A1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9D6C11-DAEF-4D67-98C5-F78B7C26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53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COMPRIMIR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EC61D7-0069-44C4-882D-BDD6680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reducir longitud con control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27198A-A09D-43C7-9F3F-A71E0055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8102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La razón información/tokens no es la ecuación del survey.</a:t>
            </a:r>
          </a:p>
        </p:txBody>
      </p:sp>
    </p:spTree>
    <p:extLst>
      <p:ext uri="{BB962C8B-B14F-4D97-AF65-F5344CB8AC3E}">
        <p14:creationId xmlns:p14="http://schemas.microsoft.com/office/powerpoint/2010/main" val="1224880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8E20CD3A-5CF0-4613-8352-A1AED48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06 / MODELO PROBABILÍSTICO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D0B8AA6-9A27-4079-B48F-1A4F4A79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probabilidad de una respuesta se construye token a token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BF86773F-7EBE-437C-8DB8-2BC90D6B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0FFA801-F445-41AB-8958-A15FF773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E4A5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4A5A"/>
                </a:solidFill>
                <a:latin typeface="Aptos"/>
                <a:ea typeface="Aptos"/>
                <a:cs typeface="Aptos"/>
              </a:rPr>
              <a:t>Conexión: la primera fórmula genera cada factor; la segunda combina esos factores para puntuar la respuesta Y.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309CE881-95DC-403F-B27E-72E1BE63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15811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4B138318-E307-4F06-8FC3-E70029D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4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01BF6F70-52A2-4E04-852B-F8D7082A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D6C8"/>
                </a:solidFill>
                <a:latin typeface="Aptos"/>
                <a:ea typeface="Aptos"/>
                <a:cs typeface="Aptos"/>
              </a:rPr>
              <a:t>EJEMPLO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DAD685CC-F2E2-4A29-90FE-27CD0B57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05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Sin contrato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0E9245C-0FAC-4767-B949-BD34A710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647C"/>
                </a:solidFill>
                <a:latin typeface="Aptos"/>
                <a:ea typeface="Aptos"/>
                <a:cs typeface="Aptos"/>
              </a:rPr>
              <a:t>“12 meses”</a:t>
            </a:r>
          </a:p>
        </p:txBody>
      </p:sp>
      <p:sp>
        <p:nvSpPr>
          <p:cNvPr id="12" name="Conector recto 11">
            <a:extLst xmlns:a="http://schemas.openxmlformats.org/drawingml/2006/main">
              <a:ext uri="{FF2B5EF4-FFF2-40B4-BE49-F238E27FC236}">
                <a16:creationId xmlns:a16="http://schemas.microsoft.com/office/drawing/2014/main" id="{20461332-9B29-40C6-B934-2C329142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01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28AF78C-AD19-488F-B98D-5D33CD7E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 contrato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2000D48-457B-463C-B62E-990E1564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49C986"/>
                </a:solidFill>
                <a:latin typeface="Aptos"/>
                <a:ea typeface="Aptos"/>
                <a:cs typeface="Aptos"/>
              </a:rPr>
              <a:t>“24 meses”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1858BDA-5CE8-4CAB-904C-6D53DA4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Identidad autoregresiva · ejemplo hipotético de garantía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BE03278-1F75-4172-9C82-70EFA705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52" name="Ecuación s05_tok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673ef4f9746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00300"/>
            <a:ext cx="4572000" cy="723900"/>
          </a:xfrm>
          <a:prstGeom xmlns:a="http://schemas.openxmlformats.org/drawingml/2006/main" prst="rect">
            <a:avLst/>
          </a:prstGeom>
        </p:spPr>
      </p:pic>
      <p:pic>
        <p:nvPicPr>
          <p:cNvPr id="53" name="Ecuación s05_seque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10ee98f7d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2438400"/>
            <a:ext cx="4000500" cy="666750"/>
          </a:xfrm>
          <a:prstGeom xmlns:a="http://schemas.openxmlformats.org/drawingml/2006/main" prst="rect">
            <a:avLst/>
          </a:prstGeom>
        </p:spPr>
      </p:pic>
      <p:pic>
        <p:nvPicPr>
          <p:cNvPr id="54" name="Ecuación s05_examp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4cdef8c42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5219700"/>
            <a:ext cx="4476750" cy="36195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A47B936-39B5-4581-9D50-939345D7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E4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4A5A"/>
                </a:solidFill>
                <a:latin typeface="Aptos"/>
                <a:ea typeface="Aptos"/>
                <a:cs typeface="Aptos"/>
              </a:rPr>
              <a:t>Consulta: «¿Cuánto dura la garantía?»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13A729F-91BB-46D2-AA10-F172F2BE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Notación · θ parámetros · yₜ token actual · y&lt;ₜ prefijo · X consulta · C contrato · Y respuesta completa</a:t>
            </a:r>
          </a:p>
        </p:txBody>
      </p:sp>
      <p:sp>
        <p:nvSpPr>
          <p:cNvPr id="26" name="slide6-step1-surface">
            <a:extLst xmlns:a="http://schemas.openxmlformats.org/drawingml/2006/main">
              <a:ext uri="{FF2B5EF4-FFF2-40B4-BE49-F238E27FC236}">
                <a16:creationId xmlns:a16="http://schemas.microsoft.com/office/drawing/2014/main" id="{326715AF-A22B-470B-8661-3854F5CF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600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lide6-step1">
            <a:extLst xmlns:a="http://schemas.openxmlformats.org/drawingml/2006/main">
              <a:ext uri="{FF2B5EF4-FFF2-40B4-BE49-F238E27FC236}">
                <a16:creationId xmlns:a16="http://schemas.microsoft.com/office/drawing/2014/main" id="{CC8E171D-C129-4EDA-A0E1-76E10FE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 · SIGUIENTE TOKEN</a:t>
            </a:r>
          </a:p>
        </p:txBody>
      </p:sp>
      <p:sp>
        <p:nvSpPr>
          <p:cNvPr id="28" name="slide6-step2-surface">
            <a:extLst xmlns:a="http://schemas.openxmlformats.org/drawingml/2006/main">
              <a:ext uri="{FF2B5EF4-FFF2-40B4-BE49-F238E27FC236}">
                <a16:creationId xmlns:a16="http://schemas.microsoft.com/office/drawing/2014/main" id="{92F1B860-0FE7-4F50-AA60-344B8CF3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1943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9525">
            <a:solidFill>
              <a:srgbClr val="168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lide6-step2">
            <a:extLst xmlns:a="http://schemas.openxmlformats.org/drawingml/2006/main">
              <a:ext uri="{FF2B5EF4-FFF2-40B4-BE49-F238E27FC236}">
                <a16:creationId xmlns:a16="http://schemas.microsoft.com/office/drawing/2014/main" id="{A0E3CE88-A635-4E57-8D35-5108AB90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669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2 · RESPUESTA COMPLETA</a:t>
            </a:r>
          </a:p>
        </p:txBody>
      </p:sp>
      <p:sp>
        <p:nvSpPr>
          <p:cNvPr id="30" name="slide6-token-to-sequence">
            <a:extLst xmlns:a="http://schemas.openxmlformats.org/drawingml/2006/main">
              <a:ext uri="{FF2B5EF4-FFF2-40B4-BE49-F238E27FC236}">
                <a16:creationId xmlns:a16="http://schemas.microsoft.com/office/drawing/2014/main" id="{6E0FFC64-F351-4628-A879-61D2B665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9080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D4"/>
          </a:solidFill>
          <a:ln xmlns:a="http://schemas.openxmlformats.org/drawingml/2006/main" w="9525">
            <a:solidFill>
              <a:srgbClr val="A5AE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lide6-connector-label">
            <a:extLst xmlns:a="http://schemas.openxmlformats.org/drawingml/2006/main">
              <a:ext uri="{FF2B5EF4-FFF2-40B4-BE49-F238E27FC236}">
                <a16:creationId xmlns:a16="http://schemas.microsoft.com/office/drawing/2014/main" id="{95F8FAE9-0BD0-4F54-BE0B-B649E4A9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241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repetir para t=1…T</a:t>
            </a:r>
          </a:p>
        </p:txBody>
      </p:sp>
      <p:sp>
        <p:nvSpPr>
          <p:cNvPr id="32" name="slide6-step1-explanation">
            <a:extLst xmlns:a="http://schemas.openxmlformats.org/drawingml/2006/main">
              <a:ext uri="{FF2B5EF4-FFF2-40B4-BE49-F238E27FC236}">
                <a16:creationId xmlns:a16="http://schemas.microsoft.com/office/drawing/2014/main" id="{B18EF875-FF27-45D0-B3FC-A88433B9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Calcula la probabilidad de yₜ usando la consulta X, el contexto C y los tokens anteriores y&lt;ₜ.</a:t>
            </a:r>
          </a:p>
        </p:txBody>
      </p:sp>
      <p:sp>
        <p:nvSpPr>
          <p:cNvPr id="33" name="slide6-step2-explanation">
            <a:extLst xmlns:a="http://schemas.openxmlformats.org/drawingml/2006/main">
              <a:ext uri="{FF2B5EF4-FFF2-40B4-BE49-F238E27FC236}">
                <a16:creationId xmlns:a16="http://schemas.microsoft.com/office/drawing/2014/main" id="{383E6F8C-0B09-45C2-A623-0765C650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Repite el mismo cálculo en cada posición y multiplica todos los factores.</a:t>
            </a:r>
          </a:p>
        </p:txBody>
      </p:sp>
    </p:spTree>
    <p:extLst>
      <p:ext uri="{BB962C8B-B14F-4D97-AF65-F5344CB8AC3E}">
        <p14:creationId xmlns:p14="http://schemas.microsoft.com/office/powerpoint/2010/main" val="88360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B992F4B-5646-4550-82BF-9B9E337A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07 / VALOR DE LA INFORMACIÓN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0FC85BE-F140-4FBA-8115-31D96FB6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información mutua mide una reducción media de incertidumbre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35D23640-FBEC-4CB9-8FC3-8D7EDB2D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2674795-2397-4702-AA20-8EA1E5A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E4A5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4A5A"/>
                </a:solidFill>
                <a:latin typeface="Aptos"/>
                <a:ea typeface="Aptos"/>
                <a:cs typeface="Aptos"/>
              </a:rPr>
              <a:t>Se resta la entropía final a la inicial: esa diferencia es I(Y;C|X).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FFABAC80-7536-4BD7-AB51-6F10B9E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Sin contexto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2A7BA797-477A-468A-BB25-1B9EB80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3238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8BB635BD-EFA4-47E7-9A3F-41DBE1E2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2905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7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40219886-0DA0-4294-AD75-22C3BF6A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98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 alta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913EFA8E-0F7C-450B-B9C6-699905D2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contexto relevante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94955D35-56BD-4832-8C11-846DCC20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3238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37E548C2-7B8D-45BF-B28E-2A56F566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10668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69FDF3A-2DF0-4643-B8A2-26FF9E99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290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H baja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91EB258-76C1-4643-9C5D-8EC2555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434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barra que desaparece representa la información que C aporta sobre Y.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82F6287E-9DF8-4D96-B508-748BB63F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Shannon (1948) · Cover &amp; Thomas (2006) · identidad matemática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BAC9D1C2-F0FA-4485-9FD3-44A8AF2C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47" name="Ecuación s06_entrop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0150b99b64c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90750"/>
            <a:ext cx="5871020" cy="704850"/>
          </a:xfrm>
          <a:prstGeom xmlns:a="http://schemas.openxmlformats.org/drawingml/2006/main" prst="rect">
            <a:avLst/>
          </a:prstGeom>
        </p:spPr>
      </p:pic>
      <p:pic>
        <p:nvPicPr>
          <p:cNvPr id="48" name="Ecuación s06_mut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46d44499f4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52850"/>
            <a:ext cx="5623560" cy="440246"/>
          </a:xfrm>
          <a:prstGeom xmlns:a="http://schemas.openxmlformats.org/drawingml/2006/main" prst="rect">
            <a:avLst/>
          </a:prstGeom>
        </p:spPr>
      </p:pic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C4FBBA8-29BF-4AE1-8F75-ED4E05B4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" tIns="19050" rIns="28575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Notación</a:t>
            </a: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· H incertidumbre · I información aportada · X consulta · C contexto · Y respuesta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Lectura: más reducción de H implica más información útil de C sobre Y.</a:t>
            </a:r>
          </a:p>
        </p:txBody>
      </p:sp>
      <p:sp>
        <p:nvSpPr>
          <p:cNvPr id="23" name="slide7-step1-surface">
            <a:extLst xmlns:a="http://schemas.openxmlformats.org/drawingml/2006/main">
              <a:ext uri="{FF2B5EF4-FFF2-40B4-BE49-F238E27FC236}">
                <a16:creationId xmlns:a16="http://schemas.microsoft.com/office/drawing/2014/main" id="{125A443A-AEA3-4155-ABF4-EEB3BBA8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885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lide7-step1">
            <a:extLst xmlns:a="http://schemas.openxmlformats.org/drawingml/2006/main">
              <a:ext uri="{FF2B5EF4-FFF2-40B4-BE49-F238E27FC236}">
                <a16:creationId xmlns:a16="http://schemas.microsoft.com/office/drawing/2014/main" id="{D311F35D-B8B7-48EC-AB83-FFDA96B1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 · EFECTO DE AÑADIR C</a:t>
            </a:r>
          </a:p>
        </p:txBody>
      </p:sp>
      <p:sp>
        <p:nvSpPr>
          <p:cNvPr id="25" name="slide7-step1-explanation">
            <a:extLst xmlns:a="http://schemas.openxmlformats.org/drawingml/2006/main">
              <a:ext uri="{FF2B5EF4-FFF2-40B4-BE49-F238E27FC236}">
                <a16:creationId xmlns:a16="http://schemas.microsoft.com/office/drawing/2014/main" id="{E04DAE32-5896-4C08-A914-B5A15564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incertidumbre restante con contexto es menor o igual que sin contexto.</a:t>
            </a:r>
          </a:p>
        </p:txBody>
      </p:sp>
      <p:sp>
        <p:nvSpPr>
          <p:cNvPr id="26" name="slide7-effect-to-measure">
            <a:extLst xmlns:a="http://schemas.openxmlformats.org/drawingml/2006/main">
              <a:ext uri="{FF2B5EF4-FFF2-40B4-BE49-F238E27FC236}">
                <a16:creationId xmlns:a16="http://schemas.microsoft.com/office/drawing/2014/main" id="{4FFA5989-FFD1-4F23-A52E-B1623823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09925"/>
            <a:ext cx="3238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C0D4"/>
          </a:solidFill>
          <a:ln xmlns:a="http://schemas.openxmlformats.org/drawingml/2006/main" w="9525">
            <a:solidFill>
              <a:srgbClr val="A5AE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lide7-step2-surface">
            <a:extLst xmlns:a="http://schemas.openxmlformats.org/drawingml/2006/main">
              <a:ext uri="{FF2B5EF4-FFF2-40B4-BE49-F238E27FC236}">
                <a16:creationId xmlns:a16="http://schemas.microsoft.com/office/drawing/2014/main" id="{DBFE7CB8-0001-49C8-A4CB-90C095A9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866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9525">
            <a:solidFill>
              <a:srgbClr val="168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lide7-step2">
            <a:extLst xmlns:a="http://schemas.openxmlformats.org/drawingml/2006/main">
              <a:ext uri="{FF2B5EF4-FFF2-40B4-BE49-F238E27FC236}">
                <a16:creationId xmlns:a16="http://schemas.microsoft.com/office/drawing/2014/main" id="{978011BF-A607-428E-943E-4C758378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2 · MEDIR LA REDUCCIÓN</a:t>
            </a:r>
          </a:p>
        </p:txBody>
      </p:sp>
    </p:spTree>
    <p:extLst>
      <p:ext uri="{BB962C8B-B14F-4D97-AF65-F5344CB8AC3E}">
        <p14:creationId xmlns:p14="http://schemas.microsoft.com/office/powerpoint/2010/main" val="7657366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A3EE3F50-A412-4278-B2DC-A10858CB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08 / PRESUPUESTO DE TOKENS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4766844-951C-40CC-8CD6-8E381AF0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longitud se modela como restricción o tasa–distorsión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FDF25FD-D6D1-481B-9B1E-6E44D1DA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Mei et al. (2025) · Nagle et al. (NeurIPS 2024)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9D79C7B7-558E-4F86-B1DE-B0F63AC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12E55E-FC68-45A2-854D-5BF19DCA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0" cy="3848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16B2EB-357A-4F49-A43E-FA819E5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518AE4-1C42-4467-9D86-49FC2D7C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SURVEY · EC. 4 + LÍMITE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43F63C-EED7-4E11-B70F-D4E40954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4457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8F7FF"/>
          </a:solidFill>
          <a:ln xmlns:a="http://schemas.openxmlformats.org/drawingml/2006/main" w="9525">
            <a:solidFill>
              <a:srgbClr val="D7D2FF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8e14159e94ecb"/>
          <a:stretch xmlns:a="http://schemas.openxmlformats.org/drawingml/2006/main"/>
        </p:blipFill>
        <p:spPr>
          <a:xfrm xmlns:a="http://schemas.openxmlformats.org/drawingml/2006/main">
            <a:off x="1085850" y="2795270"/>
            <a:ext cx="4152900" cy="1134111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4C34A7-B135-46D7-ACC5-6566CE5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421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Pregunta que responde: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¿qué evidencia recuperada informa más sobre Y* sin desbordar C?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9FB494-5A1F-4DE1-96A8-4361D758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66900"/>
            <a:ext cx="5543550" cy="3848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4FD048-C190-4484-8710-DE615EE5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2419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5868D4-770A-493F-A84A-15EEAF37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NEURIPS 2024 · TASA–DISTORSIÓN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F3DF73-361F-4ACA-ACB8-6342508A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5086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57f24f06641aa"/>
          <a:stretch xmlns:a="http://schemas.openxmlformats.org/drawingml/2006/main"/>
        </p:blipFill>
        <p:spPr>
          <a:xfrm xmlns:a="http://schemas.openxmlformats.org/drawingml/2006/main">
            <a:off x="7055454" y="2724150"/>
            <a:ext cx="3357942" cy="127635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B8E3B7-75C1-446D-85A4-98C66B7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Pregunta que responde: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¿qué degradación mínima es posible a cada longitud?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ACDCFF-1438-44AA-ADFF-469E72A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Ambos enfoques separan utilidad y costo; no necesitan convertirlos en un cociente.</a:t>
            </a:r>
          </a:p>
        </p:txBody>
      </p:sp>
    </p:spTree>
    <p:extLst>
      <p:ext uri="{BB962C8B-B14F-4D97-AF65-F5344CB8AC3E}">
        <p14:creationId xmlns:p14="http://schemas.microsoft.com/office/powerpoint/2010/main" val="103472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91524DA1-53AA-4EC8-893B-A7B8A92E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09 / RAG END-TO-END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6D78EA64-44E6-488A-854E-0904AD3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RAG combina recuperación y generación mediante marginalización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2613DADF-A81F-473E-9F96-82A8A802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Lewis et al. (2020) · identidad RAG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B233DD0-226A-49DB-97D7-680723E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3511A-E5F8-4B65-8EA4-EE8A7C95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10058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F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0a160ab894342"/>
          <a:stretch xmlns:a="http://schemas.openxmlformats.org/drawingml/2006/main"/>
        </p:blipFill>
        <p:spPr>
          <a:xfrm xmlns:a="http://schemas.openxmlformats.org/drawingml/2006/main">
            <a:off x="3753461" y="1924050"/>
            <a:ext cx="4685078" cy="6858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598AAC-F0C7-4359-9922-C0366A0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4332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8C6DC-226D-4C0C-84A6-39AE5F69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4332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F797D2-58DC-40AC-A3A6-4F543A74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D6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E306B1-69B0-4878-8F0A-2D6C5B09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350557-F1D8-47AC-91A9-2EC7A5DB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asigna pη(d|X)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1E19F-3AEC-41C8-8E78-5C64CE9B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57550"/>
            <a:ext cx="33337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C63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47C53B-1C7D-4634-B939-AF53C9E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861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MARGINALIZACIÓN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E9A3A0-65E7-49AE-B769-9317E932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671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combina documentos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147AC8-13CE-45D3-9534-766929CA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A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F163F1-6956-458B-8FF6-72DA6A6C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86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GENERADOR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D9E64C-2E77-4F73-8F00-874EB31B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671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factoriza tokens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B96D4C-15A2-449B-852E-EA05303E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Lewis et al. marginalizan evidencia recuperada; no multiplican dos porcentajes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1647202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CE0B65-E668-4E20-8B38-83A36B65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10 / MODELOS COMPARADOS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C9E793-8A01-43BC-957C-C697C575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944"/>
            <a:ext cx="10835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RAG recupera conocimiento; Context Engineering orquesta C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5DE304F-8E77-423D-BE1D-0FF8490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108173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AACFA69-9B20-44AF-9D99-6E334A8D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9966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Mei et al. (2025) · Lewis et al. (2020)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C9D0F81-5EBC-49A1-8F43-F482A3B6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5952" y="6419088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BDDD2-2B9F-487C-9323-03E60C3A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3F5FA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7FE92-D092-4B97-B657-C9B219C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F5123-655F-47DA-8882-9D6FB9A9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552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2ca79fea6446c"/>
          <a:stretch xmlns:a="http://schemas.openxmlformats.org/drawingml/2006/main"/>
        </p:blipFill>
        <p:spPr>
          <a:xfrm xmlns:a="http://schemas.openxmlformats.org/drawingml/2006/main">
            <a:off x="1085850" y="2673263"/>
            <a:ext cx="4248150" cy="5018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4AF62-F74F-4F0E-B59E-743FB644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438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 función principal es recuperar conocimiento externo relevante para la consulta.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22829-2347-4E58-9D9F-04B2D520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535305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3335">
            <a:solidFill>
              <a:srgbClr val="6C63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042666-5A28-4012-BF63-93E8F8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CONTEXT ENGINEERING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6E6F29-995D-4A0A-9EF4-3DFD2757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4857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FF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846ae3f6b4e39"/>
          <a:stretch xmlns:a="http://schemas.openxmlformats.org/drawingml/2006/main"/>
        </p:blipFill>
        <p:spPr>
          <a:xfrm xmlns:a="http://schemas.openxmlformats.org/drawingml/2006/main">
            <a:off x="6553200" y="2892488"/>
            <a:ext cx="4552950" cy="330073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5A9BC4-A0AB-4597-89E6-44285B1F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67150"/>
            <a:ext cx="4743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Orquesta recuperación, instrucciones, herramientas, memoria, estado y consulta bajo una función objetivo.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88DA9-CE24-42AA-9E55-BD73BBDF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816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RAG llena una parte de C; Context Engineering gobierna el conjunto.</a:t>
            </a:r>
          </a:p>
        </p:txBody>
      </p:sp>
    </p:spTree>
    <p:extLst>
      <p:ext uri="{BB962C8B-B14F-4D97-AF65-F5344CB8AC3E}">
        <p14:creationId xmlns:p14="http://schemas.microsoft.com/office/powerpoint/2010/main" val="19650280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8815DBF-6641-44C5-98B7-08BA92B7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"/>
            <a:ext cx="5943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11 / RAG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DBD10D-5177-4F7D-B264-D8D6D1D0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944"/>
            <a:ext cx="108356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RAG marginaliza documentos antes de generar la respuesta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01EF426-A7F8-4559-80D6-1D382081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108173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b0b56aa7840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18843"/>
            <a:ext cx="10817352" cy="3786073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565713B-1A16-4A34-B37B-31726280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0720"/>
            <a:ext cx="1081735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sistema marginaliza documentos recuperados y genera la respuesta condicionada a la evidencia.</a:t>
            </a:r>
          </a:p>
        </p:txBody>
      </p:sp>
    </p:spTree>
    <p:extLst>
      <p:ext uri="{BB962C8B-B14F-4D97-AF65-F5344CB8AC3E}">
        <p14:creationId xmlns:p14="http://schemas.microsoft.com/office/powerpoint/2010/main" val="1680008017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FCEFC5F0-3B9E-4D5D-927D-CCEFC57E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12 / RECUPERACIÓN Y ATENCIÓN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0FA2DB4-35E9-4F79-B8B9-713DFF34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atención pondera tokens; retrieval decide cuáles llegan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ADE4D0A8-97B5-4F83-9E7F-AA19EEB0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4AE7049E-32AB-4563-98E6-0FD3EC9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AA6C4"/>
                </a:solidFill>
                <a:latin typeface="Aptos"/>
                <a:ea typeface="Aptos"/>
                <a:cs typeface="Aptos"/>
              </a:rPr>
              <a:t>Vaswani et al. (2017) · Mei et al. (2025)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DE511DDA-F61C-4407-9CA9-245CFCF1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45e5a15474bc8"/>
          <a:stretch xmlns:a="http://schemas.openxmlformats.org/drawingml/2006/main"/>
        </p:blipFill>
        <p:spPr>
          <a:xfrm xmlns:a="http://schemas.openxmlformats.org/drawingml/2006/main">
            <a:off x="723900" y="1990725"/>
            <a:ext cx="5565905" cy="7810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8BA594-AD67-4420-9686-76B1A5A1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9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La atención pondera representaciones que ya están en la ventana.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96A2C4-FF78-436A-887C-50B7943E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RECUPERACIÓN EXTERNA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0A040E-BEA1-4734-BC59-AD7DE74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 qué documentos o memorias llegan a 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2CF3DB-4A07-4719-9396-70786161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ATENCIÓN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6800C8-3D50-4521-8F2D-9A4C0065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 cómo se combinan dentro del modelo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41B52E-2FE7-4CC3-8405-EE792C9D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27E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F51DAF-2002-4E95-B798-CAE8853B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338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D6C8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2E45D8-25BB-4637-8B52-13D64DD7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149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14A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CC7C06-D5D7-4B2B-87F8-1FB83629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3335">
            <a:solidFill>
              <a:srgbClr val="33D6C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0F66BD-E7B2-4815-A617-F3C1AB36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DOCUMENTOS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E75D95-2DE5-4B9E-ACFB-E7F1BB50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3335">
            <a:solidFill>
              <a:srgbClr val="6C63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421EA4-A053-46DB-AE47-8AC32A2C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CONTEXTO 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8A7570-5EEA-4855-90D7-51BC2D1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3335">
            <a:solidFill>
              <a:srgbClr val="F5A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1F1723-644B-4BD4-8870-7D29CAE5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387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ATENCIÓN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6B4B82-0DA0-49B2-A347-769D927E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10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3335">
            <a:solidFill>
              <a:srgbClr val="49C98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38CB1E-DC28-4FA6-9550-6FE428C7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387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</p:spTree>
    <p:extLst>
      <p:ext uri="{BB962C8B-B14F-4D97-AF65-F5344CB8AC3E}">
        <p14:creationId xmlns:p14="http://schemas.microsoft.com/office/powerpoint/2010/main" val="803507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5B2CEB-677A-44F5-8ED4-8A1727F1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"/>
            <a:ext cx="5943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13 / CHAIN-OF-THOUGHT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6CB6419-8102-4AC0-9D13-D6AEF301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944"/>
            <a:ext cx="108356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CoT añade cómputo; no garantiza menor error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89A37D-BC2F-446D-9D04-5F2C1B87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108173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72AE46B-C7E1-4154-AA23-8DE95E96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9966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Wei et al. (2022) · Cover &amp; Thomas (2006) · implicación derivada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A4920B5-687F-4916-8E08-1ADEAD73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5952" y="6419088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4B2A3-75D9-494A-997B-BD85F4A1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1816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CDAF9-EEE8-429F-B88C-C967A396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B6116-830A-48BD-8364-6F9A3B43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EVIDENCIA EMPÍRICA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A149A-E9B5-45D1-B64F-BF463D5E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4686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Wei et al. muestran mejoras al solicitar cadenas de razonamiento en tareas aritméticas, simbólicas y de sentido común.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6F944-F27B-4870-A8E3-E0DBDA67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4686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FF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835bd568a4092"/>
          <a:stretch xmlns:a="http://schemas.openxmlformats.org/drawingml/2006/main"/>
        </p:blipFill>
        <p:spPr>
          <a:xfrm xmlns:a="http://schemas.openxmlformats.org/drawingml/2006/main">
            <a:off x="1644577" y="4000500"/>
            <a:ext cx="3264046" cy="5524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CB15D7-5AAE-4D0C-8B54-46DB0D10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 amplía el prefijo; no añade por sí mismo intención del usuario.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F5A66-E9BD-453F-BCF4-8CFE70C3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53149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1430">
            <a:solidFill>
              <a:srgbClr val="FF64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E10F31-FCC0-4209-B0DF-00DF8A71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47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990C7B-E326-4DA3-904A-8020CC0A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LO QUE NO GARANTIZA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28CC1D-164D-4426-A6F0-0BA2CF30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857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C4CE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2babc3c7e4934"/>
          <a:stretch xmlns:a="http://schemas.openxmlformats.org/drawingml/2006/main"/>
        </p:blipFill>
        <p:spPr>
          <a:xfrm xmlns:a="http://schemas.openxmlformats.org/drawingml/2006/main">
            <a:off x="6572250" y="2667816"/>
            <a:ext cx="4552950" cy="455568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E5CB15-1302-46E9-A00A-55FCCB56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Esta es una identidad sobre variables aleatorias en promedio. No implica que un LLM concreto sea más exacto, esté mejor calibrado o razone fielmente.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F621C-6E68-44B3-BC38-EE79C67A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958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39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Implicación derivada: CoT no sustituye una pregunta de aclaración.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FA8DC4-9F0C-4DE6-BCC9-6D53EA50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Separar resultado empírico, identidad matemática e implicación evita atribuir a CoT una garantía inexistente.</a:t>
            </a:r>
          </a:p>
        </p:txBody>
      </p:sp>
    </p:spTree>
    <p:extLst>
      <p:ext uri="{BB962C8B-B14F-4D97-AF65-F5344CB8AC3E}">
        <p14:creationId xmlns:p14="http://schemas.microsoft.com/office/powerpoint/2010/main" val="7924517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B8F8B7F-BB6F-4FE7-BB76-3718405C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"/>
            <a:ext cx="5029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14 / AMBIGÜEDAD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FEF003F-B28E-4415-9896-FDF76999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944"/>
            <a:ext cx="10835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ambigüedad puede venir de tiempo, identidad, versión o alcance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4CBCA4B-3123-42C9-8B9F-0AE079A9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108173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15145C5-D36C-4F85-8D29-4F569FD0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7376"/>
            <a:ext cx="9966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Su &amp; Cardie (2026, preprint) · taxonomía abreviada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A6219A7-08B7-4BBB-9C52-1511105F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5952" y="6419088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CCADB-F364-4EC4-8E66-2467E1B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38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1430">
            <a:solidFill>
              <a:srgbClr val="FF647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1A444-19E9-4938-9A8D-92E52C03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TIEMPO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706F1-6842-4D03-A63C-6CA23B55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«¿Quién era el presidente?»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Falta el año.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860C7-1A28-43A6-BB4E-91061C89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238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EC84C-36A0-4C75-9CA3-A30C237D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9C478-C8B7-4AB4-8172-0B3537F2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«¿Quién es Ben Stone?»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Hay varias entidades.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EDC48E-87B1-42AE-9BAC-DCD72DFE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238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F53BD-B0D7-4F4D-985A-A1B1EBC9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VERSIÓN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A8F0B0-0C5A-4F1D-9C00-5D4D3619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«¿Quién interpretó a Annie?»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Depende de la versión.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B33F7-1F7C-48A8-8837-2A09DDD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5238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F5A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F4425B-1567-494B-8D3B-16DD99A3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214CE3-8DB2-44B2-AA32-A72F6D4C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«¿Dónde ocurrió la batalla?»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Falta granularidad.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E0D9C-E587-4F49-A5C3-BAFFF7C0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C63FF"/>
                </a:solidFill>
                <a:latin typeface="Aptos"/>
                <a:ea typeface="Aptos"/>
                <a:cs typeface="Aptos"/>
              </a:rPr>
              <a:t>Taxonomía abreviada del preprint; también incluye ambigüedad semántica y de localidad.</a:t>
            </a:r>
          </a:p>
        </p:txBody>
      </p:sp>
    </p:spTree>
    <p:extLst>
      <p:ext uri="{BB962C8B-B14F-4D97-AF65-F5344CB8AC3E}">
        <p14:creationId xmlns:p14="http://schemas.microsoft.com/office/powerpoint/2010/main" val="563466452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CC85EC37-6336-44E8-9CA6-FC4DBF98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2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298A59D1-4359-4BA7-BD91-455AB875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PARTE II · AMBIGÜEDAD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2C8F93B-CA81-4818-958A-B348F534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La ambigüedad cambia el problema.</a:t>
            </a:r>
          </a:p>
        </p:txBody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F0E80335-8C08-46AA-B85E-EB18F9E2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5E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ED006E6-DFF8-4A7E-BB11-CE4790B6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3DD6C6"/>
                </a:solidFill>
                <a:latin typeface="Aptos Display"/>
                <a:ea typeface="Aptos Display"/>
                <a:cs typeface="Aptos Display"/>
              </a:rPr>
              <a:t>X ya no determina una única intención Z.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4DEAA44-F439-475F-A8DA-2F576C0D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C7CEDF"/>
                </a:solidFill>
                <a:latin typeface="Aptos"/>
                <a:ea typeface="Aptos"/>
                <a:cs typeface="Aptos"/>
              </a:rPr>
              <a:t>Recuperar mejor no basta: primero hay que desambiguar.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4ABDFCA0-725A-418C-A80A-20F8E5A0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transición al modelamiento con intención latente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8F8234E-056D-4752-B174-BBDB58B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1929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55110B24-C458-4AE1-BE87-72712409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16 / INTENCIÓN LATENTE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88C4C526-2DE3-423C-87E9-8C6FB4C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respuesta se vuelve una mezcla de interpretaciones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F5084B5C-034C-47C3-88A2-282C608E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Ley de probabilidad total · ejemplo ilustrativo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65A24B61-E02A-4AB6-8C56-B6819F5F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12C39-F9D3-41CC-9748-DDC4285D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19275"/>
            <a:ext cx="942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FF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1a3542d224fb5"/>
          <a:stretch xmlns:a="http://schemas.openxmlformats.org/drawingml/2006/main"/>
        </p:blipFill>
        <p:spPr>
          <a:xfrm xmlns:a="http://schemas.openxmlformats.org/drawingml/2006/main">
            <a:off x="2914505" y="1914525"/>
            <a:ext cx="6362990" cy="6286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5EC4F0-197B-40D6-9CE9-20B023BC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Ejemplo ilustrativo: «¿Cómo funciona la memoria?»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9B6641-6103-4DA2-8E2A-67300D1F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476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2DD314-A35C-40F4-86E9-663B87E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8FBD4B-4DA8-4769-BFEE-2F574B70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memoria conversacional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6BF008-0D92-41D4-94F7-1B7E032B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95700"/>
            <a:ext cx="2476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B7D7D-13F9-41BD-8CEF-83F34927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86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CFB946-0ADC-42DD-B776-A25FDCB0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67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memoria persistente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532532-3846-44B1-9C5A-9C3CDA4B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2476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F5A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521AE7-A461-4337-BDAA-E5A711F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82AE42-1E20-4A1E-8EE2-3716C7FA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ventana de contexto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4E9C94-7059-4AE7-8963-B88558BC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2476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1430">
            <a:solidFill>
              <a:srgbClr val="FF647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3FED74-8829-4263-B5A6-6C4FD926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Z₄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CC9FA0-B272-4A4C-A265-66936F52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67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framework específico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062CD1-DC4B-4A0B-9756-F44C7801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Los pesos p(Z=z|X,C) son probabilidades a estimar; no porcentajes inventados para la lámina.</a:t>
            </a:r>
          </a:p>
        </p:txBody>
      </p:sp>
    </p:spTree>
    <p:extLst>
      <p:ext uri="{BB962C8B-B14F-4D97-AF65-F5344CB8AC3E}">
        <p14:creationId xmlns:p14="http://schemas.microsoft.com/office/powerpoint/2010/main" val="2084356144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F2E878A9-3EB1-4521-8032-104C2C7E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17 / DESCOMPOSICIÓN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169051C5-616D-4B0B-AFCC-CCA41EC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incertidumbre separa intención y respuesta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4CE4CE31-5AC3-4EB8-80CF-FC07ED4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C481A4F-C904-488D-92FF-8B8C8A5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Regla de la cadena de entropía · derivación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7C6FB55B-BB09-4B04-946A-A497233B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D6ED9-A8E7-45F1-8F4B-3192113B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71675"/>
            <a:ext cx="933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1E37"/>
          </a:solidFill>
          <a:ln xmlns:a="http://schemas.openxmlformats.org/drawingml/2006/main" w="9525">
            <a:solidFill>
              <a:srgbClr val="36405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cea2079384843"/>
          <a:stretch xmlns:a="http://schemas.openxmlformats.org/drawingml/2006/main"/>
        </p:blipFill>
        <p:spPr>
          <a:xfrm xmlns:a="http://schemas.openxmlformats.org/drawingml/2006/main">
            <a:off x="1581150" y="2144769"/>
            <a:ext cx="9029700" cy="568212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ED4ABA-2496-40C2-87B2-E43DF06A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762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02846"/>
          </a:solidFill>
          <a:ln xmlns:a="http://schemas.openxmlformats.org/drawingml/2006/main" w="12383">
            <a:solidFill>
              <a:srgbClr val="33D6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237BAF-F88F-4044-B449-0CB54C71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INCERTIDUMBRE DE INTENCIÓN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cb5d3e1c54236"/>
          <a:stretch xmlns:a="http://schemas.openxmlformats.org/drawingml/2006/main"/>
        </p:blipFill>
        <p:spPr>
          <a:xfrm xmlns:a="http://schemas.openxmlformats.org/drawingml/2006/main">
            <a:off x="2189605" y="4191000"/>
            <a:ext cx="2288290" cy="5524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7C86FE-63EB-4205-9BC3-881AC2BC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762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02846"/>
          </a:solidFill>
          <a:ln xmlns:a="http://schemas.openxmlformats.org/drawingml/2006/main" w="12383">
            <a:solidFill>
              <a:srgbClr val="6C63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1F6B7F-EFB4-4AE5-AF04-930747F0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766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INCERTIDUMBRE DE RESPUESTA DADA Z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07e0647f148a0"/>
          <a:stretch xmlns:a="http://schemas.openxmlformats.org/drawingml/2006/main"/>
        </p:blipFill>
        <p:spPr>
          <a:xfrm xmlns:a="http://schemas.openxmlformats.org/drawingml/2006/main">
            <a:off x="7459012" y="4191000"/>
            <a:ext cx="2798476" cy="5524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AC1351-E62D-4F38-BA5A-4AB3689F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Derivación: mejorar el generador reduce el segundo término; aclarar apunta al primero.</a:t>
            </a:r>
          </a:p>
        </p:txBody>
      </p:sp>
    </p:spTree>
    <p:extLst>
      <p:ext uri="{BB962C8B-B14F-4D97-AF65-F5344CB8AC3E}">
        <p14:creationId xmlns:p14="http://schemas.microsoft.com/office/powerpoint/2010/main" val="17025060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DC515855-C79D-401F-B722-E87D3CF3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18 / RETRIEVAL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3CDA542-150B-4B55-93A8-AADBF649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 retriever puede devolver evidencia para varias intenciones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4E74CD45-0533-43C2-AAC7-F6A603A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95A80470-A3E2-4127-A214-FCED00C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Lewis et al. (2020) · Zhang &amp; Choi (2025) · esquema conceptual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1A803C1C-EE91-4AAE-A424-7B7D6354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4E2685-AF3C-48E3-9FB0-533034F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76625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6B2"/>
          </a:solidFill>
          <a:ln xmlns:a="http://schemas.openxmlformats.org/drawingml/2006/main" w="9525">
            <a:solidFill>
              <a:srgbClr val="8A96B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F0D29-C853-4CCE-BAB9-59D9AF62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D6C8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2F53F0-72C4-42ED-993A-DAF8C278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24350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C8DEB6-2911-464A-8AFB-8E6C99A7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8003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A1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6FC695-38C7-4DE2-9C79-E809F9D9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QUERY AMBIGUA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B22063-EEDB-4E6F-AA04-6163DEB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«¿Cómo funciona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memoria?»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DC1601-33A6-4910-BC3F-A6F034A0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14625"/>
            <a:ext cx="39624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2383">
            <a:solidFill>
              <a:srgbClr val="6C63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B80C60-07DB-4D6B-9CC6-9016CCCF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00375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c38e97690471b"/>
          <a:stretch xmlns:a="http://schemas.openxmlformats.org/drawingml/2006/main"/>
        </p:blipFill>
        <p:spPr>
          <a:xfrm xmlns:a="http://schemas.openxmlformats.org/drawingml/2006/main">
            <a:off x="4514850" y="3590714"/>
            <a:ext cx="3162300" cy="343322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28BE51-DA6C-4F4B-9D82-40F6F4CE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28003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12383">
            <a:solidFill>
              <a:srgbClr val="33D6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FA4DC8-95D5-4D89-BBA2-994670BD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76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memoria del agente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F89492-68E7-4E7C-8254-BB47BCF5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8003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2383">
            <a:solidFill>
              <a:srgbClr val="6C63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DB89EA-905A-458D-BDD1-D61FCE70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19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memoria informática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2D08C1-34A4-4A35-81DE-8BE93261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054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La similitud puede recuperar evidencia válida para varias interpretaciones; no identifica por sí sola Z.</a:t>
            </a:r>
          </a:p>
        </p:txBody>
      </p:sp>
    </p:spTree>
    <p:extLst>
      <p:ext uri="{BB962C8B-B14F-4D97-AF65-F5344CB8AC3E}">
        <p14:creationId xmlns:p14="http://schemas.microsoft.com/office/powerpoint/2010/main" val="18771299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F32BA90-800C-4185-A609-4269A45B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19 / RERANKING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8C500DB8-91DA-42CC-9AB7-704CF7E9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 margen bajo no identifica la intención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828E8323-0842-4E55-B428-78F4A1C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51E6E318-467C-46AA-AE63-D3A53A27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Marginalización sobre Z · derivación simbólica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2024C26C-CE7B-465C-A060-BE2A4D1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00906a25c4a3c"/>
          <a:stretch xmlns:a="http://schemas.openxmlformats.org/drawingml/2006/main"/>
        </p:blipFill>
        <p:spPr>
          <a:xfrm xmlns:a="http://schemas.openxmlformats.org/drawingml/2006/main">
            <a:off x="2806700" y="1828800"/>
            <a:ext cx="6578600" cy="7048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D960E-0FFD-44A4-B58C-E22B523B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43815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13335">
            <a:solidFill>
              <a:srgbClr val="33D6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099058-4321-443A-954C-0013F2AA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147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DFC1CF-A3BB-480C-A8A8-8FD8A804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243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 para Z₁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dd192e0094d3d"/>
          <a:stretch xmlns:a="http://schemas.openxmlformats.org/drawingml/2006/main"/>
        </p:blipFill>
        <p:spPr>
          <a:xfrm xmlns:a="http://schemas.openxmlformats.org/drawingml/2006/main">
            <a:off x="3057291" y="4419600"/>
            <a:ext cx="267167" cy="3429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44813A-E2E6-4069-A4D5-323CE1AD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43815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3335">
            <a:solidFill>
              <a:srgbClr val="6C63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81E9AD-1327-4F83-874D-537AF1D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C₂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C56241-26C0-46B1-873A-FBE306B2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243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 para Z₂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b3a4ef2654322"/>
          <a:stretch xmlns:a="http://schemas.openxmlformats.org/drawingml/2006/main"/>
        </p:blipFill>
        <p:spPr>
          <a:xfrm xmlns:a="http://schemas.openxmlformats.org/drawingml/2006/main">
            <a:off x="8858075" y="4419600"/>
            <a:ext cx="286101" cy="3429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fcdfe5339432e"/>
          <a:stretch xmlns:a="http://schemas.openxmlformats.org/drawingml/2006/main"/>
        </p:blipFill>
        <p:spPr>
          <a:xfrm xmlns:a="http://schemas.openxmlformats.org/drawingml/2006/main">
            <a:off x="5425257" y="5238750"/>
            <a:ext cx="1341485" cy="5334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B31AEA-7817-476D-9424-62B9B810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Un margen bajo es una señal para estimar intención o preguntar.</a:t>
            </a:r>
          </a:p>
        </p:txBody>
      </p:sp>
    </p:spTree>
    <p:extLst>
      <p:ext uri="{BB962C8B-B14F-4D97-AF65-F5344CB8AC3E}">
        <p14:creationId xmlns:p14="http://schemas.microsoft.com/office/powerpoint/2010/main" val="135815428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8CA4958-93D5-44DF-89CA-1A523F2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20 / GENERACIÓN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AAF0424-DF37-42A4-95D4-64B2E48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Contexto correcto no equivale a intención correcta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D56E71DE-3FE3-48F8-9224-668AD4B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BF6D8ACA-E12C-4D17-A5DF-52F77CC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AA6C4"/>
                </a:solidFill>
                <a:latin typeface="Aptos"/>
                <a:ea typeface="Aptos"/>
                <a:cs typeface="Aptos"/>
              </a:rPr>
              <a:t>Derivación conceptual a partir del modelo con Z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209E975-2599-4B70-9AFD-DD95FB9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CFF8D-5E20-4CA8-AD74-CE1E5DA1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971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D6C8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9F07F-A0A6-4C42-BD2E-47313CA1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76750"/>
            <a:ext cx="971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0EF47-3D64-4D28-8317-30552A24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1104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14A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EA842-27A6-40C0-BA3F-15CE90BA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003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33D6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D094C-DEAF-497D-9DF6-A34BE3D7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A8FBB-5EC1-4D1A-9431-8B01009E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válida para Z₁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93F37-2FE5-45D8-8BD9-C5942679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003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6C63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4FD35-7756-4DE1-A1DC-E4BACD9E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C₂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E9BD35-1FB6-49EB-AFA2-1E5980EE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válida para Z₂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AAB9E-3A34-43CE-97E9-5DBA9D72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86075"/>
            <a:ext cx="32956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C63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C3F52-BA91-4791-BE3A-6AE4019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43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02CBC-8813-4B13-B8AD-5BB68FB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5760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 una respuesta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condicionada al contexto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E53E1F-F0D0-44DF-BCDB-A6944A9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76575"/>
            <a:ext cx="26479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3B3038"/>
          </a:solidFill>
          <a:ln xmlns:a="http://schemas.openxmlformats.org/drawingml/2006/main" w="13335">
            <a:solidFill>
              <a:srgbClr val="F5A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52187-E323-4D7F-8006-416CE55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57575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¿QUÉ Z QUERÍA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EL USUARIO?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C0CFCA-4341-48E6-A3F8-449761FE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Recuperar evidencia para dos intenciones no decide cuál de ellas era la intención real.</a:t>
            </a:r>
          </a:p>
        </p:txBody>
      </p:sp>
    </p:spTree>
    <p:extLst>
      <p:ext uri="{BB962C8B-B14F-4D97-AF65-F5344CB8AC3E}">
        <p14:creationId xmlns:p14="http://schemas.microsoft.com/office/powerpoint/2010/main" val="20078533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A950FC12-ACFF-4A32-92ED-C304023C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21 / LÍMITE TEÓRICO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8B904C6-6ACD-4057-BD4E-0894AF81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Sin nueva información, persiste un error irreducible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F3E03E5B-BC48-427D-AD3B-079FF906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4DB39685-9B92-4FC7-AC98-74EDFC7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Riesgo Bayesiano con pérdida 0–1 · derivación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C8BCB7A0-9201-4084-8653-BE8D186B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40A1D-8430-4527-B45B-4BE0DB5A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PÉRDIDA 0–1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73D1C-F263-4C9A-9C2E-E9E41BF1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05075"/>
            <a:ext cx="90297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E"/>
          </a:solidFill>
          <a:ln xmlns:a="http://schemas.openxmlformats.org/drawingml/2006/main" w="9525">
            <a:solidFill>
              <a:srgbClr val="11182E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11f83e5bc48fe"/>
          <a:stretch xmlns:a="http://schemas.openxmlformats.org/drawingml/2006/main"/>
        </p:blipFill>
        <p:spPr>
          <a:xfrm xmlns:a="http://schemas.openxmlformats.org/drawingml/2006/main">
            <a:off x="2596928" y="2600325"/>
            <a:ext cx="6998144" cy="8763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A4573-07FE-4C82-9815-869E5D40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7192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 ninguna intención concentra toda la probabilidad posterior, el riesgo mínimo sigue siendo positivo.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CC2F6-D7CE-48CD-BC2C-03DF5AD9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48225"/>
            <a:ext cx="7124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9525">
            <a:solidFill>
              <a:srgbClr val="FF647C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c575265714911"/>
          <a:stretch xmlns:a="http://schemas.openxmlformats.org/drawingml/2006/main"/>
        </p:blipFill>
        <p:spPr>
          <a:xfrm xmlns:a="http://schemas.openxmlformats.org/drawingml/2006/main">
            <a:off x="3820350" y="4943475"/>
            <a:ext cx="4551300" cy="4953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ADFCFA-701D-43F3-83BD-ECB19F2E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C63FF"/>
                </a:solidFill>
                <a:latin typeface="Aptos"/>
                <a:ea typeface="Aptos"/>
                <a:cs typeface="Aptos"/>
              </a:rPr>
              <a:t>Derivación: el error puede provenir de información de intención ausente, no de falta de capacidad generativa.</a:t>
            </a:r>
          </a:p>
        </p:txBody>
      </p:sp>
    </p:spTree>
    <p:extLst>
      <p:ext uri="{BB962C8B-B14F-4D97-AF65-F5344CB8AC3E}">
        <p14:creationId xmlns:p14="http://schemas.microsoft.com/office/powerpoint/2010/main" val="15589933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8CCBCCB8-47F0-492D-8B88-7A8656D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22 / CLARIFICACIÓN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1744311-BCA1-4EC9-AC3A-51D177A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Aclarar adquiere información sobre la intención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AB6CC3A2-C214-49D0-AAEA-95A7B7E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Deits et al. (2013) · Zhang &amp; Choi (2025)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E8A3DE5-E259-4750-9FB6-4032720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6CAD0-5BC9-4F7F-8B70-1E84119B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2900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98"/>
          </a:solidFill>
          <a:ln xmlns:a="http://schemas.openxmlformats.org/drawingml/2006/main" w="9525">
            <a:solidFill>
              <a:srgbClr val="6E7C9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E0ED4E-8FC1-4ECF-BC23-E575095D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98"/>
          </a:solidFill>
          <a:ln xmlns:a="http://schemas.openxmlformats.org/drawingml/2006/main" w="9525">
            <a:solidFill>
              <a:srgbClr val="6E7C9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054D9F-51A1-4462-ABBC-9B7E558A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C98"/>
          </a:solidFill>
          <a:ln xmlns:a="http://schemas.openxmlformats.org/drawingml/2006/main" w="9525">
            <a:solidFill>
              <a:srgbClr val="6E7C9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D6D28A-35FF-4442-906B-116147D5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90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12383">
            <a:solidFill>
              <a:srgbClr val="33D6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F78980-784D-4C13-B6BB-7EFF52BB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CONSULTA 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431D88-A41D-429D-9AE5-283EE7D7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190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2383">
            <a:solidFill>
              <a:srgbClr val="F5A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521076-7263-45E0-A2A5-7D98013B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432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INTENCIÓN 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CEA3D3-FE46-45BB-86B3-E0E811D2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8000"/>
            <a:ext cx="190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12383">
            <a:solidFill>
              <a:srgbClr val="49C9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8889B-6F86-4D77-891A-E26DF41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432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PREGUNTA q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83A5EF-F894-4562-90C7-E02FA034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190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E4A5A"/>
          </a:solidFill>
          <a:ln xmlns:a="http://schemas.openxmlformats.org/drawingml/2006/main" w="12383">
            <a:solidFill>
              <a:srgbClr val="0E4A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262AD4-BA8E-4E4C-8EBD-67095BCB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432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RESPUESTA A(q)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09319b00f43f8"/>
          <a:stretch xmlns:a="http://schemas.openxmlformats.org/drawingml/2006/main"/>
        </p:blipFill>
        <p:spPr>
          <a:xfrm xmlns:a="http://schemas.openxmlformats.org/drawingml/2006/main">
            <a:off x="6943725" y="2137930"/>
            <a:ext cx="4524375" cy="372341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605131-9CBD-4593-A19C-679A3FD0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29125"/>
            <a:ext cx="46005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88bae7a4f4ec1"/>
          <a:stretch xmlns:a="http://schemas.openxmlformats.org/drawingml/2006/main"/>
        </p:blipFill>
        <p:spPr>
          <a:xfrm xmlns:a="http://schemas.openxmlformats.org/drawingml/2006/main">
            <a:off x="7813122" y="4524375"/>
            <a:ext cx="2785581" cy="5143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40B93E-BEE8-4984-A205-E5D1F72D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581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Deits et al. seleccionan preguntas para maximizar la reducción de entropía; Zhang y Choi modelan cuándo aclarar mediante entropía sobre intenciones.</a:t>
            </a:r>
          </a:p>
        </p:txBody>
      </p:sp>
    </p:spTree>
    <p:extLst>
      <p:ext uri="{BB962C8B-B14F-4D97-AF65-F5344CB8AC3E}">
        <p14:creationId xmlns:p14="http://schemas.microsoft.com/office/powerpoint/2010/main" val="1990080455"/>
      </p:ext>
    </p:extLst>
  </p:cSld>
</p:sld>
</file>

<file path=ppt/slides/slide2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AC4ECBD8-472B-4085-A083-5A7B9D9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23 / POLÍTICA DE INTERACCIÓN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9B6B045-8346-41BA-A2CF-BAC9FC51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Preguntar conviene cuando reduce la pérdida más que su costo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F0E66491-C917-458B-8F87-F66B1921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AD746F23-325F-418A-A8A7-E1BBA4A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AA6C4"/>
                </a:solidFill>
                <a:latin typeface="Aptos"/>
                <a:ea typeface="Aptos"/>
                <a:cs typeface="Aptos"/>
              </a:rPr>
              <a:t>Decisión Bayesiana · Berger (1985) · derivación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8D336B7-6E40-4728-80C8-8634E05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fdfabccc74b6d"/>
          <a:stretch xmlns:a="http://schemas.openxmlformats.org/drawingml/2006/main"/>
        </p:blipFill>
        <p:spPr>
          <a:xfrm xmlns:a="http://schemas.openxmlformats.org/drawingml/2006/main">
            <a:off x="1589231" y="1828800"/>
            <a:ext cx="3355688" cy="59055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03f22edfa4890"/>
          <a:stretch xmlns:a="http://schemas.openxmlformats.org/drawingml/2006/main"/>
        </p:blipFill>
        <p:spPr>
          <a:xfrm xmlns:a="http://schemas.openxmlformats.org/drawingml/2006/main">
            <a:off x="6191250" y="1905965"/>
            <a:ext cx="5276850" cy="43622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F91D85-D98E-4FBD-A47A-6C52016D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149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1430">
            <a:solidFill>
              <a:srgbClr val="F5A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43769-947E-4A78-9419-DE4791FF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3340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B3341F-6CBF-40BE-8475-FD347B77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F5385-91B3-4C9D-AEA5-DF393324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4076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cuando el riesgo residual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 menor que preguntar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44D943-EBA1-4965-995B-4A8F3349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57500"/>
            <a:ext cx="49149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0A197-0D3B-4D98-8570-5517239F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E4A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40B0D2-ED5D-48FF-A7C8-9FD65050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ACLARAR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1D2F13-7357-418B-A04E-B082C037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4076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cuando la reducción esperada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pérdida supera c(q)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36bcf6a68433b"/>
          <a:stretch xmlns:a="http://schemas.openxmlformats.org/drawingml/2006/main"/>
        </p:blipFill>
        <p:spPr>
          <a:xfrm xmlns:a="http://schemas.openxmlformats.org/drawingml/2006/main">
            <a:off x="4571531" y="5448300"/>
            <a:ext cx="3048938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47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281BC5DE-0C3D-4543-AB23-A87672E7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24 / EVIDENCIA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6C5EF37-681E-4E86-AE33-2BC5ADD3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El contexto mejora QA, pero puede suprimir la aclaración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FD969B46-FB75-4770-A9AC-8FD6CFA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792AA"/>
                </a:solidFill>
                <a:latin typeface="Aptos"/>
                <a:ea typeface="Aptos"/>
                <a:cs typeface="Aptos"/>
              </a:rPr>
              <a:t>Su &amp; Cardie (2026, preprint) · Fig. 1 y 5 · muestra de 1,000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388466D4-5B21-4246-8A22-8296D502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1143000" y="2238375"/>
          <a:ext xmlns:a="http://schemas.openxmlformats.org/drawingml/2006/main" cx="5715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a7eb658c5242a6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A515C-3CC0-4405-9794-991D5FD3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2CB99-586E-4F45-9772-9495B175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PREPRINT · MAYO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6ED1B-20D4-41F5-A88E-489EA629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QA promedio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E53D2-6217-402B-B01D-826E78D6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54% → 67%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5E816-4309-44FF-9A86-67B84C44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preguntas no ambiguas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4C9176-EB53-4B77-9E60-53D8C7F2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46% → 55%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600B14-7478-4346-946C-8566808D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preguntas ambiguas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C405C8-937A-4A48-952D-5C749636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 w="0">
            <a:solidFill>
              <a:srgbClr val="D9DE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4B978D-5564-4D5E-9C68-B7148521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62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Aclaración: rara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558BF7-2ACA-4CC0-BD73-8CB257CD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054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máximo ≈5% en preguntas ambiguas sin contexto; añadir contexto la reduce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054D04-5EBF-4C99-B18B-70AA4280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53100"/>
            <a:ext cx="565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Método: 10 modelos · muestra de 1,000 ítems de AmbigQA (425 no ambiguos, 575 ambiguos).</a:t>
            </a:r>
          </a:p>
        </p:txBody>
      </p:sp>
    </p:spTree>
    <p:extLst>
      <p:ext uri="{BB962C8B-B14F-4D97-AF65-F5344CB8AC3E}">
        <p14:creationId xmlns:p14="http://schemas.microsoft.com/office/powerpoint/2010/main" val="661281920"/>
      </p:ext>
    </p:extLst>
  </p:cSld>
</p:sld>
</file>

<file path=ppt/slides/slide2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1AE5709-42AC-4DFC-A84F-827CCDB4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25 / DISEÑO OPERATIVO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FF79EB8-9C9F-483A-B1F1-643B8FB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Diseña el sistema alrededor de la incertidumbre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91620042-D36E-4E8A-9C61-2E04528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888A5BC7-5175-4565-9FD5-EA3BD9A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AA6C4"/>
                </a:solidFill>
                <a:latin typeface="Aptos"/>
                <a:ea typeface="Aptos"/>
                <a:cs typeface="Aptos"/>
              </a:rPr>
              <a:t>Síntesis · survey · Zhang &amp; Choi (2025) · Su &amp; Cardie (2026)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36356272-0711-4EA4-9FFC-D3FFE9D3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196139-F364-4211-8D8E-02DEFE43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67125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27E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523F34-11A0-4000-AD8C-08B5E27B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67125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27E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E486B5-0339-4A0E-AA36-7BF7914E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667125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27E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044648-83EE-4BA5-8776-C2A25BC6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667125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27E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C0555F-AC50-4CC9-B1A9-82363D05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8097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F5A1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451D81-1341-499E-A6C2-3139E12B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5BB9D0-7ECB-4CE9-B4A4-7ED679C4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FEDFC2-A3D2-41CB-A8F2-04E7CFCD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estimar p(Z|X,C)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7EC51E-4A96-4A99-842D-B2D63DC7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14650"/>
            <a:ext cx="18097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33D6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D22139-7E5E-4400-A82C-9949C390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C3868C-A951-48F3-9B54-E4ABD06C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337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DECIDIR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F663C2-50FE-4826-9419-C8B28E8B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814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responder o preguntar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59DB0C-1843-41EB-B544-6E5EC8E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14650"/>
            <a:ext cx="18097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6C63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5E4E63-5700-488B-82D0-A5D1DB7A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05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A4BE04-1F72-4251-BEF2-8EEDB03D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337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RECUPERAR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CF1D2B-43A8-4708-8748-82F3074F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condicionar por intención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A55327-8202-4002-8FC0-3CE350F6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14650"/>
            <a:ext cx="18097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49C98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2188E4-32EC-42FF-B930-4DCA27F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466787-E2BD-4486-B9E4-7D3C5A35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337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99EC0A-C37F-4CC9-9459-3AEDB25E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814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usar evidencia trazable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883BEC-DE4E-45A1-8190-72913EF3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8097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FF647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F1EAC9-D1BB-46F2-AC88-EAC4F3FE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05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8F4355-8DEB-4BD8-984D-F13F536A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337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A60D0B-2D24-47FD-8C0E-955D123C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calidad, costo y riesgo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D8EB06-C0D4-4D63-8683-1122C008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La política de interacción forma parte de la ingeniería del contexto.</a:t>
            </a:r>
          </a:p>
        </p:txBody>
      </p:sp>
    </p:spTree>
    <p:extLst>
      <p:ext uri="{BB962C8B-B14F-4D97-AF65-F5344CB8AC3E}">
        <p14:creationId xmlns:p14="http://schemas.microsoft.com/office/powerpoint/2010/main" val="17355375"/>
      </p:ext>
    </p:extLst>
  </p:cSld>
</p:sld>
</file>

<file path=ppt/slides/slide2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1AE5709-42AC-4DFC-A84F-827CCDB4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26 / DEMO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FF79EB8-9C9F-483A-B1F1-643B8FB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Una pregunta breve convierte ambigüedad en retrieval dirigido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91620042-D36E-4E8A-9C61-2E04528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888A5BC7-5175-4565-9FD5-EA3BD9A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AA6C4"/>
                </a:solidFill>
                <a:latin typeface="Aptos"/>
                <a:ea typeface="Aptos"/>
                <a:cs typeface="Aptos"/>
              </a:rPr>
              <a:t>Demo conceptual · sin métricas ni resultados empíricos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36356272-0711-4EA4-9FFC-D3FFE9D3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4433B-F17E-4E53-B15A-86843A21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152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3340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5806DE-D0F1-48A3-B36A-307F9B97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DEMO CONCEPTUAL · NO EMPÍRICA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F60DFE-5277-4DD0-B130-F4EC7B5A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70D71F-6795-4082-83A4-B8B2027A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«¿Cómo funciona la memoria?»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9eafa49444ffb"/>
          <a:stretch xmlns:a="http://schemas.openxmlformats.org/drawingml/2006/main"/>
        </p:blipFill>
        <p:spPr>
          <a:xfrm xmlns:a="http://schemas.openxmlformats.org/drawingml/2006/main">
            <a:off x="723900" y="3547199"/>
            <a:ext cx="4210050" cy="449401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C8AF20-EAFD-4432-85E9-65375E6A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El sistema no fuerza una interpretación.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FBCE8A-F4F4-436D-B51A-80EB5BF9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623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D6C8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71C767-78C9-4BD3-AF95-27338E41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9C986"/>
          </a:solidFill>
          <a:ln xmlns:a="http://schemas.openxmlformats.org/drawingml/2006/main" w="9525">
            <a:solidFill>
              <a:srgbClr val="49C98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FA8793-26A3-4974-964F-12A3399D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81300"/>
            <a:ext cx="2762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3335">
            <a:solidFill>
              <a:srgbClr val="33D6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3437FC-F83B-466B-90CC-62572C89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ACLARAR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144657-4BDF-4809-A303-F93D3FC0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05200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«¿Memoria de la conversación o memoria persistente del agente?»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AE4140-7036-43A5-9840-605C2695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25717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203B39"/>
          </a:solidFill>
          <a:ln xmlns:a="http://schemas.openxmlformats.org/drawingml/2006/main" w="13335">
            <a:solidFill>
              <a:srgbClr val="49C98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212899-0E74-4E3F-B2AA-F9F6218B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DESPUÉS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B089E4-18B3-427C-AED6-7D4DC0A5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2152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 se concentra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 retrieval dirigido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 respuesta específica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FCA418-DD2F-4382-8A87-8983412F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911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A14A"/>
                </a:solidFill>
                <a:latin typeface="Aptos"/>
                <a:ea typeface="Aptos"/>
                <a:cs typeface="Aptos"/>
              </a:rPr>
              <a:t>La demo ilustra el flujo matemático; no reporta precisión ni porcentajes.</a:t>
            </a:r>
          </a:p>
        </p:txBody>
      </p:sp>
    </p:spTree>
    <p:extLst>
      <p:ext uri="{BB962C8B-B14F-4D97-AF65-F5344CB8AC3E}">
        <p14:creationId xmlns:p14="http://schemas.microsoft.com/office/powerpoint/2010/main" val="173553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1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B08ECE71-DDF6-4B6E-A42B-BE72B818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27 / CONCLUSIONES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265E19AF-A3D2-43F5-9CD2-C9B445B8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Cinco conclusiones defendibles y trazables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1F753BB-1C23-42E5-BD2C-FBD5F80A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58"/>
          </a:solidFill>
          <a:ln xmlns:a="http://schemas.openxmlformats.org/drawingml/2006/main" w="0">
            <a:solidFill>
              <a:srgbClr val="30395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2B3DE8B-093D-4605-8D77-607B3C58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Síntesis basada en survey, tasa–distorsión, RAG e información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81010FDC-964C-4BE3-9D91-1A04F1FA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CB779D-DA7A-4C91-924C-11B83D26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00250" cy="27432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F5A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390275-DA86-4990-AFEE-2A9C2A3E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9F537F-72A8-4AF1-9665-3BC6C7C1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Optimizar calidad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A57D9-ADEA-41B1-BBBE-FE0D69EE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El survey formula recompensa esperada bajo restricciones.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0AA9B5-D726-4EC7-A299-B4736D03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14A"/>
          </a:solidFill>
          <a:ln xmlns:a="http://schemas.openxmlformats.org/drawingml/2006/main" w="0">
            <a:solidFill>
              <a:srgbClr val="F5A1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95E086-74AE-4413-97FA-90173751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2000250" cy="27432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33D6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6A00F1-89DA-4D05-8226-8510DABC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145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D7B3FC-CC9E-46EC-A0AA-FED2B737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Recuperar información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CEA587-0EEB-4356-B2C5-86E1FCB8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57550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Retrieval debe aportar información sobre Y*, no solo similitud.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816095-915D-4D78-B701-B53AF537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29125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6C8"/>
          </a:solidFill>
          <a:ln xmlns:a="http://schemas.openxmlformats.org/drawingml/2006/main" w="0">
            <a:solidFill>
              <a:srgbClr val="33D6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AA3D8D-D99D-43CF-B5F5-07917D24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52625"/>
            <a:ext cx="2000250" cy="27432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6C63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EE3037-91BE-41A2-8D4F-B609CE62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145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4A164B-831E-4344-B463-8F350867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3365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Presupuestar tokens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E8DACF-828F-41BE-BD2E-FAFC57A5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57550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Restricción o tasa–distorsión; el cociente no es la tesis.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E32878-3944-4448-8AEC-D4DCCB92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0">
            <a:solidFill>
              <a:srgbClr val="6C63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08B9B4-8638-4A60-9119-DC9D6118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52625"/>
            <a:ext cx="2000250" cy="27432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49C98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F0098E-7899-43A7-99F9-F5FA8953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06535C-D628-4BA2-9BF1-1140B02E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3365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Modelar intención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8D004E-4A65-4F0E-9DB6-1B3F51D8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Si p(Z|X,C) no se concentra, persiste riesgo Bayesiano.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724BE8-FFDC-4E6B-995B-F48EC12B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29125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986"/>
          </a:solidFill>
          <a:ln xmlns:a="http://schemas.openxmlformats.org/drawingml/2006/main" w="0">
            <a:solidFill>
              <a:srgbClr val="49C98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1C89BA-978D-418C-AFCB-67F8AE52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2625"/>
            <a:ext cx="2000250" cy="27432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FF647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931E20-EDE5-4BE0-91A8-49905F77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145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3C064B-4DB0-4C97-9F94-D2C7DCD2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3365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Preguntar con criterio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9BBB0D-A4EA-41CF-A6DA-22B0A2DC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57550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Aclarar conviene si la reducción esperada de pérdida supera su costo.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EB5BFE-4E65-47A5-BDED-DDB354D6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29125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7C"/>
          </a:solidFill>
          <a:ln xmlns:a="http://schemas.openxmlformats.org/drawingml/2006/main" w="0">
            <a:solidFill>
              <a:srgbClr val="FF647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C0607D-7C87-4412-99C2-A1C777AB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95875"/>
            <a:ext cx="92583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2340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AB2C73-1725-469B-8594-52B55A47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9590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Context Engineering = optimizar evidencia, presupuesto y decisión de interacción.</a:t>
            </a:r>
          </a:p>
        </p:txBody>
      </p:sp>
    </p:spTree>
    <p:extLst>
      <p:ext uri="{BB962C8B-B14F-4D97-AF65-F5344CB8AC3E}">
        <p14:creationId xmlns:p14="http://schemas.microsoft.com/office/powerpoint/2010/main" val="7972877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1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ángulo: esquinas redondeadas 18">
            <a:extLst xmlns:a="http://schemas.openxmlformats.org/drawingml/2006/main">
              <a:ext uri="{FF2B5EF4-FFF2-40B4-BE49-F238E27FC236}">
                <a16:creationId xmlns:a16="http://schemas.microsoft.com/office/drawing/2014/main" id="{A8C879C7-D9DF-4367-86C4-DCD59222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924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3340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F052AFE-452C-4396-9D91-10852E37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143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ANEXOS · DERIVACIONES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D05BC6C-ABCC-4208-B141-C1856E9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las probabilidades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las conclusiones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C299501C-A86F-4916-8805-3834FB10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6C8"/>
          </a:solidFill>
          <a:ln xmlns:a="http://schemas.openxmlformats.org/drawingml/2006/main" w="0">
            <a:solidFill>
              <a:srgbClr val="33D6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0057D37-1DC5-4AFA-BE29-E1A627B0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Desarrollo simbólico · supuestos explícitos · sin depender de ejemplos numéricos</a:t>
            </a:r>
          </a:p>
        </p:txBody>
      </p:sp>
      <p:sp>
        <p:nvSpPr>
          <p:cNvPr id="6" name="Flecha: a la derecha 5">
            <a:extLst xmlns:a="http://schemas.openxmlformats.org/drawingml/2006/main">
              <a:ext uri="{FF2B5EF4-FFF2-40B4-BE49-F238E27FC236}">
                <a16:creationId xmlns:a16="http://schemas.microsoft.com/office/drawing/2014/main" id="{94ACEA88-80E4-4649-9A5A-10D9E455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2275"/>
            <a:ext cx="152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415F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lecha: a la derecha 6">
            <a:extLst xmlns:a="http://schemas.openxmlformats.org/drawingml/2006/main">
              <a:ext uri="{FF2B5EF4-FFF2-40B4-BE49-F238E27FC236}">
                <a16:creationId xmlns:a16="http://schemas.microsoft.com/office/drawing/2014/main" id="{1992D21A-9FF8-4F73-84FB-5A7B2D3F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62275"/>
            <a:ext cx="152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415F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lecha: a la derecha 7">
            <a:extLst xmlns:a="http://schemas.openxmlformats.org/drawingml/2006/main">
              <a:ext uri="{FF2B5EF4-FFF2-40B4-BE49-F238E27FC236}">
                <a16:creationId xmlns:a16="http://schemas.microsoft.com/office/drawing/2014/main" id="{1476178A-0391-4D36-B7D8-7F6DF430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62275"/>
            <a:ext cx="152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415F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0D1D96EE-EF4E-4238-B66A-97EF18D9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952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3335">
            <a:solidFill>
              <a:srgbClr val="F5A1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9C24167-D305-4DC7-A590-29294B4F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956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Bayes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813D75F3-54A2-4A57-85D4-17161779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952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3335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9B488221-F050-4CE8-8E00-251A059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956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Entropía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FD494A59-4322-475D-93F9-3CE1AE95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952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3335">
            <a:solidFill>
              <a:srgbClr val="FF647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717AFE4A-1EB5-4283-9055-BC4ED6B2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956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Riesgo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F4EBA750-4EC2-4C98-9E2D-27D7A934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24150"/>
            <a:ext cx="952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3335">
            <a:solidFill>
              <a:srgbClr val="33D6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AB9A55F3-750D-476C-B45E-21A6AF35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8956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8A80D985-A7E0-4AF2-B79F-A251A81D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Anexos matemáticos · notación: X consulta · C contexto · Z intención · Y respuesta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5AB9B4A8-C929-4052-A639-0C7B04E4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359113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C5558F03-A51F-41A9-A5B6-165624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A1 / ACTUALIZACIÓN BAYESIANA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E5F22FB0-2783-4EAD-AB6F-8723C662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El contexto es útil cuando cambia las odds entre intenciones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CCF577BD-E722-450F-955F-D2FF2D25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 w="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120D237D-9FE9-416B-B094-98566C6C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7627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F7B002E7-47C3-4ECC-94C0-1190A644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1562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EEE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EB89A12-C9D1-4D29-A02F-B4920C77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050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DESARROLLO LITERAL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6183F534-89E8-4FF2-BDF8-6042B8C4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63055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7FF"/>
          </a:solidFill>
          <a:ln xmlns:a="http://schemas.openxmlformats.org/drawingml/2006/main" w="9525">
            <a:solidFill>
              <a:srgbClr val="D7D2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rPr>
              <a:t>P(Zᵢ | X,C) = P(C | Zᵢ,X) P(Zᵢ | X) / ∑ⱼ P(C | Zⱼ,X) P(Zⱼ | X)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FE07AF3D-BE3B-445B-B3ED-B8F2960F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 dividir dos posteriores, el denominador común se cancela: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A21A45BB-1216-4E44-BA44-17EF9119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5225"/>
            <a:ext cx="630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P(Z₁ | X,C) / P(Z₂ | X,C)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= [P(Z₁ | X) / P(Z₂ | X)] · [P(C | Z₁,X) / P(C | Z₂,X)]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ACA5519E-317B-496D-BA39-D9E9E4D1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81575"/>
            <a:ext cx="565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odds posteriores = odds previas × factor de Bayes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249FFD74-7D8D-4740-9C38-55D5223C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05000"/>
            <a:ext cx="3714750" cy="39243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6BB8EC3F-68F7-4DE6-A1DE-A20B47D9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43125"/>
            <a:ext cx="321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Lectura de la conclusión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977B7503-E5A6-474F-B0DB-AEAF4486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765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84B195F4-BDE5-430E-9B75-4A5311A2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051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023958BB-BABA-42B6-AC2E-58BABB16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67000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Prior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F9FD250-0C95-488B-B766-CEB75D10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5275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P(Zᵢ|X) resume qué intención era plausible antes de añadir C.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2086FCD5-FD99-4CD0-88CB-8763E34B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853280D1-4E54-457D-8C64-B8FF3B81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09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44544D14-6B00-45D8-BA9F-35BAE51F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7187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AA9EB53D-5335-44C3-8010-20E7E7EC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57625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P(C|Zᵢ,X) mide cuánto esperaba observar ese contexto bajo cada intención.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9B00C69D-4242-4856-AEE9-9FD5B381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1D4BC7F-87A7-471B-9606-6AD1ADED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6005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346179B3-9C13-41D0-9BCE-5EEE1AE7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56247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Criterio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529182B1-79FA-4634-9E80-389D3AD2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848225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 el factor de Bayes ≈ 1, C no separa Z₁ de Z₂: agrega texto, no decisión.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8027CA1F-EF9F-465D-AE0F-22F647FA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Regla de Bayes · derivación explícita de odds posteriores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E82152D0-9E79-493B-8AA8-3AA742BD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734870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1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0A365513-9F5B-4768-8DF5-A442EB78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A2 / INFORMACIÓN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103C38D6-8BA4-47D5-AF96-691733E3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ganancia media está acotada por la incertidumbre inicial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6AE185F-5654-444C-9DCC-AF9C9DAE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58"/>
          </a:solidFill>
          <a:ln xmlns:a="http://schemas.openxmlformats.org/drawingml/2006/main" w="0">
            <a:solidFill>
              <a:srgbClr val="30395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41689924-EFCF-49EF-BEB3-92BC9007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3667125"/>
          </a:xfrm>
          <a:prstGeom xmlns:a="http://schemas.openxmlformats.org/drawingml/2006/main" prst="roundRect">
            <a:avLst>
              <a:gd name="adj" fmla="val 4156"/>
            </a:avLst>
          </a:prstGeom>
          <a:solidFill xmlns:a="http://schemas.openxmlformats.org/drawingml/2006/main">
            <a:srgbClr val="202846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FE43955-082A-493F-AB58-AD04994C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Entropía condicional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72792786-D1CF-42B7-BB82-9A1C15B4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457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1E37"/>
          </a:solidFill>
          <a:ln xmlns:a="http://schemas.openxmlformats.org/drawingml/2006/main" w="9525">
            <a:solidFill>
              <a:srgbClr val="3640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95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H(Z|X) = −Σ z∈𝒵  P(z|X) log P(z|X)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681FE5F-345E-402E-855B-0116F51C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575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Para un contexto observado c: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FF8F9707-EA88-4A8E-AA48-9EA2E7D6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4457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E37"/>
          </a:solidFill>
          <a:ln xmlns:a="http://schemas.openxmlformats.org/drawingml/2006/main" w="9525">
            <a:solidFill>
              <a:srgbClr val="3640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0">
                <a:solidFill>
                  <a:srgbClr val="33D6C8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33D6C8"/>
                </a:solidFill>
                <a:latin typeface="Cambria Math"/>
                <a:ea typeface="Cambria Math"/>
                <a:cs typeface="Cambria Math"/>
              </a:rPr>
              <a:t>IG(c) = H(Z|X=x) − H(Z|X=x,C=c)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14FCB6F-E8A3-40D9-91E1-2B329E6A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4238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IG(c) puede variar para cada contexto concreto.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6E14CA30-5624-4C23-A472-7C86C6FA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62150"/>
            <a:ext cx="5543550" cy="3667125"/>
          </a:xfrm>
          <a:prstGeom xmlns:a="http://schemas.openxmlformats.org/drawingml/2006/main" prst="roundRect">
            <a:avLst>
              <a:gd name="adj" fmla="val 4156"/>
            </a:avLst>
          </a:prstGeom>
          <a:solidFill xmlns:a="http://schemas.openxmlformats.org/drawingml/2006/main">
            <a:srgbClr val="202846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2323078-FFD1-4B0D-843A-A2DF725B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Promedio sobre todos los contextos posibles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30B2BD02-799D-4028-9387-BEA6B4C5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50482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71E37"/>
          </a:solidFill>
          <a:ln xmlns:a="http://schemas.openxmlformats.org/drawingml/2006/main" w="9525">
            <a:solidFill>
              <a:srgbClr val="3640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I(Z;C|X) = 𝔼[IG(C)]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= H(Z|X) − H(Z|X,C)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A276728B-BF73-42CB-8C2E-FF266C70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4476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63C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325" b="1">
                <a:solidFill>
                  <a:srgbClr val="33D6C8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33D6C8"/>
                </a:solidFill>
                <a:latin typeface="Cambria Math"/>
                <a:ea typeface="Cambria Math"/>
                <a:cs typeface="Cambria Math"/>
              </a:rPr>
              <a:t>0 ≤ I(Z;C|X) ≤ H(Z|X)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941FB650-6AC0-4D11-A4CC-AA61477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529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Conclusión: el contexto no puede eliminar más incertidumbre que la que existía. Si I≈0, su aporte medio es redundante.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E57C266-9A75-4655-8EA7-37120E2B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Shannon (1948) · Cover &amp; Thomas (2006)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37D21076-BFBF-4085-8881-FA64A647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626178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95153E26-E086-4542-B85F-6835338A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A3 / DECISIÓN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2BC316B-D9EE-4C9B-833F-C03726E9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El umbral de aclaración aparece al comparar dos riesgos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FF0F15F-5D76-4700-B521-7DFD4AE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 w="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117D2ACE-C610-4BB0-8572-8C7602AA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F5A1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13DCE768-2E25-40EB-8A94-FEDE7363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094FB807-6C50-4398-B84D-4E8D4941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717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6C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6C0D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022622B-A568-4A4D-8D2A-5EF16CF4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Rᵣₑₛₚ = Lw (1 − pₘₐₓ)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F94FC12B-EC10-4B8B-9D1C-092E30AA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pₘₐₓ = max sobre z de P(z|X,C) · Lw = pérdida de equivocarse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4BF808E1-C885-451C-A028-2E8948A1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9D4937A-90A7-41E6-BE3D-0ABFEA0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43125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FFC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0305E52C-5526-4839-8FCF-62862E6F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717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ACLARAR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86ADA1ED-3ABF-4279-AF81-DB0A51FB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Rₐcₗₐᵣ = c(q) + Lw ε(q)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234DB965-EC1E-4F3B-BF9A-79ED8EA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c(q) = costo de preguntar · ε(q) = error residual después de la respuesta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5FB89545-15E6-4FEA-8782-CAC67E7B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Aclarar si Rₐcₗₐᵣ &lt; Rᵣₑₛₚ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A941AE77-BAB8-4ABF-B55C-C9A61560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7048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rPr>
              <a:t>c(q) + Lw ε(q) &lt; Lw(1 − pₘₐₓ)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1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6C63FF"/>
                </a:solidFill>
                <a:latin typeface="Cambria Math"/>
                <a:ea typeface="Cambria Math"/>
                <a:cs typeface="Cambria Math"/>
              </a:rPr>
              <a:t>⇒  pₘₐₓ &lt; 1 − c(q)/Lw − ε(q)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AEFEE22-BB2E-4335-95BE-2EB0A778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5307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pregunta óptima minimiza costo + riesgo posterior esperado:   q* = arg min sobre q de [c(q) + 𝔼 R*(X,C,A(q))]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677DCF5-0F21-4161-8283-EA1B1058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Decisión Bayesiana · derivación con pérdida 0–1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A61E361-9E47-462D-A334-7AF9A03A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579427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FE4E379A-417D-4900-8F9D-B5C5EC72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A4 / RAG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7627031-0410-481E-81E4-4C263EA7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Recuperación y generación intervienen en operaciones distintas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D152BEE-71F4-455C-906D-8563CF44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 w="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4E753A6E-84AA-406B-8762-E085690E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B4407B7-11F1-4248-A306-308A9595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Marginalizar documentos y factorizar tokens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B473914-E162-4800-9DB5-6368DFE9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P(Y=y₁:T | X,D) = Σ d∈D  P(d|X,D) · Π t=1…T  P(yₜ | y&lt;ₜ,X,d)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EF0208A8-5A42-4345-ACFB-925BA9EA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5191125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4A8493B-0461-4E0F-BEE1-61928C5A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Caso simbólico con dos documentos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F0DC7AB7-D274-4EA5-B04E-A75ED690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4695825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9525">
            <a:solidFill>
              <a:srgbClr val="A8ECE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4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P(Y*) = p·g₁ + (1−p)·g₂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= g₂ + p(g₁−g₂)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D65C3991-CBAD-482E-86E9-5CB1A067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30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 = peso del documento d₁ · gᵢ = P(Y*|X,dᵢ)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10CCF839-B6B0-4D3E-B654-6199CFF1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71875"/>
            <a:ext cx="5286375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E6099384-593D-4F3D-8668-AF6B6E6C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52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Sensibilidad marginal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C7E71677-3EFE-4C19-8675-02818DC5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62425"/>
            <a:ext cx="4791075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FAF9FF"/>
          </a:solidFill>
          <a:ln xmlns:a="http://schemas.openxmlformats.org/drawingml/2006/main" w="9525">
            <a:solidFill>
              <a:srgbClr val="D7D2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∂P(Y*)/∂p = g₁−g₂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1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∂P(Y*)/∂g₁ = p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91D767F-CE43-4B8A-A826-2C8305F0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054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 g₁−g₂ es grande y p es pequeño, reasignar masa al documento correcto puede rendir más que refinar el generador.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BAAE3A17-A121-4BB1-A911-524ACD1B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Lewis et al. (2020) · derivación simbólica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08B333D-1528-4642-A792-C84E5296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8718677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1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B587CCAA-E844-4576-8259-E1CA9282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A5 / EFECTO LOCAL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6D25C75-2A50-4583-A1CB-A2258B9F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contexto concreto puede aumentar la duda aunque el promedio disminuya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E504CAB4-DC9E-495A-BF7E-9D4541DB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58"/>
          </a:solidFill>
          <a:ln xmlns:a="http://schemas.openxmlformats.org/drawingml/2006/main" w="0">
            <a:solidFill>
              <a:srgbClr val="30395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0DE3DC06-0E1D-470F-9422-DCABE37E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762375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202846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78558253-EE17-464C-89D5-AF2290C3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La desigualdad es un promedio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2A2D78F3-91DD-4EFE-B12C-A473DFEC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4419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1E37"/>
          </a:solidFill>
          <a:ln xmlns:a="http://schemas.openxmlformats.org/drawingml/2006/main" w="9525">
            <a:solidFill>
              <a:srgbClr val="3640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4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H(Z|X,C) ≤ H(Z|X)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270A796-7245-4898-B615-D2340AC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Pero para un valor específico c: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7EC8FCD3-EC4F-4837-AF83-008A27C3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4196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171E37"/>
          </a:solidFill>
          <a:ln xmlns:a="http://schemas.openxmlformats.org/drawingml/2006/main" w="9525">
            <a:solidFill>
              <a:srgbClr val="3640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025" b="0">
                <a:solidFill>
                  <a:srgbClr val="F5A14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5A14A"/>
                </a:solidFill>
                <a:latin typeface="Cambria Math"/>
                <a:ea typeface="Cambria Math"/>
                <a:cs typeface="Cambria Math"/>
              </a:rPr>
              <a:t>ΔH(c)=H(Z|x,c)−H(Z|x)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705E7192-F157-4AB6-BF09-17EAB442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Nada impide que ΔH(c)&gt;0 para una observación particular.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CB791FB5-654D-4065-9BD3-FF85299A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762375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202846"/>
          </a:solidFill>
          <a:ln xmlns:a="http://schemas.openxmlformats.org/drawingml/2006/main" w="11430">
            <a:solidFill>
              <a:srgbClr val="F5A1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A53848E-42FD-4529-BA21-60A8C8B3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43125"/>
            <a:ext cx="483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Cuándo el contexto vuelve binaria la duda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216A0C9B-8156-4B24-A6B6-B0857BC7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83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1E37"/>
          </a:solidFill>
          <a:ln xmlns:a="http://schemas.openxmlformats.org/drawingml/2006/main" w="9525">
            <a:solidFill>
              <a:srgbClr val="3640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P(Z₁|x,c) = πℓ₁ / [πℓ₁ + (1−π)ℓ₂]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622F891-9542-4706-9F8E-D0E56BD1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57575"/>
            <a:ext cx="434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donde π=P(Z₁|x) y ℓᵢ=P(c|Zᵢ,x)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A17ACBA7-ED1D-4E1E-81B1-14679C84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4838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1F30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0">
                <a:solidFill>
                  <a:srgbClr val="F5A14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F5A14A"/>
                </a:solidFill>
                <a:latin typeface="Cambria Math"/>
                <a:ea typeface="Cambria Math"/>
                <a:cs typeface="Cambria Math"/>
              </a:rPr>
              <a:t>πℓ₁ = (1−π)ℓ₂  ⇒  P(Z₁|x,c)=P(Z₂|x,c)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3B7E9406-5090-4744-ACA8-B547B3D1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El nuevo contexto puede equilibrar las hipótesis y llevar el posterior hacia máxima ambigüedad.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819F2619-8D85-458A-A187-CA505F89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Entropía condicional · actualización Bayesiana · derivación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62187DB-9D7F-47AE-BBD2-785814D1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9277115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32D14589-56C4-4945-8C80-6137C06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A6 / TOKENS Y CALIDAD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BD2061B-05E2-4514-A0F5-58965342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Presupuesto, penalización y tasa–distorsión responden preguntas distintas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B5524310-0E1B-4F26-8616-45FF9C1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 w="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ED8EA085-3BFE-404A-AC32-053AFE17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Mei et al. (2025) · Nagle et al. (NeurIPS 2024) · derivación Lagrangiana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FCFE2ED7-B3A9-4E31-B1E2-DBB5F474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D87FB-5A93-4939-8A60-79175231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42900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3F9F6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6C21D-9847-4116-AE6D-963148F0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OBJETIVO · SURVEY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2F9FE-F635-4110-8AA9-B5659D5A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3009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ea7a0d1d84377"/>
          <a:stretch xmlns:a="http://schemas.openxmlformats.org/drawingml/2006/main"/>
        </p:blipFill>
        <p:spPr>
          <a:xfrm xmlns:a="http://schemas.openxmlformats.org/drawingml/2006/main">
            <a:off x="1304215" y="2819400"/>
            <a:ext cx="2192170" cy="9334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424A05-9DB1-43A4-AFFD-6A2BD353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Maximiza calidad esperada bajo el límite de la ventana.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AE6161-2ECC-44C0-B8E9-02E2F50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52625"/>
            <a:ext cx="342900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0670DD-3530-464C-A973-D6E4E925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PENALIZACIÓN · DERIVACIÓN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5D8D7A-A433-4CDD-9AF9-3D0EB8DD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3009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07b4fb9c74a4d"/>
          <a:stretch xmlns:a="http://schemas.openxmlformats.org/drawingml/2006/main"/>
        </p:blipFill>
        <p:spPr>
          <a:xfrm xmlns:a="http://schemas.openxmlformats.org/drawingml/2006/main">
            <a:off x="4705350" y="3090531"/>
            <a:ext cx="2705100" cy="391188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FEF09C-0F0D-4695-8810-6FF7F893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00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Forma Lagrangiana de una relajación; λ fija el costo marginal.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D1E30A-8CA1-4164-A7AD-E4F71E15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42900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F5A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66584F-BB75-4195-80FA-5A21F525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TASA–DISTORSIÓN · PAPER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AA4D67-DDA8-42D9-8BC8-573D85A3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3009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327f961c14672"/>
          <a:stretch xmlns:a="http://schemas.openxmlformats.org/drawingml/2006/main"/>
        </p:blipFill>
        <p:spPr>
          <a:xfrm xmlns:a="http://schemas.openxmlformats.org/drawingml/2006/main">
            <a:off x="8937092" y="2819400"/>
            <a:ext cx="1556816" cy="9334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D65679-D45F-4C9E-A859-B54FF64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Traza la frontera entre longitud y degradación de la respuesta.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ADB9B5-217E-4972-808C-6E6862B0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La razón I/|C| puede usarse como KPI derivado, pero no sustituye el objetivo restringido ni la frontera tasa–distorsión.</a:t>
            </a:r>
          </a:p>
        </p:txBody>
      </p:sp>
    </p:spTree>
    <p:extLst>
      <p:ext uri="{BB962C8B-B14F-4D97-AF65-F5344CB8AC3E}">
        <p14:creationId xmlns:p14="http://schemas.microsoft.com/office/powerpoint/2010/main" val="5852577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1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8FCBE298-898E-4D10-A35B-5DDC7895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A7 / LÍMITES DE INFORMACIÓN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5AA8239-A58B-4E1F-83D2-F272621E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El procesamiento no crea información de intención ausente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B203051-8712-42FD-A73B-F9A94FB4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58"/>
          </a:solidFill>
          <a:ln xmlns:a="http://schemas.openxmlformats.org/drawingml/2006/main" w="0">
            <a:solidFill>
              <a:srgbClr val="30395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1F8244D6-7DC9-4725-88DD-81A32BEB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6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C4"/>
                </a:solidFill>
                <a:latin typeface="Aptos"/>
                <a:ea typeface="Aptos"/>
                <a:cs typeface="Aptos"/>
              </a:rPr>
              <a:t>Procesamiento de datos · Fano · regla de la cadena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C1FF8276-DA34-4649-A22C-AF06F0C3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D1E6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97C37-6E2E-4212-8E08-DB0B7DF7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336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27E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AEAD42-AC07-4D4E-9A58-5A55B758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27E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8CAB55-5FCA-41E1-9083-1610D33A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27E"/>
          </a:solidFill>
          <a:ln xmlns:a="http://schemas.openxmlformats.org/drawingml/2006/main" w="9525">
            <a:solidFill>
              <a:srgbClr val="59627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D508CE-A53A-46EE-AC22-FA034096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8478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F5A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BD58B7-F60E-4285-8D57-53997A65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Z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intención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BA38D-A1E4-442B-802B-8605F420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14550"/>
            <a:ext cx="18478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33D6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358312-C342-444E-B2AF-71BCEEC2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4B70DF-D5D5-46E2-AEFF-1E583876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14550"/>
            <a:ext cx="18478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6C63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7DD1BA-95E9-4F00-8F68-6918790A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812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razonamiento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F5E0C6-CE31-4429-9030-7E680D44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14550"/>
            <a:ext cx="18478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42C49"/>
          </a:solidFill>
          <a:ln xmlns:a="http://schemas.openxmlformats.org/drawingml/2006/main" w="12383">
            <a:solidFill>
              <a:srgbClr val="49C98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572FB7-38C2-4F4C-A4C5-11875D0C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B335DF-A005-49BE-83FF-74A42B40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C9D1E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1E6"/>
                </a:solidFill>
                <a:latin typeface="Aptos"/>
                <a:ea typeface="Aptos"/>
                <a:cs typeface="Aptos"/>
              </a:rPr>
              <a:t>Supuesto: cadena de Markov condicionada en 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10A93A-B32A-4F66-B123-A587804B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742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263C"/>
          </a:solidFill>
          <a:ln xmlns:a="http://schemas.openxmlformats.org/drawingml/2006/main" w="9525">
            <a:solidFill>
              <a:srgbClr val="33D6C8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011ea71654b35"/>
          <a:stretch xmlns:a="http://schemas.openxmlformats.org/drawingml/2006/main"/>
        </p:blipFill>
        <p:spPr>
          <a:xfrm xmlns:a="http://schemas.openxmlformats.org/drawingml/2006/main">
            <a:off x="2680368" y="3810000"/>
            <a:ext cx="6831263" cy="5334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976AB8-D2B1-4D98-BF9B-17F0AA23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048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202846"/>
          </a:solidFill>
          <a:ln xmlns:a="http://schemas.openxmlformats.org/drawingml/2006/main" w="11430">
            <a:solidFill>
              <a:srgbClr val="FF647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CFB6BC-5270-4F27-AAC2-B936680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59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47C"/>
                </a:solidFill>
                <a:latin typeface="Aptos"/>
                <a:ea typeface="Aptos"/>
                <a:cs typeface="Aptos"/>
              </a:rPr>
              <a:t>FANO · ERROR AL INFERIR Z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cc48fca724f03"/>
          <a:stretch xmlns:a="http://schemas.openxmlformats.org/drawingml/2006/main"/>
        </p:blipFill>
        <p:spPr>
          <a:xfrm xmlns:a="http://schemas.openxmlformats.org/drawingml/2006/main">
            <a:off x="2119610" y="5276850"/>
            <a:ext cx="2180630" cy="6286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88C713-B9C9-4434-AF2E-2D16A339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53149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202846"/>
          </a:solidFill>
          <a:ln xmlns:a="http://schemas.openxmlformats.org/drawingml/2006/main" w="11430">
            <a:solidFill>
              <a:srgbClr val="33D6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0FB504-8E4A-425C-90E4-E51200A3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01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PREGUNTAR AÑADE UNA OBSERVACIÓN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7b37a90464245"/>
          <a:stretch xmlns:a="http://schemas.openxmlformats.org/drawingml/2006/main"/>
        </p:blipFill>
        <p:spPr>
          <a:xfrm xmlns:a="http://schemas.openxmlformats.org/drawingml/2006/main">
            <a:off x="6457950" y="5438236"/>
            <a:ext cx="4781550" cy="3439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4121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08781BA-B55E-4355-B77D-E6B66B00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A8 / TRAZABILIDAD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2926F09-6483-44B3-98BE-08A00618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Cada conclusión se conecta con una fuente o una derivación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6E2C8C7-835F-426C-A5AA-57C08E6A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A"/>
          </a:solidFill>
          <a:ln xmlns:a="http://schemas.openxmlformats.org/drawingml/2006/main" w="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BCDCD8F-09E9-49AB-899A-C555FF48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8792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92AA"/>
                </a:solidFill>
                <a:latin typeface="Aptos"/>
                <a:ea typeface="Aptos"/>
                <a:cs typeface="Aptos"/>
              </a:rPr>
              <a:t>Matriz de trazabilidad de la presentación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F82E8C3B-AE50-4BA6-8033-4061B6BD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B87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F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76C9D-31F5-45F0-B2E9-F35F0568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257800" cy="3981450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FB33B1-FF97-45CF-B8F1-202F2D4E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BASE CITADA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E611F-34D5-4CF6-A4BE-7A854507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Survey · Ec. 3–4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39990-F637-43D9-83E3-5F58AC8A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09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calidad bajo límite + información mutua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25B8F-8B61-4E86-9F30-23449E1B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Nagle et al. 2024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BD3FC-A692-46E1-AA00-0313C4ED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90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frontera tasa–distorsión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DC637-C53D-4C40-AD28-75CFF0A5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Lewis et al. 2020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A7882B-6805-42C3-BF5A-F3004AC6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71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marginalización RAG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0C4A15-EEAE-4E29-A32B-7AA82A2C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Zhang–Choi / Deits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B9274-1C32-41D5-8954-C4467BB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529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entropía de intención y preguntas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07F44A-6A52-4B2C-9D7B-041EA364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Su–Cardie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7FBFB9-FD17-456C-AAA6-BD1911B7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33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evidencia empírica, rotulada preprint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B21B70-58B3-45C8-8EFA-A6C8E633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257800" cy="3981450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F5A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35BD0B-DB0D-4092-BFB7-548FCDDF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DERIVACIONES DE LA PRESENTACIÓN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F79F69-2A3C-45DA-BE2B-983078E3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590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9E0AA-2355-492E-A84C-17E3DCE6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A1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DE6469-2F20-4D3B-9DCC-664887A1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289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odds posteriores = prior × factor de Bayes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EC94E3-EC27-47C1-858A-3B26BAD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90875"/>
            <a:ext cx="590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C71761-6E5D-431E-BD63-EE577E53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A2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F01285-E5DF-442E-BB71-2BA8014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099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información = reducción media de entropía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5670BA-B4B3-4602-B7BD-238FD813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590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BEB5C4-004C-454D-B6F1-1298129C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10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A3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12F31B-FC62-417B-B0CB-A8103445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90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preguntar si costo + riesgo posterior &lt; riesgo directo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E335E0-C157-4960-8C24-F2EC7F05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52925"/>
            <a:ext cx="590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E23504-1581-420A-AA27-7DDFABD4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A5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ED51A1-39FB-4132-883F-D8DB0DDB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719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 contexto concreto puede aumentar la duda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ECA5B4-927E-4191-9FD4-46CA5ED3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590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A1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168E56-7C43-4E17-A991-76DE22FD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A6–A7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EAD331-A156-42C2-B513-51BF435A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530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presupuesto, Lagrangiano, DPI y Fano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1457BA-4AE6-4B39-9F97-88400CA6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24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Regla de auditoría: si una conclusión no se conecta con una fuente o una derivación explícita, no entra al deck.</a:t>
            </a:r>
          </a:p>
        </p:txBody>
      </p:sp>
    </p:spTree>
    <p:extLst>
      <p:ext uri="{BB962C8B-B14F-4D97-AF65-F5344CB8AC3E}">
        <p14:creationId xmlns:p14="http://schemas.microsoft.com/office/powerpoint/2010/main" val="1385131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2026-07-29T18:58:51.7640000Z</dcterms:created>
  <dcterms:modified xsi:type="dcterms:W3CDTF">2026-07-29T18:58:51.7640000Z</dcterms:modified>
</coreProperties>
</file>