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41f4508cff984f29" Type="http://schemas.openxmlformats.org/officeDocument/2006/relationships/officeDocument" Target="ppt/presentation.xml"/><Relationship Id="R85c94bef0c4247e0" Type="http://schemas.openxmlformats.org/package/2006/relationships/metadata/core-properties" Target="docProps/core.xml"/><Relationship Id="Rb72d270af43f45dd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7acf7e22d34041"/>
  </p:sldMasterIdLst>
  <p:notesMasterIdLst>
    <p:notesMasterId xmlns:r="http://schemas.openxmlformats.org/officeDocument/2006/relationships" r:id="R26da14e84ead42b0"/>
  </p:notesMasterIdLst>
  <p:sldIdLst>
    <p:sldId xmlns:r="http://schemas.openxmlformats.org/officeDocument/2006/relationships" id="256" r:id="R3ebc518333a04351"/>
    <p:sldId xmlns:r="http://schemas.openxmlformats.org/officeDocument/2006/relationships" id="257" r:id="Ra4a143d2e6dd4116"/>
    <p:sldId xmlns:r="http://schemas.openxmlformats.org/officeDocument/2006/relationships" id="258" r:id="R3e8afb9ab58b462b"/>
    <p:sldId xmlns:r="http://schemas.openxmlformats.org/officeDocument/2006/relationships" id="259" r:id="R7815cdfb541c4955"/>
    <p:sldId xmlns:r="http://schemas.openxmlformats.org/officeDocument/2006/relationships" id="260" r:id="R5d41520aff50436b"/>
    <p:sldId xmlns:r="http://schemas.openxmlformats.org/officeDocument/2006/relationships" id="261" r:id="Rd4e3efcca4c74a82"/>
    <p:sldId xmlns:r="http://schemas.openxmlformats.org/officeDocument/2006/relationships" id="262" r:id="Rad5ea3343f13490b"/>
    <p:sldId xmlns:r="http://schemas.openxmlformats.org/officeDocument/2006/relationships" id="264" r:id="R24da019563f14abc"/>
    <p:sldId xmlns:ns0="http://schemas.openxmlformats.org/officeDocument/2006/relationships" id="276" ns0:id="rId26"/>
    <p:sldId xmlns:r="http://schemas.openxmlformats.org/officeDocument/2006/relationships" id="263" r:id="Ree5882ce0abe4856"/>
    <p:sldId xmlns:r="http://schemas.openxmlformats.org/officeDocument/2006/relationships" id="265" r:id="Re99384254a5449c7"/>
    <p:sldId xmlns:ns0="http://schemas.openxmlformats.org/officeDocument/2006/relationships" id="277" ns0:id="rId27"/>
    <p:sldId xmlns:r="http://schemas.openxmlformats.org/officeDocument/2006/relationships" id="266" r:id="R39668b713c584295"/>
    <p:sldId xmlns:r="http://schemas.openxmlformats.org/officeDocument/2006/relationships" id="267" r:id="R00f6c99dd4a24a8b"/>
    <p:sldId xmlns:r="http://schemas.openxmlformats.org/officeDocument/2006/relationships" id="268" r:id="Rf7d46cb0562c4b19"/>
    <p:sldId xmlns:r="http://schemas.openxmlformats.org/officeDocument/2006/relationships" id="269" r:id="Re4b3f5fd934e4e19"/>
    <p:sldId xmlns:r="http://schemas.openxmlformats.org/officeDocument/2006/relationships" id="270" r:id="R93ceb4eb07a7462f"/>
    <p:sldId xmlns:r="http://schemas.openxmlformats.org/officeDocument/2006/relationships" id="271" r:id="Rcc114d0aea8e4022"/>
    <p:sldId xmlns:r="http://schemas.openxmlformats.org/officeDocument/2006/relationships" id="272" r:id="R45ba3e4bde2f43d7"/>
    <p:sldId xmlns:r="http://schemas.openxmlformats.org/officeDocument/2006/relationships" id="273" r:id="R8ae5bcf64479479b"/>
    <p:sldId xmlns:r="http://schemas.openxmlformats.org/officeDocument/2006/relationships" id="274" r:id="R295bfae03a57451f"/>
    <p:sldId xmlns:r="http://schemas.openxmlformats.org/officeDocument/2006/relationships" id="275" r:id="Rc721cf7ca061409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0f6c99dd4a24a8b" Type="http://schemas.openxmlformats.org/officeDocument/2006/relationships/slide" Target="slides/slide12.xml"/><Relationship Id="R24da019563f14abc" Type="http://schemas.openxmlformats.org/officeDocument/2006/relationships/slide" Target="slides/slide8.xml"/><Relationship Id="R26da14e84ead42b0" Type="http://schemas.openxmlformats.org/officeDocument/2006/relationships/notesMaster" Target="notesMasters/notesMaster1.xml"/><Relationship Id="R295bfae03a57451f" Type="http://schemas.openxmlformats.org/officeDocument/2006/relationships/slide" Target="slides/slide19.xml"/><Relationship Id="R347acf7e22d34041" Type="http://schemas.openxmlformats.org/officeDocument/2006/relationships/slideMaster" Target="slideMasters/slideMaster1.xml"/><Relationship Id="R39668b713c584295" Type="http://schemas.openxmlformats.org/officeDocument/2006/relationships/slide" Target="slides/slide11.xml"/><Relationship Id="R3e8afb9ab58b462b" Type="http://schemas.openxmlformats.org/officeDocument/2006/relationships/slide" Target="slides/slide3.xml"/><Relationship Id="R3ebc518333a04351" Type="http://schemas.openxmlformats.org/officeDocument/2006/relationships/slide" Target="slides/slide1.xml"/><Relationship Id="R45ba3e4bde2f43d7" Type="http://schemas.openxmlformats.org/officeDocument/2006/relationships/slide" Target="slides/slide17.xml"/><Relationship Id="R5d41520aff50436b" Type="http://schemas.openxmlformats.org/officeDocument/2006/relationships/slide" Target="slides/slide5.xml"/><Relationship Id="R7815cdfb541c4955" Type="http://schemas.openxmlformats.org/officeDocument/2006/relationships/slide" Target="slides/slide4.xml"/><Relationship Id="R8ae5bcf64479479b" Type="http://schemas.openxmlformats.org/officeDocument/2006/relationships/slide" Target="slides/slide18.xml"/><Relationship Id="R9385799f02ed4731" Type="http://schemas.openxmlformats.org/officeDocument/2006/relationships/tableStyles" Target="tableStyles.xml"/><Relationship Id="R93ceb4eb07a7462f" Type="http://schemas.openxmlformats.org/officeDocument/2006/relationships/slide" Target="slides/slide15.xml"/><Relationship Id="Ra4a143d2e6dd4116" Type="http://schemas.openxmlformats.org/officeDocument/2006/relationships/slide" Target="slides/slide2.xml"/><Relationship Id="Rad5ea3343f13490b" Type="http://schemas.openxmlformats.org/officeDocument/2006/relationships/slide" Target="slides/slide7.xml"/><Relationship Id="Rc54fb2104a1c4ba6" Type="http://schemas.openxmlformats.org/officeDocument/2006/relationships/theme" Target="theme/theme1.xml"/><Relationship Id="Rc721cf7ca0614097" Type="http://schemas.openxmlformats.org/officeDocument/2006/relationships/slide" Target="slides/slide20.xml"/><Relationship Id="Rcc114d0aea8e4022" Type="http://schemas.openxmlformats.org/officeDocument/2006/relationships/slide" Target="slides/slide16.xml"/><Relationship Id="Rd4e3efcca4c74a82" Type="http://schemas.openxmlformats.org/officeDocument/2006/relationships/slide" Target="slides/slide6.xml"/><Relationship Id="Re4b3f5fd934e4e19" Type="http://schemas.openxmlformats.org/officeDocument/2006/relationships/slide" Target="slides/slide14.xml"/><Relationship Id="Re825e2b26af84acf" Type="http://schemas.openxmlformats.org/officeDocument/2006/relationships/presProps" Target="presProps.xml"/><Relationship Id="Re99384254a5449c7" Type="http://schemas.openxmlformats.org/officeDocument/2006/relationships/slide" Target="slides/slide10.xml"/><Relationship Id="Ree5882ce0abe4856" Type="http://schemas.openxmlformats.org/officeDocument/2006/relationships/slide" Target="slides/slide9.xml"/><Relationship Id="Rf7d46cb0562c4b19" Type="http://schemas.openxmlformats.org/officeDocument/2006/relationships/slide" Target="slides/slide13.xml"/><Relationship Id="rId26" Type="http://schemas.openxmlformats.org/officeDocument/2006/relationships/slide" Target="slides/slide21.xml"/><Relationship Id="rId27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5a5bcbdbb9ce419b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a3273a0140de4efe" Type="http://schemas.openxmlformats.org/officeDocument/2006/relationships/slide" Target="../slides/slide1.xml"/><Relationship Id="Rf13766e0d9ba483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959cecb980cc4781" Type="http://schemas.openxmlformats.org/officeDocument/2006/relationships/notesMaster" Target="../notesMasters/notesMaster1.xml"/><Relationship Id="Rfa7fc3f8e80c4469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5280842ae6174abb" Type="http://schemas.openxmlformats.org/officeDocument/2006/relationships/slide" Target="../slides/slide3.xml"/><Relationship Id="R9fef7d755f244ee6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2073f1f7939d4a90" Type="http://schemas.openxmlformats.org/officeDocument/2006/relationships/notesMaster" Target="../notesMasters/notesMaster1.xml"/><Relationship Id="R320b9bc79a7e4bda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04e14ab6db1d4bf2" Type="http://schemas.openxmlformats.org/officeDocument/2006/relationships/slide" Target="../slides/slide5.xml"/><Relationship Id="R4e0ff02ea875402d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e3f3b1f4577349a5" Type="http://schemas.openxmlformats.org/officeDocument/2006/relationships/slide" Target="../slides/slide6.xml"/><Relationship Id="Rfc782a92098c43b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c01dbffa49b14124" Type="http://schemas.openxmlformats.org/officeDocument/2006/relationships/slide" Target="../slides/slide7.xml"/><Relationship Id="Re98557a01c494415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ad15ae3df3e64b3e" Type="http://schemas.openxmlformats.org/officeDocument/2006/relationships/notesMaster" Target="../notesMasters/notesMaster1.xml"/><Relationship Id="Rb35892a27dd64be3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825d9ea7e9ba4d56" Type="http://schemas.openxmlformats.org/officeDocument/2006/relationships/slide" Target="../slides/slide8.xml"/><Relationship Id="Rde64487f707e41ea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310a9e53f97847af" Type="http://schemas.openxmlformats.org/officeDocument/2006/relationships/slide" Target="../slides/slide10.xml"/><Relationship Id="R376a9c600a814fc0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5fa05d663bb24c35" Type="http://schemas.openxmlformats.org/officeDocument/2006/relationships/slide" Target="../slides/slide11.xml"/><Relationship Id="R6d61019b3cb949cb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1b1e0d381ad249c6" Type="http://schemas.openxmlformats.org/officeDocument/2006/relationships/notesMaster" Target="../notesMasters/notesMaster1.xml"/><Relationship Id="R78e524c6b5f642ff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1c78fddb550c4edf" Type="http://schemas.openxmlformats.org/officeDocument/2006/relationships/slide" Target="../slides/slide13.xml"/><Relationship Id="R3541830f9796406c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2a7017ec45884a0c" Type="http://schemas.openxmlformats.org/officeDocument/2006/relationships/slide" Target="../slides/slide14.xml"/><Relationship Id="R31d413db6af84a37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14bdaa7c56db4d4d" Type="http://schemas.openxmlformats.org/officeDocument/2006/relationships/slide" Target="../slides/slide15.xml"/><Relationship Id="R8427d00efbb741ba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5d355239127042de" Type="http://schemas.openxmlformats.org/officeDocument/2006/relationships/notesMaster" Target="../notesMasters/notesMaster1.xml"/><Relationship Id="R6fff6ca5371b4b78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8a3ddec9fab149bf" Type="http://schemas.openxmlformats.org/officeDocument/2006/relationships/slide" Target="../slides/slide17.xml"/><Relationship Id="R9e6bc1b8dfd34df3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485d8b0540164d57" Type="http://schemas.openxmlformats.org/officeDocument/2006/relationships/notesMaster" Target="../notesMasters/notesMaster1.xml"/><Relationship Id="Raea8ecc24b934616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18c8347077534767" Type="http://schemas.openxmlformats.org/officeDocument/2006/relationships/notesMaster" Target="../notesMasters/notesMaster1.xml"/><Relationship Id="R4128884078684ef6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2fa351f5e16342a0" Type="http://schemas.openxmlformats.org/officeDocument/2006/relationships/notesMaster" Target="../notesMasters/notesMaster1.xml"/><Relationship Id="R7077209684c54390" Type="http://schemas.openxmlformats.org/officeDocument/2006/relationships/slide" Target="../slides/slide20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d9a23b36cd59485f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45c2278235a74a75" Type="http://schemas.openxmlformats.org/officeDocument/2006/relationships/slideLayout" Target="../slideLayouts/slideLayout1.xml"/><Relationship Id="R4db3dec685584675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c2278235a74a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494a000c94214a01" Type="http://schemas.openxmlformats.org/officeDocument/2006/relationships/slideLayout" Target="../slideLayouts/slideLayout1.xml"/><Relationship Id="Rbe186269765e47c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c3ec3805f81d43b4" Type="http://schemas.openxmlformats.org/officeDocument/2006/relationships/notesSlide" Target="../notesSlides/notesSlide2.xml"/><Relationship Id="Rc4bd2026e66d45f0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666ff0d44bd04919" Type="http://schemas.openxmlformats.org/officeDocument/2006/relationships/notesSlide" Target="../notesSlides/notesSlide3.xml"/><Relationship Id="R7d1b22e3492e43e7" Type="http://schemas.openxmlformats.org/officeDocument/2006/relationships/image" Target="../media/image.png"/><Relationship Id="Rb78a930903d24765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a5c08c58b9824e61" Type="http://schemas.openxmlformats.org/officeDocument/2006/relationships/notesSlide" Target="../notesSlides/notesSlide4.xml"/><Relationship Id="Rb7f0108061ac4a37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44d316487ff04977" Type="http://schemas.openxmlformats.org/officeDocument/2006/relationships/slideLayout" Target="../slideLayouts/slideLayout1.xml"/><Relationship Id="Rffb9e39a54c24853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36fbaecf7d1645c9" Type="http://schemas.openxmlformats.org/officeDocument/2006/relationships/notesSlide" Target="../notesSlides/notesSlide6.xml"/><Relationship Id="Rad64dfc0188044b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878b12de715249a6" Type="http://schemas.openxmlformats.org/officeDocument/2006/relationships/notesSlide" Target="../notesSlides/notesSlide7.xml"/><Relationship Id="Rf3a0f2a0bfe140b5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581ae7068855414c" Type="http://schemas.openxmlformats.org/officeDocument/2006/relationships/notesSlide" Target="../notesSlides/notesSlide9.xml"/><Relationship Id="Rd1eb1cfb7cab4227" Type="http://schemas.openxmlformats.org/officeDocument/2006/relationships/slideLayout" Target="../slideLayouts/slideLayout1.xml"/><Relationship Id="rId3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124b162384dd42c8" Type="http://schemas.openxmlformats.org/officeDocument/2006/relationships/notesSlide" Target="../notesSlides/notesSlide8.xml"/><Relationship Id="Rc89e423419a441d6" Type="http://schemas.openxmlformats.org/officeDocument/2006/relationships/slideLayout" Target="../slideLayouts/slideLayout1.xml"/><Relationship Id="rId3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b1e6c39f9a5346c3" Type="http://schemas.openxmlformats.org/officeDocument/2006/relationships/slideLayout" Target="../slideLayouts/slideLayout1.xml"/><Relationship Id="Ree3f91c328cf47b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51bbb67104f043b2" Type="http://schemas.openxmlformats.org/officeDocument/2006/relationships/notesSlide" Target="../notesSlides/notesSlide11.xml"/><Relationship Id="Rc31420218af34d97" Type="http://schemas.openxmlformats.org/officeDocument/2006/relationships/slideLayout" Target="../slideLayouts/slideLayout1.xml"/><Relationship Id="rId3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05af01fe18c84fc6" Type="http://schemas.openxmlformats.org/officeDocument/2006/relationships/slideLayout" Target="../slideLayouts/slideLayout1.xml"/><Relationship Id="R7be9200d6de24bec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b73ceb156f8a4218" Type="http://schemas.openxmlformats.org/officeDocument/2006/relationships/slideLayout" Target="../slideLayouts/slideLayout1.xml"/><Relationship Id="Re2c75fa64bb44999" Type="http://schemas.openxmlformats.org/officeDocument/2006/relationships/notesSlide" Target="../notesSlides/notesSlide13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4.xml.rels><?xml version='1.0' encoding='UTF-8' standalone='yes'?>
<Relationships xmlns="http://schemas.openxmlformats.org/package/2006/relationships"><Relationship Id="R7794b1461c8c4ee4" Type="http://schemas.openxmlformats.org/officeDocument/2006/relationships/slideLayout" Target="../slideLayouts/slideLayout1.xml"/><Relationship Id="R883061dd2faa4f47" Type="http://schemas.openxmlformats.org/officeDocument/2006/relationships/notesSlide" Target="../notesSlides/notesSlide14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15.xml.rels><?xml version='1.0' encoding='UTF-8' standalone='yes'?>
<Relationships xmlns="http://schemas.openxmlformats.org/package/2006/relationships"><Relationship Id="R908eb8a049cd4d67" Type="http://schemas.openxmlformats.org/officeDocument/2006/relationships/notesSlide" Target="../notesSlides/notesSlide15.xml"/><Relationship Id="Ra5ec8914a2874ca7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30570a55674d4061" Type="http://schemas.openxmlformats.org/officeDocument/2006/relationships/notesSlide" Target="../notesSlides/notesSlide16.xml"/><Relationship Id="Rcde0b3335a164b9a" Type="http://schemas.openxmlformats.org/officeDocument/2006/relationships/slideLayout" Target="../slideLayouts/slideLayout1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</file>

<file path=ppt/slides/_rels/slide17.xml.rels><?xml version='1.0' encoding='UTF-8' standalone='yes'?>
<Relationships xmlns="http://schemas.openxmlformats.org/package/2006/relationships"><Relationship Id="R19cc73ad96334426" Type="http://schemas.openxmlformats.org/officeDocument/2006/relationships/slideLayout" Target="../slideLayouts/slideLayout1.xml"/><Relationship Id="R6f58f0eed2734188" Type="http://schemas.openxmlformats.org/officeDocument/2006/relationships/image" Target="../media/image2.png"/><Relationship Id="Rae6e3b15a5cf41dc" Type="http://schemas.openxmlformats.org/officeDocument/2006/relationships/notesSlide" Target="../notesSlides/notesSlide17.xml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18.xml.rels><?xml version='1.0' encoding='UTF-8' standalone='yes'?>
<Relationships xmlns="http://schemas.openxmlformats.org/package/2006/relationships"><Relationship Id="R82a3b5d678894b7c" Type="http://schemas.openxmlformats.org/officeDocument/2006/relationships/notesSlide" Target="../notesSlides/notesSlide18.xml"/><Relationship Id="Rba4fb460340b4da8" Type="http://schemas.openxmlformats.org/officeDocument/2006/relationships/slideLayout" Target="../slideLayouts/slideLayout1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/Relationships>
</file>

<file path=ppt/slides/_rels/slide19.xml.rels><?xml version='1.0' encoding='UTF-8' standalone='yes'?>
<Relationships xmlns="http://schemas.openxmlformats.org/package/2006/relationships"><Relationship Id="R5e4496df27b74ab8" Type="http://schemas.openxmlformats.org/officeDocument/2006/relationships/image" Target="../media/image3.png"/><Relationship Id="R9381c7c4c34e44fb" Type="http://schemas.openxmlformats.org/officeDocument/2006/relationships/notesSlide" Target="../notesSlides/notesSlide19.xml"/><Relationship Id="R9773ec3dd8dc46d9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564fdfa93c4a43f6" Type="http://schemas.openxmlformats.org/officeDocument/2006/relationships/notesSlide" Target="../notesSlides/notesSlide20.xml"/><Relationship Id="Rc604e05aaca94f44" Type="http://schemas.openxmlformats.org/officeDocument/2006/relationships/slideLayout" Target="../slideLayouts/slideLayout1.xml"/><Relationship Id="rId3" Type="http://schemas.openxmlformats.org/officeDocument/2006/relationships/image" Target="../media/image2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B1020"/>
            </a:gs>
            <a:gs pos="58000">
              <a:srgbClr val="151B33"/>
            </a:gs>
            <a:gs pos="100000">
              <a:srgbClr val="252A55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8E6363-E16B-41EB-A49F-6C509F7F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904875"/>
            <a:ext cx="4000500" cy="4000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7769F4">
                  <a:alpha val="42000"/>
                </a:srgbClr>
              </a:gs>
              <a:gs pos="72000">
                <a:srgbClr val="7769F4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45CF0B-79BC-43ED-B98D-A46A3031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29000"/>
            <a:ext cx="3429000" cy="3429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45E0D0">
                  <a:alpha val="30000"/>
                </a:srgbClr>
              </a:gs>
              <a:gs pos="72000">
                <a:srgbClr val="45E0D0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F0EF1A-BA7C-4550-95CA-F4F2195E0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2762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E0D0">
              <a:alpha val="22000"/>
            </a:srgbClr>
          </a:solidFill>
          <a:ln xmlns:a="http://schemas.openxmlformats.org/drawingml/2006/main" w="9525">
            <a:solidFill>
              <a:srgbClr val="45E0D0">
                <a:alpha val="45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0852A1-DC7C-48F2-9E5E-812E3735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"/>
            <a:ext cx="253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DD6C6"/>
                </a:solidFill>
                <a:latin typeface="Aptos"/>
              </a:rPr>
              <a:t>ESTRATEGIA · RAG · DECISIONES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DCA87D-7E4A-42F4-9B2F-484246F9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85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57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400" b="1">
                <a:solidFill>
                  <a:srgbClr val="F7F8FC"/>
                </a:solidFill>
                <a:latin typeface="Aptos Display"/>
              </a:rPr>
              <a:t>Context Engineering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95D148-99ED-4F9C-AEA8-96ABD6D0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657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75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3400" b="1" i="0">
                <a:solidFill>
                  <a:srgbClr val="3DD6C6"/>
                </a:solidFill>
                <a:latin typeface="Aptos Display"/>
                <a:ea typeface="Aptos"/>
                <a:cs typeface="Aptos"/>
              </a:rPr>
              <a:t>y manejo de ambigüedad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0339DB-9AFF-410C-B228-9522E897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581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0" i="0">
                <a:solidFill>
                  <a:srgbClr val="CDD4E7"/>
                </a:solidFill>
                <a:latin typeface="Aptos"/>
                <a:ea typeface="Aptos"/>
                <a:cs typeface="Aptos"/>
              </a:defRPr>
            </a:pPr>
            <a:r>
              <a:rPr sz="2000" b="0" i="0">
                <a:solidFill>
                  <a:srgbClr val="C7CEDF"/>
                </a:solidFill>
                <a:latin typeface="Aptos"/>
                <a:ea typeface="Aptos"/>
                <a:cs typeface="Aptos"/>
              </a:rPr>
              <a:t>Diseñar la información que el modelo necesita — y saber cuándo preguntar.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7E30BF-89C8-4850-B361-2AA577B99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300" b="0">
                <a:solidFill>
                  <a:srgbClr val="C7CEDF"/>
                </a:solidFill>
                <a:latin typeface="Aptos"/>
              </a:rPr>
              <a:t>Kevin Gomez Villanueva  ·  AI Engineer en BCP  ·  Julio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4543B5-D8F6-445E-8B61-D262757A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600450"/>
            <a:ext cx="1266825" cy="-1885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5E0D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B44321-8953-4B9F-91AE-4282FDB7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600450"/>
            <a:ext cx="1685925" cy="-933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769F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B9E05F-0ABB-4D0C-A366-59B01D2A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600450"/>
            <a:ext cx="1762125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B6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062AC5-F0E5-4C83-A43D-266B5A62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600450"/>
            <a:ext cx="1190625" cy="1209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6F7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81A806-ADE3-4C74-97F6-4FC845DF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00450"/>
            <a:ext cx="119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198B71-39A0-46E6-90F9-7253CDE7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14700"/>
            <a:ext cx="11430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5E0D0">
                <a:alpha val="7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40CC15-8324-4F81-B4B0-AD8833DA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4480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QUERY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40D85D-7978-40FF-AE57-131F4538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428750"/>
            <a:ext cx="952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E0D0">
              <a:alpha val="20000"/>
            </a:srgbClr>
          </a:solidFill>
          <a:ln xmlns:a="http://schemas.openxmlformats.org/drawingml/2006/main" w="19050">
            <a:solidFill>
              <a:srgbClr val="45E0D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141880-6621-4370-A6C3-A6ECE357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5621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Z₁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E21044-4E30-43AC-A5E8-3D2538EE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381250"/>
            <a:ext cx="952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69F4">
              <a:alpha val="20000"/>
            </a:srgbClr>
          </a:solidFill>
          <a:ln xmlns:a="http://schemas.openxmlformats.org/drawingml/2006/main" w="19050">
            <a:solidFill>
              <a:srgbClr val="7769F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5A430F-F76B-4A83-B18B-C091F0DE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5146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Z₂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2E1A1F-E6F4-4AE9-95AB-3F126D59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448050"/>
            <a:ext cx="952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66E">
              <a:alpha val="20000"/>
            </a:srgbClr>
          </a:solidFill>
          <a:ln xmlns:a="http://schemas.openxmlformats.org/drawingml/2006/main" w="19050">
            <a:solidFill>
              <a:srgbClr val="FFB6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8017C7-B626-444D-B671-2B1A54FA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5814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Z₃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80843B-C48B-4226-9204-88BE085D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524375"/>
            <a:ext cx="952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F7D">
              <a:alpha val="20000"/>
            </a:srgbClr>
          </a:solidFill>
          <a:ln xmlns:a="http://schemas.openxmlformats.org/drawingml/2006/main" w="19050">
            <a:solidFill>
              <a:srgbClr val="FF6F7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0C7BF6-9AE4-4833-8681-7534587E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65772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Z₄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2BB35A-5BEB-4322-B691-4DB25931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AAB3C8"/>
                </a:solidFill>
                <a:latin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73876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7DAF15-F4E4-46D8-8B59-477BD0E5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65E8"/>
                </a:solidFill>
                <a:latin typeface="Aptos"/>
              </a:rPr>
              <a:t>02 / EL PROBLEMA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4E3513-4D26-471F-9310-13C093F8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01526"/>
                </a:solidFill>
                <a:latin typeface="Aptos Display"/>
              </a:rPr>
              <a:t>Una pregunta puede tener varias respuestas correctas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4AE608-6C66-439C-8708-BBC502AD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EE694F-1545-4ED6-8830-8982114D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47875"/>
            <a:ext cx="9563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60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101526"/>
                </a:solidFill>
                <a:latin typeface="Aptos Display"/>
                <a:ea typeface="Aptos"/>
                <a:cs typeface="Aptos"/>
              </a:rPr>
              <a:t>“¿Cuál es el banco más grande?”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32C6DB-420E-4824-A0F6-EFA2128E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81375"/>
            <a:ext cx="19050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E0D0">
              <a:alpha val="12000"/>
            </a:srgbClr>
          </a:solidFill>
          <a:ln xmlns:a="http://schemas.openxmlformats.org/drawingml/2006/main" w="9525">
            <a:solidFill>
              <a:srgbClr val="45E0D0">
                <a:alpha val="45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F26093-1646-43B0-B60B-897B50DE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457575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activos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258157-7264-4E52-8ADE-1400CF58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381375"/>
            <a:ext cx="19050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69F4">
              <a:alpha val="12000"/>
            </a:srgbClr>
          </a:solidFill>
          <a:ln xmlns:a="http://schemas.openxmlformats.org/drawingml/2006/main" w="9525">
            <a:solidFill>
              <a:srgbClr val="7769F4">
                <a:alpha val="45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E3EB26-D14E-4DC3-BA95-8F647412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457575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capitalización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3E0789-F1EE-40B4-90FA-F8BF1B5B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381375"/>
            <a:ext cx="19050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66E">
              <a:alpha val="12000"/>
            </a:srgbClr>
          </a:solidFill>
          <a:ln xmlns:a="http://schemas.openxmlformats.org/drawingml/2006/main" w="9525">
            <a:solidFill>
              <a:srgbClr val="FFB66E">
                <a:alpha val="45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7C37F4-EAC5-4696-A4C1-70B57C250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457575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clientes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441E6B-74DA-43BC-AC26-B1DAFC5C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381375"/>
            <a:ext cx="19050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F7D">
              <a:alpha val="12000"/>
            </a:srgbClr>
          </a:solidFill>
          <a:ln xmlns:a="http://schemas.openxmlformats.org/drawingml/2006/main" w="9525">
            <a:solidFill>
              <a:srgbClr val="FF6F7D">
                <a:alpha val="45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DB9B5F-C591-42E0-A0CC-B9471C0A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457575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ingresos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81AE61-557C-43ED-9D75-F881A2A0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381375"/>
            <a:ext cx="19050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D590">
              <a:alpha val="12000"/>
            </a:srgbClr>
          </a:solidFill>
          <a:ln xmlns:a="http://schemas.openxmlformats.org/drawingml/2006/main" w="9525">
            <a:solidFill>
              <a:srgbClr val="62D590">
                <a:alpha val="45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C9812D-1D48-49A2-BD64-F95F26A91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457575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presencia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15466C-C19A-48A2-955B-BCC5909E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76750"/>
            <a:ext cx="8953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>
                <a:solidFill/>
                <a:latin typeface="Aptos"/>
              </a:rPr>
              <a:t>Una respuesta puede ser correcta y, aun así, interpretar mal la intención.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FC0C2F-3C85-4B8C-ADE4-FC441490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81625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0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>
                <a:solidFill/>
                <a:latin typeface="Aptos"/>
              </a:rPr>
              <a:t>Antes de responder, el sistema debe decidir qué significa realmente X.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53314D-EFA6-403E-AEFC-8CB21E28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E96AA"/>
                </a:solidFill>
                <a:latin typeface="Aptos"/>
                <a:ea typeface="Aptos"/>
                <a:cs typeface="Aptos"/>
              </a:rPr>
              <a:t>Ejemplo conceptual basado en context.md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E44D1D-780A-4BE1-962F-A8A6E519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8E96AA"/>
                </a:solidFill>
                <a:latin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112773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BB61D0-7E1B-4090-BC1A-62A1AE786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65E8"/>
                </a:solidFill>
                <a:latin typeface="Aptos"/>
              </a:rPr>
              <a:t>03 / QUÉ ES CONTEXT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40ADB4-FB88-4845-81D4-1F2226BC9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7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01526"/>
                </a:solidFill>
                <a:latin typeface="Aptos Display"/>
              </a:rPr>
              <a:t>Context Engineering decide qué información entra al modelo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A57129-62B8-479A-824B-2A9E4146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87F132-58CB-469B-91DF-05845C86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809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69F4">
              <a:alpha val="14000"/>
            </a:srgbClr>
          </a:solidFill>
          <a:ln xmlns:a="http://schemas.openxmlformats.org/drawingml/2006/main" w="9525">
            <a:solidFill>
              <a:srgbClr val="7769F4">
                <a:alpha val="45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3398E1-DAB9-4F04-BA15-711A5527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7165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61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065E8"/>
                </a:solidFill>
                <a:latin typeface="Aptos"/>
                <a:ea typeface="Aptos"/>
                <a:cs typeface="Aptos"/>
              </a:rPr>
              <a:t>DEFINICIÓN OPERACIONAL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8CCD8E-405F-4101-BFFF-CBE97322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00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2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22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Seleccionar, generar, estructurar y administrar la información que condiciona la respuesta.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09AC76-B99C-4177-8476-8190B7EA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4000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600" b="0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No es solo prompt engineering. Incluye recuperación, memoria, herramientas, estructura, compresión y ensamblaje dinámico.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A70179-C404-452F-95FD-B1A561820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752600"/>
            <a:ext cx="6457950" cy="369570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A"/>
            </a:solidFill>
            <a:prstDash val="solid"/>
          </a:ln>
        </p:spPr>
        <p:txBody xmlns:a="http://schemas.openxmlformats.org/drawingml/2006/main">
          <a:bodyPr/>
          <a:p/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1b22e3492e43e7"/>
          <a:stretch xmlns:a="http://schemas.openxmlformats.org/drawingml/2006/main"/>
        </p:blipFill>
        <p:spPr>
          <a:xfrm xmlns:a="http://schemas.openxmlformats.org/drawingml/2006/main">
            <a:off x="5257800" y="2590468"/>
            <a:ext cx="6038850" cy="2019964"/>
          </a:xfrm>
          <a:prstGeom xmlns:a="http://schemas.openxmlformats.org/drawingml/2006/main" prst="roundRect">
            <a:avLst>
              <a:gd name="adj" fmla="val 4167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F53669-ADC3-4EC9-A1A4-30228F72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E96AA"/>
                </a:solidFill>
                <a:latin typeface="Aptos"/>
                <a:ea typeface="Aptos"/>
                <a:cs typeface="Aptos"/>
              </a:rPr>
              <a:t>Fuente: survey_context.pdf, Fig. 3; imagen suministrada en el proyecto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03B65A-095B-4096-B0FA-9B0A6520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8E96AA"/>
                </a:solidFill>
                <a:latin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78222967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B1020"/>
            </a:gs>
            <a:gs pos="58000">
              <a:srgbClr val="151B33"/>
            </a:gs>
            <a:gs pos="100000">
              <a:srgbClr val="252A55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6EBFB4-F358-485A-B659-0A7E83D0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DD6C6"/>
                </a:solidFill>
                <a:latin typeface="Aptos"/>
              </a:rPr>
              <a:t>04 / TESIS CENTRAL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BDB1AD-80A4-406B-B986-BA074C9A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7F8FC"/>
                </a:solidFill>
                <a:latin typeface="Aptos Display"/>
              </a:rPr>
              <a:t>La unidad de valor es la señal útil por token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410622-8EFD-4471-B95D-8350A824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096E47-9EF9-452B-85E9-FC3C768D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BFC7DA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C7CEDF"/>
                </a:solidFill>
                <a:latin typeface="Aptos"/>
                <a:ea typeface="Aptos"/>
                <a:cs typeface="Aptos"/>
              </a:rPr>
              <a:t>El objetivo real es maximizar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80435B-914D-44BC-B93F-4A67968C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628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"/>
                <a:cs typeface="Aptos"/>
              </a:rPr>
              <a:t>información útil</a:t>
            </a:r>
            <a:r>
              <a:rPr sz="3600" b="1">
                <a:solidFill>
                  <a:srgbClr val="FFFFFF"/>
                </a:solidFill>
                <a:latin typeface="Aptos Display"/>
                <a:ea typeface="Aptos"/>
                <a:cs typeface="Aptos"/>
              </a:rPr>
              <a:t>  /  token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C77184-07A2-4C73-8A99-6FAE908D2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00275"/>
            <a:ext cx="40005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57D7D0-1779-4C0B-B9A0-DE15F2F6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00275"/>
            <a:ext cx="1000125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E0D0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EA9760-90F7-4F98-B615-CAA5491A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71725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señal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C8CD4C-9B74-4257-9D9C-83CE9C06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71725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 i="0">
                <a:solidFill>
                  <a:srgbClr val="C3CBE0"/>
                </a:solidFill>
                <a:latin typeface="Aptos"/>
                <a:ea typeface="Aptos"/>
                <a:cs typeface="Aptos"/>
              </a:defRPr>
            </a:pPr>
            <a:r>
              <a:rPr sz="1400" b="0" i="0">
                <a:solidFill>
                  <a:srgbClr val="C7CEDF"/>
                </a:solidFill>
                <a:latin typeface="Aptos"/>
                <a:ea typeface="Aptos"/>
                <a:cs typeface="Aptos"/>
              </a:rPr>
              <a:t>ruido · redundancia · conflicto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CB0C77-28B5-4F8F-8298-505FFB22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52775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94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Un contexto corto y preciso puede superar a uno largo y ruidoso.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111756-D17C-4C0F-A33F-533EB261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24350"/>
            <a:ext cx="123825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E0D0">
              <a:alpha val="18000"/>
            </a:srgbClr>
          </a:solidFill>
          <a:ln xmlns:a="http://schemas.openxmlformats.org/drawingml/2006/main" w="9525">
            <a:solidFill>
              <a:srgbClr val="45E0D0">
                <a:alpha val="45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54C6ED-E895-445A-9C32-2A59DE48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400550"/>
            <a:ext cx="100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seleccionar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8D06E3-6D74-487F-9422-144F3B2B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324350"/>
            <a:ext cx="1095375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69F4">
              <a:alpha val="18000"/>
            </a:srgbClr>
          </a:solidFill>
          <a:ln xmlns:a="http://schemas.openxmlformats.org/drawingml/2006/main" w="9525">
            <a:solidFill>
              <a:srgbClr val="7769F4">
                <a:alpha val="45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8BB409-F1CA-450B-8F43-104D70EA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400550"/>
            <a:ext cx="866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ordenar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593A1A-FB0C-4C37-B8C3-B9EEAA80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324350"/>
            <a:ext cx="1400175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66E">
              <a:alpha val="18000"/>
            </a:srgbClr>
          </a:solidFill>
          <a:ln xmlns:a="http://schemas.openxmlformats.org/drawingml/2006/main" w="9525">
            <a:solidFill>
              <a:srgbClr val="FFB66E">
                <a:alpha val="45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37FF68-DBCC-4117-A8CD-7093F9DB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400550"/>
            <a:ext cx="1171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comprimir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7E85F3-53C0-46B7-96B0-87E4C8D4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AAB3C8"/>
                </a:solidFill>
                <a:latin typeface="Aptos"/>
                <a:ea typeface="Aptos"/>
                <a:cs typeface="Aptos"/>
              </a:rPr>
              <a:t>Fuente: context.md — información útil por token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0C79EE-3BEF-4FD4-A4AC-B1E48930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AAB3C8"/>
                </a:solidFill>
                <a:latin typeface="Aptos"/>
              </a:rPr>
              <a:t>04</a:t>
            </a:r>
          </a:p>
        </p:txBody>
      </p:sp>
      <p:pic xmlns:a="http://schemas.openxmlformats.org/drawingml/2006/main" xmlns:r="http://schemas.openxmlformats.org/officeDocument/2006/relationships">
        <p:nvPicPr>
          <p:cNvPr id="20" name="Ecuación s04_signal_density" descr="s04_signal_dens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409950"/>
            <a:ext cx="1319902" cy="723900"/>
          </a:xfrm>
          <a:prstGeom prst="rect">
            <a:avLst/>
          </a:prstGeom>
        </p:spPr>
      </p:pic>
      <p:sp xmlns:a="http://schemas.openxmlformats.org/drawingml/2006/main">
        <p:nvSpPr>
          <p:cNvPr id="21" name="TextBox 20"/>
          <p:cNvSpPr txBox="1"/>
          <p:nvPr/>
        </p:nvSpPr>
        <p:spPr>
          <a:xfrm>
            <a:off x="685800" y="406908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3DD6C6"/>
                </a:solidFill>
                <a:latin typeface="Aptos"/>
              </a:rPr>
              <a:t>Notación · </a:t>
            </a:r>
            <a:r>
              <a:rPr sz="1250">
                <a:solidFill>
                  <a:srgbClr val="C7CEDF"/>
                </a:solidFill>
                <a:latin typeface="Aptos"/>
              </a:rPr>
              <a:t>X consulta · Y respuesta · C contexto · |C| número de tokens</a:t>
            </a:r>
          </a:p>
        </p:txBody>
      </p:sp>
    </p:spTree>
    <p:extLst>
      <p:ext uri="{BB962C8B-B14F-4D97-AF65-F5344CB8AC3E}">
        <p14:creationId xmlns:p14="http://schemas.microsoft.com/office/powerpoint/2010/main" val="12248808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20CD3A-5CF0-4613-8352-A1AED48A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65E8"/>
                </a:solidFill>
                <a:latin typeface="Aptos"/>
              </a:rPr>
              <a:t>05 / MODELO PROBABILÍSTICO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0B8AA6-9A27-4079-B48F-1A4F4A79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01526"/>
                </a:solidFill>
                <a:latin typeface="Aptos Display"/>
              </a:rPr>
              <a:t>El contexto redistribuye la probabilidad de cada token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86773F-7EBE-437C-8DB8-2BC90D6B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FFA801-F445-41AB-8958-A15FF773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504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El contexto aporta cuando aumenta la probabilidad del token correcto y reduce alternativas incorrectas.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9CE881-95DC-403F-B27E-72E1BE63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05050"/>
            <a:ext cx="4381500" cy="3067050"/>
          </a:xfrm>
          <a:prstGeom xmlns:a="http://schemas.openxmlformats.org/drawingml/2006/main" prst="roundRect">
            <a:avLst>
              <a:gd name="adj" fmla="val 74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138318-E307-4F06-8FC3-E70029D7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33650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E0D0">
              <a:alpha val="14000"/>
            </a:srgbClr>
          </a:solidFill>
          <a:ln xmlns:a="http://schemas.openxmlformats.org/drawingml/2006/main" w="9525">
            <a:solidFill>
              <a:srgbClr val="45E0D0">
                <a:alpha val="45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BF6F70-52A2-4E04-852B-F8D7082A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717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3DD6C6"/>
                </a:solidFill>
                <a:latin typeface="Aptos"/>
                <a:ea typeface="Aptos"/>
                <a:cs typeface="Aptos"/>
              </a:rPr>
              <a:t>EJEMPLO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D685CC-F2E2-4A29-90FE-27CD0B57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051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Sin contrato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E9245C-0FAC-4767-B949-BD34A710B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1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FF6F7D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F26674"/>
                </a:solidFill>
                <a:latin typeface="Aptos Display"/>
                <a:ea typeface="Aptos"/>
                <a:cs typeface="Aptos"/>
              </a:rPr>
              <a:t>“12 meses”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461332-9B29-40C6-B934-2C329142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609975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769F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8AF78C-AD19-488F-B98D-5D33CD7E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051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Con contrato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000D48-457B-463C-B62E-990E1564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2900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6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62D59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52C97F"/>
                </a:solidFill>
                <a:latin typeface="Aptos Display"/>
                <a:ea typeface="Aptos"/>
                <a:cs typeface="Aptos"/>
              </a:rPr>
              <a:t>“24 meses”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858BDA-5CE8-4CAB-904C-6D53DA44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E96AA"/>
                </a:solidFill>
                <a:latin typeface="Aptos"/>
                <a:ea typeface="Aptos"/>
                <a:cs typeface="Aptos"/>
              </a:rPr>
              <a:t>Fuente: context.md — generación condicional y ejemplo de garantía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E03278-1F75-4172-9C82-70EFA705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8E96AA"/>
                </a:solidFill>
                <a:latin typeface="Aptos"/>
              </a:rPr>
              <a:t>05</a:t>
            </a:r>
          </a:p>
        </p:txBody>
      </p:sp>
      <p:pic xmlns:a="http://schemas.openxmlformats.org/drawingml/2006/main" xmlns:r="http://schemas.openxmlformats.org/officeDocument/2006/relationships">
        <p:nvPicPr>
          <p:cNvPr id="18" name="Ecuación s05_token" descr="s05_tok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400300"/>
            <a:ext cx="4809344" cy="76200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>
        <p:nvPicPr>
          <p:cNvPr id="19" name="Ecuación s05_sequence" descr="s05_seque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429000"/>
            <a:ext cx="3465966" cy="66675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>
        <p:nvPicPr>
          <p:cNvPr id="20" name="Ecuación s05_example" descr="s05_exam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3250" y="4342004"/>
            <a:ext cx="3810000" cy="307591"/>
          </a:xfrm>
          <a:prstGeom prst="rect">
            <a:avLst/>
          </a:prstGeom>
        </p:spPr>
      </p:pic>
      <p:sp xmlns:a="http://schemas.openxmlformats.org/drawingml/2006/main">
        <p:nvSpPr>
          <p:cNvPr id="21" name="TextBox 20"/>
          <p:cNvSpPr txBox="1"/>
          <p:nvPr/>
        </p:nvSpPr>
        <p:spPr>
          <a:xfrm>
            <a:off x="685800" y="5513832"/>
            <a:ext cx="98755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7065E8"/>
                </a:solidFill>
                <a:latin typeface="Aptos"/>
              </a:rPr>
              <a:t>Notación · </a:t>
            </a:r>
            <a:r>
              <a:rPr sz="1250">
                <a:solidFill>
                  <a:srgbClr val="60687C"/>
                </a:solidFill>
                <a:latin typeface="Aptos"/>
              </a:rPr>
              <a:t>θ parámetros del LLM · t posición · yₜ token actual · y&lt;ₜ prefijo generado</a:t>
            </a:r>
          </a:p>
        </p:txBody>
      </p:sp>
    </p:spTree>
    <p:extLst>
      <p:ext uri="{BB962C8B-B14F-4D97-AF65-F5344CB8AC3E}">
        <p14:creationId xmlns:p14="http://schemas.microsoft.com/office/powerpoint/2010/main" val="883607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992F4B-5646-4550-82BF-9B9E337A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65E8"/>
                </a:solidFill>
                <a:latin typeface="Aptos"/>
              </a:rPr>
              <a:t>06 / VALOR DE LA INFORMACIÓN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FC85BE-F140-4FBA-8115-31D96FB6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0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01526"/>
                </a:solidFill>
                <a:latin typeface="Aptos Display"/>
              </a:rPr>
              <a:t>El contexto vale por la incertidumbre que elimina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D23640-FBEC-4CB9-8FC3-8D7EDB2D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674795-2397-4702-AA20-8EA1E5A9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3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Información mutua condicional = beneficio potencial del contexto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ABAC80-7536-4BD7-AB51-6F10B9EB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85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Sin contexto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7BA797-477A-468A-BB25-1B9EB806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66950"/>
            <a:ext cx="32385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E7F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B635BD-EFA4-47E7-9A3F-41DBE1E2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66950"/>
            <a:ext cx="2905125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F7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219886-0DA0-4294-AD75-22C3BF6A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098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 alta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3EFA8E-0F7C-450B-B9C6-699905D2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051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Con contexto relevante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955D35-56BD-4832-8C11-846DCC20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86150"/>
            <a:ext cx="32385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E7F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E548C2-7B8D-45BF-B28E-2A56F566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86150"/>
            <a:ext cx="10668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E0D0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9FDF3A-2DF0-4643-B8A2-26FF9E99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6290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H baja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1EB258-76C1-4643-9C5D-8EC2555F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343400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La diferencia es información que C aporta sobre 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F6287E-9DF8-4D96-B508-748BB63F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E96AA"/>
                </a:solidFill>
                <a:latin typeface="Aptos"/>
                <a:ea typeface="Aptos"/>
                <a:cs typeface="Aptos"/>
              </a:rPr>
              <a:t>Fuente: context.md — entropía e información mutua condicional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C9D1C2-F0FA-4485-9FD3-44A8AF2C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8E96AA"/>
                </a:solidFill>
                <a:latin typeface="Aptos"/>
              </a:rPr>
              <a:t>06</a:t>
            </a:r>
          </a:p>
        </p:txBody>
      </p:sp>
      <p:pic xmlns:a="http://schemas.openxmlformats.org/drawingml/2006/main" xmlns:r="http://schemas.openxmlformats.org/officeDocument/2006/relationships">
        <p:nvPicPr>
          <p:cNvPr id="18" name="Ecuación s06_entropy" descr="s06_entrop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62150"/>
            <a:ext cx="5871033" cy="70485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>
        <p:nvPicPr>
          <p:cNvPr id="19" name="Ecuación s06_mutual" descr="s06_mutu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911693"/>
            <a:ext cx="5623560" cy="440254"/>
          </a:xfrm>
          <a:prstGeom prst="rect">
            <a:avLst/>
          </a:prstGeom>
        </p:spPr>
      </p:pic>
      <p:sp xmlns:a="http://schemas.openxmlformats.org/drawingml/2006/main">
        <p:nvSpPr>
          <p:cNvPr id="20" name="TextBox 19"/>
          <p:cNvSpPr txBox="1"/>
          <p:nvPr/>
        </p:nvSpPr>
        <p:spPr>
          <a:xfrm>
            <a:off x="685800" y="4160520"/>
            <a:ext cx="562356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7065E8"/>
                </a:solidFill>
                <a:latin typeface="Aptos"/>
              </a:rPr>
              <a:t>Notación · </a:t>
            </a:r>
            <a:r>
              <a:rPr sz="1150">
                <a:solidFill>
                  <a:srgbClr val="60687C"/>
                </a:solidFill>
                <a:latin typeface="Aptos"/>
              </a:rPr>
              <a:t>H entropía · I información mutua · X consulta · Y respuesta · C contexto
Válido para un predictor ideal, en promedio sobre C.</a:t>
            </a:r>
          </a:p>
        </p:txBody>
      </p:sp>
    </p:spTree>
    <p:extLst>
      <p:ext uri="{BB962C8B-B14F-4D97-AF65-F5344CB8AC3E}">
        <p14:creationId xmlns:p14="http://schemas.microsoft.com/office/powerpoint/2010/main" val="7657366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EE3F50-A412-4278-B2DC-A10858CB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65E8"/>
                </a:solidFill>
                <a:latin typeface="Aptos"/>
              </a:rPr>
              <a:t>07 / LÍMITES DEL MODELO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766844-951C-40CC-8CD6-8E381AF0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01526"/>
                </a:solidFill>
                <a:latin typeface="Aptos Display"/>
              </a:rPr>
              <a:t>En un LLM real, más contexto también añade fricción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835520-20D2-413D-8E13-FDAD2D82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8BDC70-B217-41F8-8A25-4097DC8D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289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E0D0">
              <a:alpha val="18000"/>
            </a:srgbClr>
          </a:solidFill>
          <a:ln xmlns:a="http://schemas.openxmlformats.org/drawingml/2006/main" w="19050">
            <a:solidFill>
              <a:srgbClr val="45E0D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62168F-E6E6-47BD-820F-A1DC95D4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43275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6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01835A-E849-49E3-A30A-551E7D93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528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400" b="0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relevancia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ACDEDA-FE17-4A82-8F20-50F9D418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289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F7D">
              <a:alpha val="18000"/>
            </a:srgbClr>
          </a:solidFill>
          <a:ln xmlns:a="http://schemas.openxmlformats.org/drawingml/2006/main" w="19050">
            <a:solidFill>
              <a:srgbClr val="FF6F7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6B717F-BF4D-4BC5-BC10-F5A8BE33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343275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6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0EED24-0255-4AEA-A166-BD360676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528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400" b="0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ruido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A4571F-62AF-4742-B6CA-7CF190866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2289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66E">
              <a:alpha val="18000"/>
            </a:srgbClr>
          </a:solidFill>
          <a:ln xmlns:a="http://schemas.openxmlformats.org/drawingml/2006/main" w="19050">
            <a:solidFill>
              <a:srgbClr val="FFB6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12FB9D-6CEF-457A-AA08-AFEEE2CA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343275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6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696BA5-1ADC-4302-8799-F068ABA8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528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400" b="0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dificultad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0E0ACC-4441-4DA6-A715-933AA7F4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2289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69F4">
              <a:alpha val="18000"/>
            </a:srgbClr>
          </a:solidFill>
          <a:ln xmlns:a="http://schemas.openxmlformats.org/drawingml/2006/main" w="19050">
            <a:solidFill>
              <a:srgbClr val="7769F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C93944-8A3C-4743-ABB5-E9F7D6035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343275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6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509666-1122-4620-ADE7-9178DFD0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528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400" b="0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conflictos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783150-7C8E-4DCF-B4AD-F12C7814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91100"/>
            <a:ext cx="381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D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1E44D0-06DF-4830-97BC-C7643A96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05100"/>
            <a:ext cx="0" cy="228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D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C26057-04A5-42F9-9D79-BEAEF0D8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10100"/>
            <a:ext cx="571500" cy="-51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769F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C02E62-5FAF-4B37-8231-F17AD110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95750"/>
            <a:ext cx="571500" cy="-53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769F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57C480-1944-45E1-BCFE-5C78BBCD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62350"/>
            <a:ext cx="571500" cy="-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769F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F7ACC1-8986-4689-ADC5-8364F854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00400"/>
            <a:ext cx="57150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769F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D54275-4D49-4559-B7C5-F3FB3C44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33750"/>
            <a:ext cx="57150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769F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70E50A-7350-477B-A71B-624A6D14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52850"/>
            <a:ext cx="571500" cy="51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769F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6294BE-6FA4-4A11-BCE3-EB6FBF87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267200"/>
            <a:ext cx="38100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769F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98388F-F54C-40E9-9B28-52558DA9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67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E0D0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A5FFCD-C3B4-4363-92EB-F2737177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051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zona útil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7B9694-C4DE-456A-A68C-5AAAF3EC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162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0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400" b="0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tokens de contexto 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DF25FD-D6D1-481B-9B1E-6E44D1DA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E96AA"/>
                </a:solidFill>
                <a:latin typeface="Aptos"/>
                <a:ea typeface="Aptos"/>
                <a:cs typeface="Aptos"/>
              </a:rPr>
              <a:t>Fuente: context.md — modelo conceptual de calidad, ruido y longitud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79C7B7-558E-4F86-B1DE-B0F63AC6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8E96AA"/>
                </a:solidFill>
                <a:latin typeface="Aptos"/>
              </a:rPr>
              <a:t>07</a:t>
            </a:r>
          </a:p>
        </p:txBody>
      </p:sp>
      <p:pic xmlns:a="http://schemas.openxmlformats.org/drawingml/2006/main" xmlns:r="http://schemas.openxmlformats.org/officeDocument/2006/relationships">
        <p:nvPicPr>
          <p:cNvPr id="32" name="Ecuación s07_quality" descr="s07_qua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382714"/>
            <a:ext cx="6572250" cy="473322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>
        <p:nvPicPr>
          <p:cNvPr id="33" name="Ecuación s07_nonmonotonic" descr="s07_nonmonoton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229100"/>
            <a:ext cx="2823815" cy="514350"/>
          </a:xfrm>
          <a:prstGeom prst="rect">
            <a:avLst/>
          </a:prstGeom>
        </p:spPr>
      </p:pic>
      <p:sp xmlns:a="http://schemas.openxmlformats.org/drawingml/2006/main">
        <p:nvSpPr>
          <p:cNvPr id="34" name="Rounded Rectangle 33"/>
          <p:cNvSpPr/>
          <p:nvPr/>
        </p:nvSpPr>
        <p:spPr>
          <a:xfrm>
            <a:off x="685800" y="1901952"/>
            <a:ext cx="1783080" cy="256032"/>
          </a:xfrm>
          <a:prstGeom prst="roundRect">
            <a:avLst/>
          </a:prstGeom>
          <a:solidFill>
            <a:srgbClr val="EEF0F8"/>
          </a:solidFill>
          <a:ln w="12700">
            <a:solidFill>
              <a:srgbClr val="706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7065E8"/>
                </a:solidFill>
                <a:latin typeface="Aptos"/>
              </a:rPr>
              <a:t>MODELO CONCEPTUAL</a:t>
            </a:r>
          </a:p>
        </p:txBody>
      </p:sp>
      <p:sp xmlns:a="http://schemas.openxmlformats.org/drawingml/2006/main">
        <p:nvSpPr>
          <p:cNvPr id="35" name="TextBox 34"/>
          <p:cNvSpPr txBox="1"/>
          <p:nvPr/>
        </p:nvSpPr>
        <p:spPr>
          <a:xfrm>
            <a:off x="685800" y="4709160"/>
            <a:ext cx="55778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7065E8"/>
                </a:solidFill>
                <a:latin typeface="Aptos"/>
              </a:rPr>
              <a:t>Notación · </a:t>
            </a:r>
            <a:r>
              <a:rPr sz="1250">
                <a:solidFill>
                  <a:srgbClr val="60687C"/>
                </a:solidFill>
                <a:latin typeface="Aptos"/>
              </a:rPr>
              <a:t>Q calidad observada · R relevancia · N ruido · D dificultad · K conflictos · n tokens</a:t>
            </a:r>
          </a:p>
        </p:txBody>
      </p:sp>
    </p:spTree>
    <p:extLst>
      <p:ext uri="{BB962C8B-B14F-4D97-AF65-F5344CB8AC3E}">
        <p14:creationId xmlns:p14="http://schemas.microsoft.com/office/powerpoint/2010/main" val="1034722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524DA1-53AA-4EC8-893B-A7B8A92E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65E8"/>
                </a:solidFill>
                <a:latin typeface="Aptos"/>
              </a:rPr>
              <a:t>08 / RAG END-TO-END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78EA64-44E6-488A-854E-0904AD3F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01526"/>
                </a:solidFill>
                <a:latin typeface="Aptos Display"/>
              </a:rPr>
              <a:t>RAG multiplica recuperación y generación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CE5B3E-A25E-44E9-B0F9-44175D8A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97CFA5-0F98-4AE8-8E61-16D9B9C9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38600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769F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CDDFBB-E8C2-4678-B91A-6EB0F0ED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38600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769F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7D2054-E768-4428-8EE3-B5E8CDE3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71850"/>
            <a:ext cx="2095500" cy="1333500"/>
          </a:xfrm>
          <a:prstGeom xmlns:a="http://schemas.openxmlformats.org/drawingml/2006/main" prst="roundRect">
            <a:avLst>
              <a:gd name="adj" fmla="val 1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BDB3D4-1210-4FF8-808E-6CFC60E8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71850"/>
            <a:ext cx="2286000" cy="1333500"/>
          </a:xfrm>
          <a:prstGeom xmlns:a="http://schemas.openxmlformats.org/drawingml/2006/main" prst="roundRect">
            <a:avLst>
              <a:gd name="adj" fmla="val 1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85AFC9-125D-4011-8EE2-BEBD563C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71850"/>
            <a:ext cx="2095500" cy="1333500"/>
          </a:xfrm>
          <a:prstGeom xmlns:a="http://schemas.openxmlformats.org/drawingml/2006/main" prst="roundRect">
            <a:avLst>
              <a:gd name="adj" fmla="val 18571"/>
            </a:avLst>
          </a:prstGeom>
          <a:solidFill xmlns:a="http://schemas.openxmlformats.org/drawingml/2006/main">
            <a:srgbClr val="0B1020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ACB513-20AB-4E7D-8CF7-2B832C21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004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0687C"/>
                </a:solidFill>
                <a:latin typeface="Aptos"/>
              </a:rPr>
              <a:t>RETRIEVER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E6A798-992F-400E-8621-73B35CEC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243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30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01526"/>
                </a:solidFill>
                <a:latin typeface="Aptos Display"/>
              </a:rPr>
              <a:t>0.80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F580A7-EE54-41F8-A30C-3A837D23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004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0687C"/>
                </a:solidFill>
                <a:latin typeface="Aptos"/>
              </a:rPr>
              <a:t>GENERATOR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76B574-EBA5-4274-80E6-7B25F40A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2430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30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01526"/>
                </a:solidFill>
                <a:latin typeface="Aptos Display"/>
              </a:rPr>
              <a:t>0.90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4EB890-063E-476B-9E55-85EACAEC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004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B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65E8"/>
                </a:solidFill>
                <a:latin typeface="Aptos"/>
              </a:rPr>
              <a:t>SISTEMA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076F61-A58C-4D26-9D1E-A35731E9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243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3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7065E8"/>
                </a:solidFill>
                <a:latin typeface="Aptos Display"/>
              </a:rPr>
              <a:t>0.72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385655-CFB3-44B8-9242-E3CA7416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8195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2800" b="1" i="0">
                <a:solidFill>
                  <a:srgbClr val="7065E8"/>
                </a:solidFill>
                <a:latin typeface="Aptos Display"/>
                <a:ea typeface="Aptos"/>
                <a:cs typeface="Aptos"/>
              </a:rPr>
              <a:t>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029F09-9D51-4290-90A9-12580E69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195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2800" b="1" i="0">
                <a:solidFill>
                  <a:srgbClr val="7065E8"/>
                </a:solidFill>
                <a:latin typeface="Aptos Display"/>
                <a:ea typeface="Aptos"/>
                <a:cs typeface="Aptos"/>
              </a:rPr>
              <a:t>=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81812F-EE5C-45CE-A097-2B4EFB0F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181600"/>
            <a:ext cx="800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42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2000" b="1" i="0">
                <a:solidFill>
                  <a:srgbClr val="7065E8"/>
                </a:solidFill>
                <a:latin typeface="Aptos"/>
                <a:ea typeface="Aptos"/>
                <a:cs typeface="Aptos"/>
              </a:rPr>
              <a:t>Muchos “errores de generación” comienzan antes: en la selección del contexto.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13DADF-A81F-473E-9F96-82A8A802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E96AA"/>
                </a:solidFill>
                <a:latin typeface="Aptos"/>
                <a:ea typeface="Aptos"/>
                <a:cs typeface="Aptos"/>
              </a:rPr>
              <a:t>Fuente: context.md — descomposición probabilística de un pipeline RAG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233DD0-226A-49DB-97D7-680723ED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8E96AA"/>
                </a:solidFill>
                <a:latin typeface="Aptos"/>
              </a:rPr>
              <a:t>08</a:t>
            </a:r>
          </a:p>
        </p:txBody>
      </p:sp>
      <p:pic xmlns:a="http://schemas.openxmlformats.org/drawingml/2006/main" xmlns:r="http://schemas.openxmlformats.org/officeDocument/2006/relationships">
        <p:nvPicPr>
          <p:cNvPr id="21" name="Ecuación s08_rag_product" descr="s08_rag_produ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3885" y="2266950"/>
            <a:ext cx="9404230" cy="590550"/>
          </a:xfrm>
          <a:prstGeom prst="rect">
            <a:avLst/>
          </a:prstGeom>
        </p:spPr>
      </p:pic>
      <p:sp xmlns:a="http://schemas.openxmlformats.org/drawingml/2006/main">
        <p:nvSpPr>
          <p:cNvPr id="22" name="TextBox 21"/>
          <p:cNvSpPr txBox="1"/>
          <p:nvPr/>
        </p:nvSpPr>
        <p:spPr>
          <a:xfrm>
            <a:off x="1005840" y="283464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7065E8"/>
                </a:solidFill>
                <a:latin typeface="Aptos"/>
              </a:rPr>
              <a:t>Notación · </a:t>
            </a:r>
            <a:r>
              <a:rPr sz="1250">
                <a:solidFill>
                  <a:srgbClr val="60687C"/>
                </a:solidFill>
                <a:latin typeface="Aptos"/>
              </a:rPr>
              <a:t>D corpus · C★ evidencia correcta · Y★ respuesta correcta · η retriever · θ generador</a:t>
            </a:r>
          </a:p>
        </p:txBody>
      </p:sp>
    </p:spTree>
    <p:extLst>
      <p:ext uri="{BB962C8B-B14F-4D97-AF65-F5344CB8AC3E}">
        <p14:creationId xmlns:p14="http://schemas.microsoft.com/office/powerpoint/2010/main" val="1647202710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B1020"/>
            </a:gs>
            <a:gs pos="58000">
              <a:srgbClr val="151B33"/>
            </a:gs>
            <a:gs pos="100000">
              <a:srgbClr val="252A55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EFC5F0-3B9E-4D5D-927D-CCEFC57E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DD6C6"/>
                </a:solidFill>
                <a:latin typeface="Aptos"/>
              </a:rPr>
              <a:t>10 / RECUPERACIÓN INTERNA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FA2DB4-35E9-4F79-B8B9-713DFF34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13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7F8FC"/>
                </a:solidFill>
                <a:latin typeface="Aptos Display"/>
              </a:rPr>
              <a:t>Antes de generar, el modelo debe encontrar la evidencia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E4D0A8-97B5-4F83-9E7F-AA19EEB08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FD2453-7FE9-49DD-8902-32DB88BE1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666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C8CFE1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C7CEDF"/>
                </a:solidFill>
                <a:latin typeface="Aptos"/>
                <a:ea typeface="Aptos"/>
                <a:cs typeface="Aptos"/>
              </a:rPr>
              <a:t>Cada token compite por atención. El desafío no es solo leer: es localizar, integrar y responder.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F5053C-5813-4E08-AD61-A04932FF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76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00BC72-ACCF-44DF-86F1-E4C5EEBE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76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A5DFBE-F1D1-4E20-9F2C-15C1AC15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76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8E4E99-EBF1-49F2-984E-F1830E3B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76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B2D2F4-7CD9-4F57-BFBB-AF23D228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076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2E9A7A-A511-4BC5-A9AE-6F1F4E08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076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8349FC-2AFF-429C-A375-D8898B44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076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FA2016-3C87-4649-8633-9E3D0B04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67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FEBEAA-550A-4F20-92F0-9DCA2ECCF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67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4686EA-4002-4848-A7F5-2C4CE15C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67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F0985C-EDC4-4979-BC12-C5A016524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67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E0D0"/>
          </a:solidFill>
          <a:ln xmlns:a="http://schemas.openxmlformats.org/drawingml/2006/main" w="19050">
            <a:solidFill>
              <a:srgbClr val="45E0D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D39877-BA49-4B22-B571-6360F641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67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E422BD-76AC-44EA-8E4B-7B00CEE9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667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1292E5-9D00-4C01-A553-5F193970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667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52511A-EE36-4C34-9B93-9EFC9F89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257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E4F26A-A8D4-4448-A4EE-D1EA43BD4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57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F9372B-3FF1-499F-A9EA-9C265CBA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57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2F537D-7DDC-43C3-AC08-85314E6F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57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E6254E-9362-43FF-B870-8E663FF9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57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147749-C2BB-49F3-B022-6C1AA0FE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257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0DE90C-7C54-466B-8770-A660F0C1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257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3EBDCA-D8EF-4D6C-84D1-51676189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324350"/>
            <a:ext cx="1619250" cy="6286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3BE557-BE4D-4FC5-851B-5036F8C5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4958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respuesta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51E804-12AA-4645-99D4-AE34C9ED4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990850"/>
            <a:ext cx="600075" cy="1638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5E0D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5F1BD1-D343-4CCC-9E8D-373F0E0B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238375"/>
            <a:ext cx="2200275" cy="2390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634CE9-BE4D-4747-A5AF-5B7262E5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419475"/>
            <a:ext cx="-1000125" cy="1209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FD3C28-0664-4882-8CE1-2221A36E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3DD6C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C9882C-9DE7-45D8-A781-F1AC474E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identificar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795012-9B4E-4220-970C-7FC32C31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0576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3DD6C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114284-1CB8-4588-BA89-951BD7BF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3434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integrar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4E07AA-3047-49D4-AEEB-6DDE135C9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576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3DD6C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81050DD-CBE1-4690-BE93-D0E92C84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3434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generar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AE7049E-32AB-4563-98E6-0FD3EC9D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AAB3C8"/>
                </a:solidFill>
                <a:latin typeface="Aptos"/>
                <a:ea typeface="Aptos"/>
                <a:cs typeface="Aptos"/>
              </a:rPr>
              <a:t>Fuente: context.md — atención y recuperación interna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E511DDA-F61C-4407-9CA9-245CFCF1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AAB3C8"/>
                </a:solidFill>
                <a:latin typeface="Aptos"/>
              </a:rPr>
              <a:t>10</a:t>
            </a:r>
          </a:p>
        </p:txBody>
      </p:sp>
      <p:pic xmlns:a="http://schemas.openxmlformats.org/drawingml/2006/main" xmlns:r="http://schemas.openxmlformats.org/officeDocument/2006/relationships">
        <p:nvPicPr>
          <p:cNvPr id="40" name="Ecuación s09_attention" descr="s09_atten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24050"/>
            <a:ext cx="4245352" cy="590550"/>
          </a:xfrm>
          <a:prstGeom prst="rect">
            <a:avLst/>
          </a:prstGeom>
        </p:spPr>
      </p:pic>
      <p:sp xmlns:a="http://schemas.openxmlformats.org/drawingml/2006/main">
        <p:nvSpPr>
          <p:cNvPr id="41" name="TextBox 40"/>
          <p:cNvSpPr txBox="1"/>
          <p:nvPr/>
        </p:nvSpPr>
        <p:spPr>
          <a:xfrm>
            <a:off x="685800" y="3310128"/>
            <a:ext cx="58064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3DD6C6"/>
                </a:solidFill>
                <a:latin typeface="Aptos"/>
              </a:rPr>
              <a:t>Notación · </a:t>
            </a:r>
            <a:r>
              <a:rPr sz="1250">
                <a:solidFill>
                  <a:srgbClr val="C7CEDF"/>
                </a:solidFill>
                <a:latin typeface="Aptos"/>
              </a:rPr>
              <a:t>Q consultas · K claves · V valores · dₖ dimensión de las claves</a:t>
            </a:r>
          </a:p>
        </p:txBody>
      </p:sp>
    </p:spTree>
    <p:extLst>
      <p:ext uri="{BB962C8B-B14F-4D97-AF65-F5344CB8AC3E}">
        <p14:creationId xmlns:p14="http://schemas.microsoft.com/office/powerpoint/2010/main" val="803507720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B1020"/>
            </a:gs>
            <a:gs pos="58000">
              <a:srgbClr val="151B33"/>
            </a:gs>
            <a:gs pos="100000">
              <a:srgbClr val="252A55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85EC37-6336-44E8-9CA6-FC4DBF98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714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66E">
              <a:alpha val="22000"/>
            </a:srgbClr>
          </a:solidFill>
          <a:ln xmlns:a="http://schemas.openxmlformats.org/drawingml/2006/main" w="9525">
            <a:solidFill>
              <a:srgbClr val="FFB66E">
                <a:alpha val="45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8A59D1-4359-4BA7-BD91-455AB875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0485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DD6C6"/>
                </a:solidFill>
                <a:latin typeface="Aptos"/>
              </a:rPr>
              <a:t>PARTE II · AMBIGÜEDAD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C8F93B-CA81-4818-958A-B348F534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6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7F8FC"/>
                </a:solidFill>
                <a:latin typeface="Aptos Display"/>
              </a:rPr>
              <a:t>La ambigüedad cambia el problema.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E80335-8C08-46AA-B85E-EB18F9E28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464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45E0D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D006E6-DFF8-4A7E-BB11-CE4790B6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9906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3DD6C6"/>
                </a:solidFill>
                <a:latin typeface="Aptos Display"/>
              </a:rPr>
              <a:t>X ya no determina una única intención Z.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DEAA44-F439-475F-A8DA-2F576C0D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 i="0">
                <a:solidFill>
                  <a:srgbClr val="C8CFE1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C7CEDF"/>
                </a:solidFill>
                <a:latin typeface="Aptos"/>
              </a:rPr>
              <a:t>Recuperar mejor no basta: primero hay que desambiguar.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BDFCA0-725A-418C-A80A-20F8E5A0D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AAB3C8"/>
                </a:solidFill>
                <a:latin typeface="Aptos"/>
                <a:ea typeface="Aptos"/>
                <a:cs typeface="Aptos"/>
              </a:rPr>
              <a:t>Fuente: context.md — transición al modelamiento con intención latente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F8234E-056D-4752-B174-BBDB58BF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AAB3C8"/>
                </a:solidFill>
                <a:latin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219291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110B24-C458-4AE1-BE87-72712409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65E8"/>
                </a:solidFill>
                <a:latin typeface="Aptos"/>
              </a:rPr>
              <a:t>13 / INTENCIÓN LATENTE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C4C526-2DE3-423C-87E9-8C6FB4CB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01526"/>
                </a:solidFill>
                <a:latin typeface="Aptos Display"/>
              </a:rPr>
              <a:t>La respuesta se vuelve una mezcla de intenciones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D221D5-8BA7-4595-805A-47ABE784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87939B-44B2-4367-85B4-F51B904F8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3619500" cy="16764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B1020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A2F9A9-65DB-408C-98C4-1CF73792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19500"/>
            <a:ext cx="312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“¿Cómo funciona la memoria?”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F9C10D-049F-41F4-B1F4-3932FD8B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486275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3DD6C6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3AA0EF-6676-45CB-935F-539E5161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38500"/>
            <a:ext cx="2171700" cy="781050"/>
          </a:xfrm>
          <a:prstGeom xmlns:a="http://schemas.openxmlformats.org/drawingml/2006/main" prst="roundRect">
            <a:avLst>
              <a:gd name="adj" fmla="val 21951"/>
            </a:avLst>
          </a:prstGeom>
          <a:solidFill xmlns:a="http://schemas.openxmlformats.org/drawingml/2006/main">
            <a:srgbClr val="45E0D0">
              <a:alpha val="14000"/>
            </a:srgbClr>
          </a:solidFill>
          <a:ln xmlns:a="http://schemas.openxmlformats.org/drawingml/2006/main" w="19050">
            <a:solidFill>
              <a:srgbClr val="45E0D0">
                <a:alpha val="55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E98E98-56AD-49BA-9A57-E336A13B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3718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conversacional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983B12-D3D8-4CB7-B75C-F0773A22D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4766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065E8"/>
                </a:solidFill>
                <a:latin typeface="Aptos Display"/>
              </a:rPr>
              <a:t>40%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BC4CB8-7AF1-430C-8B06-EB2965E6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38500"/>
            <a:ext cx="2171700" cy="781050"/>
          </a:xfrm>
          <a:prstGeom xmlns:a="http://schemas.openxmlformats.org/drawingml/2006/main" prst="roundRect">
            <a:avLst>
              <a:gd name="adj" fmla="val 21951"/>
            </a:avLst>
          </a:prstGeom>
          <a:solidFill xmlns:a="http://schemas.openxmlformats.org/drawingml/2006/main">
            <a:srgbClr val="7769F4">
              <a:alpha val="14000"/>
            </a:srgbClr>
          </a:solidFill>
          <a:ln xmlns:a="http://schemas.openxmlformats.org/drawingml/2006/main" w="19050">
            <a:solidFill>
              <a:srgbClr val="7769F4">
                <a:alpha val="55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584FBF-44ED-48E3-955B-7C425C06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718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persistente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912BA0-3933-4DD3-BB24-9BFD1175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4766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065E8"/>
                </a:solidFill>
                <a:latin typeface="Aptos Display"/>
              </a:rPr>
              <a:t>35%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4F9BB8-C5A8-4FDF-BDFD-E25E50A0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43400"/>
            <a:ext cx="2171700" cy="781050"/>
          </a:xfrm>
          <a:prstGeom xmlns:a="http://schemas.openxmlformats.org/drawingml/2006/main" prst="roundRect">
            <a:avLst>
              <a:gd name="adj" fmla="val 21951"/>
            </a:avLst>
          </a:prstGeom>
          <a:solidFill xmlns:a="http://schemas.openxmlformats.org/drawingml/2006/main">
            <a:srgbClr val="FFB66E">
              <a:alpha val="14000"/>
            </a:srgbClr>
          </a:solidFill>
          <a:ln xmlns:a="http://schemas.openxmlformats.org/drawingml/2006/main" w="19050">
            <a:solidFill>
              <a:srgbClr val="FFB66E">
                <a:alpha val="55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92CE92-466D-40DB-A6BD-59B1D6C2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4767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ventana de contexto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C19DC9-70FD-4F0B-A619-926EEAE2A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5815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 i="0">
                <a:solidFill>
                  <a:srgbClr val="FFB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0687C"/>
                </a:solidFill>
                <a:latin typeface="Aptos Display"/>
              </a:rPr>
              <a:t>15%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73CB16-42B5-4676-A9B4-4C534798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43400"/>
            <a:ext cx="2171700" cy="781050"/>
          </a:xfrm>
          <a:prstGeom xmlns:a="http://schemas.openxmlformats.org/drawingml/2006/main" prst="roundRect">
            <a:avLst>
              <a:gd name="adj" fmla="val 21951"/>
            </a:avLst>
          </a:prstGeom>
          <a:solidFill xmlns:a="http://schemas.openxmlformats.org/drawingml/2006/main">
            <a:srgbClr val="FF6F7D">
              <a:alpha val="14000"/>
            </a:srgbClr>
          </a:solidFill>
          <a:ln xmlns:a="http://schemas.openxmlformats.org/drawingml/2006/main" w="19050">
            <a:solidFill>
              <a:srgbClr val="FF6F7D">
                <a:alpha val="55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4B6193-017C-4035-A702-4A5532914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767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framework específico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156419-C044-4B3F-AA81-B98A3D55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5815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 i="0">
                <a:solidFill>
                  <a:srgbClr val="FF6F7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0687C"/>
                </a:solidFill>
                <a:latin typeface="Aptos Display"/>
              </a:rPr>
              <a:t>10%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84B530-9C14-4235-9F90-322710D8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39115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20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Varias secuencias son plausibles; una respuesta fluida puede elegir el modo equivocado.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084B5C-034C-47C3-88A2-282C608E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E96AA"/>
                </a:solidFill>
                <a:latin typeface="Aptos"/>
                <a:ea typeface="Aptos"/>
                <a:cs typeface="Aptos"/>
              </a:rPr>
              <a:t>Fuente: context.md — distribución mezclada sobre intenciones Z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A24B61-E02A-4AB6-8C56-B6819F5F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8E96AA"/>
                </a:solidFill>
                <a:latin typeface="Aptos"/>
              </a:rPr>
              <a:t>13</a:t>
            </a:r>
          </a:p>
        </p:txBody>
      </p:sp>
      <p:pic xmlns:a="http://schemas.openxmlformats.org/drawingml/2006/main" xmlns:r="http://schemas.openxmlformats.org/officeDocument/2006/relationships">
        <p:nvPicPr>
          <p:cNvPr id="23" name="Ecuación s11_mixture" descr="s11_mix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4431" y="2266950"/>
            <a:ext cx="6903138" cy="666750"/>
          </a:xfrm>
          <a:prstGeom prst="rect">
            <a:avLst/>
          </a:prstGeom>
        </p:spPr>
      </p:pic>
      <p:sp xmlns:a="http://schemas.openxmlformats.org/drawingml/2006/main">
        <p:nvSpPr>
          <p:cNvPr id="24" name="TextBox 23"/>
          <p:cNvSpPr txBox="1"/>
          <p:nvPr/>
        </p:nvSpPr>
        <p:spPr>
          <a:xfrm>
            <a:off x="1005840" y="2862072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7065E8"/>
                </a:solidFill>
                <a:latin typeface="Aptos"/>
              </a:rPr>
              <a:t>Notación · </a:t>
            </a:r>
            <a:r>
              <a:rPr sz="1250">
                <a:solidFill>
                  <a:srgbClr val="60687C"/>
                </a:solidFill>
                <a:latin typeface="Aptos"/>
              </a:rPr>
              <a:t>Z intención latente · z hipótesis de intención · la salida marginaliza interpretaciones posibles</a:t>
            </a:r>
          </a:p>
        </p:txBody>
      </p:sp>
    </p:spTree>
    <p:extLst>
      <p:ext uri="{BB962C8B-B14F-4D97-AF65-F5344CB8AC3E}">
        <p14:creationId xmlns:p14="http://schemas.microsoft.com/office/powerpoint/2010/main" val="2084356144"/>
      </p:ext>
    </p:extLst>
  </p:cSld>
</p:sld>
</file>

<file path=ppt/slides/slide1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B1020"/>
            </a:gs>
            <a:gs pos="58000">
              <a:srgbClr val="151B33"/>
            </a:gs>
            <a:gs pos="100000">
              <a:srgbClr val="252A55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E878A9-3EB1-4521-8032-104C2C7E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DD6C6"/>
                </a:solidFill>
                <a:latin typeface="Aptos"/>
              </a:rPr>
              <a:t>14 / PROPAGACIÓN DEL ERROR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9051C5-616D-4B0B-AFCC-CCA41ECC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7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7F8FC"/>
                </a:solidFill>
                <a:latin typeface="Aptos Display"/>
              </a:rPr>
              <a:t>La incertidumbre combina intención y respuesta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E4CE31-5AC3-4EB8-80CF-FC07ED4C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B5476E-3C6A-4E59-8EE6-75D8365E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62902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Z₁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2B9AF3-71CD-4303-84AB-AF9B4DE7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981450"/>
            <a:ext cx="762000" cy="11811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5E0D0">
              <a:alpha val="75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225466-F276-446C-94D3-4DAA4BEB6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2578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3DD6C6"/>
                </a:solidFill>
                <a:latin typeface="Aptos"/>
                <a:ea typeface="Aptos"/>
                <a:cs typeface="Aptos"/>
              </a:rPr>
              <a:t>40%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7AE257-2A50-47B9-9B23-5B245D5E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62902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Z₂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459736-535A-46EA-B177-39743AF8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981450"/>
            <a:ext cx="762000" cy="1033463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7769F4">
              <a:alpha val="75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6745FF-3716-4215-B361-F2C6BCAB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110163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7065E8"/>
                </a:solidFill>
                <a:latin typeface="Aptos"/>
                <a:ea typeface="Aptos"/>
                <a:cs typeface="Aptos"/>
              </a:rPr>
              <a:t>35%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8C9D3D-D617-42A7-8815-CADE6CA61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62902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Z₃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E4DACE-748F-4A09-B933-73EACF5E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981450"/>
            <a:ext cx="762000" cy="738188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FB66E">
              <a:alpha val="75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A3DA6D-8705-4578-AAB7-90437D09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814888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B66E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2A65A"/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A532D8-713A-45BF-B40E-C2A533A93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671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00" b="1" i="0">
                <a:solidFill>
                  <a:srgbClr val="FFFFFF"/>
                </a:solidFill>
                <a:latin typeface="Aptos Display"/>
                <a:ea typeface="Aptos"/>
                <a:cs typeface="Aptos"/>
              </a:rPr>
              <a:t>multimodal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7C1DFD-5F4C-481E-9A99-57834DA9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438650"/>
            <a:ext cx="3905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C8CFE1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C7CEDF"/>
                </a:solidFill>
                <a:latin typeface="Aptos"/>
                <a:ea typeface="Aptos"/>
                <a:cs typeface="Aptos"/>
              </a:rPr>
              <a:t>El modelo no está “confundido”: está promediando respuestas válidas bajo intenciones diferentes.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481A4F-C904-488D-92FF-8B8C8A57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AB3C8"/>
                </a:solidFill>
                <a:latin typeface="Aptos"/>
              </a:rPr>
              <a:t>Fuente: context.md — regla de la cadena de entropía y multimodalidad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6FB55B-BB09-4B04-946A-A497233B7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AAB3C8"/>
                </a:solidFill>
                <a:latin typeface="Aptos"/>
              </a:rPr>
              <a:t>14</a:t>
            </a:r>
          </a:p>
        </p:txBody>
      </p:sp>
      <p:pic xmlns:a="http://schemas.openxmlformats.org/drawingml/2006/main" xmlns:r="http://schemas.openxmlformats.org/officeDocument/2006/relationships">
        <p:nvPicPr>
          <p:cNvPr id="22" name="Ecuación s12_chain_rule" descr="s12_chain_ru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4088" y="2084831"/>
            <a:ext cx="9233343" cy="566928"/>
          </a:xfrm>
          <a:prstGeom prst="rect">
            <a:avLst/>
          </a:prstGeom>
        </p:spPr>
      </p:pic>
      <p:sp xmlns:a="http://schemas.openxmlformats.org/drawingml/2006/main">
        <p:nvSpPr>
          <p:cNvPr id="23" name="TextBox 22"/>
          <p:cNvSpPr txBox="1"/>
          <p:nvPr/>
        </p:nvSpPr>
        <p:spPr>
          <a:xfrm>
            <a:off x="1600200" y="2706624"/>
            <a:ext cx="9006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3DD6C6"/>
                </a:solidFill>
                <a:latin typeface="Aptos"/>
              </a:rPr>
              <a:t>incertidumbre total  =  intención no resuelta  +  respuesta condicionada a Z</a:t>
            </a:r>
          </a:p>
        </p:txBody>
      </p:sp>
      <p:sp xmlns:a="http://schemas.openxmlformats.org/drawingml/2006/main">
        <p:nvSpPr>
          <p:cNvPr id="24" name="TextBox 23"/>
          <p:cNvSpPr txBox="1"/>
          <p:nvPr/>
        </p:nvSpPr>
        <p:spPr>
          <a:xfrm>
            <a:off x="1600200" y="3026664"/>
            <a:ext cx="9006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3DD6C6"/>
                </a:solidFill>
                <a:latin typeface="Aptos"/>
              </a:rPr>
              <a:t>Notación · </a:t>
            </a:r>
            <a:r>
              <a:rPr sz="1250">
                <a:solidFill>
                  <a:srgbClr val="C7CEDF"/>
                </a:solidFill>
                <a:latin typeface="Aptos"/>
              </a:rPr>
              <a:t>H entropía · X consulta · C contexto · Z intención · Y respuesta</a:t>
            </a:r>
          </a:p>
        </p:txBody>
      </p:sp>
    </p:spTree>
    <p:extLst>
      <p:ext uri="{BB962C8B-B14F-4D97-AF65-F5344CB8AC3E}">
        <p14:creationId xmlns:p14="http://schemas.microsoft.com/office/powerpoint/2010/main" val="170250604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515855-C79D-401F-B722-E87D3CF3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65E8"/>
                </a:solidFill>
                <a:latin typeface="Aptos"/>
              </a:rPr>
              <a:t>15 / RETRIEVAL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CDA542-150B-4B55-93A8-AADBF649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7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01526"/>
                </a:solidFill>
                <a:latin typeface="Aptos Display"/>
              </a:rPr>
              <a:t>La query ambigua cae entre clústeres semánticos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74CD45-0533-43C2-AAC7-F6A603AE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F8CE88-66E3-4794-8DA9-BCE9A8FC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El retriever devuelve evidencia de varios sentidos; el ranking se vuelve inestable.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677E7C-C07C-457E-B712-0743F82D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52600"/>
            <a:ext cx="4552950" cy="323850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E66D7B-7318-4D21-BC1A-4756E8F5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5908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E0D0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E06AF3-A880-4E39-B002-C252E7CD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05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E0D0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1F4984-3C17-4A77-A40D-50BE6CFD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781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E0D0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D29338-F7EF-46CC-89EB-62D57018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19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E0D0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1702B7-91B4-4DC7-AFCD-6A8FF028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28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E0D0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05205A-B55D-4C8F-9F09-5259BCD3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14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E0D0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CEF12F-6603-474F-8ACF-EF3C4460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76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69F4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512444-1329-4CEF-A028-B46F1749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3528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69F4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CBF6D8-A683-40A6-8B47-23EC4B83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752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69F4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689BDB-9DDF-46AC-8299-5F08FEBC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4290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69F4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9C0C78-1A95-403E-BD37-B0FC78F1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057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69F4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A98DD1-21C9-4986-A4D5-E1C2C8B6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943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69F4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105516-9130-4683-B2E2-43131B81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623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66E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5C44C0-B05B-4461-B26A-45D419E9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575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eX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3CB1AC-76C0-419E-9987-0DAD1E13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52800"/>
            <a:ext cx="-1238250" cy="-561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5E0D0">
                <a:alpha val="60000"/>
              </a:srgbClr>
            </a:solidFill>
            <a:prstDash val="dash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9110E6-E3E1-4AA3-A9A0-23166D0E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52800"/>
            <a:ext cx="100965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769F4">
                <a:alpha val="60000"/>
              </a:srgbClr>
            </a:solidFill>
            <a:prstDash val="dash"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0484F5-4F4E-4192-BB96-54DBF2AA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910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3DD6C6"/>
                </a:solidFill>
                <a:latin typeface="Aptos"/>
                <a:ea typeface="Aptos"/>
                <a:cs typeface="Aptos"/>
              </a:rPr>
              <a:t>memoria del agente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19AE5D-1FF3-45EE-8747-F030C5AC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910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7065E8"/>
                </a:solidFill>
                <a:latin typeface="Aptos"/>
                <a:ea typeface="Aptos"/>
                <a:cs typeface="Aptos"/>
              </a:rPr>
              <a:t>memoria informática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A80470-A3E2-4127-A214-FCED00CD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8E96AA"/>
                </a:solidFill>
                <a:latin typeface="Aptos"/>
              </a:rPr>
              <a:t>Fuente: context.md — aproximación conceptual del embedding y margen de similitud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803C1C-EE91-4AAE-A424-7B7D6354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8E96AA"/>
                </a:solidFill>
                <a:latin typeface="Aptos"/>
              </a:rPr>
              <a:t>15</a:t>
            </a:r>
          </a:p>
        </p:txBody>
      </p:sp>
      <p:pic xmlns:a="http://schemas.openxmlformats.org/drawingml/2006/main" xmlns:r="http://schemas.openxmlformats.org/officeDocument/2006/relationships">
        <p:nvPicPr>
          <p:cNvPr id="28" name="Ecuación s13_embedding" descr="s13_embed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66900"/>
            <a:ext cx="2762250" cy="55245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>
        <p:nvPicPr>
          <p:cNvPr id="29" name="Ecuación s13_margin" descr="s13_marg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515061"/>
            <a:ext cx="5619750" cy="532478"/>
          </a:xfrm>
          <a:prstGeom prst="rect">
            <a:avLst/>
          </a:prstGeom>
        </p:spPr>
      </p:pic>
      <p:sp xmlns:a="http://schemas.openxmlformats.org/drawingml/2006/main">
        <p:nvSpPr>
          <p:cNvPr id="30" name="Rounded Rectangle 29"/>
          <p:cNvSpPr/>
          <p:nvPr/>
        </p:nvSpPr>
        <p:spPr>
          <a:xfrm>
            <a:off x="685800" y="1536192"/>
            <a:ext cx="1444752" cy="246888"/>
          </a:xfrm>
          <a:prstGeom prst="roundRect">
            <a:avLst/>
          </a:prstGeom>
          <a:solidFill>
            <a:srgbClr val="EEF0F8"/>
          </a:solidFill>
          <a:ln w="12700">
            <a:solidFill>
              <a:srgbClr val="706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7065E8"/>
                </a:solidFill>
                <a:latin typeface="Aptos"/>
              </a:rPr>
              <a:t>APROX. CONCEPTUAL</a:t>
            </a:r>
          </a:p>
        </p:txBody>
      </p:sp>
      <p:sp xmlns:a="http://schemas.openxmlformats.org/drawingml/2006/main">
        <p:nvSpPr>
          <p:cNvPr id="31" name="TextBox 30"/>
          <p:cNvSpPr txBox="1"/>
          <p:nvPr/>
        </p:nvSpPr>
        <p:spPr>
          <a:xfrm>
            <a:off x="685800" y="4325112"/>
            <a:ext cx="51663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7065E8"/>
                </a:solidFill>
                <a:latin typeface="Aptos"/>
              </a:rPr>
              <a:t>Notación · </a:t>
            </a:r>
            <a:r>
              <a:rPr sz="1250">
                <a:solidFill>
                  <a:srgbClr val="60687C"/>
                </a:solidFill>
                <a:latin typeface="Aptos"/>
              </a:rPr>
              <a:t>eₓ embedding · s similitud · C⁺ candidato relevante · C⁻ distractor · Δ margen</a:t>
            </a:r>
          </a:p>
        </p:txBody>
      </p:sp>
    </p:spTree>
    <p:extLst>
      <p:ext uri="{BB962C8B-B14F-4D97-AF65-F5344CB8AC3E}">
        <p14:creationId xmlns:p14="http://schemas.microsoft.com/office/powerpoint/2010/main" val="187712996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32BA90-800C-4185-A609-4269A45B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65E8"/>
                </a:solidFill>
                <a:latin typeface="Aptos"/>
              </a:rPr>
              <a:t>16 / RERANKING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500DB8-91DA-42CC-9AB7-704CF7E9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75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01526"/>
                </a:solidFill>
                <a:latin typeface="Aptos Display"/>
              </a:rPr>
              <a:t>El reranker casi no puede separar intenciones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8E8323-0842-4E55-B428-78F4A1C8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814955-36D0-42E2-81AD-F387F23C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24150"/>
            <a:ext cx="4095750" cy="1962150"/>
          </a:xfrm>
          <a:prstGeom xmlns:a="http://schemas.openxmlformats.org/drawingml/2006/main" prst="roundRect">
            <a:avLst>
              <a:gd name="adj" fmla="val 13592"/>
            </a:avLst>
          </a:prstGeom>
          <a:solidFill xmlns:a="http://schemas.openxmlformats.org/drawingml/2006/main">
            <a:srgbClr val="45E0D0">
              <a:alpha val="10000"/>
            </a:srgbClr>
          </a:solidFill>
          <a:ln xmlns:a="http://schemas.openxmlformats.org/drawingml/2006/main" w="19050">
            <a:solidFill>
              <a:srgbClr val="45E0D0">
                <a:alpha val="65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57A4B3-0409-4DC8-8641-1621B7F7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24150"/>
            <a:ext cx="4095750" cy="1962150"/>
          </a:xfrm>
          <a:prstGeom xmlns:a="http://schemas.openxmlformats.org/drawingml/2006/main" prst="roundRect">
            <a:avLst>
              <a:gd name="adj" fmla="val 13592"/>
            </a:avLst>
          </a:prstGeom>
          <a:solidFill xmlns:a="http://schemas.openxmlformats.org/drawingml/2006/main">
            <a:srgbClr val="7769F4">
              <a:alpha val="10000"/>
            </a:srgbClr>
          </a:solidFill>
          <a:ln xmlns:a="http://schemas.openxmlformats.org/drawingml/2006/main" w="19050">
            <a:solidFill>
              <a:srgbClr val="7769F4">
                <a:alpha val="65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8D5942-84CE-4D8A-8654-7BAEB3DCA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908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6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Chunk C₁ · intención Z₁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7EE60B-BEE6-45AE-9B74-95346294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29000"/>
            <a:ext cx="352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200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4000" b="1" i="0">
                <a:solidFill>
                  <a:srgbClr val="3DD6C6"/>
                </a:solidFill>
                <a:latin typeface="Aptos Display"/>
                <a:ea typeface="Aptos"/>
                <a:cs typeface="Aptos"/>
              </a:rPr>
              <a:t>0.5400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A24AD0-F387-45FD-86C5-1A89F478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908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6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Chunk C₂ · intención Z₂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CBFA8B-AEFE-4378-8CF4-6DA3CB28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0"/>
            <a:ext cx="352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200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4000" b="1" i="0">
                <a:solidFill>
                  <a:srgbClr val="7065E8"/>
                </a:solidFill>
                <a:latin typeface="Aptos Display"/>
                <a:ea typeface="Aptos"/>
                <a:cs typeface="Aptos"/>
              </a:rPr>
              <a:t>0.5375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64B2CC-9CCB-4097-A8E1-8354728E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29200"/>
            <a:ext cx="895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20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El reranker parece preciso, pero la intención sigue sin estar identificada.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E6E318-467C-46AA-AE63-D3A53A27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E96AA"/>
                </a:solidFill>
                <a:latin typeface="Aptos"/>
                <a:ea typeface="Aptos"/>
                <a:cs typeface="Aptos"/>
              </a:rPr>
              <a:t>Fuente: context.md — ejemplo numérico de scores marginalizados por intención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24C26C-CE7B-465C-A060-BE2A4D1F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8E96AA"/>
                </a:solidFill>
                <a:latin typeface="Aptos"/>
              </a:rPr>
              <a:t>16</a:t>
            </a:r>
          </a:p>
        </p:txBody>
      </p:sp>
      <p:pic xmlns:a="http://schemas.openxmlformats.org/drawingml/2006/main" xmlns:r="http://schemas.openxmlformats.org/officeDocument/2006/relationships">
        <p:nvPicPr>
          <p:cNvPr id="15" name="Ecuación s14_rerank" descr="s14_rera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8238" y="1764792"/>
            <a:ext cx="3085044" cy="393192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>
        <p:nvPicPr>
          <p:cNvPr id="16" name="Ecuación s14_priors" descr="s14_prio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698" y="2194560"/>
            <a:ext cx="4022124" cy="32004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>
        <p:nvPicPr>
          <p:cNvPr id="17" name="Ecuación s14_delta" descr="s14_delt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6375" y="3425605"/>
            <a:ext cx="1619250" cy="368740"/>
          </a:xfrm>
          <a:prstGeom prst="rect">
            <a:avLst/>
          </a:prstGeom>
        </p:spPr>
      </p:pic>
      <p:sp xmlns:a="http://schemas.openxmlformats.org/drawingml/2006/main">
        <p:nvSpPr>
          <p:cNvPr id="18" name="TextBox 17"/>
          <p:cNvSpPr txBox="1"/>
          <p:nvPr/>
        </p:nvSpPr>
        <p:spPr>
          <a:xfrm>
            <a:off x="1051560" y="5559552"/>
            <a:ext cx="99669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7065E8"/>
                </a:solidFill>
                <a:latin typeface="Aptos"/>
              </a:rPr>
              <a:t>Notación · </a:t>
            </a:r>
            <a:r>
              <a:rPr sz="1250">
                <a:solidFill>
                  <a:srgbClr val="60687C"/>
                </a:solidFill>
                <a:latin typeface="Aptos"/>
              </a:rPr>
              <a:t>sᵢ score marginal · Cᵢ chunk · Z intención latente · p(Z=z|X) peso de cada interpretación</a:t>
            </a:r>
          </a:p>
        </p:txBody>
      </p:sp>
    </p:spTree>
    <p:extLst>
      <p:ext uri="{BB962C8B-B14F-4D97-AF65-F5344CB8AC3E}">
        <p14:creationId xmlns:p14="http://schemas.microsoft.com/office/powerpoint/2010/main" val="135815428"/>
      </p:ext>
    </p:extLst>
  </p:cSld>
</p:sld>
</file>

<file path=ppt/slides/slide1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B1020"/>
            </a:gs>
            <a:gs pos="58000">
              <a:srgbClr val="151B33"/>
            </a:gs>
            <a:gs pos="100000">
              <a:srgbClr val="252A55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CA4958-93D5-44DF-89CA-1A523F27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DD6C6"/>
                </a:solidFill>
                <a:latin typeface="Aptos"/>
              </a:rPr>
              <a:t>17 / GENERACIÓN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AF0424-DF37-42A4-95D4-64B2E48E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8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7F8FC"/>
                </a:solidFill>
                <a:latin typeface="Aptos Display"/>
              </a:rPr>
              <a:t>Contexto correcto no equivale a intención correcta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6E71DE-3FE3-48F8-9224-668AD4B4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9E576D-1725-4D9B-B578-B41276E9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95650"/>
            <a:ext cx="247650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5E0D0">
                <a:alpha val="7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537EA2-C399-461E-80D6-171198CC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33900"/>
            <a:ext cx="2476500" cy="-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769F4">
                <a:alpha val="7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0C73C9-CA2B-4094-A63A-2DB91922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19525"/>
            <a:ext cx="190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B6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DB2C4B-217C-4341-B7FA-BDEC1CD0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647950" cy="10477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45E0D0">
              <a:alpha val="14000"/>
            </a:srgbClr>
          </a:solidFill>
          <a:ln xmlns:a="http://schemas.openxmlformats.org/drawingml/2006/main" w="19050">
            <a:solidFill>
              <a:srgbClr val="45E0D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B10CC1-37E6-4ECA-9A05-79E1877F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2647950" cy="10477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7769F4">
              <a:alpha val="14000"/>
            </a:srgbClr>
          </a:solidFill>
          <a:ln xmlns:a="http://schemas.openxmlformats.org/drawingml/2006/main" w="19050">
            <a:solidFill>
              <a:srgbClr val="7769F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6037AF-C1B3-4A00-9025-D2E12A08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337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3DD6C6"/>
                </a:solidFill>
                <a:latin typeface="Aptos"/>
                <a:ea typeface="Aptos"/>
                <a:cs typeface="Aptos"/>
              </a:rPr>
              <a:t>CZ₁ · válido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813C40-0064-4201-9FA8-8DE32DAB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Evidencia para intención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AD58D5-9CB8-4376-8183-42A20C01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7065E8"/>
                </a:solidFill>
                <a:latin typeface="Aptos"/>
                <a:ea typeface="Aptos"/>
                <a:cs typeface="Aptos"/>
              </a:rPr>
              <a:t>CZ₂ · válido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C99325-AB75-496C-9F83-514A0D11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291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Evidencia para intención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28E193-6715-47F4-B951-75F3CDB5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05150"/>
            <a:ext cx="2286000" cy="1524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F2F0EA-8AED-4586-8D40-78DAA775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956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7065E8"/>
                </a:solidFill>
                <a:latin typeface="Aptos"/>
                <a:ea typeface="Aptos"/>
                <a:cs typeface="Aptos"/>
              </a:rPr>
              <a:t>LLM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5137F8-084C-414E-8E66-314B71AAC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52850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64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elige · mezcla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72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generaliza · alarga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7312BA-48A6-4B5A-8A18-F482B1EA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48025"/>
            <a:ext cx="1524000" cy="1143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B66E">
              <a:alpha val="18000"/>
            </a:srgbClr>
          </a:solidFill>
          <a:ln xmlns:a="http://schemas.openxmlformats.org/drawingml/2006/main" w="19050">
            <a:solidFill>
              <a:srgbClr val="FFB6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3591E6-BDC8-4650-884F-58FFBE1F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004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 i="0">
                <a:solidFill>
                  <a:srgbClr val="FFB66E"/>
                </a:solidFill>
                <a:latin typeface="Aptos"/>
                <a:ea typeface="Aptos"/>
                <a:cs typeface="Aptos"/>
              </a:defRPr>
            </a:pPr>
            <a:r>
              <a:rPr sz="2800" b="1" i="0">
                <a:solidFill>
                  <a:srgbClr val="F2A65A"/>
                </a:solidFill>
                <a:latin typeface="Aptos Display"/>
                <a:ea typeface="Aptos"/>
                <a:cs typeface="Aptos"/>
              </a:rPr>
              <a:t>Y?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7424A3-69E9-4CC8-87D2-7F625033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467350"/>
            <a:ext cx="942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3DD6C6"/>
                </a:solidFill>
                <a:latin typeface="Aptos"/>
                <a:ea typeface="Aptos"/>
                <a:cs typeface="Aptos"/>
              </a:rPr>
              <a:t>Los primeros tokens pueden fijar una interpretación sin nueva evidencia del usuario.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6D8ACA-E12C-4D17-A5DF-52F77CC4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AAB3C8"/>
                </a:solidFill>
                <a:latin typeface="Aptos"/>
                <a:ea typeface="Aptos"/>
                <a:cs typeface="Aptos"/>
              </a:rPr>
              <a:t>Fuente: context.md — contexto heterogéneo y auto-condicionamiento autoregresivo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09E975-2599-4B70-9AFD-DD95FB9D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AAB3C8"/>
                </a:solidFill>
                <a:latin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00785334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50FC12-ACFF-4A32-92ED-C304023C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65E8"/>
                </a:solidFill>
                <a:latin typeface="Aptos"/>
              </a:rPr>
              <a:t>18 / LÍMITE TEÓRICO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B904C6-6ACD-4057-BD4E-0894AF81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01526"/>
                </a:solidFill>
                <a:latin typeface="Aptos Display"/>
              </a:rPr>
              <a:t>Sin nueva información, existe un error irreducible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E03E5B-BC48-427D-AD3B-079FF906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F7BC68-F358-4279-B63C-6E7F386E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81200"/>
            <a:ext cx="5905500" cy="21907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B1020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F6364D-48BA-4737-8479-AF9D70B1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629150"/>
            <a:ext cx="923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39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22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No toda respuesta errónea ante una query ambigua es falta de capacidad del LLM.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236A6E-EF9E-4658-BB63-DBD92FB7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410200"/>
            <a:ext cx="771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101526"/>
                </a:solidFill>
                <a:latin typeface="Aptos"/>
                <a:ea typeface="Aptos"/>
                <a:cs typeface="Aptos"/>
              </a:rPr>
              <a:t>A veces el dato que falta no está en el contexto: </a:t>
            </a:r>
            <a:r>
              <a:rPr sz="1800" b="1">
                <a:solidFill>
                  <a:srgbClr val="101526"/>
                </a:solidFill>
                <a:latin typeface="Aptos"/>
                <a:ea typeface="Aptos"/>
                <a:cs typeface="Aptos"/>
              </a:rPr>
              <a:t>está en la intención del usuario.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B39685-9B92-4FC7-AC98-74EDFC77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E96AA"/>
                </a:solidFill>
                <a:latin typeface="Aptos"/>
                <a:ea typeface="Aptos"/>
                <a:cs typeface="Aptos"/>
              </a:rPr>
              <a:t>Fuente: context.md — riesgo Bayesiano mínimo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BCB7A0-9201-4084-8653-BE8D186B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8E96AA"/>
                </a:solidFill>
                <a:latin typeface="Aptos"/>
              </a:rPr>
              <a:t>18</a:t>
            </a:r>
          </a:p>
        </p:txBody>
      </p:sp>
      <p:pic xmlns:a="http://schemas.openxmlformats.org/drawingml/2006/main" xmlns:r="http://schemas.openxmlformats.org/officeDocument/2006/relationships">
        <p:nvPicPr>
          <p:cNvPr id="13" name="Ecuación s16_prior1" descr="s16_prior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113060"/>
            <a:ext cx="2857500" cy="47923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>
        <p:nvPicPr>
          <p:cNvPr id="14" name="Ecuación s16_prior2" descr="s16_prior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875060"/>
            <a:ext cx="2857500" cy="47923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>
        <p:nvPicPr>
          <p:cNvPr id="15" name="Ecuación s16_bayes" descr="s16_bay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3415" y="2343150"/>
            <a:ext cx="4363669" cy="57150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>
        <p:nvPicPr>
          <p:cNvPr id="16" name="Ecuación s16_result" descr="s16_resul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7719" y="3009900"/>
            <a:ext cx="2235061" cy="800100"/>
          </a:xfrm>
          <a:prstGeom prst="rect">
            <a:avLst/>
          </a:prstGeom>
        </p:spPr>
      </p:pic>
      <p:sp xmlns:a="http://schemas.openxmlformats.org/drawingml/2006/main">
        <p:nvSpPr>
          <p:cNvPr id="17" name="TextBox 16"/>
          <p:cNvSpPr txBox="1"/>
          <p:nvPr/>
        </p:nvSpPr>
        <p:spPr>
          <a:xfrm>
            <a:off x="5257800" y="3776472"/>
            <a:ext cx="53492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tos"/>
              </a:rPr>
              <a:t>Notación · </a:t>
            </a:r>
            <a:r>
              <a:rPr sz="1100">
                <a:solidFill>
                  <a:srgbClr val="C7CEDF"/>
                </a:solidFill>
                <a:latin typeface="Aptos"/>
              </a:rPr>
              <a:t>R★ riesgo Bayesiano mínimo · Z intención · pérdida 0–1</a:t>
            </a:r>
          </a:p>
        </p:txBody>
      </p:sp>
    </p:spTree>
    <p:extLst>
      <p:ext uri="{BB962C8B-B14F-4D97-AF65-F5344CB8AC3E}">
        <p14:creationId xmlns:p14="http://schemas.microsoft.com/office/powerpoint/2010/main" val="155899335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CBCCB8-47F0-492D-8B88-7A8656D9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65E8"/>
                </a:solidFill>
                <a:latin typeface="Aptos"/>
              </a:rPr>
              <a:t>19 / CLARIFICACIÓN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744311-BCA1-4EC9-AC3A-51D177A0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01526"/>
                </a:solidFill>
                <a:latin typeface="Aptos Display"/>
              </a:rPr>
              <a:t>Aclarar reduce entropía sobre la intención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83BEFC-9C70-4757-84D1-4CD0B0A2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6AF7BD-9C0A-4151-A4F3-B5FBE38C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5429250" cy="3143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A"/>
            </a:solidFill>
            <a:prstDash val="solid"/>
          </a:ln>
        </p:spPr>
        <p:txBody xmlns:a="http://schemas.openxmlformats.org/drawingml/2006/main">
          <a:bodyPr/>
          <a:p/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58f0eed2734188"/>
          <a:stretch xmlns:a="http://schemas.openxmlformats.org/drawingml/2006/main"/>
        </p:blipFill>
        <p:spPr>
          <a:xfrm xmlns:a="http://schemas.openxmlformats.org/drawingml/2006/main">
            <a:off x="857250" y="2821305"/>
            <a:ext cx="5086350" cy="2034540"/>
          </a:xfrm>
          <a:prstGeom xmlns:a="http://schemas.openxmlformats.org/drawingml/2006/main" prst="roundRect">
            <a:avLst>
              <a:gd name="adj" fmla="val 3704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0F3465-953B-4C17-9CD8-20B19C518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05250"/>
            <a:ext cx="4381500" cy="1333500"/>
          </a:xfrm>
          <a:prstGeom xmlns:a="http://schemas.openxmlformats.org/drawingml/2006/main" prst="roundRect">
            <a:avLst>
              <a:gd name="adj" fmla="val 15714"/>
            </a:avLst>
          </a:prstGeom>
          <a:solidFill xmlns:a="http://schemas.openxmlformats.org/drawingml/2006/main">
            <a:srgbClr val="45E0D0">
              <a:alpha val="12000"/>
            </a:srgbClr>
          </a:solidFill>
          <a:ln xmlns:a="http://schemas.openxmlformats.org/drawingml/2006/main" w="19050">
            <a:solidFill>
              <a:srgbClr val="45E0D0">
                <a:alpha val="55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CB03D8-71AB-448E-B3B1-CDF1F2E7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33850"/>
            <a:ext cx="381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“¿Te refieres a la ventana de contexto del LLM o a la memoria persistente del agente?”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6CC3A2-C214-49D0-AAEA-95A7B7E9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E96AA"/>
                </a:solidFill>
                <a:latin typeface="Aptos"/>
                <a:ea typeface="Aptos"/>
                <a:cs typeface="Aptos"/>
              </a:rPr>
              <a:t>Fuente: Clarify When Necessary (Zhang &amp; Choi, 2023), Fig. 1; context.md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8A3DE5-E259-4750-9FB6-4032720C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8E96AA"/>
                </a:solidFill>
                <a:latin typeface="Aptos"/>
              </a:rPr>
              <a:t>19</a:t>
            </a:r>
          </a:p>
        </p:txBody>
      </p:sp>
      <p:pic xmlns:a="http://schemas.openxmlformats.org/drawingml/2006/main" xmlns:r="http://schemas.openxmlformats.org/officeDocument/2006/relationships">
        <p:nvPicPr>
          <p:cNvPr id="17" name="Ecuación s17_information" descr="s17_inform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0" y="2486426"/>
            <a:ext cx="4667250" cy="380197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>
        <p:nvPicPr>
          <p:cNvPr id="18" name="Ecuación s17_question" descr="s17_ques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4684" y="3105150"/>
            <a:ext cx="3182382" cy="514350"/>
          </a:xfrm>
          <a:prstGeom prst="rect">
            <a:avLst/>
          </a:prstGeom>
        </p:spPr>
      </p:pic>
      <p:sp xmlns:a="http://schemas.openxmlformats.org/drawingml/2006/main">
        <p:nvSpPr>
          <p:cNvPr id="19" name="TextBox 18"/>
          <p:cNvSpPr txBox="1"/>
          <p:nvPr/>
        </p:nvSpPr>
        <p:spPr>
          <a:xfrm>
            <a:off x="6629400" y="3584448"/>
            <a:ext cx="44348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7065E8"/>
                </a:solidFill>
                <a:latin typeface="Aptos"/>
              </a:rPr>
              <a:t>Notación · </a:t>
            </a:r>
            <a:r>
              <a:rPr sz="1150">
                <a:solidFill>
                  <a:srgbClr val="60687C"/>
                </a:solidFill>
                <a:latin typeface="Aptos"/>
              </a:rPr>
              <a:t>q pregunta · A_q respuesta · Z intención · I información ganada</a:t>
            </a:r>
          </a:p>
        </p:txBody>
      </p:sp>
    </p:spTree>
    <p:extLst>
      <p:ext uri="{BB962C8B-B14F-4D97-AF65-F5344CB8AC3E}">
        <p14:creationId xmlns:p14="http://schemas.microsoft.com/office/powerpoint/2010/main" val="1990080455"/>
      </p:ext>
    </p:extLst>
  </p:cSld>
</p:sld>
</file>

<file path=ppt/slides/slide1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B1020"/>
            </a:gs>
            <a:gs pos="58000">
              <a:srgbClr val="151B33"/>
            </a:gs>
            <a:gs pos="100000">
              <a:srgbClr val="252A55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4ECBD8-472B-4085-A083-5A7B9D993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DD6C6"/>
                </a:solidFill>
                <a:latin typeface="Aptos"/>
              </a:rPr>
              <a:t>20 / POLÍTICA DE INTERACCIÓN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B6B045-8346-41BA-A2CF-BAC9FC51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57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7F8FC"/>
                </a:solidFill>
                <a:latin typeface="Aptos Display"/>
              </a:rPr>
              <a:t>Conviene preguntar cuando el error cuesta más que interactuar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E66491-C917-458B-8F87-F66B1921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877E12-279A-4304-8AB5-D2EE1BB0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76550"/>
            <a:ext cx="4524375" cy="1962150"/>
          </a:xfrm>
          <a:prstGeom xmlns:a="http://schemas.openxmlformats.org/drawingml/2006/main" prst="roundRect">
            <a:avLst>
              <a:gd name="adj" fmla="val 13592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93BC19-FF6C-4C1F-BB35-BCCBA751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76550"/>
            <a:ext cx="4524375" cy="1962150"/>
          </a:xfrm>
          <a:prstGeom xmlns:a="http://schemas.openxmlformats.org/drawingml/2006/main" prst="roundRect">
            <a:avLst>
              <a:gd name="adj" fmla="val 13592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F92FBB-9BCE-45D8-BE22-23FA2D3E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0515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66E">
              <a:alpha val="22000"/>
            </a:srgbClr>
          </a:solidFill>
          <a:ln xmlns:a="http://schemas.openxmlformats.org/drawingml/2006/main" w="9525">
            <a:solidFill>
              <a:srgbClr val="FFB66E">
                <a:alpha val="45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825387-1DA2-44B0-B579-310F9FA8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14325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RESPONDER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F66F96-067B-4BD5-B38E-731C2D29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629025"/>
            <a:ext cx="3667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Bajo riesgo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+ intención dominante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DDCF6A-689A-42FF-AB1B-09ECE3F9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57700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 i="0">
                <a:solidFill>
                  <a:srgbClr val="FFB66E"/>
                </a:solidFill>
                <a:latin typeface="Aptos"/>
                <a:ea typeface="Aptos"/>
                <a:cs typeface="Aptos"/>
              </a:defRPr>
            </a:pPr>
            <a:r>
              <a:rPr sz="1400" b="0" i="0">
                <a:solidFill>
                  <a:srgbClr val="F2A65A"/>
                </a:solidFill>
                <a:latin typeface="Aptos"/>
                <a:ea typeface="Aptos"/>
                <a:cs typeface="Aptos"/>
              </a:rPr>
              <a:t>asumir y explicitar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EEB7A4-E7EE-4878-AC1E-38115952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05150"/>
            <a:ext cx="1047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E0D0">
              <a:alpha val="22000"/>
            </a:srgbClr>
          </a:solidFill>
          <a:ln xmlns:a="http://schemas.openxmlformats.org/drawingml/2006/main" w="9525">
            <a:solidFill>
              <a:srgbClr val="45E0D0">
                <a:alpha val="45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FD1891-7AB7-4346-8575-DFDCA73B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ACLARAR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389F9E-4BFB-4EA8-98E5-0FC1A4CB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29025"/>
            <a:ext cx="3667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Alto costo de error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+ margen bajo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E925EF-C9E6-4EFA-958D-0ED10622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57700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400" b="0" i="0">
                <a:solidFill>
                  <a:srgbClr val="3DD6C6"/>
                </a:solidFill>
                <a:latin typeface="Aptos"/>
                <a:ea typeface="Aptos"/>
                <a:cs typeface="Aptos"/>
              </a:rPr>
              <a:t>preguntar antes de recuperar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752FD1-AA80-4825-9A9B-FA705E6C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9590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 i="0">
                <a:solidFill>
                  <a:srgbClr val="BEC6DB"/>
                </a:solidFill>
                <a:latin typeface="Aptos"/>
                <a:ea typeface="Aptos"/>
                <a:cs typeface="Aptos"/>
              </a:defRPr>
            </a:pPr>
            <a:r>
              <a:rPr sz="1300" b="0">
                <a:solidFill>
                  <a:srgbClr val="C7CEDF"/>
                </a:solidFill>
                <a:latin typeface="Aptos"/>
              </a:rPr>
              <a:t>L: pérdida · c_q: costo de preguntar · q: pregunta · A_q: respuesta · Ŷ: decisión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746F23-325F-418A-A8A7-E1BBA4AB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AAB3C8"/>
                </a:solidFill>
                <a:latin typeface="Aptos"/>
                <a:ea typeface="Aptos"/>
                <a:cs typeface="Aptos"/>
              </a:rPr>
              <a:t>Fuente: context.md — decisión Bayesiana con costo de interacción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D336B7-6E40-4728-80C8-8634E054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AAB3C8"/>
                </a:solidFill>
                <a:latin typeface="Aptos"/>
              </a:rPr>
              <a:t>20</a:t>
            </a:r>
          </a:p>
        </p:txBody>
      </p:sp>
      <p:pic xmlns:a="http://schemas.openxmlformats.org/drawingml/2006/main" xmlns:r="http://schemas.openxmlformats.org/officeDocument/2006/relationships">
        <p:nvPicPr>
          <p:cNvPr id="18" name="Ecuación s18_direct" descr="s18_dir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5523" y="1755648"/>
            <a:ext cx="2366913" cy="402336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>
        <p:nvPicPr>
          <p:cNvPr id="19" name="Ecuación s18_clarify" descr="s18_clarif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8994" y="1755648"/>
            <a:ext cx="3549892" cy="402336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>
        <p:nvPicPr>
          <p:cNvPr id="20" name="Ecuación s18_condition" descr="s18_condi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0742" y="2267712"/>
            <a:ext cx="2725756" cy="43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7471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4" name="Rounded Rectangle 23"/>
          <p:cNvSpPr/>
          <p:nvPr/>
        </p:nvSpPr>
        <p:spPr>
          <a:xfrm>
            <a:off x="7315200" y="2103120"/>
            <a:ext cx="3474720" cy="3803904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1BC5DE-0C3D-4543-AB23-A87672E7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65E8"/>
                </a:solidFill>
                <a:latin typeface="Aptos"/>
              </a:rPr>
              <a:t>21 / EVIDENCIA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C5EF37-681E-4E86-AE33-2BC5ADD3A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01526"/>
                </a:solidFill>
                <a:latin typeface="Aptos Display"/>
              </a:rPr>
              <a:t>La evidencia confirma la brecha: saber no implica preguntar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0BBCE3-E076-49D4-8000-353388CC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1454BF-E14D-468D-942C-D9DDEF8E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6667500" cy="3943350"/>
          </a:xfrm>
          <a:prstGeom xmlns:a="http://schemas.openxmlformats.org/drawingml/2006/main" prst="roundRect">
            <a:avLst>
              <a:gd name="adj" fmla="val 48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A"/>
            </a:solidFill>
            <a:prstDash val="solid"/>
          </a:ln>
        </p:spPr>
        <p:txBody xmlns:a="http://schemas.openxmlformats.org/drawingml/2006/main">
          <a:bodyPr/>
          <a:p/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4496df27b74ab8"/>
          <a:stretch xmlns:a="http://schemas.openxmlformats.org/drawingml/2006/main"/>
        </p:blipFill>
        <p:spPr>
          <a:xfrm xmlns:a="http://schemas.openxmlformats.org/drawingml/2006/main">
            <a:off x="1712873" y="2400300"/>
            <a:ext cx="4613354" cy="3562350"/>
          </a:xfrm>
          <a:prstGeom xmlns:a="http://schemas.openxmlformats.org/drawingml/2006/main" prst="roundRect">
            <a:avLst>
              <a:gd name="adj" fmla="val 2674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B1F785-09E4-42A0-80E0-AE51D2F7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2885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69F4">
              <a:alpha val="14000"/>
            </a:srgbClr>
          </a:solidFill>
          <a:ln xmlns:a="http://schemas.openxmlformats.org/drawingml/2006/main" w="9525">
            <a:solidFill>
              <a:srgbClr val="7769F4">
                <a:alpha val="45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CC77E3-A2BF-496B-89AE-1F9AAEFF7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26695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065E8"/>
                </a:solidFill>
                <a:latin typeface="Aptos"/>
                <a:ea typeface="Aptos"/>
                <a:cs typeface="Aptos"/>
              </a:rPr>
              <a:t>RESULTADO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903931-643E-41F2-AC3E-AEFD0566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762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QA promedio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411D6E-C97A-44B8-9176-D6A12D66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08610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 i="0">
                <a:solidFill>
                  <a:srgbClr val="62D590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7065E8"/>
                </a:solidFill>
                <a:latin typeface="Aptos Display"/>
              </a:rPr>
              <a:t>54% → 67%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EFD01E-6098-4472-AA1B-5E2E139A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5433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400" b="0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no ambiguas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B4183B-23C1-4E04-AD8A-17AA9F2C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195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 i="0">
                <a:solidFill>
                  <a:srgbClr val="FFB66E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26674"/>
                </a:solidFill>
                <a:latin typeface="Aptos Display"/>
              </a:rPr>
              <a:t>46% → 55%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E62687-E1EB-46CF-856E-BE9ED32D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476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400" b="0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ambiguas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9A15B9-5D37-499B-AB51-79E5FFEE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933950"/>
            <a:ext cx="3190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31FA07-13E6-4E88-85C7-B9B33FE4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143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Preguntas aclaratorias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D64D2A-9E32-4BF3-B764-0C9571390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4673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 i="0">
                <a:solidFill>
                  <a:srgbClr val="FF6F7D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2A65A"/>
                </a:solidFill>
                <a:latin typeface="Aptos Display"/>
              </a:rPr>
              <a:t>0–2.5%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28D900-62A8-48AB-8711-90471238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48640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con contexto, en la mayoría de modelos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969B46-FB75-4770-A9AC-8FD6CFA2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E96AA"/>
                </a:solidFill>
                <a:latin typeface="Aptos"/>
                <a:ea typeface="Aptos"/>
                <a:cs typeface="Aptos"/>
              </a:rPr>
              <a:t>Fuente: Su &amp; Cardie (2026), Fig. 1 y Tablas 6–8; imagen suministrada en el proyecto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8466D4-5B21-4246-8A22-8296D502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8E96AA"/>
                </a:solidFill>
                <a:latin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661281920"/>
      </p:ext>
    </p:extLst>
  </p:cSld>
</p:sld>
</file>

<file path=ppt/slides/slide2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B1020"/>
            </a:gs>
            <a:gs pos="58000">
              <a:srgbClr val="151B33"/>
            </a:gs>
            <a:gs pos="100000">
              <a:srgbClr val="252A55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AE5709-42AC-4DFC-A84F-827CCDB4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DD6C6"/>
                </a:solidFill>
                <a:latin typeface="Aptos"/>
              </a:rPr>
              <a:t>22 / DISEÑO OPERATIVO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F79EB8-9C9F-483A-B1F1-643B8FBD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1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7F8FC"/>
                </a:solidFill>
                <a:latin typeface="Aptos Display"/>
              </a:rPr>
              <a:t>Diseña el sistema alrededor de la incertidumbre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620042-D36E-4E8A-9C61-2E045287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7B5E11-D615-4D23-85BC-50E33D90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0517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>
                <a:alpha val="32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52FF27-6F9E-4308-AD67-B866C876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0517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>
                <a:alpha val="32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39A7B8-0A46-48AC-9106-2B19F83D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30517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>
                <a:alpha val="32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725EE3-C86E-4519-AC50-CBA145B7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0517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>
                <a:alpha val="32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FF4A0F-1029-4B13-B353-5C852A92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6525"/>
            <a:ext cx="1809750" cy="1257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19050">
            <a:solidFill>
              <a:srgbClr val="FFB66E">
                <a:alpha val="45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8C56F7-9577-4EA8-8081-70C8D4C7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FFB66E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2A65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51B4CC-71C4-4C57-95CD-34D0BD8F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DETECTAR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A630D1-4942-4FFA-B81D-CF574E7E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76525"/>
            <a:ext cx="1809750" cy="1257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19050">
            <a:solidFill>
              <a:srgbClr val="45E0D0">
                <a:alpha val="45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7D2EEF-2273-496D-8B55-ECF94618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194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3DD6C6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8D44A3-13C4-472F-B8C3-B92F857A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051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DECIDIR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C3F354-756B-4DE5-B7CD-F9822541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4671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 i="0">
                <a:solidFill>
                  <a:srgbClr val="C8CFE1"/>
                </a:solidFill>
                <a:latin typeface="Aptos"/>
                <a:ea typeface="Aptos"/>
                <a:cs typeface="Aptos"/>
              </a:defRPr>
            </a:pPr>
            <a:r>
              <a:rPr sz="1400" b="0" i="0">
                <a:solidFill>
                  <a:srgbClr val="C7CEDF"/>
                </a:solidFill>
                <a:latin typeface="Aptos"/>
                <a:ea typeface="Aptos"/>
                <a:cs typeface="Aptos"/>
              </a:rPr>
              <a:t>responder / aclarar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D5DBE1-B364-4B32-9CA6-025E669B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676525"/>
            <a:ext cx="1809750" cy="1257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19050">
            <a:solidFill>
              <a:srgbClr val="7769F4">
                <a:alpha val="45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68B4D4-5876-4711-BD3C-BE947E648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194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7065E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07AC02-8A0A-4C63-989B-3D7F7C2D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051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RECUPERAR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119B48-8FB6-43E9-B123-0C6FF68F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4671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 i="0">
                <a:solidFill>
                  <a:srgbClr val="C8CFE1"/>
                </a:solidFill>
                <a:latin typeface="Aptos"/>
                <a:ea typeface="Aptos"/>
                <a:cs typeface="Aptos"/>
              </a:defRPr>
            </a:pPr>
            <a:r>
              <a:rPr sz="1400" b="0" i="0">
                <a:solidFill>
                  <a:srgbClr val="C7CEDF"/>
                </a:solidFill>
                <a:latin typeface="Aptos"/>
                <a:ea typeface="Aptos"/>
                <a:cs typeface="Aptos"/>
              </a:rPr>
              <a:t>por intención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9B5D19-2E0F-45F0-B4F4-E2050F33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676525"/>
            <a:ext cx="1809750" cy="1257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19050">
            <a:solidFill>
              <a:srgbClr val="62D590">
                <a:alpha val="45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BF4924-70BA-4D97-B017-2D3ED4E1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194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62D590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52C97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A636B5-7FE0-4131-A64E-C65B9D0F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1051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RESPONDER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860D98-BDE8-43A9-A5A5-0D6B7537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4671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 i="0">
                <a:solidFill>
                  <a:srgbClr val="C8CFE1"/>
                </a:solidFill>
                <a:latin typeface="Aptos"/>
                <a:ea typeface="Aptos"/>
                <a:cs typeface="Aptos"/>
              </a:defRPr>
            </a:pPr>
            <a:r>
              <a:rPr sz="1400" b="0" i="0">
                <a:solidFill>
                  <a:srgbClr val="C7CEDF"/>
                </a:solidFill>
                <a:latin typeface="Aptos"/>
                <a:ea typeface="Aptos"/>
                <a:cs typeface="Aptos"/>
              </a:rPr>
              <a:t>con evidencia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F07A2C-4616-43AB-A272-CD42D31D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676525"/>
            <a:ext cx="1809750" cy="1257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19050">
            <a:solidFill>
              <a:srgbClr val="FF6F7D">
                <a:alpha val="45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14812D-9866-45BF-BB71-88BD2A04D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194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FF6F7D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26674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CD19DD-E2B1-44AE-ACCF-37E41441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1051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MEDIR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B233B5-8D4C-475C-B377-C554295F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671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 i="0">
                <a:solidFill>
                  <a:srgbClr val="C8CFE1"/>
                </a:solidFill>
                <a:latin typeface="Aptos"/>
                <a:ea typeface="Aptos"/>
                <a:cs typeface="Aptos"/>
              </a:defRPr>
            </a:pPr>
            <a:r>
              <a:rPr sz="1400" b="0" i="0">
                <a:solidFill>
                  <a:srgbClr val="C7CEDF"/>
                </a:solidFill>
                <a:latin typeface="Aptos"/>
                <a:ea typeface="Aptos"/>
                <a:cs typeface="Aptos"/>
              </a:rPr>
              <a:t>calidad + costo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61E4AB-7E0C-4A6A-923C-4E004309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3390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139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7F8FC"/>
                </a:solidFill>
                <a:latin typeface="Aptos Display"/>
              </a:rPr>
              <a:t>Context Engineering = seleccionar evidencia y decidir cuándo preguntar.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B3FAD3-CC74-473A-AC62-7058AB71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448300"/>
            <a:ext cx="828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 i="0">
                <a:solidFill>
                  <a:srgbClr val="B8C0D8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C7CEDF"/>
                </a:solidFill>
                <a:latin typeface="Aptos"/>
              </a:rPr>
              <a:t>Caso de Negocio  ·  Tolerancia al Error  ·  Mapeo de Intención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8A5BC7-5175-4565-9FD5-EA3BD9A3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AAB3C8"/>
                </a:solidFill>
                <a:latin typeface="Aptos"/>
                <a:ea typeface="Aptos"/>
                <a:cs typeface="Aptos"/>
              </a:rPr>
              <a:t>Fuentes clave: context.md · survey_context.pdf · Zhang &amp; Choi (2023) · Su &amp; Cardie (2026)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356272-0711-4EA4-9FFC-D3FFE9D30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AAB3C8"/>
                </a:solidFill>
                <a:latin typeface="Aptos"/>
              </a:rPr>
              <a:t>22</a:t>
            </a:r>
          </a:p>
        </p:txBody>
      </p:sp>
      <p:pic xmlns:a="http://schemas.openxmlformats.org/drawingml/2006/main" xmlns:r="http://schemas.openxmlformats.org/officeDocument/2006/relationships">
        <p:nvPicPr>
          <p:cNvPr id="32" name="Ecuación s20_entropy" descr="s20_entrop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6068" y="3467100"/>
            <a:ext cx="789214" cy="266700"/>
          </a:xfrm>
          <a:prstGeom prst="rect">
            <a:avLst/>
          </a:prstGeom>
        </p:spPr>
      </p:pic>
      <p:sp xmlns:a="http://schemas.openxmlformats.org/drawingml/2006/main">
        <p:nvSpPr>
          <p:cNvPr id="33" name="TextBox 32"/>
          <p:cNvSpPr txBox="1"/>
          <p:nvPr/>
        </p:nvSpPr>
        <p:spPr>
          <a:xfrm>
            <a:off x="685800" y="5779008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3DD6C6"/>
                </a:solidFill>
                <a:latin typeface="Aptos"/>
              </a:rPr>
              <a:t>Notación · </a:t>
            </a:r>
            <a:r>
              <a:rPr sz="1250">
                <a:solidFill>
                  <a:srgbClr val="C7CEDF"/>
                </a:solidFill>
                <a:latin typeface="Aptos"/>
              </a:rPr>
              <a:t>H entropía · Z intención · X consulta</a:t>
            </a:r>
          </a:p>
        </p:txBody>
      </p:sp>
    </p:spTree>
    <p:extLst>
      <p:ext uri="{BB962C8B-B14F-4D97-AF65-F5344CB8AC3E}">
        <p14:creationId xmlns:p14="http://schemas.microsoft.com/office/powerpoint/2010/main" val="17355375"/>
      </p:ext>
    </p:extLst>
  </p:cSld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Rounded Rectangle 4"/>
          <p:cNvSpPr/>
          <p:nvPr/>
        </p:nvSpPr>
        <p:spPr>
          <a:xfrm>
            <a:off x="594360" y="1600200"/>
            <a:ext cx="5212080" cy="2880360"/>
          </a:xfrm>
          <a:prstGeom prst="roundRect">
            <a:avLst/>
          </a:prstGeom>
          <a:solidFill>
            <a:srgbClr val="F1F3F9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72200" y="1600200"/>
            <a:ext cx="5212080" cy="2880360"/>
          </a:xfrm>
          <a:prstGeom prst="roundRect">
            <a:avLst/>
          </a:prstGeom>
          <a:solidFill>
            <a:srgbClr val="F0EEFF"/>
          </a:solidFill>
          <a:ln w="19050">
            <a:solidFill>
              <a:srgbClr val="706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685800" y="365760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7065E8"/>
                </a:solidFill>
                <a:latin typeface="Aptos"/>
              </a:rPr>
              <a:t>09 / MODELOS COMPARADOS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94944"/>
            <a:ext cx="1083564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>
                <a:solidFill>
                  <a:srgbClr val="101526"/>
                </a:solidFill>
                <a:latin typeface="Aptos Display"/>
              </a:rPr>
              <a:t>RAG recupera; Context Engineering orquesta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63040"/>
            <a:ext cx="10817352" cy="10972"/>
          </a:xfrm>
          <a:prstGeom prst="rect">
            <a:avLst/>
          </a:prstGeom>
          <a:solidFill>
            <a:srgbClr val="D9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719072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7065E8"/>
                </a:solidFill>
                <a:latin typeface="Aptos"/>
              </a:rPr>
              <a:t>RAG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011680"/>
            <a:ext cx="49834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101526"/>
                </a:solidFill>
                <a:latin typeface="Aptos Display"/>
              </a:rPr>
              <a:t>Recupera C desde documentos D</a:t>
            </a:r>
          </a:p>
        </p:txBody>
      </p:sp>
      <p:pic>
        <p:nvPicPr>
          <p:cNvPr id="9" name="Ecuación s09_rag_model" descr="s09_rag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749413"/>
            <a:ext cx="5001768" cy="55450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3232" y="3584448"/>
            <a:ext cx="49834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60687C"/>
                </a:solidFill>
                <a:latin typeface="Aptos"/>
              </a:rPr>
              <a:t>η recupera documentos; θ genera con el contexto seleccionado.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71907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3DD6C6"/>
                </a:solidFill>
                <a:latin typeface="Aptos"/>
              </a:rPr>
              <a:t>CONTEXT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2011680"/>
            <a:ext cx="4892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101526"/>
                </a:solidFill>
                <a:latin typeface="Aptos Display"/>
              </a:rPr>
              <a:t>Orquesta C desde el estado S</a:t>
            </a:r>
          </a:p>
        </p:txBody>
      </p:sp>
      <p:pic>
        <p:nvPicPr>
          <p:cNvPr id="13" name="Ecuación s09_ce_model" descr="s09_ce_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2738467"/>
            <a:ext cx="4892040" cy="576394"/>
          </a:xfrm>
          <a:prstGeom prst="rect">
            <a:avLst/>
          </a:prstGeom>
        </p:spPr>
      </p:pic>
      <p:pic>
        <p:nvPicPr>
          <p:cNvPr id="14" name="Ecuación s09_state" descr="s09_st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2222" y="3511296"/>
            <a:ext cx="2854915" cy="39319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82512" y="3931920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60687C"/>
                </a:solidFill>
                <a:latin typeface="Aptos"/>
              </a:rPr>
              <a:t>φ combina documentos, memoria, herramientas, historial y entorno.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645152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7065E8"/>
                </a:solidFill>
                <a:latin typeface="Aptos Display"/>
              </a:rPr>
              <a:t>RAG es un caso particular</a:t>
            </a:r>
          </a:p>
        </p:txBody>
      </p:sp>
      <p:pic>
        <p:nvPicPr>
          <p:cNvPr id="17" name="Ecuación s09_special_case" descr="s09_special_c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5868" y="4645152"/>
            <a:ext cx="2299062" cy="43891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13232" y="5285232"/>
            <a:ext cx="105613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7065E8"/>
                </a:solidFill>
                <a:latin typeface="Aptos"/>
              </a:rPr>
              <a:t>Notación · </a:t>
            </a:r>
            <a:r>
              <a:rPr sz="1150">
                <a:solidFill>
                  <a:srgbClr val="60687C"/>
                </a:solidFill>
                <a:latin typeface="Aptos"/>
              </a:rPr>
              <a:t>X consulta · Y respuesta · C contexto · D documentos · M memoria · T herramientas
H historial · E entorno · η retriever · φ orquestador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437376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8E96AA"/>
                </a:solidFill>
                <a:latin typeface="Aptos"/>
              </a:rPr>
              <a:t>Fuente: formulación matemática del proyecto — RAG como caso particular de Context Engineering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45952" y="641908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8E96AA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Rounded Rectangle 4"/>
          <p:cNvSpPr/>
          <p:nvPr/>
        </p:nvSpPr>
        <p:spPr>
          <a:xfrm>
            <a:off x="594360" y="1600200"/>
            <a:ext cx="5212080" cy="1325880"/>
          </a:xfrm>
          <a:prstGeom prst="roundRect">
            <a:avLst/>
          </a:prstGeom>
          <a:solidFill>
            <a:srgbClr val="FDF0F0"/>
          </a:solidFill>
          <a:ln w="12700">
            <a:solidFill>
              <a:srgbClr val="F26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0" y="1600200"/>
            <a:ext cx="5212080" cy="1325880"/>
          </a:xfrm>
          <a:prstGeom prst="roundRect">
            <a:avLst/>
          </a:prstGeom>
          <a:solidFill>
            <a:srgbClr val="EEF0F8"/>
          </a:solidFill>
          <a:ln w="12700">
            <a:solidFill>
              <a:srgbClr val="706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3063240"/>
            <a:ext cx="5212080" cy="1325880"/>
          </a:xfrm>
          <a:prstGeom prst="roundRect">
            <a:avLst/>
          </a:prstGeom>
          <a:solidFill>
            <a:srgbClr val="E8FCFA"/>
          </a:solidFill>
          <a:ln w="12700">
            <a:solidFill>
              <a:srgbClr val="3DD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2200" y="3063240"/>
            <a:ext cx="5212080" cy="1325880"/>
          </a:xfrm>
          <a:prstGeom prst="roundRect">
            <a:avLst/>
          </a:prstGeom>
          <a:solidFill>
            <a:srgbClr val="FFF7EE"/>
          </a:solidFill>
          <a:ln w="12700">
            <a:solidFill>
              <a:srgbClr val="F2A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685800" y="365760"/>
            <a:ext cx="5029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7065E8"/>
                </a:solidFill>
                <a:latin typeface="Aptos"/>
              </a:rPr>
              <a:t>12 / DESAFÍOS CONVERSIONALES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94944"/>
            <a:ext cx="1083564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>
                <a:solidFill>
                  <a:srgbClr val="101526"/>
                </a:solidFill>
                <a:latin typeface="Aptos Display"/>
              </a:rPr>
              <a:t>Cuando X no representa una intención literal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63040"/>
            <a:ext cx="10817352" cy="10972"/>
          </a:xfrm>
          <a:prstGeom prst="rect">
            <a:avLst/>
          </a:prstGeom>
          <a:solidFill>
            <a:srgbClr val="D9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691640"/>
            <a:ext cx="4983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26674"/>
                </a:solidFill>
                <a:latin typeface="Aptos"/>
              </a:rPr>
              <a:t>1. Ironía y Sarcasmo
</a:t>
            </a:r>
            <a:r>
              <a:rPr sz="1200">
                <a:solidFill>
                  <a:srgbClr val="60687C"/>
                </a:solidFill>
                <a:latin typeface="Aptos"/>
              </a:rPr>
              <a:t>Inversión de la polaridad semántica literal.
</a:t>
            </a:r>
            <a:r>
              <a:rPr sz="1150" b="1">
                <a:solidFill>
                  <a:srgbClr val="101526"/>
                </a:solidFill>
                <a:latin typeface="Consolas"/>
              </a:rPr>
              <a:t>X: "Qué gran servicio..." (esperando 3 semanas) → Z: Reclamo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91072" y="1691640"/>
            <a:ext cx="4983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7065E8"/>
                </a:solidFill>
                <a:latin typeface="Aptos"/>
              </a:rPr>
              <a:t>2. Actos de Habla Indirectos
</a:t>
            </a:r>
            <a:r>
              <a:rPr sz="1200">
                <a:solidFill>
                  <a:srgbClr val="60687C"/>
                </a:solidFill>
                <a:latin typeface="Aptos"/>
              </a:rPr>
              <a:t>Peticiones de acción formuladas como preguntas de habilidad.
</a:t>
            </a:r>
            <a:r>
              <a:rPr sz="1150" b="1">
                <a:solidFill>
                  <a:srgbClr val="101526"/>
                </a:solidFill>
                <a:latin typeface="Consolas"/>
              </a:rPr>
              <a:t>X: "¿Tienes el saldo disponible?" → Z: Comando de consulta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154680"/>
            <a:ext cx="4983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DD6C6"/>
                </a:solidFill>
                <a:latin typeface="Aptos"/>
              </a:rPr>
              <a:t>3. Elipsis y Co-referencia
</a:t>
            </a:r>
            <a:r>
              <a:rPr sz="1200">
                <a:solidFill>
                  <a:srgbClr val="60687C"/>
                </a:solidFill>
                <a:latin typeface="Aptos"/>
              </a:rPr>
              <a:t>Omisión de información que se asume conocida por el contexto.
</a:t>
            </a:r>
            <a:r>
              <a:rPr sz="1150" b="1">
                <a:solidFill>
                  <a:srgbClr val="101526"/>
                </a:solidFill>
                <a:latin typeface="Consolas"/>
              </a:rPr>
              <a:t>X: "Haz lo mismo con la otra" → Z: Aplicar acción al historial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91072" y="3154680"/>
            <a:ext cx="4983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2A65A"/>
                </a:solidFill>
                <a:latin typeface="Aptos"/>
              </a:rPr>
              <a:t>4. Modismos y Lenguaje Figurado
</a:t>
            </a:r>
            <a:r>
              <a:rPr sz="1200">
                <a:solidFill>
                  <a:srgbClr val="60687C"/>
                </a:solidFill>
                <a:latin typeface="Aptos"/>
              </a:rPr>
              <a:t>Semántica no composicional y modismos locales.
</a:t>
            </a:r>
            <a:r>
              <a:rPr sz="1150" b="1">
                <a:solidFill>
                  <a:srgbClr val="101526"/>
                </a:solidFill>
                <a:latin typeface="Consolas"/>
              </a:rPr>
              <a:t>X: "Se me cayó el sistema" → Z: Reporte de fallo técnico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5720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7065E8"/>
                </a:solidFill>
                <a:latin typeface="Aptos Display"/>
              </a:rPr>
              <a:t>Al igual que la ambigüedad matemática, estos desafíos requieren que el sistema infiera una intención latente Z a partir de una consulta X que no describe literalmente la acción esperada.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5285232"/>
            <a:ext cx="105613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7065E8"/>
                </a:solidFill>
                <a:latin typeface="Aptos"/>
              </a:rPr>
              <a:t>Notación · </a:t>
            </a:r>
            <a:r>
              <a:rPr sz="1150">
                <a:solidFill>
                  <a:srgbClr val="60687C"/>
                </a:solidFill>
                <a:latin typeface="Aptos"/>
              </a:rPr>
              <a:t>X consulta observable del usuario · Z intención latente real que el agente debe resolver para actuar correctamente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437376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8E96AA"/>
                </a:solidFill>
                <a:latin typeface="Aptos"/>
              </a:rPr>
              <a:t>Fuente: context.md — pragmática del lenguaje natural y teoría de actos de habla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45952" y="641908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8E96AA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2026-07-13T01:45:54.0790000Z</dcterms:created>
  <dcterms:modified xsi:type="dcterms:W3CDTF">2026-07-13T01:45:54.0790000Z</dcterms:modified>
</coreProperties>
</file>