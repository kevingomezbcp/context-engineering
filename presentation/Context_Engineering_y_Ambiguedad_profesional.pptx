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Sin contexto</c:v>
          </c:tx>
          <c:spPr>
            <a:solidFill>
              <a:srgbClr val="AFC8CE"/>
            </a:solidFill>
            <a:ln w="9525">
              <a:solidFill>
                <a:srgbClr val="8AABB4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F172A"/>
                    </a:solidFill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No ambigua</c:v>
              </c:pt>
              <c:pt idx="1">
                <c:v>Ambigua</c:v>
              </c:pt>
            </c:strLit>
          </c:cat>
          <c:val>
            <c:numLit>
              <c:formatCode>0"%"</c:formatCode>
              <c:ptCount val="2"/>
              <c:pt idx="0">
                <c:v>54</c:v>
              </c:pt>
              <c:pt idx="1">
                <c:v>46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8AABB4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C55-4805-8F9E-08FD952C1F7A}"/>
            </c:ext>
          </c:extLst>
        </c:ser>
        <c:ser>
          <c:idx val="1"/>
          <c:order val="1"/>
          <c:tx>
            <c:v>Con contexto</c:v>
          </c:tx>
          <c:spPr>
            <a:solidFill>
              <a:srgbClr val="156082"/>
            </a:solidFill>
            <a:ln w="9525">
              <a:solidFill>
                <a:srgbClr val="0E4A5A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F172A"/>
                    </a:solidFill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No ambigua</c:v>
              </c:pt>
              <c:pt idx="1">
                <c:v>Ambigua</c:v>
              </c:pt>
            </c:strLit>
          </c:cat>
          <c:val>
            <c:numLit>
              <c:formatCode>0"%"</c:formatCode>
              <c:ptCount val="2"/>
              <c:pt idx="0">
                <c:v>67</c:v>
              </c:pt>
              <c:pt idx="1">
                <c:v>55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0E4A5A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C55-4805-8F9E-08FD952C1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CBD5E1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4748B"/>
                </a:solidFill>
              </a:defRPr>
            </a:pPr>
            <a:endParaRPr lang="es-PE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&quot;%&quot;" sourceLinked="1"/>
        <c:majorTickMark val="none"/>
        <c:minorTickMark val="none"/>
        <c:tickLblPos val="nextTo"/>
        <c:spPr>
          <a:ln w="9525">
            <a:solidFill>
              <a:srgbClr val="CBD5E1"/>
            </a:solidFill>
            <a:prstDash val="solid"/>
          </a:ln>
        </c:spPr>
        <c:txPr>
          <a:bodyPr anchorCtr="1"/>
          <a:lstStyle/>
          <a:p>
            <a:pPr>
              <a:defRPr sz="975" b="1">
                <a:solidFill>
                  <a:srgbClr val="334155"/>
                </a:solidFill>
              </a:defRPr>
            </a:pPr>
            <a:endParaRPr lang="es-PE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475569"/>
              </a:solidFill>
            </a:defRPr>
          </a:pPr>
          <a:endParaRPr lang="es-PE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5.</a:t>
            </a:r>
          </a:p>
          <a:p>
            <a:r>
              <a:t>- Shannon, C. E. (1948), A Mathematical Theory of Communication. https://doi.org/10.1002/j.1538-7305.1948.tb01338.x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6.</a:t>
            </a:r>
          </a:p>
          <a:p>
            <a:r>
              <a:t>- Shannon, C. E. (1948), A Mathematical Theory of Communication. https://doi.org/10.1002/j.1538-7305.1948.tb01338.x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7.</a:t>
            </a:r>
          </a:p>
          <a:p>
            <a:r>
              <a:t>- Shannon, C. E. (1948), A Mathematical Theory of Communication. https://doi.org/10.1002/j.1538-7305.1948.tb01338.x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9.</a:t>
            </a:r>
          </a:p>
          <a:p>
            <a:r>
              <a:t>- Lewis, P.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Deck </a:t>
            </a:r>
            <a:r>
              <a:rPr dirty="0" err="1"/>
              <a:t>fuente</a:t>
            </a:r>
            <a:r>
              <a:rPr dirty="0"/>
              <a:t>: Context_Engineering_y_Ambiguedad_final_matematica.pptx, </a:t>
            </a:r>
            <a:r>
              <a:rPr dirty="0" err="1"/>
              <a:t>diapositiva</a:t>
            </a:r>
            <a:r>
              <a:rPr dirty="0"/>
              <a:t> 10.</a:t>
            </a:r>
          </a:p>
          <a:p>
            <a:r>
              <a:rPr dirty="0"/>
              <a:t>- Lewis, P.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11.</a:t>
            </a:r>
          </a:p>
          <a:p>
            <a:r>
              <a:t>- Lewis, P. et al. (2020), Retrieval-Augmented Generation for Knowledge-Intensive NLP Tasks. https://arxiv.org/abs/2005.11401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13.</a:t>
            </a:r>
          </a:p>
          <a:p>
            <a:r>
              <a:t>- Wei, J. et al. (2022), Chain-of-Thought Prompting Elicits Reasoning in Large Language Models. https://arxiv.org/abs/2201.11903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Deck fuente: Context_Engineering_y_Ambiguedad_final_matematica.pptx, diapositiva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ipse 24">
            <a:extLst>
              <a:ext uri="{FF2B5EF4-FFF2-40B4-BE49-F238E27FC236}">
                <a16:creationId xmlns:a16="http://schemas.microsoft.com/office/drawing/2014/main" id="{668E6363-E16B-41EB-A49F-6C509F7F6495}"/>
              </a:ext>
            </a:extLst>
          </p:cNvPr>
          <p:cNvSpPr>
            <a:spLocks noGrp="1"/>
          </p:cNvSpPr>
          <p:nvPr/>
        </p:nvSpPr>
        <p:spPr>
          <a:xfrm>
            <a:off x="8001000" y="904875"/>
            <a:ext cx="4000500" cy="4000500"/>
          </a:xfrm>
          <a:prstGeom prst="ellipse">
            <a:avLst/>
          </a:prstGeom>
          <a:gradFill>
            <a:gsLst>
              <a:gs pos="0">
                <a:srgbClr val="7769F4">
                  <a:alpha val="42000"/>
                </a:srgbClr>
              </a:gs>
              <a:gs pos="72000">
                <a:srgbClr val="7769F4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2445CF0B-79BC-43ED-B98D-A46A30310FE1}"/>
              </a:ext>
            </a:extLst>
          </p:cNvPr>
          <p:cNvSpPr>
            <a:spLocks noGrp="1"/>
          </p:cNvSpPr>
          <p:nvPr/>
        </p:nvSpPr>
        <p:spPr>
          <a:xfrm>
            <a:off x="6762750" y="3429000"/>
            <a:ext cx="3429000" cy="3429000"/>
          </a:xfrm>
          <a:prstGeom prst="ellipse">
            <a:avLst/>
          </a:prstGeom>
          <a:gradFill>
            <a:gsLst>
              <a:gs pos="0">
                <a:srgbClr val="45E0D0">
                  <a:alpha val="30000"/>
                </a:srgbClr>
              </a:gs>
              <a:gs pos="72000">
                <a:srgbClr val="45E0D0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6F0EF1A-BA7C-4550-95CA-F4F2195E0DD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2762250" cy="285750"/>
          </a:xfrm>
          <a:prstGeom prst="roundRect">
            <a:avLst>
              <a:gd name="adj" fmla="val 50000"/>
            </a:avLst>
          </a:prstGeom>
          <a:solidFill>
            <a:srgbClr val="45E0D0">
              <a:alpha val="22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C0852A1-DC7C-48F2-9E5E-812E373504EB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253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ESTRATEGIA · RAG · DECISIONES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DCA87D-7E4A-42F4-9B2F-484246F90B7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88000"/>
              </a:lnSpc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Context Engineering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95D148-99ED-4F9C-AEA8-96ABD6D04C1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657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400" b="1" i="0">
                <a:solidFill>
                  <a:srgbClr val="3DD6C6"/>
                </a:solidFill>
                <a:latin typeface="Aptos Display"/>
                <a:ea typeface="Aptos Display"/>
                <a:cs typeface="Aptos Display"/>
              </a:rPr>
              <a:t>y manejo de ambigüedad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0339DB-9AFF-410C-B228-9522E897B106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810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0" i="0">
                <a:solidFill>
                  <a:srgbClr val="CDD4E7"/>
                </a:solidFill>
                <a:latin typeface="Aptos"/>
                <a:ea typeface="Aptos"/>
                <a:cs typeface="Aptos"/>
              </a:defRPr>
            </a:pPr>
            <a:r>
              <a:rPr sz="20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Diseñar</a:t>
            </a:r>
            <a:r>
              <a:rPr sz="20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la </a:t>
            </a:r>
            <a:r>
              <a:rPr sz="20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información</a:t>
            </a:r>
            <a:r>
              <a:rPr sz="20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que</a:t>
            </a:r>
            <a:r>
              <a:rPr sz="20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el </a:t>
            </a:r>
            <a:r>
              <a:rPr sz="20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modelo</a:t>
            </a:r>
            <a:r>
              <a:rPr sz="20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necesita</a:t>
            </a:r>
            <a:r>
              <a:rPr sz="20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 y saber </a:t>
            </a:r>
            <a:r>
              <a:rPr sz="20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cuándo</a:t>
            </a:r>
            <a:r>
              <a:rPr sz="20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0" i="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preguntar</a:t>
            </a:r>
            <a:r>
              <a:rPr sz="2000" b="0" i="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7E30BF-89C8-4850-B361-2AA577B990CF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C7CEDF"/>
                </a:solidFill>
                <a:latin typeface="Aptos"/>
                <a:ea typeface="Aptos"/>
                <a:cs typeface="Aptos"/>
              </a:rPr>
              <a:t>Kevin Gomez Villanueva  ·  AI Engineer en BCP  ·  Julio 2026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304543B5-D8F6-445E-8B61-D262757A7A7D}"/>
              </a:ext>
            </a:extLst>
          </p:cNvPr>
          <p:cNvSpPr>
            <a:spLocks noGrp="1"/>
          </p:cNvSpPr>
          <p:nvPr/>
        </p:nvSpPr>
        <p:spPr>
          <a:xfrm flipV="1">
            <a:off x="8810625" y="1714500"/>
            <a:ext cx="1266825" cy="1885950"/>
          </a:xfrm>
          <a:prstGeom prst="line">
            <a:avLst/>
          </a:prstGeom>
          <a:noFill/>
          <a:ln w="28575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42B44321-8953-4B9F-91AE-4282FDB75A52}"/>
              </a:ext>
            </a:extLst>
          </p:cNvPr>
          <p:cNvSpPr>
            <a:spLocks noGrp="1"/>
          </p:cNvSpPr>
          <p:nvPr/>
        </p:nvSpPr>
        <p:spPr>
          <a:xfrm flipV="1">
            <a:off x="8810625" y="2667000"/>
            <a:ext cx="1685925" cy="933450"/>
          </a:xfrm>
          <a:prstGeom prst="line">
            <a:avLst/>
          </a:prstGeom>
          <a:noFill/>
          <a:ln w="28575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14B9E05F-0ABB-4D0C-A366-59B01D2A8261}"/>
              </a:ext>
            </a:extLst>
          </p:cNvPr>
          <p:cNvSpPr>
            <a:spLocks noGrp="1"/>
          </p:cNvSpPr>
          <p:nvPr/>
        </p:nvSpPr>
        <p:spPr>
          <a:xfrm>
            <a:off x="8810625" y="3600450"/>
            <a:ext cx="1762125" cy="133350"/>
          </a:xfrm>
          <a:prstGeom prst="line">
            <a:avLst/>
          </a:prstGeom>
          <a:noFill/>
          <a:ln w="28575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4E062AC5-F0E5-4C83-A43D-266B5A6224F1}"/>
              </a:ext>
            </a:extLst>
          </p:cNvPr>
          <p:cNvSpPr>
            <a:spLocks noGrp="1"/>
          </p:cNvSpPr>
          <p:nvPr/>
        </p:nvSpPr>
        <p:spPr>
          <a:xfrm>
            <a:off x="8810625" y="3600450"/>
            <a:ext cx="1190625" cy="1209675"/>
          </a:xfrm>
          <a:prstGeom prst="line">
            <a:avLst/>
          </a:prstGeom>
          <a:noFill/>
          <a:ln w="28575">
            <a:solidFill>
              <a:srgbClr val="FF6F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9B81A806-ADE3-4C74-97F6-4FC845DF14E9}"/>
              </a:ext>
            </a:extLst>
          </p:cNvPr>
          <p:cNvSpPr>
            <a:spLocks noGrp="1"/>
          </p:cNvSpPr>
          <p:nvPr/>
        </p:nvSpPr>
        <p:spPr>
          <a:xfrm>
            <a:off x="7048500" y="3600450"/>
            <a:ext cx="1190625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9198B71-39A0-46E6-90F9-7253CDE798A0}"/>
              </a:ext>
            </a:extLst>
          </p:cNvPr>
          <p:cNvSpPr>
            <a:spLocks noGrp="1"/>
          </p:cNvSpPr>
          <p:nvPr/>
        </p:nvSpPr>
        <p:spPr>
          <a:xfrm>
            <a:off x="8239125" y="3314700"/>
            <a:ext cx="1143000" cy="571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5E0D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040CC15-8324-4F81-B4B0-AD8833DAECB8}"/>
              </a:ext>
            </a:extLst>
          </p:cNvPr>
          <p:cNvSpPr>
            <a:spLocks noGrp="1"/>
          </p:cNvSpPr>
          <p:nvPr/>
        </p:nvSpPr>
        <p:spPr>
          <a:xfrm>
            <a:off x="8239125" y="34480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740D85D-7978-40FF-AE57-131F4538FB1A}"/>
              </a:ext>
            </a:extLst>
          </p:cNvPr>
          <p:cNvSpPr>
            <a:spLocks noGrp="1"/>
          </p:cNvSpPr>
          <p:nvPr/>
        </p:nvSpPr>
        <p:spPr>
          <a:xfrm>
            <a:off x="9791700" y="1428750"/>
            <a:ext cx="952500" cy="571500"/>
          </a:xfrm>
          <a:prstGeom prst="ellipse">
            <a:avLst/>
          </a:prstGeom>
          <a:solidFill>
            <a:srgbClr val="45E0D0">
              <a:alpha val="20000"/>
            </a:srgbClr>
          </a:solidFill>
          <a:ln w="1905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D141880-6621-4370-A6C3-A6ECE357C80D}"/>
              </a:ext>
            </a:extLst>
          </p:cNvPr>
          <p:cNvSpPr>
            <a:spLocks noGrp="1"/>
          </p:cNvSpPr>
          <p:nvPr/>
        </p:nvSpPr>
        <p:spPr>
          <a:xfrm>
            <a:off x="9791700" y="15621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8E21044-4E30-43AC-A5E8-3D2538EEC329}"/>
              </a:ext>
            </a:extLst>
          </p:cNvPr>
          <p:cNvSpPr>
            <a:spLocks noGrp="1"/>
          </p:cNvSpPr>
          <p:nvPr/>
        </p:nvSpPr>
        <p:spPr>
          <a:xfrm>
            <a:off x="10210800" y="2381250"/>
            <a:ext cx="952500" cy="571500"/>
          </a:xfrm>
          <a:prstGeom prst="ellipse">
            <a:avLst/>
          </a:prstGeom>
          <a:solidFill>
            <a:srgbClr val="7769F4">
              <a:alpha val="20000"/>
            </a:srgbClr>
          </a:solidFill>
          <a:ln w="1905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15A430F-F76B-4A83-B18B-C091F0DE142B}"/>
              </a:ext>
            </a:extLst>
          </p:cNvPr>
          <p:cNvSpPr>
            <a:spLocks noGrp="1"/>
          </p:cNvSpPr>
          <p:nvPr/>
        </p:nvSpPr>
        <p:spPr>
          <a:xfrm>
            <a:off x="10210800" y="25146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C2E1A1F-E6F4-4AE9-95AB-3F126D59DBCF}"/>
              </a:ext>
            </a:extLst>
          </p:cNvPr>
          <p:cNvSpPr>
            <a:spLocks noGrp="1"/>
          </p:cNvSpPr>
          <p:nvPr/>
        </p:nvSpPr>
        <p:spPr>
          <a:xfrm>
            <a:off x="10287000" y="3448050"/>
            <a:ext cx="952500" cy="571500"/>
          </a:xfrm>
          <a:prstGeom prst="ellipse">
            <a:avLst/>
          </a:prstGeom>
          <a:solidFill>
            <a:srgbClr val="FFB66E">
              <a:alpha val="20000"/>
            </a:srgbClr>
          </a:solidFill>
          <a:ln w="19050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08017C7-B626-444D-B671-2B1A54FA0C00}"/>
              </a:ext>
            </a:extLst>
          </p:cNvPr>
          <p:cNvSpPr>
            <a:spLocks noGrp="1"/>
          </p:cNvSpPr>
          <p:nvPr/>
        </p:nvSpPr>
        <p:spPr>
          <a:xfrm>
            <a:off x="10287000" y="35814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680843B-C48B-4226-9204-88BE085D9337}"/>
              </a:ext>
            </a:extLst>
          </p:cNvPr>
          <p:cNvSpPr>
            <a:spLocks noGrp="1"/>
          </p:cNvSpPr>
          <p:nvPr/>
        </p:nvSpPr>
        <p:spPr>
          <a:xfrm>
            <a:off x="9715500" y="4524375"/>
            <a:ext cx="952500" cy="571500"/>
          </a:xfrm>
          <a:prstGeom prst="ellipse">
            <a:avLst/>
          </a:prstGeom>
          <a:solidFill>
            <a:srgbClr val="FF6F7D">
              <a:alpha val="20000"/>
            </a:srgbClr>
          </a:solidFill>
          <a:ln w="19050">
            <a:solidFill>
              <a:srgbClr val="FF6F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70C7BF6-9AE4-4833-8681-7534587E1669}"/>
              </a:ext>
            </a:extLst>
          </p:cNvPr>
          <p:cNvSpPr>
            <a:spLocks noGrp="1"/>
          </p:cNvSpPr>
          <p:nvPr/>
        </p:nvSpPr>
        <p:spPr>
          <a:xfrm>
            <a:off x="9715500" y="465772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Z₄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B2BB35A-5BEB-4322-B691-4DB259310E4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38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937DAF15-F4E4-46D8-8B59-477BD0E5867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02 / EL PROBLEMA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4E3513-4D26-471F-9310-13C093F8373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Una pregunta puede tener varias respuestas correctas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414AE608-6C66-439C-8708-BBC502ADE49F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EEE694F-1545-4ED6-8830-8982114D4B12}"/>
              </a:ext>
            </a:extLst>
          </p:cNvPr>
          <p:cNvSpPr>
            <a:spLocks noGrp="1"/>
          </p:cNvSpPr>
          <p:nvPr/>
        </p:nvSpPr>
        <p:spPr>
          <a:xfrm>
            <a:off x="1314450" y="2047875"/>
            <a:ext cx="9563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“¿Cuál es el banco más grande?”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E32C6DB-420E-4824-A0F6-EFA2128E65AB}"/>
              </a:ext>
            </a:extLst>
          </p:cNvPr>
          <p:cNvSpPr>
            <a:spLocks noGrp="1"/>
          </p:cNvSpPr>
          <p:nvPr/>
        </p:nvSpPr>
        <p:spPr>
          <a:xfrm>
            <a:off x="9048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45E0D0">
              <a:alpha val="12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5F26093-1646-43B0-B60B-897B50DE0079}"/>
              </a:ext>
            </a:extLst>
          </p:cNvPr>
          <p:cNvSpPr>
            <a:spLocks noGrp="1"/>
          </p:cNvSpPr>
          <p:nvPr/>
        </p:nvSpPr>
        <p:spPr>
          <a:xfrm>
            <a:off x="10191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activos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2258157-7264-4E52-8ADE-1400CF583EBB}"/>
              </a:ext>
            </a:extLst>
          </p:cNvPr>
          <p:cNvSpPr>
            <a:spLocks noGrp="1"/>
          </p:cNvSpPr>
          <p:nvPr/>
        </p:nvSpPr>
        <p:spPr>
          <a:xfrm>
            <a:off x="30003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7769F4">
              <a:alpha val="12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5E3EB26-D14E-4DC3-BA95-8F647412472B}"/>
              </a:ext>
            </a:extLst>
          </p:cNvPr>
          <p:cNvSpPr>
            <a:spLocks noGrp="1"/>
          </p:cNvSpPr>
          <p:nvPr/>
        </p:nvSpPr>
        <p:spPr>
          <a:xfrm>
            <a:off x="31146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capitalización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F3E0789-F1EE-40B4-90FA-F8BF1B5BEA16}"/>
              </a:ext>
            </a:extLst>
          </p:cNvPr>
          <p:cNvSpPr>
            <a:spLocks noGrp="1"/>
          </p:cNvSpPr>
          <p:nvPr/>
        </p:nvSpPr>
        <p:spPr>
          <a:xfrm>
            <a:off x="50958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FFB66E">
              <a:alpha val="12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7C37F4-EAC5-4696-A4C1-70B57C250468}"/>
              </a:ext>
            </a:extLst>
          </p:cNvPr>
          <p:cNvSpPr>
            <a:spLocks noGrp="1"/>
          </p:cNvSpPr>
          <p:nvPr/>
        </p:nvSpPr>
        <p:spPr>
          <a:xfrm>
            <a:off x="52101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2441E6B-74DA-43BC-AC26-B1DAFC5C55F0}"/>
              </a:ext>
            </a:extLst>
          </p:cNvPr>
          <p:cNvSpPr>
            <a:spLocks noGrp="1"/>
          </p:cNvSpPr>
          <p:nvPr/>
        </p:nvSpPr>
        <p:spPr>
          <a:xfrm>
            <a:off x="71913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FF6F7D">
              <a:alpha val="12000"/>
            </a:srgbClr>
          </a:solidFill>
          <a:ln w="9525">
            <a:solidFill>
              <a:srgbClr val="FF6F7D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DB9B5F-C591-42E0-A0CC-B9471C0A8E83}"/>
              </a:ext>
            </a:extLst>
          </p:cNvPr>
          <p:cNvSpPr>
            <a:spLocks noGrp="1"/>
          </p:cNvSpPr>
          <p:nvPr/>
        </p:nvSpPr>
        <p:spPr>
          <a:xfrm>
            <a:off x="73056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ingresos</a:t>
            </a:r>
            <a:endParaRPr sz="1400" b="1" i="0" dirty="0">
              <a:solidFill>
                <a:srgbClr val="10152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D81AE61-557C-43ED-9D75-F881A2A06618}"/>
              </a:ext>
            </a:extLst>
          </p:cNvPr>
          <p:cNvSpPr>
            <a:spLocks noGrp="1"/>
          </p:cNvSpPr>
          <p:nvPr/>
        </p:nvSpPr>
        <p:spPr>
          <a:xfrm>
            <a:off x="9286875" y="3381375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62D590">
              <a:alpha val="12000"/>
            </a:srgbClr>
          </a:solidFill>
          <a:ln w="9525">
            <a:solidFill>
              <a:srgbClr val="62D59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AC9812D-1D48-49A2-BD64-F95F26A91AF1}"/>
              </a:ext>
            </a:extLst>
          </p:cNvPr>
          <p:cNvSpPr>
            <a:spLocks noGrp="1"/>
          </p:cNvSpPr>
          <p:nvPr/>
        </p:nvSpPr>
        <p:spPr>
          <a:xfrm>
            <a:off x="9401175" y="3457575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presencia</a:t>
            </a:r>
            <a:endParaRPr sz="1400" b="1" i="0" dirty="0">
              <a:solidFill>
                <a:srgbClr val="10152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315466C-C19A-48A2-955B-BCC5909E9B17}"/>
              </a:ext>
            </a:extLst>
          </p:cNvPr>
          <p:cNvSpPr>
            <a:spLocks noGrp="1"/>
          </p:cNvSpPr>
          <p:nvPr/>
        </p:nvSpPr>
        <p:spPr>
          <a:xfrm>
            <a:off x="1304925" y="4500562"/>
            <a:ext cx="9572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167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dirty="0">
                <a:solidFill/>
                <a:latin typeface="Aptos"/>
                <a:ea typeface="Aptos"/>
                <a:cs typeface="Aptos"/>
              </a:rPr>
              <a:t>Una </a:t>
            </a:r>
            <a:r>
              <a:rPr dirty="0" err="1">
                <a:solidFill/>
                <a:latin typeface="Aptos"/>
                <a:ea typeface="Aptos"/>
                <a:cs typeface="Aptos"/>
              </a:rPr>
              <a:t>respuesta</a:t>
            </a:r>
            <a:r>
              <a:rPr dirty="0">
                <a:solidFill/>
                <a:latin typeface="Aptos"/>
                <a:ea typeface="Aptos"/>
                <a:cs typeface="Aptos"/>
              </a:rPr>
              <a:t> </a:t>
            </a:r>
            <a:r>
              <a:rPr dirty="0" err="1">
                <a:solidFill/>
                <a:latin typeface="Aptos"/>
                <a:ea typeface="Aptos"/>
                <a:cs typeface="Aptos"/>
              </a:rPr>
              <a:t>puede</a:t>
            </a:r>
            <a:r>
              <a:rPr dirty="0">
                <a:solidFill/>
                <a:latin typeface="Aptos"/>
                <a:ea typeface="Aptos"/>
                <a:cs typeface="Aptos"/>
              </a:rPr>
              <a:t> ser </a:t>
            </a:r>
            <a:r>
              <a:rPr dirty="0" err="1">
                <a:solidFill/>
                <a:highlight>
                  <a:srgbClr val="FFFF00"/>
                </a:highlight>
                <a:latin typeface="Aptos"/>
                <a:ea typeface="Aptos"/>
                <a:cs typeface="Aptos"/>
              </a:rPr>
              <a:t>correcta</a:t>
            </a:r>
            <a:r>
              <a:rPr dirty="0">
                <a:solidFill/>
                <a:latin typeface="Aptos"/>
                <a:ea typeface="Aptos"/>
                <a:cs typeface="Aptos"/>
              </a:rPr>
              <a:t> y, </a:t>
            </a:r>
            <a:r>
              <a:rPr dirty="0" err="1">
                <a:solidFill/>
                <a:latin typeface="Aptos"/>
                <a:ea typeface="Aptos"/>
                <a:cs typeface="Aptos"/>
              </a:rPr>
              <a:t>aun</a:t>
            </a:r>
            <a:r>
              <a:rPr dirty="0">
                <a:solidFill/>
                <a:latin typeface="Aptos"/>
                <a:ea typeface="Aptos"/>
                <a:cs typeface="Aptos"/>
              </a:rPr>
              <a:t> </a:t>
            </a:r>
            <a:r>
              <a:rPr dirty="0" err="1">
                <a:solidFill/>
                <a:latin typeface="Aptos"/>
                <a:ea typeface="Aptos"/>
                <a:cs typeface="Aptos"/>
              </a:rPr>
              <a:t>así</a:t>
            </a:r>
            <a:r>
              <a:rPr dirty="0">
                <a:solidFill/>
                <a:latin typeface="Aptos"/>
                <a:ea typeface="Aptos"/>
                <a:cs typeface="Aptos"/>
              </a:rPr>
              <a:t>, </a:t>
            </a:r>
            <a:r>
              <a:rPr dirty="0" err="1">
                <a:solidFill/>
                <a:latin typeface="Aptos"/>
                <a:ea typeface="Aptos"/>
                <a:cs typeface="Aptos"/>
              </a:rPr>
              <a:t>interpretar</a:t>
            </a:r>
            <a:r>
              <a:rPr dirty="0">
                <a:solidFill/>
                <a:latin typeface="Aptos"/>
                <a:ea typeface="Aptos"/>
                <a:cs typeface="Aptos"/>
              </a:rPr>
              <a:t> </a:t>
            </a:r>
            <a:r>
              <a:rPr dirty="0">
                <a:solidFill/>
                <a:highlight>
                  <a:srgbClr val="FFFF00"/>
                </a:highlight>
                <a:latin typeface="Aptos"/>
                <a:ea typeface="Aptos"/>
                <a:cs typeface="Aptos"/>
              </a:rPr>
              <a:t>mal</a:t>
            </a:r>
            <a:r>
              <a:rPr dirty="0">
                <a:solidFill/>
                <a:latin typeface="Aptos"/>
                <a:ea typeface="Aptos"/>
                <a:cs typeface="Aptos"/>
              </a:rPr>
              <a:t> la </a:t>
            </a:r>
            <a:r>
              <a:rPr dirty="0" err="1">
                <a:solidFill/>
                <a:latin typeface="Aptos"/>
                <a:ea typeface="Aptos"/>
                <a:cs typeface="Aptos"/>
              </a:rPr>
              <a:t>intención</a:t>
            </a:r>
            <a:r>
              <a:rPr dirty="0">
                <a:solidFill/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D53314D-EFA6-403E-AEFC-8CB21E28929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Ejemplo conceptual basado en context.md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1E44D1D-780A-4BE1-962F-A8A6E5192B6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127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6BB61D0-7E1B-4090-BC1A-62A1AE78612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03 / QUÉ ES CONTEXT ENGINEERING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40ADB4-FB88-4845-81D4-1F2226BC940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756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Context Engineering decide qué información entra al modelo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F1A57129-62B8-479A-824B-2A9E4146EFBA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F87F132-58CB-469B-91DF-05845C865F5D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7769F4">
              <a:alpha val="14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A3398E1-DAB9-4F04-BA15-711A5527432D}"/>
              </a:ext>
            </a:extLst>
          </p:cNvPr>
          <p:cNvSpPr>
            <a:spLocks noGrp="1"/>
          </p:cNvSpPr>
          <p:nvPr/>
        </p:nvSpPr>
        <p:spPr>
          <a:xfrm>
            <a:off x="685800" y="1771651"/>
            <a:ext cx="1809749" cy="209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611"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 dirty="0">
                <a:solidFill>
                  <a:srgbClr val="7065E8"/>
                </a:solidFill>
                <a:latin typeface="Aptos"/>
                <a:ea typeface="Aptos"/>
                <a:cs typeface="Aptos"/>
              </a:rPr>
              <a:t>DEFINICIÓN OPERACIONAL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8CCD8E-405F-4101-BFFF-CBE973227172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000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26"/>
          </a:bodyPr>
          <a:lstStyle/>
          <a:p>
            <a:pPr algn="l">
              <a:lnSpc>
                <a:spcPct val="105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Seleccionar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,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generar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,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estructurar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y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administrar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la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información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que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condiciona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la </a:t>
            </a:r>
            <a:r>
              <a:rPr sz="2200" b="1" i="0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2200" b="1" i="0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E09AC76-B99C-4177-8476-8190B7EA76CF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000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es solo prompt engineering. Incluye recuperación, memoria, herramientas, estructura, compresión y ensamblaje dinámico.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CA70179-C404-452F-95FD-B1A56182065C}"/>
              </a:ext>
            </a:extLst>
          </p:cNvPr>
          <p:cNvSpPr>
            <a:spLocks noGrp="1"/>
          </p:cNvSpPr>
          <p:nvPr/>
        </p:nvSpPr>
        <p:spPr>
          <a:xfrm>
            <a:off x="5048250" y="1752600"/>
            <a:ext cx="6457950" cy="36957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57800" y="2590468"/>
            <a:ext cx="6038850" cy="2019964"/>
          </a:xfrm>
          <a:prstGeom prst="roundRect">
            <a:avLst>
              <a:gd name="adj" fmla="val 4167"/>
            </a:avLst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1F53669-ADC3-4EC9-A1A4-30228F72560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survey_context.pdf, Fig. 3; imagen suministrada en el proyecto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03B65A-095B-4096-B0FA-9B0A65208B1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22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A98B94-0C0A-4A57-B2FB-874C792C07F0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04 / ARQUITECTURA DE CONTEXT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F31365-4631-4BA9-911A-1DA259C28CE0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Context Engineering integra RAG, memoria y herramientas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8BB985-CB97-4C2E-83AF-808F4EE5F7A3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1554480"/>
            <a:ext cx="7315200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E67698-B049-4630-AC98-7E03C219FEE0}"/>
              </a:ext>
            </a:extLst>
          </p:cNvPr>
          <p:cNvSpPr>
            <a:spLocks noGrp="1"/>
          </p:cNvSpPr>
          <p:nvPr/>
        </p:nvSpPr>
        <p:spPr>
          <a:xfrm>
            <a:off x="685800" y="5760720"/>
            <a:ext cx="1081735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Context Engineering orquesta RAG, memoria, herramientas, historial y formatos estructurados.</a:t>
            </a:r>
          </a:p>
        </p:txBody>
      </p:sp>
    </p:spTree>
    <p:extLst>
      <p:ext uri="{BB962C8B-B14F-4D97-AF65-F5344CB8AC3E}">
        <p14:creationId xmlns:p14="http://schemas.microsoft.com/office/powerpoint/2010/main" val="1324794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3D6EBFB4-F358-485A-B659-0A7E83D0E03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05 / TESIS CENTRAL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BDB1AD-80A4-406B-B986-BA074C9A21F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La unidad de valor es la señal útil por token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B7410622-8EFD-4471-B95D-8350A824003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8096E47-9EF9-452B-85E9-FC3C768DFC63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BFC7D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El objetivo real es maximizar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80435B-914D-44BC-B93F-4A67968C0739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628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información útil  /  token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2C77184-07A2-4C73-8A99-6FAE908D2637}"/>
              </a:ext>
            </a:extLst>
          </p:cNvPr>
          <p:cNvSpPr>
            <a:spLocks noGrp="1"/>
          </p:cNvSpPr>
          <p:nvPr/>
        </p:nvSpPr>
        <p:spPr>
          <a:xfrm>
            <a:off x="7239000" y="2200275"/>
            <a:ext cx="4000500" cy="5905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557D7D0-1779-4C0B-B9A0-DE15F2F632D9}"/>
              </a:ext>
            </a:extLst>
          </p:cNvPr>
          <p:cNvSpPr>
            <a:spLocks noGrp="1"/>
          </p:cNvSpPr>
          <p:nvPr/>
        </p:nvSpPr>
        <p:spPr>
          <a:xfrm>
            <a:off x="7239000" y="2200275"/>
            <a:ext cx="1000125" cy="590550"/>
          </a:xfrm>
          <a:prstGeom prst="roundRect">
            <a:avLst>
              <a:gd name="adj" fmla="val 50000"/>
            </a:avLst>
          </a:prstGeom>
          <a:solidFill>
            <a:srgbClr val="45E0D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EA9760-90F7-4F98-B615-CAA5491A1BC5}"/>
              </a:ext>
            </a:extLst>
          </p:cNvPr>
          <p:cNvSpPr>
            <a:spLocks noGrp="1"/>
          </p:cNvSpPr>
          <p:nvPr/>
        </p:nvSpPr>
        <p:spPr>
          <a:xfrm>
            <a:off x="7429500" y="2371725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señal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C8CD4C-9B74-4257-9D9C-83CE9C0605B6}"/>
              </a:ext>
            </a:extLst>
          </p:cNvPr>
          <p:cNvSpPr>
            <a:spLocks noGrp="1"/>
          </p:cNvSpPr>
          <p:nvPr/>
        </p:nvSpPr>
        <p:spPr>
          <a:xfrm>
            <a:off x="8334375" y="2371725"/>
            <a:ext cx="2705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3CBE0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ruido · redundancia · conflicto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ECB0C77-28B5-4F8F-8298-505FFB22D1E1}"/>
              </a:ext>
            </a:extLst>
          </p:cNvPr>
          <p:cNvSpPr>
            <a:spLocks noGrp="1"/>
          </p:cNvSpPr>
          <p:nvPr/>
        </p:nvSpPr>
        <p:spPr>
          <a:xfrm>
            <a:off x="7239000" y="3152775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48"/>
          </a:bodyPr>
          <a:lstStyle/>
          <a:p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 contexto corto y preciso puede superar a uno largo y ruidoso.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F111756-D17C-4C0F-A33F-533EB2614739}"/>
              </a:ext>
            </a:extLst>
          </p:cNvPr>
          <p:cNvSpPr>
            <a:spLocks noGrp="1"/>
          </p:cNvSpPr>
          <p:nvPr/>
        </p:nvSpPr>
        <p:spPr>
          <a:xfrm>
            <a:off x="7239000" y="4324350"/>
            <a:ext cx="1238250" cy="419100"/>
          </a:xfrm>
          <a:prstGeom prst="roundRect">
            <a:avLst>
              <a:gd name="adj" fmla="val 50000"/>
            </a:avLst>
          </a:prstGeom>
          <a:solidFill>
            <a:srgbClr val="45E0D0">
              <a:alpha val="18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54C6ED-E895-445A-9C32-2A59DE483F2D}"/>
              </a:ext>
            </a:extLst>
          </p:cNvPr>
          <p:cNvSpPr>
            <a:spLocks noGrp="1"/>
          </p:cNvSpPr>
          <p:nvPr/>
        </p:nvSpPr>
        <p:spPr>
          <a:xfrm>
            <a:off x="7353300" y="44005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seleccionar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28D06E3-6D74-487F-9422-144F3B2B98B2}"/>
              </a:ext>
            </a:extLst>
          </p:cNvPr>
          <p:cNvSpPr>
            <a:spLocks noGrp="1"/>
          </p:cNvSpPr>
          <p:nvPr/>
        </p:nvSpPr>
        <p:spPr>
          <a:xfrm>
            <a:off x="8610600" y="4324350"/>
            <a:ext cx="1095375" cy="419100"/>
          </a:xfrm>
          <a:prstGeom prst="roundRect">
            <a:avLst>
              <a:gd name="adj" fmla="val 50000"/>
            </a:avLst>
          </a:prstGeom>
          <a:solidFill>
            <a:srgbClr val="7769F4">
              <a:alpha val="18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8BB409-F1CA-450B-8F43-104D70EA8354}"/>
              </a:ext>
            </a:extLst>
          </p:cNvPr>
          <p:cNvSpPr>
            <a:spLocks noGrp="1"/>
          </p:cNvSpPr>
          <p:nvPr/>
        </p:nvSpPr>
        <p:spPr>
          <a:xfrm>
            <a:off x="8724900" y="4400550"/>
            <a:ext cx="866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ordenar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C593A1A-FB0C-4C37-B8C3-B9EEAA80F0DC}"/>
              </a:ext>
            </a:extLst>
          </p:cNvPr>
          <p:cNvSpPr>
            <a:spLocks noGrp="1"/>
          </p:cNvSpPr>
          <p:nvPr/>
        </p:nvSpPr>
        <p:spPr>
          <a:xfrm>
            <a:off x="9839325" y="4324350"/>
            <a:ext cx="1400175" cy="419100"/>
          </a:xfrm>
          <a:prstGeom prst="roundRect">
            <a:avLst>
              <a:gd name="adj" fmla="val 50000"/>
            </a:avLst>
          </a:prstGeom>
          <a:solidFill>
            <a:srgbClr val="FFB66E">
              <a:alpha val="18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C37FF68-DBCC-4117-A8CD-7093F9DB72DA}"/>
              </a:ext>
            </a:extLst>
          </p:cNvPr>
          <p:cNvSpPr>
            <a:spLocks noGrp="1"/>
          </p:cNvSpPr>
          <p:nvPr/>
        </p:nvSpPr>
        <p:spPr>
          <a:xfrm>
            <a:off x="9953625" y="4400550"/>
            <a:ext cx="1171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comprimir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7E85F3-53C0-46B7-96B0-87E4C8D4112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información útil por token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0C79EE-3BEF-4FD4-A4AC-B1E48930DA3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41" name="Ecuación s04_signal_dens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724" y="3371850"/>
            <a:ext cx="1319902" cy="723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B727954-7C91-4F2E-91DE-73B4DE8D79DC}"/>
              </a:ext>
            </a:extLst>
          </p:cNvPr>
          <p:cNvSpPr>
            <a:spLocks noGrp="1"/>
          </p:cNvSpPr>
          <p:nvPr/>
        </p:nvSpPr>
        <p:spPr>
          <a:xfrm>
            <a:off x="685800" y="434721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 dirty="0" err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</a:t>
            </a:r>
            <a:r>
              <a:rPr sz="1250" b="1" dirty="0">
                <a:solidFill>
                  <a:srgbClr val="3DD6C6"/>
                </a:solidFill>
                <a:latin typeface="Aptos"/>
                <a:ea typeface="Aptos"/>
                <a:cs typeface="Aptos"/>
              </a:rPr>
              <a:t> · </a:t>
            </a:r>
            <a:r>
              <a:rPr sz="125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X consulta · Y </a:t>
            </a:r>
            <a:r>
              <a:rPr sz="125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125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· C </a:t>
            </a:r>
            <a:r>
              <a:rPr sz="125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25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· |C| </a:t>
            </a:r>
            <a:r>
              <a:rPr sz="1250" dirty="0" err="1">
                <a:solidFill>
                  <a:srgbClr val="C7CEDF"/>
                </a:solidFill>
                <a:latin typeface="Aptos"/>
                <a:ea typeface="Aptos"/>
                <a:cs typeface="Aptos"/>
              </a:rPr>
              <a:t>número</a:t>
            </a:r>
            <a:r>
              <a:rPr sz="1250" dirty="0">
                <a:solidFill>
                  <a:srgbClr val="C7CEDF"/>
                </a:solidFill>
                <a:latin typeface="Aptos"/>
                <a:ea typeface="Aptos"/>
                <a:cs typeface="Aptos"/>
              </a:rPr>
              <a:t> de tokens</a:t>
            </a:r>
          </a:p>
        </p:txBody>
      </p:sp>
    </p:spTree>
    <p:extLst>
      <p:ext uri="{BB962C8B-B14F-4D97-AF65-F5344CB8AC3E}">
        <p14:creationId xmlns:p14="http://schemas.microsoft.com/office/powerpoint/2010/main" val="122488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8E20CD3A-5CF0-4613-8352-A1AED48A265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06 / MODELO PROBABILÍSTICO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D0B8AA6-9A27-4079-B48F-1A4F4A79F02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El contexto redistribuye la probabilidad de cada token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BF86773F-7EBE-437C-8DB8-2BC90D6BEE66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0FFA801-F445-41AB-8958-A15FF7736739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contexto aporta cuando aumenta la probabilidad del token correcto y reduce alternativas incorrectas.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09CE881-95DC-403F-B27E-72E1BE63243B}"/>
              </a:ext>
            </a:extLst>
          </p:cNvPr>
          <p:cNvSpPr>
            <a:spLocks noGrp="1"/>
          </p:cNvSpPr>
          <p:nvPr/>
        </p:nvSpPr>
        <p:spPr>
          <a:xfrm>
            <a:off x="6667500" y="2305050"/>
            <a:ext cx="4381500" cy="306705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B138318-E307-4F06-8FC3-E70029D7689B}"/>
              </a:ext>
            </a:extLst>
          </p:cNvPr>
          <p:cNvSpPr>
            <a:spLocks noGrp="1"/>
          </p:cNvSpPr>
          <p:nvPr/>
        </p:nvSpPr>
        <p:spPr>
          <a:xfrm>
            <a:off x="6953250" y="25336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45E0D0">
              <a:alpha val="14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BF6F70-52A2-4E04-852B-F8D7082AA3F3}"/>
              </a:ext>
            </a:extLst>
          </p:cNvPr>
          <p:cNvSpPr>
            <a:spLocks noGrp="1"/>
          </p:cNvSpPr>
          <p:nvPr/>
        </p:nvSpPr>
        <p:spPr>
          <a:xfrm>
            <a:off x="7067550" y="257175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EJEMPLO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AD685CC-F2E2-4A29-90FE-27CD0B5715BA}"/>
              </a:ext>
            </a:extLst>
          </p:cNvPr>
          <p:cNvSpPr>
            <a:spLocks noGrp="1"/>
          </p:cNvSpPr>
          <p:nvPr/>
        </p:nvSpPr>
        <p:spPr>
          <a:xfrm>
            <a:off x="6953250" y="3105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contrato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0E9245C-0FAC-4767-B949-BD34A710BF6F}"/>
              </a:ext>
            </a:extLst>
          </p:cNvPr>
          <p:cNvSpPr>
            <a:spLocks noGrp="1"/>
          </p:cNvSpPr>
          <p:nvPr/>
        </p:nvSpPr>
        <p:spPr>
          <a:xfrm>
            <a:off x="6953250" y="342900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69"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26674"/>
                </a:solidFill>
                <a:latin typeface="Aptos Display"/>
                <a:ea typeface="Aptos Display"/>
                <a:cs typeface="Aptos Display"/>
              </a:rPr>
              <a:t>“12 meses”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20461332-9B29-40C6-B934-2C32914253ED}"/>
              </a:ext>
            </a:extLst>
          </p:cNvPr>
          <p:cNvSpPr>
            <a:spLocks noGrp="1"/>
          </p:cNvSpPr>
          <p:nvPr/>
        </p:nvSpPr>
        <p:spPr>
          <a:xfrm>
            <a:off x="8715375" y="3609975"/>
            <a:ext cx="523875" cy="0"/>
          </a:xfrm>
          <a:prstGeom prst="line">
            <a:avLst/>
          </a:prstGeom>
          <a:noFill/>
          <a:ln w="28575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8AF78C-AD19-488F-B98D-5D33CD7E8F48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contrato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2000D48-457B-463C-B62E-990E1564A376}"/>
              </a:ext>
            </a:extLst>
          </p:cNvPr>
          <p:cNvSpPr>
            <a:spLocks noGrp="1"/>
          </p:cNvSpPr>
          <p:nvPr/>
        </p:nvSpPr>
        <p:spPr>
          <a:xfrm>
            <a:off x="9239250" y="342900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98"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52C97F"/>
                </a:solidFill>
                <a:latin typeface="Aptos Display"/>
                <a:ea typeface="Aptos Display"/>
                <a:cs typeface="Aptos Display"/>
              </a:rPr>
              <a:t>“24 meses”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1858BDA-5CE8-4CAB-904C-6D53DA4488C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generación condicional y ejemplo de garantía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BE03278-1F75-4172-9C82-70EFA705422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40" name="Ecuación s05_tok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00300"/>
            <a:ext cx="4809344" cy="762000"/>
          </a:xfrm>
          <a:prstGeom prst="rect">
            <a:avLst/>
          </a:prstGeom>
        </p:spPr>
      </p:pic>
      <p:pic>
        <p:nvPicPr>
          <p:cNvPr id="41" name="Ecuación s05_sequ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3465966" cy="666750"/>
          </a:xfrm>
          <a:prstGeom prst="rect">
            <a:avLst/>
          </a:prstGeom>
        </p:spPr>
      </p:pic>
      <p:pic>
        <p:nvPicPr>
          <p:cNvPr id="42" name="Ecuación s05_examp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0" y="4341086"/>
            <a:ext cx="3810000" cy="3094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EC915D-8E90-4451-BC81-24BAA5236119}"/>
              </a:ext>
            </a:extLst>
          </p:cNvPr>
          <p:cNvSpPr>
            <a:spLocks noGrp="1"/>
          </p:cNvSpPr>
          <p:nvPr/>
        </p:nvSpPr>
        <p:spPr>
          <a:xfrm>
            <a:off x="4543425" y="2047875"/>
            <a:ext cx="38290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  <a:defRPr sz="1350" b="1">
                <a:solidFill>
                  <a:srgbClr val="0E4A5A"/>
                </a:solidFill>
              </a:defRPr>
            </a:pPr>
            <a:r>
              <a:rPr sz="1350" b="1">
                <a:solidFill>
                  <a:srgbClr val="0E4A5A"/>
                </a:solidFill>
                <a:latin typeface="Aptos"/>
                <a:ea typeface="Aptos"/>
                <a:cs typeface="Aptos"/>
              </a:rPr>
              <a:t>Consulta: «¿Cuánto dura la garantía?»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463DFC-B25C-44EF-A044-0165854174B8}"/>
              </a:ext>
            </a:extLst>
          </p:cNvPr>
          <p:cNvSpPr>
            <a:spLocks noGrp="1"/>
          </p:cNvSpPr>
          <p:nvPr/>
        </p:nvSpPr>
        <p:spPr>
          <a:xfrm>
            <a:off x="685800" y="5513832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θ parámetros · yₜ token actual · X consulta · C contrato recuperado</a:t>
            </a:r>
          </a:p>
        </p:txBody>
      </p:sp>
    </p:spTree>
    <p:extLst>
      <p:ext uri="{BB962C8B-B14F-4D97-AF65-F5344CB8AC3E}">
        <p14:creationId xmlns:p14="http://schemas.microsoft.com/office/powerpoint/2010/main" val="8836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2B992F4B-5646-4550-82BF-9B9E337AE3D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07 / VALOR DE LA INFORMACIÓN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FC85BE-F140-4FBA-8115-31D96FB6E25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056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El contexto vale por la incertidumbre que elimina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35D23640-FBEC-4CB9-8FC3-8D7EDB2D149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2674795-2397-4702-AA20-8EA1E5A9C8CB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7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Información mutua condicional = beneficio potencial del contexto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FABAC80-7536-4BD7-AB51-6F10B9EB042D}"/>
              </a:ext>
            </a:extLst>
          </p:cNvPr>
          <p:cNvSpPr>
            <a:spLocks noGrp="1"/>
          </p:cNvSpPr>
          <p:nvPr/>
        </p:nvSpPr>
        <p:spPr>
          <a:xfrm>
            <a:off x="7429500" y="1885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Sin contexto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A7BA797-477A-468A-BB25-1B9EB806F310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3238500" cy="552450"/>
          </a:xfrm>
          <a:prstGeom prst="roundRect">
            <a:avLst>
              <a:gd name="adj" fmla="val 50000"/>
            </a:avLst>
          </a:prstGeom>
          <a:solidFill>
            <a:srgbClr val="E4E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BB635BD-EFA4-47E7-9A3F-41DBE1E25FD4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2905125" cy="552450"/>
          </a:xfrm>
          <a:prstGeom prst="roundRect">
            <a:avLst>
              <a:gd name="adj" fmla="val 50000"/>
            </a:avLst>
          </a:prstGeom>
          <a:solidFill>
            <a:srgbClr val="FF6F7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219886-0DA0-4294-AD75-22C3BF6A885C}"/>
              </a:ext>
            </a:extLst>
          </p:cNvPr>
          <p:cNvSpPr>
            <a:spLocks noGrp="1"/>
          </p:cNvSpPr>
          <p:nvPr/>
        </p:nvSpPr>
        <p:spPr>
          <a:xfrm>
            <a:off x="8858250" y="24098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 alta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3EFA8E-0F7C-450B-B9C6-699905D22BA0}"/>
              </a:ext>
            </a:extLst>
          </p:cNvPr>
          <p:cNvSpPr>
            <a:spLocks noGrp="1"/>
          </p:cNvSpPr>
          <p:nvPr/>
        </p:nvSpPr>
        <p:spPr>
          <a:xfrm>
            <a:off x="7429500" y="31051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 relevante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4955D35-56BD-4832-8C11-846DCC20E80D}"/>
              </a:ext>
            </a:extLst>
          </p:cNvPr>
          <p:cNvSpPr>
            <a:spLocks noGrp="1"/>
          </p:cNvSpPr>
          <p:nvPr/>
        </p:nvSpPr>
        <p:spPr>
          <a:xfrm>
            <a:off x="7429500" y="3486150"/>
            <a:ext cx="3238500" cy="552450"/>
          </a:xfrm>
          <a:prstGeom prst="roundRect">
            <a:avLst>
              <a:gd name="adj" fmla="val 50000"/>
            </a:avLst>
          </a:prstGeom>
          <a:solidFill>
            <a:srgbClr val="E4E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7E548C2-7B8D-45BF-B28E-2A56F5669F98}"/>
              </a:ext>
            </a:extLst>
          </p:cNvPr>
          <p:cNvSpPr>
            <a:spLocks noGrp="1"/>
          </p:cNvSpPr>
          <p:nvPr/>
        </p:nvSpPr>
        <p:spPr>
          <a:xfrm>
            <a:off x="7429500" y="3486150"/>
            <a:ext cx="1066800" cy="552450"/>
          </a:xfrm>
          <a:prstGeom prst="roundRect">
            <a:avLst>
              <a:gd name="adj" fmla="val 50000"/>
            </a:avLst>
          </a:prstGeom>
          <a:solidFill>
            <a:srgbClr val="45E0D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69FDF3A-2DF0-4643-B8A2-26FF9E992761}"/>
              </a:ext>
            </a:extLst>
          </p:cNvPr>
          <p:cNvSpPr>
            <a:spLocks noGrp="1"/>
          </p:cNvSpPr>
          <p:nvPr/>
        </p:nvSpPr>
        <p:spPr>
          <a:xfrm>
            <a:off x="7486650" y="36290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H baja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1EB258-76C1-4643-9C5D-8EC2555F8BC3}"/>
              </a:ext>
            </a:extLst>
          </p:cNvPr>
          <p:cNvSpPr>
            <a:spLocks noGrp="1"/>
          </p:cNvSpPr>
          <p:nvPr/>
        </p:nvSpPr>
        <p:spPr>
          <a:xfrm>
            <a:off x="7429500" y="4343400"/>
            <a:ext cx="352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La diferencia es información que C aporta sobre Y.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2F6287E-9DF8-4D96-B508-748BB63F06C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entropía e información mutua condicional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AC9D1C2-F0FA-4485-9FD3-44A8AF2CC22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38" name="Ecuación s06_entrop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2150"/>
            <a:ext cx="5871033" cy="704850"/>
          </a:xfrm>
          <a:prstGeom prst="rect">
            <a:avLst/>
          </a:prstGeom>
        </p:spPr>
      </p:pic>
      <p:pic>
        <p:nvPicPr>
          <p:cNvPr id="39" name="Ecuación s06_mutu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11693"/>
            <a:ext cx="5623560" cy="4402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F4E13B-D535-49F0-A30C-634FAB4D1FF0}"/>
              </a:ext>
            </a:extLst>
          </p:cNvPr>
          <p:cNvSpPr>
            <a:spLocks noGrp="1"/>
          </p:cNvSpPr>
          <p:nvPr/>
        </p:nvSpPr>
        <p:spPr>
          <a:xfrm>
            <a:off x="685800" y="4160520"/>
            <a:ext cx="5623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150">
                <a:solidFill>
                  <a:srgbClr val="60687C"/>
                </a:solidFill>
                <a:latin typeface="Aptos"/>
                <a:ea typeface="Aptos"/>
                <a:cs typeface="Aptos"/>
              </a:rPr>
              <a:t>H entropía (incertidumbre) · I información mutua condicional · X consulta · Y respuesta · C contexto
El contexto es valioso cuando reduce la incertidumbre sobre la respuesta Y.</a:t>
            </a:r>
          </a:p>
        </p:txBody>
      </p:sp>
    </p:spTree>
    <p:extLst>
      <p:ext uri="{BB962C8B-B14F-4D97-AF65-F5344CB8AC3E}">
        <p14:creationId xmlns:p14="http://schemas.microsoft.com/office/powerpoint/2010/main" val="76573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A3EE3F50-A412-4278-B2DC-A10858CB6B1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08 / LÍMITES DEL MODELO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4766844-951C-40CC-8CD6-8E381AF0B6A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En un LLM real, más contexto también añade fricción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ED835520-20D2-413D-8E13-FDAD2D826C2A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A8BDC70-B217-41F8-8A25-4097DC8DD3AF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495300" cy="495300"/>
          </a:xfrm>
          <a:prstGeom prst="ellipse">
            <a:avLst/>
          </a:prstGeom>
          <a:solidFill>
            <a:srgbClr val="45E0D0">
              <a:alpha val="18000"/>
            </a:srgbClr>
          </a:solidFill>
          <a:ln w="1905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62168F-E6E6-47BD-820F-A1DC95D4A2CB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01835A-E849-49E3-A30A-551E7D932E02}"/>
              </a:ext>
            </a:extLst>
          </p:cNvPr>
          <p:cNvSpPr>
            <a:spLocks noGrp="1"/>
          </p:cNvSpPr>
          <p:nvPr/>
        </p:nvSpPr>
        <p:spPr>
          <a:xfrm>
            <a:off x="1295400" y="3352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relevancia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7ACDEDA-FE17-4A82-8F20-50F9D418C917}"/>
              </a:ext>
            </a:extLst>
          </p:cNvPr>
          <p:cNvSpPr>
            <a:spLocks noGrp="1"/>
          </p:cNvSpPr>
          <p:nvPr/>
        </p:nvSpPr>
        <p:spPr>
          <a:xfrm>
            <a:off x="2305050" y="3228975"/>
            <a:ext cx="495300" cy="495300"/>
          </a:xfrm>
          <a:prstGeom prst="ellipse">
            <a:avLst/>
          </a:prstGeom>
          <a:solidFill>
            <a:srgbClr val="FF6F7D">
              <a:alpha val="18000"/>
            </a:srgbClr>
          </a:solidFill>
          <a:ln w="19050">
            <a:solidFill>
              <a:srgbClr val="FF6F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6B717F-BF4D-4BC5-BC10-F5A8BE33F7A9}"/>
              </a:ext>
            </a:extLst>
          </p:cNvPr>
          <p:cNvSpPr>
            <a:spLocks noGrp="1"/>
          </p:cNvSpPr>
          <p:nvPr/>
        </p:nvSpPr>
        <p:spPr>
          <a:xfrm>
            <a:off x="2305050" y="33432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0EED24-0255-4AEA-A166-BD360676759E}"/>
              </a:ext>
            </a:extLst>
          </p:cNvPr>
          <p:cNvSpPr>
            <a:spLocks noGrp="1"/>
          </p:cNvSpPr>
          <p:nvPr/>
        </p:nvSpPr>
        <p:spPr>
          <a:xfrm>
            <a:off x="2914650" y="3352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ruido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7A4571F-62AF-4742-B6CA-7CF1908662EA}"/>
              </a:ext>
            </a:extLst>
          </p:cNvPr>
          <p:cNvSpPr>
            <a:spLocks noGrp="1"/>
          </p:cNvSpPr>
          <p:nvPr/>
        </p:nvSpPr>
        <p:spPr>
          <a:xfrm>
            <a:off x="3924300" y="3228975"/>
            <a:ext cx="495300" cy="495300"/>
          </a:xfrm>
          <a:prstGeom prst="ellipse">
            <a:avLst/>
          </a:prstGeom>
          <a:solidFill>
            <a:srgbClr val="FFB66E">
              <a:alpha val="18000"/>
            </a:srgbClr>
          </a:solidFill>
          <a:ln w="19050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12FB9D-6CEF-457A-AA08-AFEEE2CA2E23}"/>
              </a:ext>
            </a:extLst>
          </p:cNvPr>
          <p:cNvSpPr>
            <a:spLocks noGrp="1"/>
          </p:cNvSpPr>
          <p:nvPr/>
        </p:nvSpPr>
        <p:spPr>
          <a:xfrm>
            <a:off x="3924300" y="33432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D696BA5-1ADC-4302-8799-F068ABA89193}"/>
              </a:ext>
            </a:extLst>
          </p:cNvPr>
          <p:cNvSpPr>
            <a:spLocks noGrp="1"/>
          </p:cNvSpPr>
          <p:nvPr/>
        </p:nvSpPr>
        <p:spPr>
          <a:xfrm>
            <a:off x="4533900" y="3352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dificultad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10E0ACC-4441-4DA6-A715-933AA7F48BC2}"/>
              </a:ext>
            </a:extLst>
          </p:cNvPr>
          <p:cNvSpPr>
            <a:spLocks noGrp="1"/>
          </p:cNvSpPr>
          <p:nvPr/>
        </p:nvSpPr>
        <p:spPr>
          <a:xfrm>
            <a:off x="5543550" y="3228975"/>
            <a:ext cx="495300" cy="495300"/>
          </a:xfrm>
          <a:prstGeom prst="ellipse">
            <a:avLst/>
          </a:prstGeom>
          <a:solidFill>
            <a:srgbClr val="7769F4">
              <a:alpha val="18000"/>
            </a:srgbClr>
          </a:solidFill>
          <a:ln w="1905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CC93944-8A3C-4743-ABB5-E9F7D6035BF6}"/>
              </a:ext>
            </a:extLst>
          </p:cNvPr>
          <p:cNvSpPr>
            <a:spLocks noGrp="1"/>
          </p:cNvSpPr>
          <p:nvPr/>
        </p:nvSpPr>
        <p:spPr>
          <a:xfrm>
            <a:off x="5543550" y="33432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4509666-1122-4620-ADE7-9178DFD0F13D}"/>
              </a:ext>
            </a:extLst>
          </p:cNvPr>
          <p:cNvSpPr>
            <a:spLocks noGrp="1"/>
          </p:cNvSpPr>
          <p:nvPr/>
        </p:nvSpPr>
        <p:spPr>
          <a:xfrm>
            <a:off x="6153150" y="3352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conflictos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B5783150-7C8E-4DCF-B4AD-F12C78142CAD}"/>
              </a:ext>
            </a:extLst>
          </p:cNvPr>
          <p:cNvSpPr>
            <a:spLocks noGrp="1"/>
          </p:cNvSpPr>
          <p:nvPr/>
        </p:nvSpPr>
        <p:spPr>
          <a:xfrm>
            <a:off x="7239000" y="4991100"/>
            <a:ext cx="3810000" cy="0"/>
          </a:xfrm>
          <a:prstGeom prst="line">
            <a:avLst/>
          </a:prstGeom>
          <a:noFill/>
          <a:ln w="19050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901E44D0-06DF-4830-97BC-C7643A96F161}"/>
              </a:ext>
            </a:extLst>
          </p:cNvPr>
          <p:cNvSpPr>
            <a:spLocks noGrp="1"/>
          </p:cNvSpPr>
          <p:nvPr/>
        </p:nvSpPr>
        <p:spPr>
          <a:xfrm>
            <a:off x="7239000" y="2705100"/>
            <a:ext cx="0" cy="2286000"/>
          </a:xfrm>
          <a:prstGeom prst="line">
            <a:avLst/>
          </a:prstGeom>
          <a:noFill/>
          <a:ln w="19050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F0C26057-04A5-42F9-9D79-BEAEF0D82B3C}"/>
              </a:ext>
            </a:extLst>
          </p:cNvPr>
          <p:cNvSpPr>
            <a:spLocks noGrp="1"/>
          </p:cNvSpPr>
          <p:nvPr/>
        </p:nvSpPr>
        <p:spPr>
          <a:xfrm flipV="1">
            <a:off x="7239000" y="4095750"/>
            <a:ext cx="571500" cy="5143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B0C02E62-5FAF-4B37-8231-F17AD110598F}"/>
              </a:ext>
            </a:extLst>
          </p:cNvPr>
          <p:cNvSpPr>
            <a:spLocks noGrp="1"/>
          </p:cNvSpPr>
          <p:nvPr/>
        </p:nvSpPr>
        <p:spPr>
          <a:xfrm flipV="1">
            <a:off x="7810500" y="3562350"/>
            <a:ext cx="571500" cy="53340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DD57C480-1944-45E1-BCFE-5C78BBCD35BE}"/>
              </a:ext>
            </a:extLst>
          </p:cNvPr>
          <p:cNvSpPr>
            <a:spLocks noGrp="1"/>
          </p:cNvSpPr>
          <p:nvPr/>
        </p:nvSpPr>
        <p:spPr>
          <a:xfrm flipV="1">
            <a:off x="8382000" y="3200400"/>
            <a:ext cx="571500" cy="3619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64F7ACC1-8986-4689-ADC5-8364F854996A}"/>
              </a:ext>
            </a:extLst>
          </p:cNvPr>
          <p:cNvSpPr>
            <a:spLocks noGrp="1"/>
          </p:cNvSpPr>
          <p:nvPr/>
        </p:nvSpPr>
        <p:spPr>
          <a:xfrm>
            <a:off x="8953500" y="3200400"/>
            <a:ext cx="571500" cy="1333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B0D54275-4D49-4559-B7C5-F3FB3C44587D}"/>
              </a:ext>
            </a:extLst>
          </p:cNvPr>
          <p:cNvSpPr>
            <a:spLocks noGrp="1"/>
          </p:cNvSpPr>
          <p:nvPr/>
        </p:nvSpPr>
        <p:spPr>
          <a:xfrm>
            <a:off x="9525000" y="3333750"/>
            <a:ext cx="571500" cy="41910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2270E50A-7350-477B-A71B-624A6D14A222}"/>
              </a:ext>
            </a:extLst>
          </p:cNvPr>
          <p:cNvSpPr>
            <a:spLocks noGrp="1"/>
          </p:cNvSpPr>
          <p:nvPr/>
        </p:nvSpPr>
        <p:spPr>
          <a:xfrm>
            <a:off x="10096500" y="3752850"/>
            <a:ext cx="571500" cy="5143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396294BE-6FA4-4A11-BCE3-EB6FBF8720E9}"/>
              </a:ext>
            </a:extLst>
          </p:cNvPr>
          <p:cNvSpPr>
            <a:spLocks noGrp="1"/>
          </p:cNvSpPr>
          <p:nvPr/>
        </p:nvSpPr>
        <p:spPr>
          <a:xfrm>
            <a:off x="10668000" y="4267200"/>
            <a:ext cx="381000" cy="24765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098388F-F54C-40E9-9B28-52558DA96B6B}"/>
              </a:ext>
            </a:extLst>
          </p:cNvPr>
          <p:cNvSpPr>
            <a:spLocks noGrp="1"/>
          </p:cNvSpPr>
          <p:nvPr/>
        </p:nvSpPr>
        <p:spPr>
          <a:xfrm>
            <a:off x="8782050" y="3067050"/>
            <a:ext cx="342900" cy="342900"/>
          </a:xfrm>
          <a:prstGeom prst="ellipse">
            <a:avLst/>
          </a:prstGeom>
          <a:solidFill>
            <a:srgbClr val="45E0D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6A5FFCD-C3B4-4363-92EB-F27371778483}"/>
              </a:ext>
            </a:extLst>
          </p:cNvPr>
          <p:cNvSpPr>
            <a:spLocks noGrp="1"/>
          </p:cNvSpPr>
          <p:nvPr/>
        </p:nvSpPr>
        <p:spPr>
          <a:xfrm>
            <a:off x="8286750" y="27051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zona útil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A7B9694-C4DE-456A-A68C-5AAAF3ECD7AA}"/>
              </a:ext>
            </a:extLst>
          </p:cNvPr>
          <p:cNvSpPr>
            <a:spLocks noGrp="1"/>
          </p:cNvSpPr>
          <p:nvPr/>
        </p:nvSpPr>
        <p:spPr>
          <a:xfrm>
            <a:off x="8620125" y="5162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tokens de contexto →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FDF25FD-D6D1-481B-9B1E-6E44D1DACB7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modelo conceptual de calidad, ruido y longitud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D79C7B7-558E-4F86-B1DE-B0F63AC6EE3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67" name="Ecuación s07_qua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82714"/>
            <a:ext cx="6572250" cy="473322"/>
          </a:xfrm>
          <a:prstGeom prst="rect">
            <a:avLst/>
          </a:prstGeom>
        </p:spPr>
      </p:pic>
      <p:pic>
        <p:nvPicPr>
          <p:cNvPr id="68" name="Ecuación s07_nonmonoton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29100"/>
            <a:ext cx="2823815" cy="514350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B468809-E4D3-4BAD-82E5-6296C40949C7}"/>
              </a:ext>
            </a:extLst>
          </p:cNvPr>
          <p:cNvSpPr>
            <a:spLocks noGrp="1"/>
          </p:cNvSpPr>
          <p:nvPr/>
        </p:nvSpPr>
        <p:spPr>
          <a:xfrm>
            <a:off x="685800" y="1901952"/>
            <a:ext cx="1783080" cy="256032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MODELO CONCEPTUAL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35DCF9-A8C6-48B8-8D74-045121A5FFED}"/>
              </a:ext>
            </a:extLst>
          </p:cNvPr>
          <p:cNvSpPr>
            <a:spLocks noGrp="1"/>
          </p:cNvSpPr>
          <p:nvPr/>
        </p:nvSpPr>
        <p:spPr>
          <a:xfrm>
            <a:off x="685800" y="4709160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Q calidad observada · R relevancia · N ruido · D dificultad · K conflictos · n tokens</a:t>
            </a:r>
          </a:p>
        </p:txBody>
      </p:sp>
    </p:spTree>
    <p:extLst>
      <p:ext uri="{BB962C8B-B14F-4D97-AF65-F5344CB8AC3E}">
        <p14:creationId xmlns:p14="http://schemas.microsoft.com/office/powerpoint/2010/main" val="103472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91524DA1-53AA-4EC8-893B-A7B8A92E7AB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09 / RAG END-TO-END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D78EA64-44E6-488A-854E-0904AD3F4B3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RAG multiplica recuperación y generación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76CE5B3E-A25E-44E9-B0F9-44175D8AAFF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F997CFA5-0F98-4AE8-8E61-16D9B9C96E1E}"/>
              </a:ext>
            </a:extLst>
          </p:cNvPr>
          <p:cNvSpPr>
            <a:spLocks noGrp="1"/>
          </p:cNvSpPr>
          <p:nvPr/>
        </p:nvSpPr>
        <p:spPr>
          <a:xfrm>
            <a:off x="3333750" y="4038600"/>
            <a:ext cx="1619250" cy="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E2CDDFBB-E8C2-4678-B91A-6EB0F0EDABA9}"/>
              </a:ext>
            </a:extLst>
          </p:cNvPr>
          <p:cNvSpPr>
            <a:spLocks noGrp="1"/>
          </p:cNvSpPr>
          <p:nvPr/>
        </p:nvSpPr>
        <p:spPr>
          <a:xfrm>
            <a:off x="7239000" y="4038600"/>
            <a:ext cx="1619250" cy="0"/>
          </a:xfrm>
          <a:prstGeom prst="line">
            <a:avLst/>
          </a:prstGeom>
          <a:noFill/>
          <a:ln w="3810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27D2054-E768-4428-8EE3-B5E8CDE3F4BC}"/>
              </a:ext>
            </a:extLst>
          </p:cNvPr>
          <p:cNvSpPr>
            <a:spLocks noGrp="1"/>
          </p:cNvSpPr>
          <p:nvPr/>
        </p:nvSpPr>
        <p:spPr>
          <a:xfrm>
            <a:off x="1238250" y="3371850"/>
            <a:ext cx="2095500" cy="133350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7BDB3D4-1210-4FF8-808E-6CFC60E8D972}"/>
              </a:ext>
            </a:extLst>
          </p:cNvPr>
          <p:cNvSpPr>
            <a:spLocks noGrp="1"/>
          </p:cNvSpPr>
          <p:nvPr/>
        </p:nvSpPr>
        <p:spPr>
          <a:xfrm>
            <a:off x="4953000" y="3371850"/>
            <a:ext cx="2286000" cy="133350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B85AFC9-125D-4011-8EE2-BEBD563C96EE}"/>
              </a:ext>
            </a:extLst>
          </p:cNvPr>
          <p:cNvSpPr>
            <a:spLocks noGrp="1"/>
          </p:cNvSpPr>
          <p:nvPr/>
        </p:nvSpPr>
        <p:spPr>
          <a:xfrm>
            <a:off x="8858250" y="3371850"/>
            <a:ext cx="2095500" cy="1333500"/>
          </a:xfrm>
          <a:prstGeom prst="roundRect">
            <a:avLst>
              <a:gd name="adj" fmla="val 18571"/>
            </a:avLst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5ACB513-20AB-4E7D-8CF7-2B832C214243}"/>
              </a:ext>
            </a:extLst>
          </p:cNvPr>
          <p:cNvSpPr>
            <a:spLocks noGrp="1"/>
          </p:cNvSpPr>
          <p:nvPr/>
        </p:nvSpPr>
        <p:spPr>
          <a:xfrm>
            <a:off x="1238250" y="36004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E6A798-992F-400E-8621-73B35CECBAC2}"/>
              </a:ext>
            </a:extLst>
          </p:cNvPr>
          <p:cNvSpPr>
            <a:spLocks noGrp="1"/>
          </p:cNvSpPr>
          <p:nvPr/>
        </p:nvSpPr>
        <p:spPr>
          <a:xfrm>
            <a:off x="1238250" y="39243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0.80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AF580A7-EE54-41F8-A30C-3A837D2357F2}"/>
              </a:ext>
            </a:extLst>
          </p:cNvPr>
          <p:cNvSpPr>
            <a:spLocks noGrp="1"/>
          </p:cNvSpPr>
          <p:nvPr/>
        </p:nvSpPr>
        <p:spPr>
          <a:xfrm>
            <a:off x="4953000" y="36004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576B574-EBA5-4274-80E6-7B25F40A49A9}"/>
              </a:ext>
            </a:extLst>
          </p:cNvPr>
          <p:cNvSpPr>
            <a:spLocks noGrp="1"/>
          </p:cNvSpPr>
          <p:nvPr/>
        </p:nvSpPr>
        <p:spPr>
          <a:xfrm>
            <a:off x="4953000" y="39243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0.90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84EB890-063E-476B-9E55-85EACAEC0ECF}"/>
              </a:ext>
            </a:extLst>
          </p:cNvPr>
          <p:cNvSpPr>
            <a:spLocks noGrp="1"/>
          </p:cNvSpPr>
          <p:nvPr/>
        </p:nvSpPr>
        <p:spPr>
          <a:xfrm>
            <a:off x="8858250" y="36004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1076F61-A58C-4D26-9D1E-A35731E905A9}"/>
              </a:ext>
            </a:extLst>
          </p:cNvPr>
          <p:cNvSpPr>
            <a:spLocks noGrp="1"/>
          </p:cNvSpPr>
          <p:nvPr/>
        </p:nvSpPr>
        <p:spPr>
          <a:xfrm>
            <a:off x="8858250" y="39243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0.72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385655-CFB3-44B8-9242-E3CA741661E0}"/>
              </a:ext>
            </a:extLst>
          </p:cNvPr>
          <p:cNvSpPr>
            <a:spLocks noGrp="1"/>
          </p:cNvSpPr>
          <p:nvPr/>
        </p:nvSpPr>
        <p:spPr>
          <a:xfrm>
            <a:off x="3952875" y="38195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×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3029F09-9D51-4290-90A9-12580E69FA5E}"/>
              </a:ext>
            </a:extLst>
          </p:cNvPr>
          <p:cNvSpPr>
            <a:spLocks noGrp="1"/>
          </p:cNvSpPr>
          <p:nvPr/>
        </p:nvSpPr>
        <p:spPr>
          <a:xfrm>
            <a:off x="7905750" y="38195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=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281812F-EE5C-45CE-A097-2B4EFB0F34AC}"/>
              </a:ext>
            </a:extLst>
          </p:cNvPr>
          <p:cNvSpPr>
            <a:spLocks noGrp="1"/>
          </p:cNvSpPr>
          <p:nvPr/>
        </p:nvSpPr>
        <p:spPr>
          <a:xfrm>
            <a:off x="2095500" y="5181600"/>
            <a:ext cx="800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20"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Muchos “errores de generación” comienzan antes: en la selección del contexto.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613DADF-A81F-473E-9F96-82A8A802BD7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descomposición probabilística de un pipeline RAG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B233DD0-226A-49DB-97D7-680723ED98D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43" name="Ecuación s08_rag_produ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885" y="2266950"/>
            <a:ext cx="9404230" cy="5905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903DE3D-F89A-48CB-ACAA-47807956507B}"/>
              </a:ext>
            </a:extLst>
          </p:cNvPr>
          <p:cNvSpPr>
            <a:spLocks noGrp="1"/>
          </p:cNvSpPr>
          <p:nvPr/>
        </p:nvSpPr>
        <p:spPr>
          <a:xfrm>
            <a:off x="1005840" y="2834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D corpus · C★ evidencia correcta · Y★ respuesta correcta · η retriever · θ generador</a:t>
            </a:r>
          </a:p>
        </p:txBody>
      </p:sp>
    </p:spTree>
    <p:extLst>
      <p:ext uri="{BB962C8B-B14F-4D97-AF65-F5344CB8AC3E}">
        <p14:creationId xmlns:p14="http://schemas.microsoft.com/office/powerpoint/2010/main" val="1647202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A9384E-14CC-4AC4-8C70-34FC98785B80}"/>
              </a:ext>
            </a:extLst>
          </p:cNvPr>
          <p:cNvSpPr>
            <a:spLocks noGrp="1"/>
          </p:cNvSpPr>
          <p:nvPr/>
        </p:nvSpPr>
        <p:spPr>
          <a:xfrm>
            <a:off x="594360" y="1600200"/>
            <a:ext cx="5212080" cy="2880360"/>
          </a:xfrm>
          <a:prstGeom prst="roundRect">
            <a:avLst/>
          </a:prstGeom>
          <a:solidFill>
            <a:srgbClr val="F1F3F9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346416-CE5C-4864-A6DF-9761A9762F00}"/>
              </a:ext>
            </a:extLst>
          </p:cNvPr>
          <p:cNvSpPr>
            <a:spLocks noGrp="1"/>
          </p:cNvSpPr>
          <p:nvPr/>
        </p:nvSpPr>
        <p:spPr>
          <a:xfrm>
            <a:off x="6172200" y="1600200"/>
            <a:ext cx="5212080" cy="2880360"/>
          </a:xfrm>
          <a:prstGeom prst="roundRect">
            <a:avLst/>
          </a:prstGeom>
          <a:solidFill>
            <a:srgbClr val="F0EEFF"/>
          </a:solidFill>
          <a:ln w="1905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2A149C-63B9-4E30-9E3C-9348E308190B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10 / MODELOS COMPARADOS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69CC7-47AE-4419-AF5A-E4F5C5F59D59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RAG recupera; Context Engineering orquesta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60954-FCC8-4BDD-A390-F19E7A87A764}"/>
              </a:ext>
            </a:extLst>
          </p:cNvPr>
          <p:cNvSpPr>
            <a:spLocks noGrp="1"/>
          </p:cNvSpPr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E9867-CCEF-4827-82C6-1F974F267DF0}"/>
              </a:ext>
            </a:extLst>
          </p:cNvPr>
          <p:cNvSpPr>
            <a:spLocks noGrp="1"/>
          </p:cNvSpPr>
          <p:nvPr/>
        </p:nvSpPr>
        <p:spPr>
          <a:xfrm>
            <a:off x="713232" y="171907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B9B428-D8B0-4CAD-BEED-819CD0658270}"/>
              </a:ext>
            </a:extLst>
          </p:cNvPr>
          <p:cNvSpPr>
            <a:spLocks noGrp="1"/>
          </p:cNvSpPr>
          <p:nvPr/>
        </p:nvSpPr>
        <p:spPr>
          <a:xfrm>
            <a:off x="713232" y="2011680"/>
            <a:ext cx="4983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Recupera C desde documentos D</a:t>
            </a:r>
          </a:p>
        </p:txBody>
      </p:sp>
      <p:pic>
        <p:nvPicPr>
          <p:cNvPr id="32" name="Ecuación s09_rag_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49413"/>
            <a:ext cx="5001768" cy="5545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7FBF93-0487-4068-8FF6-D01FF49CC073}"/>
              </a:ext>
            </a:extLst>
          </p:cNvPr>
          <p:cNvSpPr>
            <a:spLocks noGrp="1"/>
          </p:cNvSpPr>
          <p:nvPr/>
        </p:nvSpPr>
        <p:spPr>
          <a:xfrm>
            <a:off x="713232" y="3584448"/>
            <a:ext cx="4983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η recupera documentos; θ genera con el contexto seleccionado.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9F55-8E65-4D8F-8743-7A74028FD486}"/>
              </a:ext>
            </a:extLst>
          </p:cNvPr>
          <p:cNvSpPr>
            <a:spLocks noGrp="1"/>
          </p:cNvSpPr>
          <p:nvPr/>
        </p:nvSpPr>
        <p:spPr>
          <a:xfrm>
            <a:off x="6382512" y="171907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CONTEXT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A5A016-0E9F-46D8-8B7B-90B74430A408}"/>
              </a:ext>
            </a:extLst>
          </p:cNvPr>
          <p:cNvSpPr>
            <a:spLocks noGrp="1"/>
          </p:cNvSpPr>
          <p:nvPr/>
        </p:nvSpPr>
        <p:spPr>
          <a:xfrm>
            <a:off x="6382512" y="2011680"/>
            <a:ext cx="4892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Orquesta C desde el estado S</a:t>
            </a:r>
          </a:p>
        </p:txBody>
      </p:sp>
      <p:pic>
        <p:nvPicPr>
          <p:cNvPr id="36" name="Ecuación s09_ce_mod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738467"/>
            <a:ext cx="4892040" cy="576394"/>
          </a:xfrm>
          <a:prstGeom prst="rect">
            <a:avLst/>
          </a:prstGeom>
        </p:spPr>
      </p:pic>
      <p:pic>
        <p:nvPicPr>
          <p:cNvPr id="37" name="Ecuación s09_st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222" y="3511296"/>
            <a:ext cx="2854915" cy="3931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D88843-A954-4AA1-A376-3DAB61051850}"/>
              </a:ext>
            </a:extLst>
          </p:cNvPr>
          <p:cNvSpPr>
            <a:spLocks noGrp="1"/>
          </p:cNvSpPr>
          <p:nvPr/>
        </p:nvSpPr>
        <p:spPr>
          <a:xfrm>
            <a:off x="6382512" y="393192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φ combina documentos, memoria, herramientas, historial y entorno.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C9CE0F-ED35-4A25-8198-0D0AFFBA0A6D}"/>
              </a:ext>
            </a:extLst>
          </p:cNvPr>
          <p:cNvSpPr>
            <a:spLocks noGrp="1"/>
          </p:cNvSpPr>
          <p:nvPr/>
        </p:nvSpPr>
        <p:spPr>
          <a:xfrm>
            <a:off x="1051560" y="4645152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RAG es un caso particular</a:t>
            </a:r>
          </a:p>
        </p:txBody>
      </p:sp>
      <p:pic>
        <p:nvPicPr>
          <p:cNvPr id="40" name="Ecuación s09_special_c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868" y="4645152"/>
            <a:ext cx="2299062" cy="4389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F3067F-E989-42A9-878A-2211FF8D6D58}"/>
              </a:ext>
            </a:extLst>
          </p:cNvPr>
          <p:cNvSpPr>
            <a:spLocks noGrp="1"/>
          </p:cNvSpPr>
          <p:nvPr/>
        </p:nvSpPr>
        <p:spPr>
          <a:xfrm>
            <a:off x="713232" y="5285232"/>
            <a:ext cx="10561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150">
                <a:solidFill>
                  <a:srgbClr val="60687C"/>
                </a:solidFill>
                <a:latin typeface="Aptos"/>
                <a:ea typeface="Aptos"/>
                <a:cs typeface="Aptos"/>
              </a:rPr>
              <a:t>X consulta · Y respuesta · C contexto · D documentos · M memoria · T herramientas
H historial · E entorno · η retriever · φ orquestador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70BCC6-EB16-4838-9D0A-6EAA66980977}"/>
              </a:ext>
            </a:extLst>
          </p:cNvPr>
          <p:cNvSpPr>
            <a:spLocks noGrp="1"/>
          </p:cNvSpPr>
          <p:nvPr/>
        </p:nvSpPr>
        <p:spPr>
          <a:xfrm>
            <a:off x="685800" y="6437376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formulación matemática del proyecto — RAG como caso particular de Context Engineering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3E7E49-CE15-417F-A874-9E297E2BDB7B}"/>
              </a:ext>
            </a:extLst>
          </p:cNvPr>
          <p:cNvSpPr>
            <a:spLocks noGrp="1"/>
          </p:cNvSpPr>
          <p:nvPr/>
        </p:nvSpPr>
        <p:spPr>
          <a:xfrm>
            <a:off x="11045952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2704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89D92-2225-4D7D-B245-D14B3C7FE812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11 / FORMALIZACIÓN PROBABILÍSTICA DE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3E223-3823-4E1B-AB3C-94928C57A7BF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RAG recupera evidencia antes de generar la respuesta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4F304-C071-4605-8410-856867C20A03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18843"/>
            <a:ext cx="10817352" cy="3786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DEE8C6-19C1-4A5A-813C-D37A8EC0BE8B}"/>
              </a:ext>
            </a:extLst>
          </p:cNvPr>
          <p:cNvSpPr>
            <a:spLocks noGrp="1"/>
          </p:cNvSpPr>
          <p:nvPr/>
        </p:nvSpPr>
        <p:spPr>
          <a:xfrm>
            <a:off x="685800" y="5760720"/>
            <a:ext cx="1081735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sistema marginaliza documentos recuperados y genera la respuesta condicionada a la evidencia.</a:t>
            </a:r>
          </a:p>
        </p:txBody>
      </p:sp>
    </p:spTree>
    <p:extLst>
      <p:ext uri="{BB962C8B-B14F-4D97-AF65-F5344CB8AC3E}">
        <p14:creationId xmlns:p14="http://schemas.microsoft.com/office/powerpoint/2010/main" val="142827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>
            <a:extLst>
              <a:ext uri="{FF2B5EF4-FFF2-40B4-BE49-F238E27FC236}">
                <a16:creationId xmlns:a16="http://schemas.microsoft.com/office/drawing/2014/main" id="{FCEFC5F0-3B9E-4D5D-927D-CCEFC57E01E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12 / RECUPERACIÓN INTERNA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FA2DB4-35E9-4F79-B8B9-713DFF34B23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366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Antes de generar, el modelo debe encontrar la evidencia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ADE4D0A8-97B5-4F83-9E7F-AA19EEB08FD5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FD2453-7FE9-49DD-8902-32DB88BE1FDF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66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Cada token compite por atención. El desafío no es solo leer: es localizar, integrar y responder.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2F5053C-5813-4E08-AD61-A04932FF4A80}"/>
              </a:ext>
            </a:extLst>
          </p:cNvPr>
          <p:cNvSpPr>
            <a:spLocks noGrp="1"/>
          </p:cNvSpPr>
          <p:nvPr/>
        </p:nvSpPr>
        <p:spPr>
          <a:xfrm>
            <a:off x="73533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300BC72-ACCF-44DF-86F1-E4C5EEBEC47E}"/>
              </a:ext>
            </a:extLst>
          </p:cNvPr>
          <p:cNvSpPr>
            <a:spLocks noGrp="1"/>
          </p:cNvSpPr>
          <p:nvPr/>
        </p:nvSpPr>
        <p:spPr>
          <a:xfrm>
            <a:off x="78867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BA5DFBE-F1D1-4E20-9F2C-15C1AC15F184}"/>
              </a:ext>
            </a:extLst>
          </p:cNvPr>
          <p:cNvSpPr>
            <a:spLocks noGrp="1"/>
          </p:cNvSpPr>
          <p:nvPr/>
        </p:nvSpPr>
        <p:spPr>
          <a:xfrm>
            <a:off x="84201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68E4E99-EBF1-49F2-984E-F1830E3B035D}"/>
              </a:ext>
            </a:extLst>
          </p:cNvPr>
          <p:cNvSpPr>
            <a:spLocks noGrp="1"/>
          </p:cNvSpPr>
          <p:nvPr/>
        </p:nvSpPr>
        <p:spPr>
          <a:xfrm>
            <a:off x="89535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6B2D2F4-7CD9-4F57-BFBB-AF23D2285656}"/>
              </a:ext>
            </a:extLst>
          </p:cNvPr>
          <p:cNvSpPr>
            <a:spLocks noGrp="1"/>
          </p:cNvSpPr>
          <p:nvPr/>
        </p:nvSpPr>
        <p:spPr>
          <a:xfrm>
            <a:off x="94869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42E9A7A-A511-4BC5-A9AE-6F1F4E089D3C}"/>
              </a:ext>
            </a:extLst>
          </p:cNvPr>
          <p:cNvSpPr>
            <a:spLocks noGrp="1"/>
          </p:cNvSpPr>
          <p:nvPr/>
        </p:nvSpPr>
        <p:spPr>
          <a:xfrm>
            <a:off x="100203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28349FC-2AFF-429C-A375-D8898B442D6F}"/>
              </a:ext>
            </a:extLst>
          </p:cNvPr>
          <p:cNvSpPr>
            <a:spLocks noGrp="1"/>
          </p:cNvSpPr>
          <p:nvPr/>
        </p:nvSpPr>
        <p:spPr>
          <a:xfrm>
            <a:off x="10553700" y="20764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4FA2016-3C87-4649-8633-9E3D0B04D6B3}"/>
              </a:ext>
            </a:extLst>
          </p:cNvPr>
          <p:cNvSpPr>
            <a:spLocks noGrp="1"/>
          </p:cNvSpPr>
          <p:nvPr/>
        </p:nvSpPr>
        <p:spPr>
          <a:xfrm>
            <a:off x="73533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6FEBEAA-550A-4F20-92F0-9DCA2ECCF209}"/>
              </a:ext>
            </a:extLst>
          </p:cNvPr>
          <p:cNvSpPr>
            <a:spLocks noGrp="1"/>
          </p:cNvSpPr>
          <p:nvPr/>
        </p:nvSpPr>
        <p:spPr>
          <a:xfrm>
            <a:off x="78867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14686EA-4002-4848-A7F5-2C4CE15CCC62}"/>
              </a:ext>
            </a:extLst>
          </p:cNvPr>
          <p:cNvSpPr>
            <a:spLocks noGrp="1"/>
          </p:cNvSpPr>
          <p:nvPr/>
        </p:nvSpPr>
        <p:spPr>
          <a:xfrm>
            <a:off x="84201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7F0985C-EDC4-4979-BC12-C5A0165247AC}"/>
              </a:ext>
            </a:extLst>
          </p:cNvPr>
          <p:cNvSpPr>
            <a:spLocks noGrp="1"/>
          </p:cNvSpPr>
          <p:nvPr/>
        </p:nvSpPr>
        <p:spPr>
          <a:xfrm>
            <a:off x="8953500" y="2667000"/>
            <a:ext cx="323850" cy="323850"/>
          </a:xfrm>
          <a:prstGeom prst="ellipse">
            <a:avLst/>
          </a:prstGeom>
          <a:solidFill>
            <a:srgbClr val="45E0D0"/>
          </a:solidFill>
          <a:ln w="1905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FD39877-BA49-4B22-B571-6360F641EC71}"/>
              </a:ext>
            </a:extLst>
          </p:cNvPr>
          <p:cNvSpPr>
            <a:spLocks noGrp="1"/>
          </p:cNvSpPr>
          <p:nvPr/>
        </p:nvSpPr>
        <p:spPr>
          <a:xfrm>
            <a:off x="94869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2E422BD-76AC-44EA-8E4B-7B00CEE9736F}"/>
              </a:ext>
            </a:extLst>
          </p:cNvPr>
          <p:cNvSpPr>
            <a:spLocks noGrp="1"/>
          </p:cNvSpPr>
          <p:nvPr/>
        </p:nvSpPr>
        <p:spPr>
          <a:xfrm>
            <a:off x="100203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E1292E5-9D00-4C01-A553-5F1939709EA1}"/>
              </a:ext>
            </a:extLst>
          </p:cNvPr>
          <p:cNvSpPr>
            <a:spLocks noGrp="1"/>
          </p:cNvSpPr>
          <p:nvPr/>
        </p:nvSpPr>
        <p:spPr>
          <a:xfrm>
            <a:off x="10553700" y="266700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652511A-EE36-4C34-9B93-9EFC9F8941D3}"/>
              </a:ext>
            </a:extLst>
          </p:cNvPr>
          <p:cNvSpPr>
            <a:spLocks noGrp="1"/>
          </p:cNvSpPr>
          <p:nvPr/>
        </p:nvSpPr>
        <p:spPr>
          <a:xfrm>
            <a:off x="73533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3E4F26A-A8D4-4448-A4EE-D1EA43BD4767}"/>
              </a:ext>
            </a:extLst>
          </p:cNvPr>
          <p:cNvSpPr>
            <a:spLocks noGrp="1"/>
          </p:cNvSpPr>
          <p:nvPr/>
        </p:nvSpPr>
        <p:spPr>
          <a:xfrm>
            <a:off x="78867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8F9372B-3FF1-499F-A9EA-9C265CBA5B61}"/>
              </a:ext>
            </a:extLst>
          </p:cNvPr>
          <p:cNvSpPr>
            <a:spLocks noGrp="1"/>
          </p:cNvSpPr>
          <p:nvPr/>
        </p:nvSpPr>
        <p:spPr>
          <a:xfrm>
            <a:off x="84201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E2F537D-7DDC-43C3-AC08-85314E6FE2F3}"/>
              </a:ext>
            </a:extLst>
          </p:cNvPr>
          <p:cNvSpPr>
            <a:spLocks noGrp="1"/>
          </p:cNvSpPr>
          <p:nvPr/>
        </p:nvSpPr>
        <p:spPr>
          <a:xfrm>
            <a:off x="89535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8E6254E-9362-43FF-B870-8E663FF9844E}"/>
              </a:ext>
            </a:extLst>
          </p:cNvPr>
          <p:cNvSpPr>
            <a:spLocks noGrp="1"/>
          </p:cNvSpPr>
          <p:nvPr/>
        </p:nvSpPr>
        <p:spPr>
          <a:xfrm>
            <a:off x="94869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6147749-C2BB-49F3-B022-6C1AA0FEFF9E}"/>
              </a:ext>
            </a:extLst>
          </p:cNvPr>
          <p:cNvSpPr>
            <a:spLocks noGrp="1"/>
          </p:cNvSpPr>
          <p:nvPr/>
        </p:nvSpPr>
        <p:spPr>
          <a:xfrm>
            <a:off x="100203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20DE90C-7C54-466B-8770-A660F0C18835}"/>
              </a:ext>
            </a:extLst>
          </p:cNvPr>
          <p:cNvSpPr>
            <a:spLocks noGrp="1"/>
          </p:cNvSpPr>
          <p:nvPr/>
        </p:nvSpPr>
        <p:spPr>
          <a:xfrm>
            <a:off x="10553700" y="3257550"/>
            <a:ext cx="323850" cy="323850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43EBDCA-D8EF-4D6C-84D1-516761895355}"/>
              </a:ext>
            </a:extLst>
          </p:cNvPr>
          <p:cNvSpPr>
            <a:spLocks noGrp="1"/>
          </p:cNvSpPr>
          <p:nvPr/>
        </p:nvSpPr>
        <p:spPr>
          <a:xfrm>
            <a:off x="9715500" y="4324350"/>
            <a:ext cx="1619250" cy="6286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13BE557-BE4D-4FC5-851B-5036F8C517C5}"/>
              </a:ext>
            </a:extLst>
          </p:cNvPr>
          <p:cNvSpPr>
            <a:spLocks noGrp="1"/>
          </p:cNvSpPr>
          <p:nvPr/>
        </p:nvSpPr>
        <p:spPr>
          <a:xfrm>
            <a:off x="9715500" y="4495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29" name="Conector recto 28">
            <a:extLst>
              <a:ext uri="{FF2B5EF4-FFF2-40B4-BE49-F238E27FC236}">
                <a16:creationId xmlns:a16="http://schemas.microsoft.com/office/drawing/2014/main" id="{F951E804-12AA-4645-99D4-AE34C9ED47DA}"/>
              </a:ext>
            </a:extLst>
          </p:cNvPr>
          <p:cNvSpPr>
            <a:spLocks noGrp="1"/>
          </p:cNvSpPr>
          <p:nvPr/>
        </p:nvSpPr>
        <p:spPr>
          <a:xfrm>
            <a:off x="9115425" y="2990850"/>
            <a:ext cx="600075" cy="1638300"/>
          </a:xfrm>
          <a:prstGeom prst="line">
            <a:avLst/>
          </a:prstGeom>
          <a:noFill/>
          <a:ln w="3810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435F1BD1-D343-4CCC-9E8D-373F0E0BC56D}"/>
              </a:ext>
            </a:extLst>
          </p:cNvPr>
          <p:cNvSpPr>
            <a:spLocks noGrp="1"/>
          </p:cNvSpPr>
          <p:nvPr/>
        </p:nvSpPr>
        <p:spPr>
          <a:xfrm>
            <a:off x="7515225" y="2238375"/>
            <a:ext cx="2200275" cy="2390775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16634CE9-BE4D-4747-A5AF-5B7262E5B30F}"/>
              </a:ext>
            </a:extLst>
          </p:cNvPr>
          <p:cNvSpPr>
            <a:spLocks noGrp="1"/>
          </p:cNvSpPr>
          <p:nvPr/>
        </p:nvSpPr>
        <p:spPr>
          <a:xfrm flipH="1">
            <a:off x="9715500" y="3419475"/>
            <a:ext cx="1000125" cy="1209675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FFD3C28-0664-4882-8CE1-2221A36E48AE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5C9882C-9DE7-45D8-A781-F1AC474E3378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identificar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2795012-9B4E-4220-970C-7FC32C31394B}"/>
              </a:ext>
            </a:extLst>
          </p:cNvPr>
          <p:cNvSpPr>
            <a:spLocks noGrp="1"/>
          </p:cNvSpPr>
          <p:nvPr/>
        </p:nvSpPr>
        <p:spPr>
          <a:xfrm>
            <a:off x="2638425" y="4057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B114284-1CB8-4588-BA89-951BD7BF6AD8}"/>
              </a:ext>
            </a:extLst>
          </p:cNvPr>
          <p:cNvSpPr>
            <a:spLocks noGrp="1"/>
          </p:cNvSpPr>
          <p:nvPr/>
        </p:nvSpPr>
        <p:spPr>
          <a:xfrm>
            <a:off x="2638425" y="4343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E4E07AA-3047-49D4-AEEB-6DDE135C9CCA}"/>
              </a:ext>
            </a:extLst>
          </p:cNvPr>
          <p:cNvSpPr>
            <a:spLocks noGrp="1"/>
          </p:cNvSpPr>
          <p:nvPr/>
        </p:nvSpPr>
        <p:spPr>
          <a:xfrm>
            <a:off x="4591050" y="4057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81050DD-CBE1-4690-BE93-D0E92C845E06}"/>
              </a:ext>
            </a:extLst>
          </p:cNvPr>
          <p:cNvSpPr>
            <a:spLocks noGrp="1"/>
          </p:cNvSpPr>
          <p:nvPr/>
        </p:nvSpPr>
        <p:spPr>
          <a:xfrm>
            <a:off x="4591050" y="4343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AE7049E-32AB-4563-98E6-0FD3EC9D1C1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atención y recuperación interna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E511DDA-F61C-4407-9CA9-245CFCF1C31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81" name="Ecuación s09_atten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4050"/>
            <a:ext cx="4245352" cy="59055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DE683C4-BCD6-4C17-955A-A9AB94E57313}"/>
              </a:ext>
            </a:extLst>
          </p:cNvPr>
          <p:cNvSpPr>
            <a:spLocks noGrp="1"/>
          </p:cNvSpPr>
          <p:nvPr/>
        </p:nvSpPr>
        <p:spPr>
          <a:xfrm>
            <a:off x="685800" y="3310128"/>
            <a:ext cx="5806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  <a:ea typeface="Aptos"/>
                <a:cs typeface="Aptos"/>
              </a:rPr>
              <a:t>Q consultas · K claves · V valores · dₖ dimensión de las claves</a:t>
            </a:r>
          </a:p>
        </p:txBody>
      </p:sp>
    </p:spTree>
    <p:extLst>
      <p:ext uri="{BB962C8B-B14F-4D97-AF65-F5344CB8AC3E}">
        <p14:creationId xmlns:p14="http://schemas.microsoft.com/office/powerpoint/2010/main" val="803507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DB9BDD-8789-4B94-B1B5-2738A385E07A}"/>
              </a:ext>
            </a:extLst>
          </p:cNvPr>
          <p:cNvSpPr>
            <a:spLocks noGrp="1"/>
          </p:cNvSpPr>
          <p:nvPr/>
        </p:nvSpPr>
        <p:spPr>
          <a:xfrm>
            <a:off x="594360" y="1750070"/>
            <a:ext cx="5212080" cy="2971800"/>
          </a:xfrm>
          <a:prstGeom prst="roundRect">
            <a:avLst>
              <a:gd name="adj" fmla="val 7403"/>
            </a:avLst>
          </a:prstGeom>
          <a:solidFill>
            <a:srgbClr val="F0EEFF"/>
          </a:solidFill>
          <a:ln w="1905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15038E1-529B-4BA4-990C-C644E0733EEF}"/>
              </a:ext>
            </a:extLst>
          </p:cNvPr>
          <p:cNvSpPr>
            <a:spLocks noGrp="1"/>
          </p:cNvSpPr>
          <p:nvPr/>
        </p:nvSpPr>
        <p:spPr>
          <a:xfrm>
            <a:off x="6172200" y="1750070"/>
            <a:ext cx="5212080" cy="2971800"/>
          </a:xfrm>
          <a:prstGeom prst="roundRect">
            <a:avLst>
              <a:gd name="adj" fmla="val 8396"/>
            </a:avLst>
          </a:prstGeom>
          <a:solidFill>
            <a:srgbClr val="FFF7F7"/>
          </a:solidFill>
          <a:ln w="1905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789A4-3753-4472-9D38-99C088B731AE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13 / CHAIN-OF-THOUGHT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D9BCB-C992-4270-BFE9-5892AE395008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CoT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reduce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entropía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pero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puede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amplificar</a:t>
            </a:r>
            <a:r>
              <a:rPr sz="3400" b="1" dirty="0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400" b="1" dirty="0" err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errores</a:t>
            </a:r>
            <a:endParaRPr sz="3400" b="1" dirty="0">
              <a:solidFill>
                <a:srgbClr val="1015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22CA24-5BF0-4493-96CD-6E47748FF8FC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0DE4D-D2E9-4C3D-8129-A2EB20DFFB23}"/>
              </a:ext>
            </a:extLst>
          </p:cNvPr>
          <p:cNvSpPr>
            <a:spLocks noGrp="1"/>
          </p:cNvSpPr>
          <p:nvPr/>
        </p:nvSpPr>
        <p:spPr>
          <a:xfrm>
            <a:off x="713232" y="184151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1. Fundamento Probabilístico</a:t>
            </a:r>
          </a:p>
        </p:txBody>
      </p:sp>
      <p:pic>
        <p:nvPicPr>
          <p:cNvPr id="28" name="Ecuación s_cot_formu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59" y="2444100"/>
            <a:ext cx="4215882" cy="566928"/>
          </a:xfrm>
          <a:prstGeom prst="rect">
            <a:avLst/>
          </a:prstGeom>
        </p:spPr>
      </p:pic>
      <p:pic>
        <p:nvPicPr>
          <p:cNvPr id="29" name="Ecuación s_cot_entrop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538" y="3235970"/>
            <a:ext cx="3741724" cy="384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72CA4F-C350-41F7-ADAD-767BEFDD5862}"/>
              </a:ext>
            </a:extLst>
          </p:cNvPr>
          <p:cNvSpPr>
            <a:spLocks noGrp="1"/>
          </p:cNvSpPr>
          <p:nvPr/>
        </p:nvSpPr>
        <p:spPr>
          <a:xfrm>
            <a:off x="713232" y="3839474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• El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razonamiento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R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amplía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el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prefijo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antes de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generar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Y.</a:t>
            </a:r>
          </a:p>
          <a:p>
            <a:endParaRPr sz="1200" b="1" dirty="0">
              <a:solidFill>
                <a:srgbClr val="101526"/>
              </a:solidFill>
              <a:latin typeface="Aptos"/>
              <a:ea typeface="Aptos"/>
              <a:cs typeface="Aptos"/>
            </a:endParaRPr>
          </a:p>
          <a:p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• Cada paso integra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mejor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la </a:t>
            </a:r>
            <a:r>
              <a:rPr sz="1200" b="1" dirty="0" err="1">
                <a:solidFill>
                  <a:srgbClr val="101526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200" b="1" dirty="0">
                <a:solidFill>
                  <a:srgbClr val="101526"/>
                </a:solidFill>
                <a:latin typeface="Aptos"/>
                <a:ea typeface="Aptos"/>
                <a:cs typeface="Aptos"/>
              </a:rPr>
              <a:t> de X y 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48349-2B6A-4559-A52F-30F10312511F}"/>
              </a:ext>
            </a:extLst>
          </p:cNvPr>
          <p:cNvSpPr>
            <a:spLocks noGrp="1"/>
          </p:cNvSpPr>
          <p:nvPr/>
        </p:nvSpPr>
        <p:spPr>
          <a:xfrm>
            <a:off x="6291072" y="184151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6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2. </a:t>
            </a:r>
            <a:r>
              <a:rPr sz="16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Límites</a:t>
            </a:r>
            <a:r>
              <a:rPr sz="16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y </a:t>
            </a:r>
            <a:r>
              <a:rPr sz="16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Riesgos</a:t>
            </a:r>
            <a:r>
              <a:rPr sz="16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de </a:t>
            </a:r>
            <a:r>
              <a:rPr sz="16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CoT</a:t>
            </a:r>
            <a:endParaRPr sz="1600" b="1" dirty="0">
              <a:solidFill>
                <a:srgbClr val="F266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B4A3F09-56D7-4A14-97BF-0B4037887C52}"/>
              </a:ext>
            </a:extLst>
          </p:cNvPr>
          <p:cNvSpPr>
            <a:spLocks noGrp="1"/>
          </p:cNvSpPr>
          <p:nvPr/>
        </p:nvSpPr>
        <p:spPr>
          <a:xfrm>
            <a:off x="6291072" y="2225558"/>
            <a:ext cx="4974336" cy="1170432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01328-8FB3-4466-9C71-D0ABC4954BCF}"/>
              </a:ext>
            </a:extLst>
          </p:cNvPr>
          <p:cNvSpPr>
            <a:spLocks noGrp="1"/>
          </p:cNvSpPr>
          <p:nvPr/>
        </p:nvSpPr>
        <p:spPr>
          <a:xfrm>
            <a:off x="6382512" y="2271278"/>
            <a:ext cx="47914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Cascada de </a:t>
            </a:r>
            <a:r>
              <a:rPr sz="13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errores</a:t>
            </a:r>
            <a:endParaRPr sz="1300" b="1" dirty="0">
              <a:solidFill>
                <a:srgbClr val="F26674"/>
              </a:solidFill>
              <a:latin typeface="Aptos"/>
              <a:ea typeface="Aptos"/>
              <a:cs typeface="Aptos"/>
            </a:endParaRPr>
          </a:p>
          <a:p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Un error </a:t>
            </a:r>
            <a:r>
              <a:rPr sz="13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temprano</a:t>
            </a:r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puede</a:t>
            </a:r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fijarse</a:t>
            </a:r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en</a:t>
            </a:r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el </a:t>
            </a:r>
            <a:r>
              <a:rPr sz="13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prefijo</a:t>
            </a:r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y </a:t>
            </a:r>
            <a:r>
              <a:rPr sz="13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condicionar</a:t>
            </a:r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la </a:t>
            </a:r>
            <a:r>
              <a:rPr sz="1300" b="1" dirty="0" err="1">
                <a:solidFill>
                  <a:srgbClr val="F26674"/>
                </a:solidFill>
                <a:latin typeface="Aptos"/>
                <a:ea typeface="Aptos"/>
                <a:cs typeface="Aptos"/>
              </a:rPr>
              <a:t>respuesta</a:t>
            </a:r>
            <a:r>
              <a:rPr sz="1300" b="1" dirty="0">
                <a:solidFill>
                  <a:srgbClr val="F26674"/>
                </a:solidFill>
                <a:latin typeface="Aptos"/>
                <a:ea typeface="Aptos"/>
                <a:cs typeface="Aptos"/>
              </a:rPr>
              <a:t> final.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35393C-C7B3-4485-B5B4-3E8A7226E128}"/>
              </a:ext>
            </a:extLst>
          </p:cNvPr>
          <p:cNvSpPr>
            <a:spLocks noGrp="1"/>
          </p:cNvSpPr>
          <p:nvPr/>
        </p:nvSpPr>
        <p:spPr>
          <a:xfrm>
            <a:off x="6291072" y="3459998"/>
            <a:ext cx="4974336" cy="1170432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5F560-5590-4304-BA96-991C75B46FDE}"/>
              </a:ext>
            </a:extLst>
          </p:cNvPr>
          <p:cNvSpPr>
            <a:spLocks noGrp="1"/>
          </p:cNvSpPr>
          <p:nvPr/>
        </p:nvSpPr>
        <p:spPr>
          <a:xfrm>
            <a:off x="6382512" y="3505718"/>
            <a:ext cx="47914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Overthinking y ruido</a:t>
            </a:r>
          </a:p>
          <a:p>
            <a:r>
              <a:rPr sz="13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Más tokens pueden diluir la señal útil e introducir contexto irrelevante.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7A0E3-C428-4965-BDB5-D05D624C063B}"/>
              </a:ext>
            </a:extLst>
          </p:cNvPr>
          <p:cNvSpPr>
            <a:spLocks noGrp="1"/>
          </p:cNvSpPr>
          <p:nvPr/>
        </p:nvSpPr>
        <p:spPr>
          <a:xfrm>
            <a:off x="1065276" y="5211074"/>
            <a:ext cx="1005840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lang="es-PE" sz="1700" b="1" dirty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Como recomendación: Generar un razonamiento antes de la respuesta final mejora la probabilidad de obtener la respuesta correcta</a:t>
            </a:r>
            <a:endParaRPr sz="1700" b="1" dirty="0">
              <a:solidFill>
                <a:srgbClr val="7065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2B73BC-7318-472C-8898-C8FDF349D64D}"/>
              </a:ext>
            </a:extLst>
          </p:cNvPr>
          <p:cNvSpPr>
            <a:spLocks noGrp="1"/>
          </p:cNvSpPr>
          <p:nvPr/>
        </p:nvSpPr>
        <p:spPr>
          <a:xfrm>
            <a:off x="685800" y="6437376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razonamiento autoregresivo, descomposición Bayesiana y análisis de riesgos de CoT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36B1E0-DDA1-481C-BA0F-BFBFDF4C43FA}"/>
              </a:ext>
            </a:extLst>
          </p:cNvPr>
          <p:cNvSpPr>
            <a:spLocks noGrp="1"/>
          </p:cNvSpPr>
          <p:nvPr/>
        </p:nvSpPr>
        <p:spPr>
          <a:xfrm>
            <a:off x="11045952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19662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E3F3EC-8CB1-4AB4-BE72-0DDA4A51365E}"/>
              </a:ext>
            </a:extLst>
          </p:cNvPr>
          <p:cNvSpPr>
            <a:spLocks noGrp="1"/>
          </p:cNvSpPr>
          <p:nvPr/>
        </p:nvSpPr>
        <p:spPr>
          <a:xfrm>
            <a:off x="594360" y="1600200"/>
            <a:ext cx="5212080" cy="132588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2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6AB7056-F678-4FB8-A72A-5E857C92977A}"/>
              </a:ext>
            </a:extLst>
          </p:cNvPr>
          <p:cNvSpPr>
            <a:spLocks noGrp="1"/>
          </p:cNvSpPr>
          <p:nvPr/>
        </p:nvSpPr>
        <p:spPr>
          <a:xfrm>
            <a:off x="6172200" y="1600200"/>
            <a:ext cx="5212080" cy="1325880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94C593-4922-442A-A375-0F30D8C7AACE}"/>
              </a:ext>
            </a:extLst>
          </p:cNvPr>
          <p:cNvSpPr>
            <a:spLocks noGrp="1"/>
          </p:cNvSpPr>
          <p:nvPr/>
        </p:nvSpPr>
        <p:spPr>
          <a:xfrm>
            <a:off x="594360" y="3063240"/>
            <a:ext cx="5212080" cy="1325880"/>
          </a:xfrm>
          <a:prstGeom prst="roundRect">
            <a:avLst/>
          </a:prstGeom>
          <a:solidFill>
            <a:srgbClr val="E8FCFA"/>
          </a:solidFill>
          <a:ln w="12700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9B7FB5-A4EF-430A-99B0-3C626ADB4F9A}"/>
              </a:ext>
            </a:extLst>
          </p:cNvPr>
          <p:cNvSpPr>
            <a:spLocks noGrp="1"/>
          </p:cNvSpPr>
          <p:nvPr/>
        </p:nvSpPr>
        <p:spPr>
          <a:xfrm>
            <a:off x="6172200" y="3063240"/>
            <a:ext cx="5212080" cy="1325880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9B6B2-046E-46E8-865D-FEAAD2A75ADE}"/>
              </a:ext>
            </a:extLst>
          </p:cNvPr>
          <p:cNvSpPr>
            <a:spLocks noGrp="1"/>
          </p:cNvSpPr>
          <p:nvPr/>
        </p:nvSpPr>
        <p:spPr>
          <a:xfrm>
            <a:off x="685800" y="365760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14 / DESAFÍOS CONVERSIONALES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CD8D9-B9D8-412E-A180-CFF00937E587}"/>
              </a:ext>
            </a:extLst>
          </p:cNvPr>
          <p:cNvSpPr>
            <a:spLocks noGrp="1"/>
          </p:cNvSpPr>
          <p:nvPr/>
        </p:nvSpPr>
        <p:spPr>
          <a:xfrm>
            <a:off x="685800" y="694944"/>
            <a:ext cx="10835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Cuando X no representa una intención literal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A26210-3130-4512-B4B6-5648EBE813FB}"/>
              </a:ext>
            </a:extLst>
          </p:cNvPr>
          <p:cNvSpPr>
            <a:spLocks noGrp="1"/>
          </p:cNvSpPr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D9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8F417-9A65-4AAE-9300-468386D4CF07}"/>
              </a:ext>
            </a:extLst>
          </p:cNvPr>
          <p:cNvSpPr>
            <a:spLocks noGrp="1"/>
          </p:cNvSpPr>
          <p:nvPr/>
        </p:nvSpPr>
        <p:spPr>
          <a:xfrm>
            <a:off x="713232" y="169164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1. Ironía y sarcasmo</a:t>
            </a:r>
          </a:p>
          <a:p>
            <a:r>
              <a:rPr sz="1400" b="1">
                <a:solidFill>
                  <a:srgbClr val="F26674"/>
                </a:solidFill>
                <a:latin typeface="Aptos"/>
                <a:ea typeface="Aptos"/>
                <a:cs typeface="Aptos"/>
              </a:rPr>
              <a:t>«Qué gran servicio…» → reclamo, no elogio.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D30453-383D-415E-B5C4-2895C4A4AA19}"/>
              </a:ext>
            </a:extLst>
          </p:cNvPr>
          <p:cNvSpPr>
            <a:spLocks noGrp="1"/>
          </p:cNvSpPr>
          <p:nvPr/>
        </p:nvSpPr>
        <p:spPr>
          <a:xfrm>
            <a:off x="6291072" y="169164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2. Actos de habla indirectos</a:t>
            </a:r>
          </a:p>
          <a:p>
            <a:r>
              <a:rPr sz="14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«¿Tienes saldo?» → consulta, no habilidad.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A52B9-25D2-49CC-8FC3-F62FE54ED403}"/>
              </a:ext>
            </a:extLst>
          </p:cNvPr>
          <p:cNvSpPr>
            <a:spLocks noGrp="1"/>
          </p:cNvSpPr>
          <p:nvPr/>
        </p:nvSpPr>
        <p:spPr>
          <a:xfrm>
            <a:off x="713232" y="315468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3. Elipsis y correferencia</a:t>
            </a:r>
          </a:p>
          <a:p>
            <a:r>
              <a:rPr sz="14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«Haz lo mismo con la otra» → resolver el referente en el historial.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CE4152-0723-45BC-A917-052E4F86E777}"/>
              </a:ext>
            </a:extLst>
          </p:cNvPr>
          <p:cNvSpPr>
            <a:spLocks noGrp="1"/>
          </p:cNvSpPr>
          <p:nvPr/>
        </p:nvSpPr>
        <p:spPr>
          <a:xfrm>
            <a:off x="6291072" y="3154680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4. Modismos</a:t>
            </a:r>
          </a:p>
          <a:p>
            <a:r>
              <a:rPr sz="1400" b="1">
                <a:solidFill>
                  <a:srgbClr val="F2A65A"/>
                </a:solidFill>
                <a:latin typeface="Aptos"/>
                <a:ea typeface="Aptos"/>
                <a:cs typeface="Aptos"/>
              </a:rPr>
              <a:t>«Se cayó el sistema» → incidente, no caída física.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07C3F0-2A58-4F49-9CA2-98DDF1EA2922}"/>
              </a:ext>
            </a:extLst>
          </p:cNvPr>
          <p:cNvSpPr>
            <a:spLocks noGrp="1"/>
          </p:cNvSpPr>
          <p:nvPr/>
        </p:nvSpPr>
        <p:spPr>
          <a:xfrm>
            <a:off x="1065276" y="525597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800" b="1" dirty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1800" b="1" dirty="0" err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intención</a:t>
            </a:r>
            <a:r>
              <a:rPr sz="1800" b="1" dirty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 se </a:t>
            </a:r>
            <a:r>
              <a:rPr sz="1800" b="1" dirty="0" err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infiere</a:t>
            </a:r>
            <a:r>
              <a:rPr sz="1800" b="1" dirty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: la consulta literal no </a:t>
            </a:r>
            <a:r>
              <a:rPr sz="1800" b="1" dirty="0" err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siempre</a:t>
            </a:r>
            <a:r>
              <a:rPr sz="1800" b="1" dirty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 describe la </a:t>
            </a:r>
            <a:r>
              <a:rPr sz="1800" b="1" dirty="0" err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acción</a:t>
            </a:r>
            <a:r>
              <a:rPr sz="1800" b="1" dirty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800" b="1" dirty="0" err="1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esperada</a:t>
            </a:r>
            <a:r>
              <a:rPr sz="1800" b="1" dirty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CE848-0EDB-487F-9CFE-9D40BA4D7B6C}"/>
              </a:ext>
            </a:extLst>
          </p:cNvPr>
          <p:cNvSpPr>
            <a:spLocks noGrp="1"/>
          </p:cNvSpPr>
          <p:nvPr/>
        </p:nvSpPr>
        <p:spPr>
          <a:xfrm>
            <a:off x="685800" y="6437376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pragmática del lenguaje natural y teoría de actos de habla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8D16A7-5214-4964-9623-6EB97D50515F}"/>
              </a:ext>
            </a:extLst>
          </p:cNvPr>
          <p:cNvSpPr>
            <a:spLocks noGrp="1"/>
          </p:cNvSpPr>
          <p:nvPr/>
        </p:nvSpPr>
        <p:spPr>
          <a:xfrm>
            <a:off x="11045952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6484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C85EC37-6336-44E8-9CA6-FC4DBF98FB6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714500" cy="285750"/>
          </a:xfrm>
          <a:prstGeom prst="roundRect">
            <a:avLst>
              <a:gd name="adj" fmla="val 50000"/>
            </a:avLst>
          </a:prstGeom>
          <a:solidFill>
            <a:srgbClr val="FFB66E">
              <a:alpha val="22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8A59D1-4359-4BA7-BD91-455AB875349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DD6C6"/>
                </a:solidFill>
                <a:latin typeface="Aptos"/>
                <a:ea typeface="Aptos"/>
                <a:cs typeface="Aptos"/>
              </a:rPr>
              <a:t>PARTE II · AMBIGÜEDAD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2C8F93B-CA81-4818-958A-B348F534460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990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684"/>
          </a:bodyPr>
          <a:lstStyle/>
          <a:p>
            <a:pPr algn="l">
              <a:lnSpc>
                <a:spcPct val="95000"/>
              </a:lnSpc>
              <a:buNone/>
              <a:defRPr sz="3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La ambigüedad cambia el problema.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F0E80335-8C08-46AA-B85E-EB18F9E2871D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648200" cy="0"/>
          </a:xfrm>
          <a:prstGeom prst="line">
            <a:avLst/>
          </a:prstGeom>
          <a:noFill/>
          <a:ln w="47625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D006E6-DFF8-4A7E-BB11-CE4790B6A061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9906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3DD6C6"/>
                </a:solidFill>
                <a:latin typeface="Aptos Display"/>
                <a:ea typeface="Aptos Display"/>
                <a:cs typeface="Aptos Display"/>
              </a:rPr>
              <a:t>X ya no determina una única intención Z.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4DEAA44-F439-475F-A8DA-2F576C0D6535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C7CEDF"/>
                </a:solidFill>
                <a:latin typeface="Aptos"/>
                <a:ea typeface="Aptos"/>
                <a:cs typeface="Aptos"/>
              </a:rPr>
              <a:t>Recuperar mejor no basta: primero hay que desambiguar.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ABDFCA0-725A-418C-A80A-20F8E5A0D0B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transición al modelamiento con intención latente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8F8234E-056D-4752-B174-BBDB58BF6C3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BB91A3C-1360-77B6-FA7B-24FA415B9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1" y="1578175"/>
            <a:ext cx="4648199" cy="421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55110B24-C458-4AE1-BE87-72712409BB4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16 / INTENCIÓN LATENTE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C4C526-2DE3-423C-87E9-8C6FB4CB1DD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La respuesta se vuelve una mezcla de intenciones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D4D221D5-8BA7-4595-805A-47ABE784A69D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B87939B-44B2-4367-85B4-F51B904F814A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3619500" cy="1676400"/>
          </a:xfrm>
          <a:prstGeom prst="roundRect">
            <a:avLst>
              <a:gd name="adj" fmla="val 13636"/>
            </a:avLst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A2F9A9-65DB-408C-98C4-1CF7379249E9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3124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“¿Cómo funciona la memoria?”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F9C10D-049F-41F4-B1F4-3932FD8BA296}"/>
              </a:ext>
            </a:extLst>
          </p:cNvPr>
          <p:cNvSpPr>
            <a:spLocks noGrp="1"/>
          </p:cNvSpPr>
          <p:nvPr/>
        </p:nvSpPr>
        <p:spPr>
          <a:xfrm>
            <a:off x="2133600" y="4486275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E3AA0EF-6676-45CB-935F-539E516198E2}"/>
              </a:ext>
            </a:extLst>
          </p:cNvPr>
          <p:cNvSpPr>
            <a:spLocks noGrp="1"/>
          </p:cNvSpPr>
          <p:nvPr/>
        </p:nvSpPr>
        <p:spPr>
          <a:xfrm>
            <a:off x="5334000" y="3238500"/>
            <a:ext cx="2171700" cy="781050"/>
          </a:xfrm>
          <a:prstGeom prst="roundRect">
            <a:avLst>
              <a:gd name="adj" fmla="val 21951"/>
            </a:avLst>
          </a:prstGeom>
          <a:solidFill>
            <a:srgbClr val="45E0D0">
              <a:alpha val="14000"/>
            </a:srgbClr>
          </a:solidFill>
          <a:ln w="19050">
            <a:solidFill>
              <a:srgbClr val="45E0D0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DE98E98-56AD-49BA-9A57-E336A13B5384}"/>
              </a:ext>
            </a:extLst>
          </p:cNvPr>
          <p:cNvSpPr>
            <a:spLocks noGrp="1"/>
          </p:cNvSpPr>
          <p:nvPr/>
        </p:nvSpPr>
        <p:spPr>
          <a:xfrm>
            <a:off x="5486400" y="33718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conversacional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2983B12-D3D8-4CB7-B75C-F0773A22D3EA}"/>
              </a:ext>
            </a:extLst>
          </p:cNvPr>
          <p:cNvSpPr>
            <a:spLocks noGrp="1"/>
          </p:cNvSpPr>
          <p:nvPr/>
        </p:nvSpPr>
        <p:spPr>
          <a:xfrm>
            <a:off x="6991350" y="34766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3BC4CB8-7AF1-430C-8B06-EB2965E663C0}"/>
              </a:ext>
            </a:extLst>
          </p:cNvPr>
          <p:cNvSpPr>
            <a:spLocks noGrp="1"/>
          </p:cNvSpPr>
          <p:nvPr/>
        </p:nvSpPr>
        <p:spPr>
          <a:xfrm>
            <a:off x="7810500" y="3238500"/>
            <a:ext cx="2171700" cy="781050"/>
          </a:xfrm>
          <a:prstGeom prst="roundRect">
            <a:avLst>
              <a:gd name="adj" fmla="val 21951"/>
            </a:avLst>
          </a:prstGeom>
          <a:solidFill>
            <a:srgbClr val="7769F4">
              <a:alpha val="14000"/>
            </a:srgbClr>
          </a:solidFill>
          <a:ln w="19050">
            <a:solidFill>
              <a:srgbClr val="7769F4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B584FBF-44ED-48E3-955B-7C425C06E08E}"/>
              </a:ext>
            </a:extLst>
          </p:cNvPr>
          <p:cNvSpPr>
            <a:spLocks noGrp="1"/>
          </p:cNvSpPr>
          <p:nvPr/>
        </p:nvSpPr>
        <p:spPr>
          <a:xfrm>
            <a:off x="7962900" y="33718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persistente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1912BA0-3933-4DD3-BB24-9BFD11756C46}"/>
              </a:ext>
            </a:extLst>
          </p:cNvPr>
          <p:cNvSpPr>
            <a:spLocks noGrp="1"/>
          </p:cNvSpPr>
          <p:nvPr/>
        </p:nvSpPr>
        <p:spPr>
          <a:xfrm>
            <a:off x="9467850" y="34766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14F9BB8-C5A8-4FDF-BDFD-E25E50A0DE0B}"/>
              </a:ext>
            </a:extLst>
          </p:cNvPr>
          <p:cNvSpPr>
            <a:spLocks noGrp="1"/>
          </p:cNvSpPr>
          <p:nvPr/>
        </p:nvSpPr>
        <p:spPr>
          <a:xfrm>
            <a:off x="5334000" y="4343400"/>
            <a:ext cx="2171700" cy="781050"/>
          </a:xfrm>
          <a:prstGeom prst="roundRect">
            <a:avLst>
              <a:gd name="adj" fmla="val 21951"/>
            </a:avLst>
          </a:prstGeom>
          <a:solidFill>
            <a:srgbClr val="FFB66E">
              <a:alpha val="14000"/>
            </a:srgbClr>
          </a:solidFill>
          <a:ln w="19050">
            <a:solidFill>
              <a:srgbClr val="FFB66E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292CE92-466D-40DB-A6BD-59B1D6C29EC7}"/>
              </a:ext>
            </a:extLst>
          </p:cNvPr>
          <p:cNvSpPr>
            <a:spLocks noGrp="1"/>
          </p:cNvSpPr>
          <p:nvPr/>
        </p:nvSpPr>
        <p:spPr>
          <a:xfrm>
            <a:off x="5486400" y="44767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ventana de contexto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0C19DC9-70FD-4F0B-A619-926EEAE2AA60}"/>
              </a:ext>
            </a:extLst>
          </p:cNvPr>
          <p:cNvSpPr>
            <a:spLocks noGrp="1"/>
          </p:cNvSpPr>
          <p:nvPr/>
        </p:nvSpPr>
        <p:spPr>
          <a:xfrm>
            <a:off x="6991350" y="45815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573CB16-42B5-4676-A9B4-4C534798E0D7}"/>
              </a:ext>
            </a:extLst>
          </p:cNvPr>
          <p:cNvSpPr>
            <a:spLocks noGrp="1"/>
          </p:cNvSpPr>
          <p:nvPr/>
        </p:nvSpPr>
        <p:spPr>
          <a:xfrm>
            <a:off x="7810500" y="4343400"/>
            <a:ext cx="2171700" cy="781050"/>
          </a:xfrm>
          <a:prstGeom prst="roundRect">
            <a:avLst>
              <a:gd name="adj" fmla="val 21951"/>
            </a:avLst>
          </a:prstGeom>
          <a:solidFill>
            <a:srgbClr val="FF6F7D">
              <a:alpha val="14000"/>
            </a:srgbClr>
          </a:solidFill>
          <a:ln w="19050">
            <a:solidFill>
              <a:srgbClr val="FF6F7D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04B6193-017C-4035-A702-4A5532914666}"/>
              </a:ext>
            </a:extLst>
          </p:cNvPr>
          <p:cNvSpPr>
            <a:spLocks noGrp="1"/>
          </p:cNvSpPr>
          <p:nvPr/>
        </p:nvSpPr>
        <p:spPr>
          <a:xfrm>
            <a:off x="7962900" y="44767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framework específico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A156419-C044-4B3F-AA81-B98A3D556EB0}"/>
              </a:ext>
            </a:extLst>
          </p:cNvPr>
          <p:cNvSpPr>
            <a:spLocks noGrp="1"/>
          </p:cNvSpPr>
          <p:nvPr/>
        </p:nvSpPr>
        <p:spPr>
          <a:xfrm>
            <a:off x="9467850" y="45815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6674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184B530-9C14-4235-9F90-322710D8B980}"/>
              </a:ext>
            </a:extLst>
          </p:cNvPr>
          <p:cNvSpPr>
            <a:spLocks noGrp="1"/>
          </p:cNvSpPr>
          <p:nvPr/>
        </p:nvSpPr>
        <p:spPr>
          <a:xfrm>
            <a:off x="1381125" y="5391150"/>
            <a:ext cx="942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44"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Varias secuencias son plausibles; una respuesta fluida puede elegir el modo equivocado.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5084B5C-034C-47C3-88A2-282C608E9F9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distribución mezclada sobre intenciones Z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5A24B61-E02A-4AB6-8C56-B6819F5F630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47" name="Ecuación s11_mix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431" y="2266950"/>
            <a:ext cx="6903138" cy="6667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D866088-0DA6-40C0-84EC-AF53CF95A266}"/>
              </a:ext>
            </a:extLst>
          </p:cNvPr>
          <p:cNvSpPr>
            <a:spLocks noGrp="1"/>
          </p:cNvSpPr>
          <p:nvPr/>
        </p:nvSpPr>
        <p:spPr>
          <a:xfrm>
            <a:off x="1005840" y="28620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Z intención latente · z hipótesis de intención · la salida marginaliza interpretaciones posibles</a:t>
            </a:r>
          </a:p>
        </p:txBody>
      </p:sp>
    </p:spTree>
    <p:extLst>
      <p:ext uri="{BB962C8B-B14F-4D97-AF65-F5344CB8AC3E}">
        <p14:creationId xmlns:p14="http://schemas.microsoft.com/office/powerpoint/2010/main" val="2084356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F2E878A9-3EB1-4521-8032-104C2C7E243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17 / PROPAGACIÓN DEL ERROR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9051C5-616D-4B0B-AFCC-CCA41ECC8F3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68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La incertidumbre combina intención y respuesta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4CE4CE31-5AC3-4EB8-80CF-FC07ED4CA47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B5476E-3C6A-4E59-8EE6-75D8365EDF15}"/>
              </a:ext>
            </a:extLst>
          </p:cNvPr>
          <p:cNvSpPr>
            <a:spLocks noGrp="1"/>
          </p:cNvSpPr>
          <p:nvPr/>
        </p:nvSpPr>
        <p:spPr>
          <a:xfrm>
            <a:off x="2238375" y="36290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32B9AF3-71CD-4303-84AB-AF9B4DE79B86}"/>
              </a:ext>
            </a:extLst>
          </p:cNvPr>
          <p:cNvSpPr>
            <a:spLocks noGrp="1"/>
          </p:cNvSpPr>
          <p:nvPr/>
        </p:nvSpPr>
        <p:spPr>
          <a:xfrm>
            <a:off x="2238375" y="3981450"/>
            <a:ext cx="762000" cy="1181100"/>
          </a:xfrm>
          <a:prstGeom prst="roundRect">
            <a:avLst>
              <a:gd name="adj" fmla="val 25000"/>
            </a:avLst>
          </a:prstGeom>
          <a:solidFill>
            <a:srgbClr val="45E0D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225466-F276-446C-94D3-4DAA4BEB6884}"/>
              </a:ext>
            </a:extLst>
          </p:cNvPr>
          <p:cNvSpPr>
            <a:spLocks noGrp="1"/>
          </p:cNvSpPr>
          <p:nvPr/>
        </p:nvSpPr>
        <p:spPr>
          <a:xfrm>
            <a:off x="2238375" y="52578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B7AE257-2A50-47B9-9B23-5B245D5EE83B}"/>
              </a:ext>
            </a:extLst>
          </p:cNvPr>
          <p:cNvSpPr>
            <a:spLocks noGrp="1"/>
          </p:cNvSpPr>
          <p:nvPr/>
        </p:nvSpPr>
        <p:spPr>
          <a:xfrm>
            <a:off x="3857625" y="36290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9459736-535A-46EA-B177-39743AF8E88B}"/>
              </a:ext>
            </a:extLst>
          </p:cNvPr>
          <p:cNvSpPr>
            <a:spLocks noGrp="1"/>
          </p:cNvSpPr>
          <p:nvPr/>
        </p:nvSpPr>
        <p:spPr>
          <a:xfrm>
            <a:off x="3857625" y="3981450"/>
            <a:ext cx="762000" cy="1033463"/>
          </a:xfrm>
          <a:prstGeom prst="roundRect">
            <a:avLst>
              <a:gd name="adj" fmla="val 25000"/>
            </a:avLst>
          </a:prstGeom>
          <a:solidFill>
            <a:srgbClr val="7769F4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06745FF-3716-4215-B361-F2C6BCAB053B}"/>
              </a:ext>
            </a:extLst>
          </p:cNvPr>
          <p:cNvSpPr>
            <a:spLocks noGrp="1"/>
          </p:cNvSpPr>
          <p:nvPr/>
        </p:nvSpPr>
        <p:spPr>
          <a:xfrm>
            <a:off x="3857625" y="5110163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F8C9D3D-D617-42A7-8815-CADE6CA6160D}"/>
              </a:ext>
            </a:extLst>
          </p:cNvPr>
          <p:cNvSpPr>
            <a:spLocks noGrp="1"/>
          </p:cNvSpPr>
          <p:nvPr/>
        </p:nvSpPr>
        <p:spPr>
          <a:xfrm>
            <a:off x="5476875" y="36290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9E4DACE-748F-4A09-B933-73EACF5E4A70}"/>
              </a:ext>
            </a:extLst>
          </p:cNvPr>
          <p:cNvSpPr>
            <a:spLocks noGrp="1"/>
          </p:cNvSpPr>
          <p:nvPr/>
        </p:nvSpPr>
        <p:spPr>
          <a:xfrm>
            <a:off x="5476875" y="3981450"/>
            <a:ext cx="762000" cy="738188"/>
          </a:xfrm>
          <a:prstGeom prst="roundRect">
            <a:avLst>
              <a:gd name="adj" fmla="val 25806"/>
            </a:avLst>
          </a:prstGeom>
          <a:solidFill>
            <a:srgbClr val="FFB66E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A3DA6D-8705-4578-AAB7-90437D0913E6}"/>
              </a:ext>
            </a:extLst>
          </p:cNvPr>
          <p:cNvSpPr>
            <a:spLocks noGrp="1"/>
          </p:cNvSpPr>
          <p:nvPr/>
        </p:nvSpPr>
        <p:spPr>
          <a:xfrm>
            <a:off x="5476875" y="4814888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0A532D8-713A-45BF-B40E-C2A533A931A1}"/>
              </a:ext>
            </a:extLst>
          </p:cNvPr>
          <p:cNvSpPr>
            <a:spLocks noGrp="1"/>
          </p:cNvSpPr>
          <p:nvPr/>
        </p:nvSpPr>
        <p:spPr>
          <a:xfrm>
            <a:off x="6905625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multimodal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57C1DFD-5F4C-481E-9A99-57834DA9F246}"/>
              </a:ext>
            </a:extLst>
          </p:cNvPr>
          <p:cNvSpPr>
            <a:spLocks noGrp="1"/>
          </p:cNvSpPr>
          <p:nvPr/>
        </p:nvSpPr>
        <p:spPr>
          <a:xfrm>
            <a:off x="6905625" y="4438650"/>
            <a:ext cx="3905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El modelo no está “confundido”: está promediando respuestas válidas bajo intenciones diferentes.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C481A4F-C904-488D-92FF-8B8C8A574AB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regla de la cadena de entropía y multimodalidad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6FB55B-BB09-4B04-946A-A497233B7E9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pic>
        <p:nvPicPr>
          <p:cNvPr id="42" name="Ecuación s12_chain_ru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088" y="2084831"/>
            <a:ext cx="9233343" cy="56692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146A30-CBFC-4E84-AFDC-895E16FCB84F}"/>
              </a:ext>
            </a:extLst>
          </p:cNvPr>
          <p:cNvSpPr>
            <a:spLocks noGrp="1"/>
          </p:cNvSpPr>
          <p:nvPr/>
        </p:nvSpPr>
        <p:spPr>
          <a:xfrm>
            <a:off x="1600200" y="2706624"/>
            <a:ext cx="9006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incertidumbre total  =  intención no resuelta  +  respuesta condicionada a Z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6461C3-3D01-42EF-A085-32CAD2038833}"/>
              </a:ext>
            </a:extLst>
          </p:cNvPr>
          <p:cNvSpPr>
            <a:spLocks noGrp="1"/>
          </p:cNvSpPr>
          <p:nvPr/>
        </p:nvSpPr>
        <p:spPr>
          <a:xfrm>
            <a:off x="1600200" y="3026664"/>
            <a:ext cx="9006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  <a:ea typeface="Aptos"/>
                <a:cs typeface="Aptos"/>
              </a:rPr>
              <a:t>H entropía · X consulta · C contexto · Z intención · Y respuesta</a:t>
            </a:r>
          </a:p>
        </p:txBody>
      </p:sp>
    </p:spTree>
    <p:extLst>
      <p:ext uri="{BB962C8B-B14F-4D97-AF65-F5344CB8AC3E}">
        <p14:creationId xmlns:p14="http://schemas.microsoft.com/office/powerpoint/2010/main" val="1702506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DC515855-C79D-401F-B722-E87D3CF3BC6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18 / RETRIEVAL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CDA542-150B-4B55-93A8-AADBF649878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768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La query ambigua cae entre clústeres semánticos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4E74CD45-0533-43C2-AAC7-F6A603AE0BA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7F8CE88-66E3-4794-8DA9-BCE9A8FC90F1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El retriever devuelve evidencia de varios sentidos; el ranking se vuelve inestable.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E677E7C-C07C-457E-B712-0743F82DF8B2}"/>
              </a:ext>
            </a:extLst>
          </p:cNvPr>
          <p:cNvSpPr>
            <a:spLocks noGrp="1"/>
          </p:cNvSpPr>
          <p:nvPr/>
        </p:nvSpPr>
        <p:spPr>
          <a:xfrm>
            <a:off x="6477000" y="1752600"/>
            <a:ext cx="4552950" cy="3238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1E66D7B-7318-4D21-BC1A-4756E8F53AE8}"/>
              </a:ext>
            </a:extLst>
          </p:cNvPr>
          <p:cNvSpPr>
            <a:spLocks noGrp="1"/>
          </p:cNvSpPr>
          <p:nvPr/>
        </p:nvSpPr>
        <p:spPr>
          <a:xfrm>
            <a:off x="7096125" y="259080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CE06AF3-A880-4E39-B002-C252E7CDEB67}"/>
              </a:ext>
            </a:extLst>
          </p:cNvPr>
          <p:cNvSpPr>
            <a:spLocks noGrp="1"/>
          </p:cNvSpPr>
          <p:nvPr/>
        </p:nvSpPr>
        <p:spPr>
          <a:xfrm>
            <a:off x="7410450" y="230505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D1F4984-3C17-4A77-A40D-50BE6CFDEC62}"/>
              </a:ext>
            </a:extLst>
          </p:cNvPr>
          <p:cNvSpPr>
            <a:spLocks noGrp="1"/>
          </p:cNvSpPr>
          <p:nvPr/>
        </p:nvSpPr>
        <p:spPr>
          <a:xfrm>
            <a:off x="7667625" y="278130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9D29338-F7EF-46CC-89EB-62D57018E256}"/>
              </a:ext>
            </a:extLst>
          </p:cNvPr>
          <p:cNvSpPr>
            <a:spLocks noGrp="1"/>
          </p:cNvSpPr>
          <p:nvPr/>
        </p:nvSpPr>
        <p:spPr>
          <a:xfrm>
            <a:off x="7905750" y="241935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D1702B7-91B4-4DC7-AFCD-6A8FF0287138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F05205A-B55D-4C8F-9F09-5259BCD3D353}"/>
              </a:ext>
            </a:extLst>
          </p:cNvPr>
          <p:cNvSpPr>
            <a:spLocks noGrp="1"/>
          </p:cNvSpPr>
          <p:nvPr/>
        </p:nvSpPr>
        <p:spPr>
          <a:xfrm>
            <a:off x="8096250" y="2914650"/>
            <a:ext cx="171450" cy="171450"/>
          </a:xfrm>
          <a:prstGeom prst="ellipse">
            <a:avLst/>
          </a:prstGeom>
          <a:solidFill>
            <a:srgbClr val="45E0D0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ECEF12F-6603-474F-8ACF-EF3C4460EB8F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E512444-1329-4CEF-A028-B46F1749D17B}"/>
              </a:ext>
            </a:extLst>
          </p:cNvPr>
          <p:cNvSpPr>
            <a:spLocks noGrp="1"/>
          </p:cNvSpPr>
          <p:nvPr/>
        </p:nvSpPr>
        <p:spPr>
          <a:xfrm>
            <a:off x="9925050" y="335280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5CBF6D8-A683-40A6-8B47-23EC4B83B8EB}"/>
              </a:ext>
            </a:extLst>
          </p:cNvPr>
          <p:cNvSpPr>
            <a:spLocks noGrp="1"/>
          </p:cNvSpPr>
          <p:nvPr/>
        </p:nvSpPr>
        <p:spPr>
          <a:xfrm>
            <a:off x="10287000" y="375285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5689BDB-9DDF-46AC-8299-5F08FEBC0BAB}"/>
              </a:ext>
            </a:extLst>
          </p:cNvPr>
          <p:cNvSpPr>
            <a:spLocks noGrp="1"/>
          </p:cNvSpPr>
          <p:nvPr/>
        </p:nvSpPr>
        <p:spPr>
          <a:xfrm>
            <a:off x="10572750" y="342900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89C0C78-1A95-403E-BD37-B0FC78F16DB1}"/>
              </a:ext>
            </a:extLst>
          </p:cNvPr>
          <p:cNvSpPr>
            <a:spLocks noGrp="1"/>
          </p:cNvSpPr>
          <p:nvPr/>
        </p:nvSpPr>
        <p:spPr>
          <a:xfrm>
            <a:off x="10115550" y="405765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89A98DD1-21C9-4986-A4D5-E1C2C8B60B2B}"/>
              </a:ext>
            </a:extLst>
          </p:cNvPr>
          <p:cNvSpPr>
            <a:spLocks noGrp="1"/>
          </p:cNvSpPr>
          <p:nvPr/>
        </p:nvSpPr>
        <p:spPr>
          <a:xfrm>
            <a:off x="10763250" y="3943350"/>
            <a:ext cx="171450" cy="171450"/>
          </a:xfrm>
          <a:prstGeom prst="ellipse">
            <a:avLst/>
          </a:prstGeom>
          <a:solidFill>
            <a:srgbClr val="7769F4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2105516-9130-4683-B2E2-43131B81C883}"/>
              </a:ext>
            </a:extLst>
          </p:cNvPr>
          <p:cNvSpPr>
            <a:spLocks noGrp="1"/>
          </p:cNvSpPr>
          <p:nvPr/>
        </p:nvSpPr>
        <p:spPr>
          <a:xfrm>
            <a:off x="8858250" y="3162300"/>
            <a:ext cx="381000" cy="381000"/>
          </a:xfrm>
          <a:prstGeom prst="ellipse">
            <a:avLst/>
          </a:prstGeom>
          <a:solidFill>
            <a:srgbClr val="FFB66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85C44C0-B05B-4461-B26A-45D419E924A1}"/>
              </a:ext>
            </a:extLst>
          </p:cNvPr>
          <p:cNvSpPr>
            <a:spLocks noGrp="1"/>
          </p:cNvSpPr>
          <p:nvPr/>
        </p:nvSpPr>
        <p:spPr>
          <a:xfrm>
            <a:off x="8858250" y="3257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eX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833CB1AC-76C0-419E-9987-0DAD1E135041}"/>
              </a:ext>
            </a:extLst>
          </p:cNvPr>
          <p:cNvSpPr>
            <a:spLocks noGrp="1"/>
          </p:cNvSpPr>
          <p:nvPr/>
        </p:nvSpPr>
        <p:spPr>
          <a:xfrm flipH="1" flipV="1">
            <a:off x="7810500" y="2790825"/>
            <a:ext cx="1238250" cy="561975"/>
          </a:xfrm>
          <a:prstGeom prst="line">
            <a:avLst/>
          </a:prstGeom>
          <a:noFill/>
          <a:ln w="19050">
            <a:solidFill>
              <a:srgbClr val="45E0D0">
                <a:alpha val="60000"/>
              </a:srgbClr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5C9110E6-E3E1-4AA3-A9A0-23166D0E0199}"/>
              </a:ext>
            </a:extLst>
          </p:cNvPr>
          <p:cNvSpPr>
            <a:spLocks noGrp="1"/>
          </p:cNvSpPr>
          <p:nvPr/>
        </p:nvSpPr>
        <p:spPr>
          <a:xfrm>
            <a:off x="9048750" y="3352800"/>
            <a:ext cx="1009650" cy="476250"/>
          </a:xfrm>
          <a:prstGeom prst="line">
            <a:avLst/>
          </a:prstGeom>
          <a:noFill/>
          <a:ln w="19050">
            <a:solidFill>
              <a:srgbClr val="7769F4">
                <a:alpha val="60000"/>
              </a:srgbClr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0484F5-4F4E-4192-BB96-54DBF2AA24A8}"/>
              </a:ext>
            </a:extLst>
          </p:cNvPr>
          <p:cNvSpPr>
            <a:spLocks noGrp="1"/>
          </p:cNvSpPr>
          <p:nvPr/>
        </p:nvSpPr>
        <p:spPr>
          <a:xfrm>
            <a:off x="6800850" y="43910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memoria del agente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419AE5D-1FF3-45EE-8747-F030C5AC0A71}"/>
              </a:ext>
            </a:extLst>
          </p:cNvPr>
          <p:cNvSpPr>
            <a:spLocks noGrp="1"/>
          </p:cNvSpPr>
          <p:nvPr/>
        </p:nvSpPr>
        <p:spPr>
          <a:xfrm>
            <a:off x="9429750" y="43910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memoria informática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5A80470-A3E2-4127-A214-FCED00CDBAA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aproximación conceptual del embedding y margen de similitud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A803C1C-EE91-4AAE-A424-7B7D63546DF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pic>
        <p:nvPicPr>
          <p:cNvPr id="59" name="Ecuación s13_embed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00"/>
            <a:ext cx="2762250" cy="552450"/>
          </a:xfrm>
          <a:prstGeom prst="rect">
            <a:avLst/>
          </a:prstGeom>
        </p:spPr>
      </p:pic>
      <p:pic>
        <p:nvPicPr>
          <p:cNvPr id="60" name="Ecuación s13_marg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15061"/>
            <a:ext cx="5619750" cy="532478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7B92ED7-4B07-4BCA-BA04-71DE0DF555B3}"/>
              </a:ext>
            </a:extLst>
          </p:cNvPr>
          <p:cNvSpPr>
            <a:spLocks noGrp="1"/>
          </p:cNvSpPr>
          <p:nvPr/>
        </p:nvSpPr>
        <p:spPr>
          <a:xfrm>
            <a:off x="685800" y="1536192"/>
            <a:ext cx="1444752" cy="246888"/>
          </a:xfrm>
          <a:prstGeom prst="roundRect">
            <a:avLst/>
          </a:prstGeom>
          <a:solidFill>
            <a:srgbClr val="EEF0F8"/>
          </a:solidFill>
          <a:ln w="12700">
            <a:solidFill>
              <a:srgbClr val="706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APROX. CONCEPTUAL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43E6EC-CDDF-46F7-895E-5B4656A7CD86}"/>
              </a:ext>
            </a:extLst>
          </p:cNvPr>
          <p:cNvSpPr>
            <a:spLocks noGrp="1"/>
          </p:cNvSpPr>
          <p:nvPr/>
        </p:nvSpPr>
        <p:spPr>
          <a:xfrm>
            <a:off x="685800" y="4325112"/>
            <a:ext cx="5166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eₓ embedding · s similitud · C⁺ candidato relevante · C⁻ distractor · Δ margen</a:t>
            </a:r>
          </a:p>
        </p:txBody>
      </p:sp>
    </p:spTree>
    <p:extLst>
      <p:ext uri="{BB962C8B-B14F-4D97-AF65-F5344CB8AC3E}">
        <p14:creationId xmlns:p14="http://schemas.microsoft.com/office/powerpoint/2010/main" val="1877129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7F32BA90-800C-4185-A609-4269A45B39B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19 / RERANKING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500DB8-91DA-42CC-9AB7-704CF7E9B89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7562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El reranker casi no puede separar intenciones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828E8323-0842-4E55-B428-78F4A1C8E55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B814955-36D0-42E2-81AD-F387F23CB411}"/>
              </a:ext>
            </a:extLst>
          </p:cNvPr>
          <p:cNvSpPr>
            <a:spLocks noGrp="1"/>
          </p:cNvSpPr>
          <p:nvPr/>
        </p:nvSpPr>
        <p:spPr>
          <a:xfrm>
            <a:off x="1143000" y="2724150"/>
            <a:ext cx="4095750" cy="1962150"/>
          </a:xfrm>
          <a:prstGeom prst="roundRect">
            <a:avLst>
              <a:gd name="adj" fmla="val 13592"/>
            </a:avLst>
          </a:prstGeom>
          <a:solidFill>
            <a:srgbClr val="45E0D0">
              <a:alpha val="10000"/>
            </a:srgbClr>
          </a:solidFill>
          <a:ln w="19050">
            <a:solidFill>
              <a:srgbClr val="45E0D0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057A4B3-0409-4DC8-8641-1621B7F75D49}"/>
              </a:ext>
            </a:extLst>
          </p:cNvPr>
          <p:cNvSpPr>
            <a:spLocks noGrp="1"/>
          </p:cNvSpPr>
          <p:nvPr/>
        </p:nvSpPr>
        <p:spPr>
          <a:xfrm>
            <a:off x="6953250" y="2724150"/>
            <a:ext cx="4095750" cy="1962150"/>
          </a:xfrm>
          <a:prstGeom prst="roundRect">
            <a:avLst>
              <a:gd name="adj" fmla="val 13592"/>
            </a:avLst>
          </a:prstGeom>
          <a:solidFill>
            <a:srgbClr val="7769F4">
              <a:alpha val="10000"/>
            </a:srgbClr>
          </a:solidFill>
          <a:ln w="19050">
            <a:solidFill>
              <a:srgbClr val="7769F4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8D5942-84CE-4D8A-8654-7BAEB3DCA324}"/>
              </a:ext>
            </a:extLst>
          </p:cNvPr>
          <p:cNvSpPr>
            <a:spLocks noGrp="1"/>
          </p:cNvSpPr>
          <p:nvPr/>
        </p:nvSpPr>
        <p:spPr>
          <a:xfrm>
            <a:off x="1428750" y="29908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Chunk C₁ · intención Z₁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7EE60B-BEE6-45AE-9B74-95346294DB3B}"/>
              </a:ext>
            </a:extLst>
          </p:cNvPr>
          <p:cNvSpPr>
            <a:spLocks noGrp="1"/>
          </p:cNvSpPr>
          <p:nvPr/>
        </p:nvSpPr>
        <p:spPr>
          <a:xfrm>
            <a:off x="1428750" y="34290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4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4000" b="1" i="0">
                <a:solidFill>
                  <a:srgbClr val="3DD6C6"/>
                </a:solidFill>
                <a:latin typeface="Aptos Display"/>
                <a:ea typeface="Aptos Display"/>
                <a:cs typeface="Aptos Display"/>
              </a:rPr>
              <a:t>0.5400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DA24AD0-F387-45FD-86C5-1A89F478BCD1}"/>
              </a:ext>
            </a:extLst>
          </p:cNvPr>
          <p:cNvSpPr>
            <a:spLocks noGrp="1"/>
          </p:cNvSpPr>
          <p:nvPr/>
        </p:nvSpPr>
        <p:spPr>
          <a:xfrm>
            <a:off x="7239000" y="29908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Chunk C₂ · intención Z₂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CBFA8B-AEFE-4378-8CF4-6DA3CB28409A}"/>
              </a:ext>
            </a:extLst>
          </p:cNvPr>
          <p:cNvSpPr>
            <a:spLocks noGrp="1"/>
          </p:cNvSpPr>
          <p:nvPr/>
        </p:nvSpPr>
        <p:spPr>
          <a:xfrm>
            <a:off x="7239000" y="34290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4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4000" b="1" i="0">
                <a:solidFill>
                  <a:srgbClr val="7065E8"/>
                </a:solidFill>
                <a:latin typeface="Aptos Display"/>
                <a:ea typeface="Aptos Display"/>
                <a:cs typeface="Aptos Display"/>
              </a:rPr>
              <a:t>0.5375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464B2CC-9CCB-4097-A8E1-8354728E65E1}"/>
              </a:ext>
            </a:extLst>
          </p:cNvPr>
          <p:cNvSpPr>
            <a:spLocks noGrp="1"/>
          </p:cNvSpPr>
          <p:nvPr/>
        </p:nvSpPr>
        <p:spPr>
          <a:xfrm>
            <a:off x="1619250" y="5029200"/>
            <a:ext cx="895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El reranker parece preciso, pero la intención sigue sin estar identificada.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1E6E318-467C-46AA-AE63-D3A53A27D64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ejemplo numérico de scores marginalizados por intención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024C26C-CE7B-465C-A060-BE2A4D1FA94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pic>
        <p:nvPicPr>
          <p:cNvPr id="34" name="Ecuación s14_rera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238" y="1764792"/>
            <a:ext cx="3085044" cy="393192"/>
          </a:xfrm>
          <a:prstGeom prst="rect">
            <a:avLst/>
          </a:prstGeom>
        </p:spPr>
      </p:pic>
      <p:pic>
        <p:nvPicPr>
          <p:cNvPr id="35" name="Ecuación s14_prio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698" y="2194560"/>
            <a:ext cx="4022124" cy="320040"/>
          </a:xfrm>
          <a:prstGeom prst="rect">
            <a:avLst/>
          </a:prstGeom>
        </p:spPr>
      </p:pic>
      <p:pic>
        <p:nvPicPr>
          <p:cNvPr id="36" name="Ecuación s14_del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75" y="3425605"/>
            <a:ext cx="1619250" cy="3687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311AC69-F9A8-4C9C-9330-C44142F753AB}"/>
              </a:ext>
            </a:extLst>
          </p:cNvPr>
          <p:cNvSpPr>
            <a:spLocks noGrp="1"/>
          </p:cNvSpPr>
          <p:nvPr/>
        </p:nvSpPr>
        <p:spPr>
          <a:xfrm>
            <a:off x="1051560" y="5559552"/>
            <a:ext cx="9966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60687C"/>
                </a:solidFill>
                <a:latin typeface="Aptos"/>
                <a:ea typeface="Aptos"/>
                <a:cs typeface="Aptos"/>
              </a:rPr>
              <a:t>sᵢ score marginal · Cᵢ chunk · Z intención latente · p(Z=z|X) peso de cada 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135815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38CA4958-93D5-44DF-89CA-1A523F272B3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20 / GENERACIÓN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AF0424-DF37-42A4-95D4-64B2E48E365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9858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Contexto correcto no equivale a intención correcta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D56E71DE-3FE3-48F8-9224-668AD4B414FA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B29E576D-1725-4D9B-B578-B41276E93B27}"/>
              </a:ext>
            </a:extLst>
          </p:cNvPr>
          <p:cNvSpPr>
            <a:spLocks noGrp="1"/>
          </p:cNvSpPr>
          <p:nvPr/>
        </p:nvSpPr>
        <p:spPr>
          <a:xfrm>
            <a:off x="3333750" y="3295650"/>
            <a:ext cx="2476500" cy="381000"/>
          </a:xfrm>
          <a:prstGeom prst="line">
            <a:avLst/>
          </a:prstGeom>
          <a:noFill/>
          <a:ln w="28575">
            <a:solidFill>
              <a:srgbClr val="45E0D0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42537EA2-C399-461E-80D6-171198CCE1D1}"/>
              </a:ext>
            </a:extLst>
          </p:cNvPr>
          <p:cNvSpPr>
            <a:spLocks noGrp="1"/>
          </p:cNvSpPr>
          <p:nvPr/>
        </p:nvSpPr>
        <p:spPr>
          <a:xfrm flipV="1">
            <a:off x="3333750" y="3962400"/>
            <a:ext cx="2476500" cy="571500"/>
          </a:xfrm>
          <a:prstGeom prst="line">
            <a:avLst/>
          </a:prstGeom>
          <a:noFill/>
          <a:ln w="28575">
            <a:solidFill>
              <a:srgbClr val="7769F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AC0C73C9-CA2B-4094-A63A-2DB91922EC7D}"/>
              </a:ext>
            </a:extLst>
          </p:cNvPr>
          <p:cNvSpPr>
            <a:spLocks noGrp="1"/>
          </p:cNvSpPr>
          <p:nvPr/>
        </p:nvSpPr>
        <p:spPr>
          <a:xfrm>
            <a:off x="8096250" y="3819525"/>
            <a:ext cx="1905000" cy="0"/>
          </a:xfrm>
          <a:prstGeom prst="line">
            <a:avLst/>
          </a:prstGeom>
          <a:noFill/>
          <a:ln w="38100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2DB2C4B-217C-4341-B7FA-BDEC1CD05B3C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647950" cy="1047750"/>
          </a:xfrm>
          <a:prstGeom prst="roundRect">
            <a:avLst>
              <a:gd name="adj" fmla="val 18182"/>
            </a:avLst>
          </a:prstGeom>
          <a:solidFill>
            <a:srgbClr val="45E0D0">
              <a:alpha val="14000"/>
            </a:srgbClr>
          </a:solidFill>
          <a:ln w="19050">
            <a:solidFill>
              <a:srgbClr val="45E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CB10CC1-37E6-4ECA-9A05-79E1877F8533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2647950" cy="1047750"/>
          </a:xfrm>
          <a:prstGeom prst="roundRect">
            <a:avLst>
              <a:gd name="adj" fmla="val 18182"/>
            </a:avLst>
          </a:prstGeom>
          <a:solidFill>
            <a:srgbClr val="7769F4">
              <a:alpha val="14000"/>
            </a:srgbClr>
          </a:solidFill>
          <a:ln w="19050">
            <a:solidFill>
              <a:srgbClr val="7769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26037AF-C1B3-4A00-9025-D2E12A08320C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CZ₁ · válido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813C40-0064-4201-9FA8-8DE32DABA314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AD58D5-9CB8-4376-8183-42A20C012CE0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CZ₂ · válido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9C99325-AB75-496C-9F83-514A0D11040D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2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C28E193-6715-47F4-B951-75F3CDB5F418}"/>
              </a:ext>
            </a:extLst>
          </p:cNvPr>
          <p:cNvSpPr>
            <a:spLocks noGrp="1"/>
          </p:cNvSpPr>
          <p:nvPr/>
        </p:nvSpPr>
        <p:spPr>
          <a:xfrm>
            <a:off x="5810250" y="3105150"/>
            <a:ext cx="2286000" cy="1524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4F2F0EA-8AED-4586-8D40-78DAA7750A37}"/>
              </a:ext>
            </a:extLst>
          </p:cNvPr>
          <p:cNvSpPr>
            <a:spLocks noGrp="1"/>
          </p:cNvSpPr>
          <p:nvPr/>
        </p:nvSpPr>
        <p:spPr>
          <a:xfrm>
            <a:off x="5810250" y="32956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95137F8-084C-414E-8E66-314B71AACFAF}"/>
              </a:ext>
            </a:extLst>
          </p:cNvPr>
          <p:cNvSpPr>
            <a:spLocks noGrp="1"/>
          </p:cNvSpPr>
          <p:nvPr/>
        </p:nvSpPr>
        <p:spPr>
          <a:xfrm>
            <a:off x="6096000" y="375285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46"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elige · mezcla</a:t>
            </a:r>
          </a:p>
          <a:p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generaliza · alarga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27312BA-48A6-4B5A-8A18-F482B1EA8EEF}"/>
              </a:ext>
            </a:extLst>
          </p:cNvPr>
          <p:cNvSpPr>
            <a:spLocks noGrp="1"/>
          </p:cNvSpPr>
          <p:nvPr/>
        </p:nvSpPr>
        <p:spPr>
          <a:xfrm>
            <a:off x="10001250" y="3248025"/>
            <a:ext cx="1524000" cy="1143000"/>
          </a:xfrm>
          <a:prstGeom prst="roundRect">
            <a:avLst>
              <a:gd name="adj" fmla="val 20000"/>
            </a:avLst>
          </a:prstGeom>
          <a:solidFill>
            <a:srgbClr val="FFB66E">
              <a:alpha val="18000"/>
            </a:srgbClr>
          </a:solidFill>
          <a:ln w="19050">
            <a:solidFill>
              <a:srgbClr val="FFB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23591E6-BDC8-4650-884F-58FFBE1F8BC2}"/>
              </a:ext>
            </a:extLst>
          </p:cNvPr>
          <p:cNvSpPr>
            <a:spLocks noGrp="1"/>
          </p:cNvSpPr>
          <p:nvPr/>
        </p:nvSpPr>
        <p:spPr>
          <a:xfrm>
            <a:off x="10001250" y="36004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A65A"/>
                </a:solidFill>
                <a:latin typeface="Aptos Display"/>
                <a:ea typeface="Aptos Display"/>
                <a:cs typeface="Aptos Display"/>
              </a:rPr>
              <a:t>Y?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67424A3-69E9-4CC8-87D2-7F6250334C24}"/>
              </a:ext>
            </a:extLst>
          </p:cNvPr>
          <p:cNvSpPr>
            <a:spLocks noGrp="1"/>
          </p:cNvSpPr>
          <p:nvPr/>
        </p:nvSpPr>
        <p:spPr>
          <a:xfrm>
            <a:off x="1381125" y="5467350"/>
            <a:ext cx="942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Los primeros tokens pueden fijar una interpretación sin nueva evidencia del usuario.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F6D8ACA-E12C-4D17-A5DF-52F77CC44FB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contexto heterogéneo y auto-condicionamiento autoregresivo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09E975-2599-4B70-9AFD-DD95FB9D023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07853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A950FC12-ACFF-4A32-92ED-C304023CFAC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21 / LÍMITE TEÓRICO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B904C6-6ACD-4057-BD4E-0894AF81D29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Sin nueva información, existe un error irreducible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F3E03E5B-BC48-427D-AD3B-079FF906B76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1F7BC68-F358-4279-B63C-6E7F386E2320}"/>
              </a:ext>
            </a:extLst>
          </p:cNvPr>
          <p:cNvSpPr>
            <a:spLocks noGrp="1"/>
          </p:cNvSpPr>
          <p:nvPr/>
        </p:nvSpPr>
        <p:spPr>
          <a:xfrm>
            <a:off x="4762500" y="1981200"/>
            <a:ext cx="5905500" cy="2190750"/>
          </a:xfrm>
          <a:prstGeom prst="roundRect">
            <a:avLst>
              <a:gd name="adj" fmla="val 13043"/>
            </a:avLst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F6364D-48BA-4737-8479-AF9D70B1AA6D}"/>
              </a:ext>
            </a:extLst>
          </p:cNvPr>
          <p:cNvSpPr>
            <a:spLocks noGrp="1"/>
          </p:cNvSpPr>
          <p:nvPr/>
        </p:nvSpPr>
        <p:spPr>
          <a:xfrm>
            <a:off x="1476375" y="4629150"/>
            <a:ext cx="923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98"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No toda respuesta errónea ante una query ambigua es falta de capacidad del LLM.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0236A6E-EF9E-4658-BB63-DBD92FB7B411}"/>
              </a:ext>
            </a:extLst>
          </p:cNvPr>
          <p:cNvSpPr>
            <a:spLocks noGrp="1"/>
          </p:cNvSpPr>
          <p:nvPr/>
        </p:nvSpPr>
        <p:spPr>
          <a:xfrm>
            <a:off x="2238375" y="5410200"/>
            <a:ext cx="771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01526"/>
                </a:solidFill>
                <a:latin typeface="Aptos"/>
                <a:ea typeface="Aptos"/>
                <a:cs typeface="Aptos"/>
              </a:rPr>
              <a:t>A veces el dato que falta no está en el contexto: </a:t>
            </a:r>
            <a:r>
              <a:rPr sz="1800" b="1">
                <a:solidFill>
                  <a:srgbClr val="101526"/>
                </a:solidFill>
                <a:latin typeface="Aptos"/>
                <a:ea typeface="Aptos"/>
                <a:cs typeface="Aptos"/>
              </a:rPr>
              <a:t>está en la intención del usuario.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B39685-9B92-4FC7-AC98-74EDFC77A90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context.md — riesgo Bayesiano mínimo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BCB7A0-9201-4084-8653-BE8D186B2CC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pic>
        <p:nvPicPr>
          <p:cNvPr id="30" name="Ecuación s16_prio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13060"/>
            <a:ext cx="2857500" cy="479230"/>
          </a:xfrm>
          <a:prstGeom prst="rect">
            <a:avLst/>
          </a:prstGeom>
        </p:spPr>
      </p:pic>
      <p:pic>
        <p:nvPicPr>
          <p:cNvPr id="31" name="Ecuación s16_prior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75060"/>
            <a:ext cx="2857500" cy="479230"/>
          </a:xfrm>
          <a:prstGeom prst="rect">
            <a:avLst/>
          </a:prstGeom>
        </p:spPr>
      </p:pic>
      <p:pic>
        <p:nvPicPr>
          <p:cNvPr id="32" name="Ecuación s16_bay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415" y="2343150"/>
            <a:ext cx="4363669" cy="571500"/>
          </a:xfrm>
          <a:prstGeom prst="rect">
            <a:avLst/>
          </a:prstGeom>
        </p:spPr>
      </p:pic>
      <p:pic>
        <p:nvPicPr>
          <p:cNvPr id="33" name="Ecuación s16_resu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719" y="3009900"/>
            <a:ext cx="2235061" cy="8001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D39522-6863-4274-B55F-F184D6B83111}"/>
              </a:ext>
            </a:extLst>
          </p:cNvPr>
          <p:cNvSpPr>
            <a:spLocks noGrp="1"/>
          </p:cNvSpPr>
          <p:nvPr/>
        </p:nvSpPr>
        <p:spPr>
          <a:xfrm>
            <a:off x="5257800" y="3776472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100">
                <a:solidFill>
                  <a:srgbClr val="C7CEDF"/>
                </a:solidFill>
                <a:latin typeface="Aptos"/>
                <a:ea typeface="Aptos"/>
                <a:cs typeface="Aptos"/>
              </a:rPr>
              <a:t>R★ riesgo Bayesiano mínimo · Z intención · pérdida 0–1</a:t>
            </a:r>
          </a:p>
        </p:txBody>
      </p:sp>
    </p:spTree>
    <p:extLst>
      <p:ext uri="{BB962C8B-B14F-4D97-AF65-F5344CB8AC3E}">
        <p14:creationId xmlns:p14="http://schemas.microsoft.com/office/powerpoint/2010/main" val="1558993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8CCBCCB8-47F0-492D-8B88-7A8656D9867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22 / CLARIFICACIÓN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1744311-BCA1-4EC9-AC3A-51D177A0F30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Aclarar reduce la incertidumbre de intención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3483BEFC-9C70-4757-84D1-4CD0B0A2E167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56AF7BD-9C0A-4151-A4F3-B5FBE38C5127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42925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80F3465-953B-4C17-9CD8-20B19C518DBE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4381500" cy="1333500"/>
          </a:xfrm>
          <a:prstGeom prst="roundRect">
            <a:avLst>
              <a:gd name="adj" fmla="val 15714"/>
            </a:avLst>
          </a:prstGeom>
          <a:solidFill>
            <a:srgbClr val="45E0D0">
              <a:alpha val="12000"/>
            </a:srgbClr>
          </a:solidFill>
          <a:ln w="19050">
            <a:solidFill>
              <a:srgbClr val="45E0D0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2CB03D8-71AB-448E-B3B1-CDF1F2E719C2}"/>
              </a:ext>
            </a:extLst>
          </p:cNvPr>
          <p:cNvSpPr>
            <a:spLocks noGrp="1"/>
          </p:cNvSpPr>
          <p:nvPr/>
        </p:nvSpPr>
        <p:spPr>
          <a:xfrm>
            <a:off x="6953250" y="4133850"/>
            <a:ext cx="3810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Pregunta clave:</a:t>
            </a:r>
          </a:p>
          <a:p>
            <a:pPr algn="ctr">
              <a:lnSpc>
                <a:spcPct val="100000"/>
              </a:lnSpc>
              <a:buNone/>
              <a:defRPr sz="18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1526"/>
                </a:solidFill>
                <a:latin typeface="Aptos"/>
                <a:ea typeface="Aptos"/>
                <a:cs typeface="Aptos"/>
              </a:rPr>
              <a:t>«¿Te refieres a la ventana del LLM o a la memoria del agente?»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B6CC3A2-C214-49D0-AAEA-95A7B7E9F5D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Clarify When Necessary (Zhang &amp; Choi, 2023), Fig. 1; context.md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8A3DE5-E259-4750-9FB6-4032720C5C3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pic>
        <p:nvPicPr>
          <p:cNvPr id="38" name="Ecuación s17_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486426"/>
            <a:ext cx="4667250" cy="380197"/>
          </a:xfrm>
          <a:prstGeom prst="rect">
            <a:avLst/>
          </a:prstGeom>
        </p:spPr>
      </p:pic>
      <p:pic>
        <p:nvPicPr>
          <p:cNvPr id="39" name="Ecuación s17_ques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684" y="3105150"/>
            <a:ext cx="3182382" cy="5143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80261D-8DB4-4888-9547-0A63C6A2BE53}"/>
              </a:ext>
            </a:extLst>
          </p:cNvPr>
          <p:cNvSpPr>
            <a:spLocks noGrp="1"/>
          </p:cNvSpPr>
          <p:nvPr/>
        </p:nvSpPr>
        <p:spPr>
          <a:xfrm>
            <a:off x="6629400" y="3584448"/>
            <a:ext cx="44348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Notación · q pregunta · Z intención · I ganancia de información</a:t>
            </a:r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DA043369-246C-45CA-AFAD-BB8E257B44F6}"/>
              </a:ext>
            </a:extLst>
          </p:cNvPr>
          <p:cNvSpPr>
            <a:spLocks noGrp="1"/>
          </p:cNvSpPr>
          <p:nvPr/>
        </p:nvSpPr>
        <p:spPr>
          <a:xfrm>
            <a:off x="2057400" y="3562350"/>
            <a:ext cx="171450" cy="228600"/>
          </a:xfrm>
          <a:prstGeom prst="rightArrow">
            <a:avLst/>
          </a:prstGeom>
          <a:solidFill>
            <a:srgbClr val="4E96A3"/>
          </a:solidFill>
          <a:ln w="9525">
            <a:solidFill>
              <a:srgbClr val="4E96A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726B969B-E528-4F02-AAED-4998B3407DA8}"/>
              </a:ext>
            </a:extLst>
          </p:cNvPr>
          <p:cNvSpPr>
            <a:spLocks noGrp="1"/>
          </p:cNvSpPr>
          <p:nvPr/>
        </p:nvSpPr>
        <p:spPr>
          <a:xfrm>
            <a:off x="3276600" y="3562350"/>
            <a:ext cx="171450" cy="228600"/>
          </a:xfrm>
          <a:prstGeom prst="rightArrow">
            <a:avLst/>
          </a:prstGeom>
          <a:solidFill>
            <a:srgbClr val="4E96A3"/>
          </a:solidFill>
          <a:ln w="9525">
            <a:solidFill>
              <a:srgbClr val="4E96A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124A61B4-36D3-42E1-A0D8-B3F596CDC450}"/>
              </a:ext>
            </a:extLst>
          </p:cNvPr>
          <p:cNvSpPr>
            <a:spLocks noGrp="1"/>
          </p:cNvSpPr>
          <p:nvPr/>
        </p:nvSpPr>
        <p:spPr>
          <a:xfrm>
            <a:off x="4495800" y="3562350"/>
            <a:ext cx="171450" cy="228600"/>
          </a:xfrm>
          <a:prstGeom prst="rightArrow">
            <a:avLst/>
          </a:prstGeom>
          <a:solidFill>
            <a:srgbClr val="4E96A3"/>
          </a:solidFill>
          <a:ln w="9525">
            <a:solidFill>
              <a:srgbClr val="4E96A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257093DA-9133-41E2-8BE3-9241CDDB124D}"/>
              </a:ext>
            </a:extLst>
          </p:cNvPr>
          <p:cNvSpPr>
            <a:spLocks noGrp="1"/>
          </p:cNvSpPr>
          <p:nvPr/>
        </p:nvSpPr>
        <p:spPr>
          <a:xfrm>
            <a:off x="971550" y="3286125"/>
            <a:ext cx="1123950" cy="781050"/>
          </a:xfrm>
          <a:prstGeom prst="roundRect">
            <a:avLst>
              <a:gd name="adj" fmla="val 14634"/>
            </a:avLst>
          </a:prstGeom>
          <a:solidFill>
            <a:srgbClr val="E8F4F6"/>
          </a:solidFill>
          <a:ln w="14288">
            <a:solidFill>
              <a:srgbClr val="4E96A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Consulta</a:t>
            </a:r>
          </a:p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q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17DD4B8-6615-4599-B226-7709201F373E}"/>
              </a:ext>
            </a:extLst>
          </p:cNvPr>
          <p:cNvSpPr>
            <a:spLocks noGrp="1"/>
          </p:cNvSpPr>
          <p:nvPr/>
        </p:nvSpPr>
        <p:spPr>
          <a:xfrm>
            <a:off x="2190750" y="3286125"/>
            <a:ext cx="1123950" cy="781050"/>
          </a:xfrm>
          <a:prstGeom prst="roundRect">
            <a:avLst>
              <a:gd name="adj" fmla="val 14634"/>
            </a:avLst>
          </a:prstGeom>
          <a:solidFill>
            <a:srgbClr val="FFF1E8"/>
          </a:solidFill>
          <a:ln w="14288">
            <a:solidFill>
              <a:srgbClr val="E9713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Intención</a:t>
            </a:r>
          </a:p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Z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A54719A-FD66-4BD2-A29F-881F6CFD5801}"/>
              </a:ext>
            </a:extLst>
          </p:cNvPr>
          <p:cNvSpPr>
            <a:spLocks noGrp="1"/>
          </p:cNvSpPr>
          <p:nvPr/>
        </p:nvSpPr>
        <p:spPr>
          <a:xfrm>
            <a:off x="3409950" y="3286125"/>
            <a:ext cx="1123950" cy="781050"/>
          </a:xfrm>
          <a:prstGeom prst="roundRect">
            <a:avLst>
              <a:gd name="adj" fmla="val 14634"/>
            </a:avLst>
          </a:prstGeom>
          <a:solidFill>
            <a:srgbClr val="EEF7EE"/>
          </a:solidFill>
          <a:ln w="14288">
            <a:solidFill>
              <a:srgbClr val="5D8C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Pregunta</a:t>
            </a:r>
          </a:p>
          <a:p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clarificadora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5547763E-D290-4A0E-ADE5-A599D2AB200C}"/>
              </a:ext>
            </a:extLst>
          </p:cNvPr>
          <p:cNvSpPr>
            <a:spLocks noGrp="1"/>
          </p:cNvSpPr>
          <p:nvPr/>
        </p:nvSpPr>
        <p:spPr>
          <a:xfrm>
            <a:off x="4629150" y="3286125"/>
            <a:ext cx="1123950" cy="781050"/>
          </a:xfrm>
          <a:prstGeom prst="roundRect">
            <a:avLst>
              <a:gd name="adj" fmla="val 14634"/>
            </a:avLst>
          </a:prstGeom>
          <a:solidFill>
            <a:srgbClr val="0E4A5A"/>
          </a:solidFill>
          <a:ln w="14288">
            <a:solidFill>
              <a:srgbClr val="0E4A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Respuesta</a:t>
            </a:r>
          </a:p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 evidencia</a:t>
            </a:r>
          </a:p>
        </p:txBody>
      </p:sp>
    </p:spTree>
    <p:extLst>
      <p:ext uri="{BB962C8B-B14F-4D97-AF65-F5344CB8AC3E}">
        <p14:creationId xmlns:p14="http://schemas.microsoft.com/office/powerpoint/2010/main" val="1990080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AC4ECBD8-472B-4085-A083-5A7B9D99322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23 / POLÍTICA DE INTERACCIÓN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B6B045-8346-41BA-A2CF-BAC9FC51961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576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Conviene preguntar cuando el error cuesta más que interactuar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F0E66491-C917-458B-8F87-F66B19211E59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0877E12-279A-4304-8AB5-D2EE1BB0D7A8}"/>
              </a:ext>
            </a:extLst>
          </p:cNvPr>
          <p:cNvSpPr>
            <a:spLocks noGrp="1"/>
          </p:cNvSpPr>
          <p:nvPr/>
        </p:nvSpPr>
        <p:spPr>
          <a:xfrm>
            <a:off x="904875" y="2876550"/>
            <a:ext cx="4524375" cy="1962150"/>
          </a:xfrm>
          <a:prstGeom prst="roundRect">
            <a:avLst>
              <a:gd name="adj" fmla="val 135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E93BC19-FF6C-4C1F-BB35-BCCBA7516C65}"/>
              </a:ext>
            </a:extLst>
          </p:cNvPr>
          <p:cNvSpPr>
            <a:spLocks noGrp="1"/>
          </p:cNvSpPr>
          <p:nvPr/>
        </p:nvSpPr>
        <p:spPr>
          <a:xfrm>
            <a:off x="6762750" y="2876550"/>
            <a:ext cx="4524375" cy="1962150"/>
          </a:xfrm>
          <a:prstGeom prst="roundRect">
            <a:avLst>
              <a:gd name="adj" fmla="val 135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0F92FBB-9BCE-45D8-BE22-23FA2D3E61C3}"/>
              </a:ext>
            </a:extLst>
          </p:cNvPr>
          <p:cNvSpPr>
            <a:spLocks noGrp="1"/>
          </p:cNvSpPr>
          <p:nvPr/>
        </p:nvSpPr>
        <p:spPr>
          <a:xfrm>
            <a:off x="1190625" y="310515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FFB66E">
              <a:alpha val="22000"/>
            </a:srgbClr>
          </a:solidFill>
          <a:ln w="9525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825387-1DA2-44B0-B579-310F9FA82E6D}"/>
              </a:ext>
            </a:extLst>
          </p:cNvPr>
          <p:cNvSpPr>
            <a:spLocks noGrp="1"/>
          </p:cNvSpPr>
          <p:nvPr/>
        </p:nvSpPr>
        <p:spPr>
          <a:xfrm>
            <a:off x="1304925" y="3143250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F66F96-067B-4BD5-B38E-731C2D29871F}"/>
              </a:ext>
            </a:extLst>
          </p:cNvPr>
          <p:cNvSpPr>
            <a:spLocks noGrp="1"/>
          </p:cNvSpPr>
          <p:nvPr/>
        </p:nvSpPr>
        <p:spPr>
          <a:xfrm>
            <a:off x="1190625" y="3629025"/>
            <a:ext cx="3667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Bajo riesgo</a:t>
            </a:r>
          </a:p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intención dominante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DDCF6A-689A-42FF-AB1B-09ECE3F938B4}"/>
              </a:ext>
            </a:extLst>
          </p:cNvPr>
          <p:cNvSpPr>
            <a:spLocks noGrp="1"/>
          </p:cNvSpPr>
          <p:nvPr/>
        </p:nvSpPr>
        <p:spPr>
          <a:xfrm>
            <a:off x="1190625" y="44577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asumir y explicitar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CEEB7A4-E7EE-4878-AC1E-38115952E6AE}"/>
              </a:ext>
            </a:extLst>
          </p:cNvPr>
          <p:cNvSpPr>
            <a:spLocks noGrp="1"/>
          </p:cNvSpPr>
          <p:nvPr/>
        </p:nvSpPr>
        <p:spPr>
          <a:xfrm>
            <a:off x="7048500" y="31051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45E0D0">
              <a:alpha val="22000"/>
            </a:srgbClr>
          </a:solidFill>
          <a:ln w="9525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AFD1891-7AB7-4346-8575-DFDCA73B2732}"/>
              </a:ext>
            </a:extLst>
          </p:cNvPr>
          <p:cNvSpPr>
            <a:spLocks noGrp="1"/>
          </p:cNvSpPr>
          <p:nvPr/>
        </p:nvSpPr>
        <p:spPr>
          <a:xfrm>
            <a:off x="7162800" y="3143250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389F9E-4BFB-4EA8-98E5-0FC1A4CB9D21}"/>
              </a:ext>
            </a:extLst>
          </p:cNvPr>
          <p:cNvSpPr>
            <a:spLocks noGrp="1"/>
          </p:cNvSpPr>
          <p:nvPr/>
        </p:nvSpPr>
        <p:spPr>
          <a:xfrm>
            <a:off x="7048500" y="3629025"/>
            <a:ext cx="3667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Alto costo de error</a:t>
            </a:r>
          </a:p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margen bajo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E925EF-C9E6-4EFA-958D-0ED10622FEFD}"/>
              </a:ext>
            </a:extLst>
          </p:cNvPr>
          <p:cNvSpPr>
            <a:spLocks noGrp="1"/>
          </p:cNvSpPr>
          <p:nvPr/>
        </p:nvSpPr>
        <p:spPr>
          <a:xfrm>
            <a:off x="7048500" y="44577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preguntar antes de recuperar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1752FD1-AA80-4825-9A9B-FA705E6C58EA}"/>
              </a:ext>
            </a:extLst>
          </p:cNvPr>
          <p:cNvSpPr>
            <a:spLocks noGrp="1"/>
          </p:cNvSpPr>
          <p:nvPr/>
        </p:nvSpPr>
        <p:spPr>
          <a:xfrm>
            <a:off x="1619250" y="5295900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BEC6DB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C7CEDF"/>
                </a:solidFill>
                <a:latin typeface="Aptos"/>
                <a:ea typeface="Aptos"/>
                <a:cs typeface="Aptos"/>
              </a:rPr>
              <a:t>L: pérdida · c_q: costo de preguntar · q: pregunta · A_q: respuesta · Ŷ: decisión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D746F23-325F-418A-A8A7-E1BBA4ABCC6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Fuente: context.md — decisión Bayesiana con costo de interacción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8D336B7-6E40-4728-80C8-8634E0542F5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pic>
        <p:nvPicPr>
          <p:cNvPr id="37" name="Ecuación s18_di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523" y="1755648"/>
            <a:ext cx="2366913" cy="402336"/>
          </a:xfrm>
          <a:prstGeom prst="rect">
            <a:avLst/>
          </a:prstGeom>
        </p:spPr>
      </p:pic>
      <p:pic>
        <p:nvPicPr>
          <p:cNvPr id="38" name="Ecuación s18_clarif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994" y="1755648"/>
            <a:ext cx="3549892" cy="402336"/>
          </a:xfrm>
          <a:prstGeom prst="rect">
            <a:avLst/>
          </a:prstGeom>
        </p:spPr>
      </p:pic>
      <p:pic>
        <p:nvPicPr>
          <p:cNvPr id="39" name="Ecuación s18_condi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742" y="2267712"/>
            <a:ext cx="2725756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281BC5DE-0C3D-4543-AB23-A87672E76DD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65E8"/>
                </a:solidFill>
                <a:latin typeface="Aptos"/>
                <a:ea typeface="Aptos"/>
                <a:cs typeface="Aptos"/>
              </a:rPr>
              <a:t>24 / EVIDENCIA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C5EF37-681E-4E86-AE33-2BC5ADD3AF8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526"/>
                </a:solidFill>
                <a:latin typeface="Aptos Display"/>
                <a:ea typeface="Aptos Display"/>
                <a:cs typeface="Aptos Display"/>
              </a:rPr>
              <a:t>El contexto mejora QA, pero casi no induce aclaración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1E0BBCE3-E076-49D4-8000-353388CC9865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41454BF-E14D-468D-942C-D9DDEF8E935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6667500" cy="3943350"/>
          </a:xfrm>
          <a:prstGeom prst="roundRect">
            <a:avLst>
              <a:gd name="adj" fmla="val 4831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BB1F785-09E4-42A0-80E0-AE51D2F799AE}"/>
              </a:ext>
            </a:extLst>
          </p:cNvPr>
          <p:cNvSpPr>
            <a:spLocks noGrp="1"/>
          </p:cNvSpPr>
          <p:nvPr/>
        </p:nvSpPr>
        <p:spPr>
          <a:xfrm>
            <a:off x="7858125" y="222885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7769F4">
              <a:alpha val="14000"/>
            </a:srgbClr>
          </a:solidFill>
          <a:ln w="9525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DCC77E3-A2BF-496B-89AE-1F9AAEFF70BC}"/>
              </a:ext>
            </a:extLst>
          </p:cNvPr>
          <p:cNvSpPr>
            <a:spLocks noGrp="1"/>
          </p:cNvSpPr>
          <p:nvPr/>
        </p:nvSpPr>
        <p:spPr>
          <a:xfrm>
            <a:off x="7972425" y="2266950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2903931-643E-41F2-AC3E-AEFD0566AAD5}"/>
              </a:ext>
            </a:extLst>
          </p:cNvPr>
          <p:cNvSpPr>
            <a:spLocks noGrp="1"/>
          </p:cNvSpPr>
          <p:nvPr/>
        </p:nvSpPr>
        <p:spPr>
          <a:xfrm>
            <a:off x="7858125" y="2762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QA promedio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6411D6E-C97A-44B8-9176-D6A12D66940E}"/>
              </a:ext>
            </a:extLst>
          </p:cNvPr>
          <p:cNvSpPr>
            <a:spLocks noGrp="1"/>
          </p:cNvSpPr>
          <p:nvPr/>
        </p:nvSpPr>
        <p:spPr>
          <a:xfrm>
            <a:off x="7858125" y="30861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52C97F"/>
                </a:solidFill>
                <a:latin typeface="Aptos Display"/>
                <a:ea typeface="Aptos Display"/>
                <a:cs typeface="Aptos Display"/>
              </a:rPr>
              <a:t>54% → 67%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2EFD01E-6098-4472-AA1B-5E2E139A3E45}"/>
              </a:ext>
            </a:extLst>
          </p:cNvPr>
          <p:cNvSpPr>
            <a:spLocks noGrp="1"/>
          </p:cNvSpPr>
          <p:nvPr/>
        </p:nvSpPr>
        <p:spPr>
          <a:xfrm>
            <a:off x="7858125" y="3543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no ambiguas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6B4183B-23C1-4E04-AD8A-17AA9F2C903A}"/>
              </a:ext>
            </a:extLst>
          </p:cNvPr>
          <p:cNvSpPr>
            <a:spLocks noGrp="1"/>
          </p:cNvSpPr>
          <p:nvPr/>
        </p:nvSpPr>
        <p:spPr>
          <a:xfrm>
            <a:off x="7858125" y="40195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A65A"/>
                </a:solidFill>
                <a:latin typeface="Aptos Display"/>
                <a:ea typeface="Aptos Display"/>
                <a:cs typeface="Aptos Display"/>
              </a:rPr>
              <a:t>46% → 55%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BE62687-E1EB-46CF-856E-BE9ED32D22B7}"/>
              </a:ext>
            </a:extLst>
          </p:cNvPr>
          <p:cNvSpPr>
            <a:spLocks noGrp="1"/>
          </p:cNvSpPr>
          <p:nvPr/>
        </p:nvSpPr>
        <p:spPr>
          <a:xfrm>
            <a:off x="7858125" y="4476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ambiguas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1F9A15B9-5D37-499B-AB51-79E5FFEEACB1}"/>
              </a:ext>
            </a:extLst>
          </p:cNvPr>
          <p:cNvSpPr>
            <a:spLocks noGrp="1"/>
          </p:cNvSpPr>
          <p:nvPr/>
        </p:nvSpPr>
        <p:spPr>
          <a:xfrm>
            <a:off x="7858125" y="4933950"/>
            <a:ext cx="3190875" cy="0"/>
          </a:xfrm>
          <a:prstGeom prst="line">
            <a:avLst/>
          </a:prstGeom>
          <a:noFill/>
          <a:ln w="9525">
            <a:solidFill>
              <a:srgbClr val="D9DD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931FA07-13E6-4E88-85C7-B9B33FE4223E}"/>
              </a:ext>
            </a:extLst>
          </p:cNvPr>
          <p:cNvSpPr>
            <a:spLocks noGrp="1"/>
          </p:cNvSpPr>
          <p:nvPr/>
        </p:nvSpPr>
        <p:spPr>
          <a:xfrm>
            <a:off x="7858125" y="5143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Preguntas aclaratorias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D64D2A-9E32-4BF3-B764-0C9571390FDE}"/>
              </a:ext>
            </a:extLst>
          </p:cNvPr>
          <p:cNvSpPr>
            <a:spLocks noGrp="1"/>
          </p:cNvSpPr>
          <p:nvPr/>
        </p:nvSpPr>
        <p:spPr>
          <a:xfrm>
            <a:off x="7858125" y="546735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800" b="1" i="0">
                <a:solidFill>
                  <a:srgbClr val="F26674"/>
                </a:solidFill>
                <a:latin typeface="Aptos Display"/>
                <a:ea typeface="Aptos Display"/>
                <a:cs typeface="Aptos Display"/>
              </a:rPr>
              <a:t>0–2.5%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A28D900-62A8-48AB-8711-9047123864F2}"/>
              </a:ext>
            </a:extLst>
          </p:cNvPr>
          <p:cNvSpPr>
            <a:spLocks noGrp="1"/>
          </p:cNvSpPr>
          <p:nvPr/>
        </p:nvSpPr>
        <p:spPr>
          <a:xfrm>
            <a:off x="9525000" y="548640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687C"/>
                </a:solidFill>
                <a:latin typeface="Aptos"/>
                <a:ea typeface="Aptos"/>
                <a:cs typeface="Aptos"/>
              </a:rPr>
              <a:t>con contexto, en la mayoría de modelos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969B46-FB75-4770-A9AC-8FD6CFA280C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96AA"/>
                </a:solidFill>
                <a:latin typeface="Aptos"/>
                <a:ea typeface="Aptos"/>
                <a:cs typeface="Aptos"/>
              </a:rPr>
              <a:t>Fuente: Su &amp; Cardie (2026), Fig. 1 y Tablas 6–8; imagen suministrada en el proyecto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88466D4-5B21-4246-8A22-8296D502BA6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8E96A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="1504950" y="2495550"/>
          <a:ext cx="5000625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61281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71AE5709-42AC-4DFC-A84F-827CCDB41D3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25 / DISEÑO OPERATIVO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F79EB8-9C9F-483A-B1F1-643B8FBDA6D0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125"/>
          </a:bodyPr>
          <a:lstStyle/>
          <a:p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Diseña el sistema alrededor de la incertidumbre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91620042-D36E-4E8A-9C61-2E0452870D67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767B5E11-D615-4D23-85BC-50E33D90C045}"/>
              </a:ext>
            </a:extLst>
          </p:cNvPr>
          <p:cNvSpPr>
            <a:spLocks noGrp="1"/>
          </p:cNvSpPr>
          <p:nvPr/>
        </p:nvSpPr>
        <p:spPr>
          <a:xfrm>
            <a:off x="2476500" y="3305175"/>
            <a:ext cx="419100" cy="0"/>
          </a:xfrm>
          <a:prstGeom prst="line">
            <a:avLst/>
          </a:prstGeom>
          <a:noFill/>
          <a:ln w="28575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3752FF27-6F9E-4308-AD67-B866C8762CD9}"/>
              </a:ext>
            </a:extLst>
          </p:cNvPr>
          <p:cNvSpPr>
            <a:spLocks noGrp="1"/>
          </p:cNvSpPr>
          <p:nvPr/>
        </p:nvSpPr>
        <p:spPr>
          <a:xfrm>
            <a:off x="4648200" y="3305175"/>
            <a:ext cx="419100" cy="0"/>
          </a:xfrm>
          <a:prstGeom prst="line">
            <a:avLst/>
          </a:prstGeom>
          <a:noFill/>
          <a:ln w="28575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C339A7B8-0A46-48AC-9106-2B19F83DA27A}"/>
              </a:ext>
            </a:extLst>
          </p:cNvPr>
          <p:cNvSpPr>
            <a:spLocks noGrp="1"/>
          </p:cNvSpPr>
          <p:nvPr/>
        </p:nvSpPr>
        <p:spPr>
          <a:xfrm>
            <a:off x="6819900" y="3305175"/>
            <a:ext cx="419100" cy="0"/>
          </a:xfrm>
          <a:prstGeom prst="line">
            <a:avLst/>
          </a:prstGeom>
          <a:noFill/>
          <a:ln w="28575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4E725EE3-C86E-4519-AC50-CBA145B7B364}"/>
              </a:ext>
            </a:extLst>
          </p:cNvPr>
          <p:cNvSpPr>
            <a:spLocks noGrp="1"/>
          </p:cNvSpPr>
          <p:nvPr/>
        </p:nvSpPr>
        <p:spPr>
          <a:xfrm>
            <a:off x="8991600" y="3305175"/>
            <a:ext cx="419100" cy="0"/>
          </a:xfrm>
          <a:prstGeom prst="line">
            <a:avLst/>
          </a:prstGeom>
          <a:noFill/>
          <a:ln w="28575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4FF4A0F-1029-4B13-B353-5C852A92674D}"/>
              </a:ext>
            </a:extLst>
          </p:cNvPr>
          <p:cNvSpPr>
            <a:spLocks noGrp="1"/>
          </p:cNvSpPr>
          <p:nvPr/>
        </p:nvSpPr>
        <p:spPr>
          <a:xfrm>
            <a:off x="6858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B66E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8C56F7-9577-4EA8-8081-70C8D4C7CAA7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A6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51B4CC-71C4-4C57-95CD-34D0BD8F46A7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FA630D1-4942-4FFA-B81D-CF574E7E309B}"/>
              </a:ext>
            </a:extLst>
          </p:cNvPr>
          <p:cNvSpPr>
            <a:spLocks noGrp="1"/>
          </p:cNvSpPr>
          <p:nvPr/>
        </p:nvSpPr>
        <p:spPr>
          <a:xfrm>
            <a:off x="28575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45E0D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27D2EEF-2273-496D-8B55-ECF946180E0C}"/>
              </a:ext>
            </a:extLst>
          </p:cNvPr>
          <p:cNvSpPr>
            <a:spLocks noGrp="1"/>
          </p:cNvSpPr>
          <p:nvPr/>
        </p:nvSpPr>
        <p:spPr>
          <a:xfrm>
            <a:off x="29908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DD6C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8D44A3-13C4-472F-B8C3-B92F857AA768}"/>
              </a:ext>
            </a:extLst>
          </p:cNvPr>
          <p:cNvSpPr>
            <a:spLocks noGrp="1"/>
          </p:cNvSpPr>
          <p:nvPr/>
        </p:nvSpPr>
        <p:spPr>
          <a:xfrm>
            <a:off x="30480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8C3F354-756B-4DE5-B7CD-F98225411A1F}"/>
              </a:ext>
            </a:extLst>
          </p:cNvPr>
          <p:cNvSpPr>
            <a:spLocks noGrp="1"/>
          </p:cNvSpPr>
          <p:nvPr/>
        </p:nvSpPr>
        <p:spPr>
          <a:xfrm>
            <a:off x="3009900" y="34671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responder / aclarar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2D5DBE1-B364-4B32-9CA6-025E669B5FA5}"/>
              </a:ext>
            </a:extLst>
          </p:cNvPr>
          <p:cNvSpPr>
            <a:spLocks noGrp="1"/>
          </p:cNvSpPr>
          <p:nvPr/>
        </p:nvSpPr>
        <p:spPr>
          <a:xfrm>
            <a:off x="50292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7769F4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068B4D4-5876-4711-BD3C-BE947E6484AA}"/>
              </a:ext>
            </a:extLst>
          </p:cNvPr>
          <p:cNvSpPr>
            <a:spLocks noGrp="1"/>
          </p:cNvSpPr>
          <p:nvPr/>
        </p:nvSpPr>
        <p:spPr>
          <a:xfrm>
            <a:off x="51625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065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907AC02-8A0A-4C63-989B-3D7F7C2D1B31}"/>
              </a:ext>
            </a:extLst>
          </p:cNvPr>
          <p:cNvSpPr>
            <a:spLocks noGrp="1"/>
          </p:cNvSpPr>
          <p:nvPr/>
        </p:nvSpPr>
        <p:spPr>
          <a:xfrm>
            <a:off x="52197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0119B48-8FB6-43E9-B123-0C6FF68F9AAB}"/>
              </a:ext>
            </a:extLst>
          </p:cNvPr>
          <p:cNvSpPr>
            <a:spLocks noGrp="1"/>
          </p:cNvSpPr>
          <p:nvPr/>
        </p:nvSpPr>
        <p:spPr>
          <a:xfrm>
            <a:off x="5181600" y="34671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por intención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09B5D19-2E0F-45F0-B4F4-E2050F33F65A}"/>
              </a:ext>
            </a:extLst>
          </p:cNvPr>
          <p:cNvSpPr>
            <a:spLocks noGrp="1"/>
          </p:cNvSpPr>
          <p:nvPr/>
        </p:nvSpPr>
        <p:spPr>
          <a:xfrm>
            <a:off x="72009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62D590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DBF4924-70BA-4D97-B017-2D3ED4E17F9E}"/>
              </a:ext>
            </a:extLst>
          </p:cNvPr>
          <p:cNvSpPr>
            <a:spLocks noGrp="1"/>
          </p:cNvSpPr>
          <p:nvPr/>
        </p:nvSpPr>
        <p:spPr>
          <a:xfrm>
            <a:off x="73342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2C97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FA636B5-7FE0-4131-A64E-C65B9D0F3F29}"/>
              </a:ext>
            </a:extLst>
          </p:cNvPr>
          <p:cNvSpPr>
            <a:spLocks noGrp="1"/>
          </p:cNvSpPr>
          <p:nvPr/>
        </p:nvSpPr>
        <p:spPr>
          <a:xfrm>
            <a:off x="73914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8860D98-BDE8-43A9-A5A5-0D6B753794DB}"/>
              </a:ext>
            </a:extLst>
          </p:cNvPr>
          <p:cNvSpPr>
            <a:spLocks noGrp="1"/>
          </p:cNvSpPr>
          <p:nvPr/>
        </p:nvSpPr>
        <p:spPr>
          <a:xfrm>
            <a:off x="7353300" y="34671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con evidencia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9F07A2C-4616-43AB-A272-CD42D31D994F}"/>
              </a:ext>
            </a:extLst>
          </p:cNvPr>
          <p:cNvSpPr>
            <a:spLocks noGrp="1"/>
          </p:cNvSpPr>
          <p:nvPr/>
        </p:nvSpPr>
        <p:spPr>
          <a:xfrm>
            <a:off x="9372600" y="2676525"/>
            <a:ext cx="1809750" cy="125730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6F7D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614812D-9866-45BF-BB71-88BD2A04D4E7}"/>
              </a:ext>
            </a:extLst>
          </p:cNvPr>
          <p:cNvSpPr>
            <a:spLocks noGrp="1"/>
          </p:cNvSpPr>
          <p:nvPr/>
        </p:nvSpPr>
        <p:spPr>
          <a:xfrm>
            <a:off x="9505950" y="28194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667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CD19DD-E2B1-44AE-ACCF-37E41441A02C}"/>
              </a:ext>
            </a:extLst>
          </p:cNvPr>
          <p:cNvSpPr>
            <a:spLocks noGrp="1"/>
          </p:cNvSpPr>
          <p:nvPr/>
        </p:nvSpPr>
        <p:spPr>
          <a:xfrm>
            <a:off x="9563100" y="3105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EB233B5-8D4C-475C-B377-C554295FE45B}"/>
              </a:ext>
            </a:extLst>
          </p:cNvPr>
          <p:cNvSpPr>
            <a:spLocks noGrp="1"/>
          </p:cNvSpPr>
          <p:nvPr/>
        </p:nvSpPr>
        <p:spPr>
          <a:xfrm>
            <a:off x="9525000" y="34671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calidad + costo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361E4AB-7E0C-4A6A-923C-4E0043092B4B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398"/>
          </a:bodyPr>
          <a:lstStyle/>
          <a:p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Context Engineering = seleccionar evidencia y decidir cuándo preguntar.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0B3FAD3-CC74-473A-AC62-7058AB715C9C}"/>
              </a:ext>
            </a:extLst>
          </p:cNvPr>
          <p:cNvSpPr>
            <a:spLocks noGrp="1"/>
          </p:cNvSpPr>
          <p:nvPr/>
        </p:nvSpPr>
        <p:spPr>
          <a:xfrm>
            <a:off x="1952625" y="544830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B8C0D8"/>
                </a:solidFill>
                <a:latin typeface="Aptos"/>
                <a:ea typeface="Aptos"/>
                <a:cs typeface="Aptos"/>
              </a:defRPr>
            </a:pPr>
            <a:r>
              <a:rPr sz="1400" b="0" i="0">
                <a:solidFill>
                  <a:srgbClr val="C7CEDF"/>
                </a:solidFill>
                <a:latin typeface="Aptos"/>
                <a:ea typeface="Aptos"/>
                <a:cs typeface="Aptos"/>
              </a:rPr>
              <a:t>Caso de negocio · Tolerancia al error · Umbral de ambigüedad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88A5BC7-5175-4565-9FD5-EA3BD9A3149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95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AB3C8"/>
                </a:solidFill>
                <a:latin typeface="Aptos"/>
                <a:ea typeface="Aptos"/>
                <a:cs typeface="Aptos"/>
              </a:rPr>
              <a:t>Fuentes clave: context.md · survey_context.pdf · Zhang &amp; Choi (2023) · Su &amp; Cardie (2026)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6356272-0711-4EA4-9FFC-D3FFE9D30FB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AAB3C8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pic>
        <p:nvPicPr>
          <p:cNvPr id="65" name="Ecuación s20_entrop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68" y="3467100"/>
            <a:ext cx="789214" cy="2667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405D57D-7F42-4B65-8E2F-C31DF9E46366}"/>
              </a:ext>
            </a:extLst>
          </p:cNvPr>
          <p:cNvSpPr>
            <a:spLocks noGrp="1"/>
          </p:cNvSpPr>
          <p:nvPr/>
        </p:nvSpPr>
        <p:spPr>
          <a:xfrm>
            <a:off x="685800" y="577900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3DD6C6"/>
                </a:solidFill>
                <a:latin typeface="Aptos"/>
                <a:ea typeface="Aptos"/>
                <a:cs typeface="Aptos"/>
              </a:rPr>
              <a:t>Notación · </a:t>
            </a:r>
            <a:r>
              <a:rPr sz="1250">
                <a:solidFill>
                  <a:srgbClr val="C7CEDF"/>
                </a:solidFill>
                <a:latin typeface="Aptos"/>
                <a:ea typeface="Aptos"/>
                <a:cs typeface="Aptos"/>
              </a:rPr>
              <a:t>H entropía · Z intención · X consulta</a:t>
            </a:r>
          </a:p>
        </p:txBody>
      </p:sp>
    </p:spTree>
    <p:extLst>
      <p:ext uri="{BB962C8B-B14F-4D97-AF65-F5344CB8AC3E}">
        <p14:creationId xmlns:p14="http://schemas.microsoft.com/office/powerpoint/2010/main" val="173553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2546</Words>
  <Application>Microsoft Office PowerPoint</Application>
  <DocSecurity>0</DocSecurity>
  <PresentationFormat>Panorámica</PresentationFormat>
  <Paragraphs>348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 Gomez Villanueva</cp:lastModifiedBy>
  <cp:revision>1</cp:revision>
  <dcterms:created xsi:type="dcterms:W3CDTF">2026-07-28T19:54:01Z</dcterms:created>
  <dcterms:modified xsi:type="dcterms:W3CDTF">2026-07-28T22:16:57Z</dcterms:modified>
</cp:coreProperties>
</file>